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77" r:id="rId7"/>
    <p:sldId id="276" r:id="rId8"/>
    <p:sldId id="261" r:id="rId9"/>
    <p:sldId id="262" r:id="rId10"/>
    <p:sldId id="264" r:id="rId11"/>
    <p:sldId id="263" r:id="rId12"/>
    <p:sldId id="265" r:id="rId13"/>
    <p:sldId id="266" r:id="rId14"/>
    <p:sldId id="275" r:id="rId15"/>
    <p:sldId id="267" r:id="rId16"/>
    <p:sldId id="268" r:id="rId17"/>
    <p:sldId id="269" r:id="rId18"/>
    <p:sldId id="270" r:id="rId19"/>
    <p:sldId id="271" r:id="rId20"/>
    <p:sldId id="272" r:id="rId21"/>
    <p:sldId id="27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8C07"/>
    <a:srgbClr val="22A699"/>
    <a:srgbClr val="065A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85" autoAdjust="0"/>
    <p:restoredTop sz="94610"/>
  </p:normalViewPr>
  <p:slideViewPr>
    <p:cSldViewPr snapToGrid="0" snapToObjects="1">
      <p:cViewPr>
        <p:scale>
          <a:sx n="150" d="100"/>
          <a:sy n="150" d="100"/>
        </p:scale>
        <p:origin x="1037"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92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8E47C-EE95-3336-6B2B-DEC82AD68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1F3D8-8CCC-CC3B-3FA9-F147EDD2C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1B374-662F-AC6F-E693-0F6CA4F802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83ADE6-E9E9-9B54-98DF-9AA1E12E219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95731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A699"/>
          </a:solidFill>
          <a:ln/>
        </p:spPr>
        <p:txBody>
          <a:bodyPr/>
          <a:lstStyle/>
          <a:p>
            <a:endParaRPr lang="zh-CN" altLang="en-US"/>
          </a:p>
        </p:txBody>
      </p:sp>
      <p:sp>
        <p:nvSpPr>
          <p:cNvPr id="3" name="Shape 1"/>
          <p:cNvSpPr/>
          <p:nvPr/>
        </p:nvSpPr>
        <p:spPr>
          <a:xfrm>
            <a:off x="0" y="5070348"/>
            <a:ext cx="9144000" cy="73152"/>
          </a:xfrm>
          <a:prstGeom prst="rect">
            <a:avLst/>
          </a:prstGeom>
          <a:solidFill>
            <a:srgbClr val="22A699"/>
          </a:solidFill>
          <a:ln/>
        </p:spPr>
        <p:txBody>
          <a:bodyPr/>
          <a:lstStyle/>
          <a:p>
            <a:endParaRPr lang="zh-CN" altLang="en-US"/>
          </a:p>
        </p:txBody>
      </p:sp>
      <p:sp>
        <p:nvSpPr>
          <p:cNvPr id="4" name="Shape 2"/>
          <p:cNvSpPr/>
          <p:nvPr/>
        </p:nvSpPr>
        <p:spPr>
          <a:xfrm>
            <a:off x="457200" y="1371600"/>
            <a:ext cx="54864" cy="2011680"/>
          </a:xfrm>
          <a:prstGeom prst="rect">
            <a:avLst/>
          </a:prstGeom>
          <a:solidFill>
            <a:srgbClr val="22A699"/>
          </a:solidFill>
          <a:ln/>
        </p:spPr>
        <p:txBody>
          <a:bodyPr/>
          <a:lstStyle/>
          <a:p>
            <a:endParaRPr lang="zh-CN" altLang="en-US"/>
          </a:p>
        </p:txBody>
      </p:sp>
      <p:pic>
        <p:nvPicPr>
          <p:cNvPr id="5" name="Image 0" descr="preencoded.png"/>
          <p:cNvPicPr>
            <a:picLocks noChangeAspect="1"/>
          </p:cNvPicPr>
          <p:nvPr/>
        </p:nvPicPr>
        <p:blipFill>
          <a:blip r:embed="rId3"/>
          <a:stretch>
            <a:fillRect/>
          </a:stretch>
        </p:blipFill>
        <p:spPr>
          <a:xfrm>
            <a:off x="731520" y="1005840"/>
            <a:ext cx="502920" cy="502920"/>
          </a:xfrm>
          <a:prstGeom prst="rect">
            <a:avLst/>
          </a:prstGeom>
        </p:spPr>
      </p:pic>
      <p:sp>
        <p:nvSpPr>
          <p:cNvPr id="6" name="Text 3"/>
          <p:cNvSpPr/>
          <p:nvPr/>
        </p:nvSpPr>
        <p:spPr>
          <a:xfrm>
            <a:off x="731520" y="1463040"/>
            <a:ext cx="77724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本体建模平台</a:t>
            </a:r>
            <a:endParaRPr lang="en-US" sz="4400" dirty="0"/>
          </a:p>
        </p:txBody>
      </p:sp>
      <p:sp>
        <p:nvSpPr>
          <p:cNvPr id="7" name="Text 4"/>
          <p:cNvSpPr/>
          <p:nvPr/>
        </p:nvSpPr>
        <p:spPr>
          <a:xfrm>
            <a:off x="731520" y="2286000"/>
            <a:ext cx="7772400" cy="548640"/>
          </a:xfrm>
          <a:prstGeom prst="rect">
            <a:avLst/>
          </a:prstGeom>
          <a:noFill/>
          <a:ln/>
        </p:spPr>
        <p:txBody>
          <a:bodyPr wrap="square" lIns="0" tIns="0" rIns="0" bIns="0" rtlCol="0" anchor="ctr"/>
          <a:lstStyle/>
          <a:p>
            <a:pPr marL="0" indent="0">
              <a:buNone/>
            </a:pPr>
            <a:r>
              <a:rPr lang="en-US" sz="2200" dirty="0">
                <a:solidFill>
                  <a:srgbClr val="22A699"/>
                </a:solidFill>
                <a:latin typeface="Arial" pitchFamily="34" charset="0"/>
                <a:ea typeface="Arial" pitchFamily="34" charset="-122"/>
                <a:cs typeface="Arial" pitchFamily="34" charset="-120"/>
              </a:rPr>
              <a:t>企业 Agentic AI 时代的业务语义中台</a:t>
            </a:r>
            <a:endParaRPr lang="en-US" sz="2200" dirty="0"/>
          </a:p>
        </p:txBody>
      </p:sp>
      <p:sp>
        <p:nvSpPr>
          <p:cNvPr id="8" name="Text 5"/>
          <p:cNvSpPr/>
          <p:nvPr/>
        </p:nvSpPr>
        <p:spPr>
          <a:xfrm>
            <a:off x="731520" y="2926080"/>
            <a:ext cx="7772400" cy="45720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连接大模型智能与企业业务数据的核心中间层</a:t>
            </a:r>
            <a:endParaRPr lang="en-US" sz="1400" dirty="0"/>
          </a:p>
        </p:txBody>
      </p:sp>
      <p:sp>
        <p:nvSpPr>
          <p:cNvPr id="9" name="Shape 6"/>
          <p:cNvSpPr/>
          <p:nvPr/>
        </p:nvSpPr>
        <p:spPr>
          <a:xfrm>
            <a:off x="457200" y="4114800"/>
            <a:ext cx="8229600" cy="54864"/>
          </a:xfrm>
          <a:prstGeom prst="rect">
            <a:avLst/>
          </a:prstGeom>
          <a:solidFill>
            <a:srgbClr val="1C7293">
              <a:alpha val="40000"/>
            </a:srgbClr>
          </a:solidFill>
          <a:ln/>
        </p:spPr>
        <p:txBody>
          <a:bodyPr/>
          <a:lstStyle/>
          <a:p>
            <a:endParaRPr lang="zh-CN" altLang="en-US"/>
          </a:p>
        </p:txBody>
      </p:sp>
      <p:sp>
        <p:nvSpPr>
          <p:cNvPr id="10" name="Text 7"/>
          <p:cNvSpPr/>
          <p:nvPr/>
        </p:nvSpPr>
        <p:spPr>
          <a:xfrm>
            <a:off x="457200" y="4343400"/>
            <a:ext cx="4572000" cy="36576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产品介绍  |  V1.0  |  2026年6月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74320"/>
            <a:ext cx="3657600" cy="548640"/>
          </a:xfrm>
          <a:prstGeom prst="rect">
            <a:avLst/>
          </a:prstGeom>
          <a:noFill/>
          <a:ln/>
        </p:spPr>
        <p:txBody>
          <a:bodyPr wrap="square" lIns="0" tIns="0" rIns="0" bIns="0" rtlCol="0" anchor="ctr"/>
          <a:lstStyle/>
          <a:p>
            <a:pPr marL="0" indent="0">
              <a:buNone/>
            </a:pPr>
            <a:r>
              <a:rPr lang="en-US" sz="3200" b="1" dirty="0">
                <a:solidFill>
                  <a:srgbClr val="1E293B"/>
                </a:solidFill>
                <a:latin typeface="Arial" pitchFamily="34" charset="0"/>
                <a:ea typeface="Arial" pitchFamily="34" charset="-122"/>
                <a:cs typeface="Arial" pitchFamily="34" charset="-120"/>
              </a:rPr>
              <a:t>目录</a:t>
            </a:r>
            <a:endParaRPr lang="en-US" sz="3200" dirty="0"/>
          </a:p>
        </p:txBody>
      </p:sp>
      <p:sp>
        <p:nvSpPr>
          <p:cNvPr id="4" name="Shape 2"/>
          <p:cNvSpPr/>
          <p:nvPr/>
        </p:nvSpPr>
        <p:spPr>
          <a:xfrm>
            <a:off x="548640" y="1097280"/>
            <a:ext cx="502920" cy="502920"/>
          </a:xfrm>
          <a:prstGeom prst="ellipse">
            <a:avLst/>
          </a:prstGeom>
          <a:solidFill>
            <a:srgbClr val="065A82"/>
          </a:solidFill>
          <a:ln/>
        </p:spPr>
        <p:txBody>
          <a:bodyPr/>
          <a:lstStyle/>
          <a:p>
            <a:endParaRPr lang="zh-CN" altLang="en-US"/>
          </a:p>
        </p:txBody>
      </p:sp>
      <p:sp>
        <p:nvSpPr>
          <p:cNvPr id="5" name="Text 3"/>
          <p:cNvSpPr/>
          <p:nvPr/>
        </p:nvSpPr>
        <p:spPr>
          <a:xfrm>
            <a:off x="548640" y="1097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234440" y="1078992"/>
            <a:ext cx="2926080" cy="32004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企业Agentic AI时代</a:t>
            </a:r>
            <a:endParaRPr lang="en-US" sz="1500" dirty="0"/>
          </a:p>
        </p:txBody>
      </p:sp>
      <p:sp>
        <p:nvSpPr>
          <p:cNvPr id="7" name="Text 5"/>
          <p:cNvSpPr/>
          <p:nvPr/>
        </p:nvSpPr>
        <p:spPr>
          <a:xfrm>
            <a:off x="1234440" y="1417320"/>
            <a:ext cx="2926080" cy="27432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业务语义为何成为核心基础设施</a:t>
            </a:r>
            <a:endParaRPr lang="en-US" sz="1100" dirty="0"/>
          </a:p>
        </p:txBody>
      </p:sp>
      <p:sp>
        <p:nvSpPr>
          <p:cNvPr id="8" name="Shape 6"/>
          <p:cNvSpPr/>
          <p:nvPr/>
        </p:nvSpPr>
        <p:spPr>
          <a:xfrm>
            <a:off x="4754880" y="1097280"/>
            <a:ext cx="502920" cy="502920"/>
          </a:xfrm>
          <a:prstGeom prst="ellipse">
            <a:avLst/>
          </a:prstGeom>
          <a:solidFill>
            <a:srgbClr val="065A82"/>
          </a:solidFill>
          <a:ln/>
        </p:spPr>
        <p:txBody>
          <a:bodyPr/>
          <a:lstStyle/>
          <a:p>
            <a:endParaRPr lang="zh-CN" altLang="en-US"/>
          </a:p>
        </p:txBody>
      </p:sp>
      <p:sp>
        <p:nvSpPr>
          <p:cNvPr id="9" name="Text 7"/>
          <p:cNvSpPr/>
          <p:nvPr/>
        </p:nvSpPr>
        <p:spPr>
          <a:xfrm>
            <a:off x="4754880" y="1097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5440680" y="1078992"/>
            <a:ext cx="2926080" cy="32004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本体模型的角色定位</a:t>
            </a:r>
            <a:endParaRPr lang="en-US" sz="1500" dirty="0"/>
          </a:p>
        </p:txBody>
      </p:sp>
      <p:sp>
        <p:nvSpPr>
          <p:cNvPr id="11" name="Text 9"/>
          <p:cNvSpPr/>
          <p:nvPr/>
        </p:nvSpPr>
        <p:spPr>
          <a:xfrm>
            <a:off x="5440680" y="1417320"/>
            <a:ext cx="2926080" cy="27432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Agent与应用系统之间的语义桥梁</a:t>
            </a:r>
            <a:endParaRPr lang="en-US" sz="1100" dirty="0"/>
          </a:p>
        </p:txBody>
      </p:sp>
      <p:sp>
        <p:nvSpPr>
          <p:cNvPr id="12" name="Shape 10"/>
          <p:cNvSpPr/>
          <p:nvPr/>
        </p:nvSpPr>
        <p:spPr>
          <a:xfrm>
            <a:off x="548640" y="2331720"/>
            <a:ext cx="502920" cy="502920"/>
          </a:xfrm>
          <a:prstGeom prst="ellipse">
            <a:avLst/>
          </a:prstGeom>
          <a:solidFill>
            <a:srgbClr val="065A82"/>
          </a:solidFill>
          <a:ln/>
        </p:spPr>
        <p:txBody>
          <a:bodyPr/>
          <a:lstStyle/>
          <a:p>
            <a:endParaRPr lang="zh-CN" altLang="en-US"/>
          </a:p>
        </p:txBody>
      </p:sp>
      <p:sp>
        <p:nvSpPr>
          <p:cNvPr id="13" name="Text 11"/>
          <p:cNvSpPr/>
          <p:nvPr/>
        </p:nvSpPr>
        <p:spPr>
          <a:xfrm>
            <a:off x="548640" y="23317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4" name="Text 12"/>
          <p:cNvSpPr/>
          <p:nvPr/>
        </p:nvSpPr>
        <p:spPr>
          <a:xfrm>
            <a:off x="1234440" y="2313432"/>
            <a:ext cx="2926080" cy="32004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Agent调用机制</a:t>
            </a:r>
            <a:endParaRPr lang="en-US" sz="1500" dirty="0"/>
          </a:p>
        </p:txBody>
      </p:sp>
      <p:sp>
        <p:nvSpPr>
          <p:cNvPr id="15" name="Text 13"/>
          <p:cNvSpPr/>
          <p:nvPr/>
        </p:nvSpPr>
        <p:spPr>
          <a:xfrm>
            <a:off x="1234440" y="2651760"/>
            <a:ext cx="2926080" cy="27432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MCP分发 · Agent Manifest · 三通道合规</a:t>
            </a:r>
            <a:endParaRPr lang="en-US" sz="1100" dirty="0"/>
          </a:p>
        </p:txBody>
      </p:sp>
      <p:sp>
        <p:nvSpPr>
          <p:cNvPr id="16" name="Shape 14"/>
          <p:cNvSpPr/>
          <p:nvPr/>
        </p:nvSpPr>
        <p:spPr>
          <a:xfrm>
            <a:off x="4754880" y="2331720"/>
            <a:ext cx="502920" cy="502920"/>
          </a:xfrm>
          <a:prstGeom prst="ellipse">
            <a:avLst/>
          </a:prstGeom>
          <a:solidFill>
            <a:srgbClr val="065A82"/>
          </a:solidFill>
          <a:ln/>
        </p:spPr>
        <p:txBody>
          <a:bodyPr/>
          <a:lstStyle/>
          <a:p>
            <a:endParaRPr lang="zh-CN" altLang="en-US"/>
          </a:p>
        </p:txBody>
      </p:sp>
      <p:sp>
        <p:nvSpPr>
          <p:cNvPr id="17" name="Text 15"/>
          <p:cNvSpPr/>
          <p:nvPr/>
        </p:nvSpPr>
        <p:spPr>
          <a:xfrm>
            <a:off x="4754880" y="23317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18" name="Text 16"/>
          <p:cNvSpPr/>
          <p:nvPr/>
        </p:nvSpPr>
        <p:spPr>
          <a:xfrm>
            <a:off x="5440680" y="2313432"/>
            <a:ext cx="2926080" cy="32004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本体模型的构成</a:t>
            </a:r>
            <a:endParaRPr lang="en-US" sz="1500" dirty="0"/>
          </a:p>
        </p:txBody>
      </p:sp>
      <p:sp>
        <p:nvSpPr>
          <p:cNvPr id="19" name="Text 17"/>
          <p:cNvSpPr/>
          <p:nvPr/>
        </p:nvSpPr>
        <p:spPr>
          <a:xfrm>
            <a:off x="5440680" y="2651760"/>
            <a:ext cx="2926080" cy="27432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语义层 · 动力层 · 事件层 · 治理层</a:t>
            </a:r>
            <a:endParaRPr lang="en-US" sz="1100" dirty="0"/>
          </a:p>
        </p:txBody>
      </p:sp>
      <p:sp>
        <p:nvSpPr>
          <p:cNvPr id="20" name="Shape 18"/>
          <p:cNvSpPr/>
          <p:nvPr/>
        </p:nvSpPr>
        <p:spPr>
          <a:xfrm>
            <a:off x="548640" y="3566160"/>
            <a:ext cx="502920" cy="502920"/>
          </a:xfrm>
          <a:prstGeom prst="ellipse">
            <a:avLst/>
          </a:prstGeom>
          <a:solidFill>
            <a:srgbClr val="065A82"/>
          </a:solidFill>
          <a:ln/>
        </p:spPr>
        <p:txBody>
          <a:bodyPr/>
          <a:lstStyle/>
          <a:p>
            <a:endParaRPr lang="zh-CN" altLang="en-US"/>
          </a:p>
        </p:txBody>
      </p:sp>
      <p:sp>
        <p:nvSpPr>
          <p:cNvPr id="21" name="Text 19"/>
          <p:cNvSpPr/>
          <p:nvPr/>
        </p:nvSpPr>
        <p:spPr>
          <a:xfrm>
            <a:off x="548640" y="35661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22" name="Text 20"/>
          <p:cNvSpPr/>
          <p:nvPr/>
        </p:nvSpPr>
        <p:spPr>
          <a:xfrm>
            <a:off x="1234440" y="3547872"/>
            <a:ext cx="2926080" cy="32004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本体模型的迭代适配</a:t>
            </a:r>
            <a:endParaRPr lang="en-US" sz="1500" dirty="0"/>
          </a:p>
        </p:txBody>
      </p:sp>
      <p:sp>
        <p:nvSpPr>
          <p:cNvPr id="23" name="Text 21"/>
          <p:cNvSpPr/>
          <p:nvPr/>
        </p:nvSpPr>
        <p:spPr>
          <a:xfrm>
            <a:off x="1234440" y="3886200"/>
            <a:ext cx="2926080" cy="27432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适配不同企业的既有应用系统</a:t>
            </a:r>
            <a:endParaRPr lang="en-US" sz="1100" dirty="0"/>
          </a:p>
        </p:txBody>
      </p:sp>
      <p:sp>
        <p:nvSpPr>
          <p:cNvPr id="24" name="Shape 22"/>
          <p:cNvSpPr/>
          <p:nvPr/>
        </p:nvSpPr>
        <p:spPr>
          <a:xfrm>
            <a:off x="4754880" y="3566160"/>
            <a:ext cx="502920" cy="502920"/>
          </a:xfrm>
          <a:prstGeom prst="ellipse">
            <a:avLst/>
          </a:prstGeom>
          <a:solidFill>
            <a:srgbClr val="065A82"/>
          </a:solidFill>
          <a:ln/>
        </p:spPr>
        <p:txBody>
          <a:bodyPr/>
          <a:lstStyle/>
          <a:p>
            <a:endParaRPr lang="zh-CN" altLang="en-US"/>
          </a:p>
        </p:txBody>
      </p:sp>
      <p:sp>
        <p:nvSpPr>
          <p:cNvPr id="25" name="Text 23"/>
          <p:cNvSpPr/>
          <p:nvPr/>
        </p:nvSpPr>
        <p:spPr>
          <a:xfrm>
            <a:off x="4754880" y="35661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06</a:t>
            </a:r>
            <a:endParaRPr lang="en-US" sz="1800" dirty="0"/>
          </a:p>
        </p:txBody>
      </p:sp>
      <p:sp>
        <p:nvSpPr>
          <p:cNvPr id="26" name="Text 24"/>
          <p:cNvSpPr/>
          <p:nvPr/>
        </p:nvSpPr>
        <p:spPr>
          <a:xfrm>
            <a:off x="5440680" y="3547872"/>
            <a:ext cx="2926080" cy="32004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企业运维与路线图</a:t>
            </a:r>
            <a:endParaRPr lang="en-US" sz="1500" dirty="0"/>
          </a:p>
        </p:txBody>
      </p:sp>
      <p:sp>
        <p:nvSpPr>
          <p:cNvPr id="27" name="Text 25"/>
          <p:cNvSpPr/>
          <p:nvPr/>
        </p:nvSpPr>
        <p:spPr>
          <a:xfrm>
            <a:off x="5440680" y="3886200"/>
            <a:ext cx="2926080" cy="27432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监控·日志·告警·多租户·产品规划</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457200" y="1188720"/>
            <a:ext cx="54864" cy="1188720"/>
          </a:xfrm>
          <a:prstGeom prst="rect">
            <a:avLst/>
          </a:prstGeom>
          <a:solidFill>
            <a:srgbClr val="22A699"/>
          </a:solidFill>
          <a:ln/>
        </p:spPr>
        <p:txBody>
          <a:bodyPr/>
          <a:lstStyle/>
          <a:p>
            <a:endParaRPr lang="zh-CN" altLang="en-US"/>
          </a:p>
        </p:txBody>
      </p:sp>
      <p:sp>
        <p:nvSpPr>
          <p:cNvPr id="4" name="Text 2"/>
          <p:cNvSpPr/>
          <p:nvPr/>
        </p:nvSpPr>
        <p:spPr>
          <a:xfrm>
            <a:off x="731520" y="1005840"/>
            <a:ext cx="1371600" cy="548640"/>
          </a:xfrm>
          <a:prstGeom prst="rect">
            <a:avLst/>
          </a:prstGeom>
          <a:noFill/>
          <a:ln/>
        </p:spPr>
        <p:txBody>
          <a:bodyPr wrap="square" lIns="0" tIns="0" rIns="0" bIns="0" rtlCol="0" anchor="ctr"/>
          <a:lstStyle/>
          <a:p>
            <a:pPr marL="0" indent="0">
              <a:buNone/>
            </a:pPr>
            <a:r>
              <a:rPr lang="en-US" sz="4000" b="1" dirty="0">
                <a:solidFill>
                  <a:srgbClr val="22A699"/>
                </a:solidFill>
                <a:latin typeface="Arial" pitchFamily="34" charset="0"/>
                <a:ea typeface="Arial" pitchFamily="34" charset="-122"/>
                <a:cs typeface="Arial" pitchFamily="34" charset="-120"/>
              </a:rPr>
              <a:t>01</a:t>
            </a:r>
            <a:endParaRPr lang="en-US" sz="4000" dirty="0"/>
          </a:p>
        </p:txBody>
      </p:sp>
      <p:sp>
        <p:nvSpPr>
          <p:cNvPr id="5" name="Text 3"/>
          <p:cNvSpPr/>
          <p:nvPr/>
        </p:nvSpPr>
        <p:spPr>
          <a:xfrm>
            <a:off x="731520" y="160020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企业 Agentic AI 时代</a:t>
            </a:r>
            <a:endParaRPr lang="en-US" sz="3400" dirty="0"/>
          </a:p>
        </p:txBody>
      </p:sp>
      <p:sp>
        <p:nvSpPr>
          <p:cNvPr id="6" name="Text 4"/>
          <p:cNvSpPr/>
          <p:nvPr/>
        </p:nvSpPr>
        <p:spPr>
          <a:xfrm>
            <a:off x="731520" y="2286000"/>
            <a:ext cx="7315200" cy="36576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业务语义为何成为企业AI的核心基础设施</a:t>
            </a:r>
            <a:endParaRPr lang="en-US" sz="1400" dirty="0"/>
          </a:p>
        </p:txBody>
      </p:sp>
      <p:sp>
        <p:nvSpPr>
          <p:cNvPr id="7" name="Shape 5"/>
          <p:cNvSpPr/>
          <p:nvPr/>
        </p:nvSpPr>
        <p:spPr>
          <a:xfrm>
            <a:off x="548640" y="2926080"/>
            <a:ext cx="2560320" cy="1645920"/>
          </a:xfrm>
          <a:prstGeom prst="rect">
            <a:avLst/>
          </a:prstGeom>
          <a:solidFill>
            <a:srgbClr val="FFFFFF">
              <a:alpha val="5000"/>
            </a:srgbClr>
          </a:solidFill>
          <a:ln w="6350">
            <a:solidFill>
              <a:srgbClr val="1C7293">
                <a:alpha val="30000"/>
              </a:srgbClr>
            </a:solidFill>
            <a:prstDash val="solid"/>
          </a:ln>
        </p:spPr>
        <p:txBody>
          <a:bodyPr/>
          <a:lstStyle/>
          <a:p>
            <a:endParaRPr lang="zh-CN" altLang="en-US"/>
          </a:p>
        </p:txBody>
      </p:sp>
      <p:sp>
        <p:nvSpPr>
          <p:cNvPr id="8" name="Text 6"/>
          <p:cNvSpPr/>
          <p:nvPr/>
        </p:nvSpPr>
        <p:spPr>
          <a:xfrm>
            <a:off x="548640" y="3063240"/>
            <a:ext cx="2560320" cy="594360"/>
          </a:xfrm>
          <a:prstGeom prst="rect">
            <a:avLst/>
          </a:prstGeom>
          <a:noFill/>
          <a:ln/>
        </p:spPr>
        <p:txBody>
          <a:bodyPr wrap="square" lIns="0" tIns="0" rIns="0" bIns="0" rtlCol="0" anchor="ctr"/>
          <a:lstStyle/>
          <a:p>
            <a:pPr marL="0" indent="0" algn="ctr">
              <a:buNone/>
            </a:pPr>
            <a:r>
              <a:rPr lang="en-US" sz="3600" b="1" dirty="0">
                <a:solidFill>
                  <a:srgbClr val="22A699"/>
                </a:solidFill>
                <a:latin typeface="Arial" pitchFamily="34" charset="0"/>
                <a:ea typeface="Arial" pitchFamily="34" charset="-122"/>
                <a:cs typeface="Arial" pitchFamily="34" charset="-120"/>
              </a:rPr>
              <a:t>85%</a:t>
            </a:r>
            <a:endParaRPr lang="en-US" sz="3600" dirty="0"/>
          </a:p>
        </p:txBody>
      </p:sp>
      <p:sp>
        <p:nvSpPr>
          <p:cNvPr id="9" name="Text 7"/>
          <p:cNvSpPr/>
          <p:nvPr/>
        </p:nvSpPr>
        <p:spPr>
          <a:xfrm>
            <a:off x="731520" y="3749040"/>
            <a:ext cx="2194560" cy="640080"/>
          </a:xfrm>
          <a:prstGeom prst="rect">
            <a:avLst/>
          </a:prstGeom>
          <a:noFill/>
          <a:ln/>
        </p:spPr>
        <p:txBody>
          <a:bodyPr wrap="square" lIns="0" tIns="0" rIns="0" bIns="0" rtlCol="0" anchor="ctr"/>
          <a:lstStyle/>
          <a:p>
            <a:pPr marL="0" indent="0" algn="ctr">
              <a:buNone/>
            </a:pPr>
            <a:r>
              <a:rPr lang="en-US" sz="1300" dirty="0">
                <a:solidFill>
                  <a:srgbClr val="CBD5E1"/>
                </a:solidFill>
                <a:latin typeface="Arial" pitchFamily="34" charset="0"/>
                <a:ea typeface="Arial" pitchFamily="34" charset="-122"/>
                <a:cs typeface="Arial" pitchFamily="34" charset="-120"/>
              </a:rPr>
              <a:t>企业AI项目</a:t>
            </a:r>
            <a:endParaRPr lang="en-US" sz="1300" dirty="0"/>
          </a:p>
          <a:p>
            <a:pPr marL="0" indent="0" algn="ctr">
              <a:buNone/>
            </a:pPr>
            <a:r>
              <a:rPr lang="en-US" sz="1300" dirty="0">
                <a:solidFill>
                  <a:srgbClr val="CBD5E1"/>
                </a:solidFill>
                <a:latin typeface="Arial" pitchFamily="34" charset="0"/>
                <a:ea typeface="Arial" pitchFamily="34" charset="-122"/>
                <a:cs typeface="Arial" pitchFamily="34" charset="-120"/>
              </a:rPr>
              <a:t>未能规模化落地</a:t>
            </a:r>
            <a:endParaRPr lang="en-US" sz="1300" dirty="0"/>
          </a:p>
        </p:txBody>
      </p:sp>
      <p:sp>
        <p:nvSpPr>
          <p:cNvPr id="10" name="Shape 8"/>
          <p:cNvSpPr/>
          <p:nvPr/>
        </p:nvSpPr>
        <p:spPr>
          <a:xfrm>
            <a:off x="3383280" y="2926080"/>
            <a:ext cx="2560320" cy="1645920"/>
          </a:xfrm>
          <a:prstGeom prst="rect">
            <a:avLst/>
          </a:prstGeom>
          <a:solidFill>
            <a:srgbClr val="FFFFFF">
              <a:alpha val="5000"/>
            </a:srgbClr>
          </a:solidFill>
          <a:ln w="6350">
            <a:solidFill>
              <a:srgbClr val="1C7293">
                <a:alpha val="30000"/>
              </a:srgbClr>
            </a:solidFill>
            <a:prstDash val="solid"/>
          </a:ln>
        </p:spPr>
        <p:txBody>
          <a:bodyPr/>
          <a:lstStyle/>
          <a:p>
            <a:endParaRPr lang="zh-CN" altLang="en-US"/>
          </a:p>
        </p:txBody>
      </p:sp>
      <p:sp>
        <p:nvSpPr>
          <p:cNvPr id="11" name="Text 9"/>
          <p:cNvSpPr/>
          <p:nvPr/>
        </p:nvSpPr>
        <p:spPr>
          <a:xfrm>
            <a:off x="3383280" y="3063240"/>
            <a:ext cx="2560320" cy="594360"/>
          </a:xfrm>
          <a:prstGeom prst="rect">
            <a:avLst/>
          </a:prstGeom>
          <a:noFill/>
          <a:ln/>
        </p:spPr>
        <p:txBody>
          <a:bodyPr wrap="square" lIns="0" tIns="0" rIns="0" bIns="0" rtlCol="0" anchor="ctr"/>
          <a:lstStyle/>
          <a:p>
            <a:pPr marL="0" indent="0" algn="ctr">
              <a:buNone/>
            </a:pPr>
            <a:r>
              <a:rPr lang="en-US" sz="3600" b="1" dirty="0">
                <a:solidFill>
                  <a:srgbClr val="E78C07"/>
                </a:solidFill>
                <a:latin typeface="Arial" pitchFamily="34" charset="0"/>
                <a:ea typeface="Arial" pitchFamily="34" charset="-122"/>
                <a:cs typeface="Arial" pitchFamily="34" charset="-120"/>
              </a:rPr>
              <a:t>60%</a:t>
            </a:r>
            <a:endParaRPr lang="en-US" sz="3600" dirty="0"/>
          </a:p>
        </p:txBody>
      </p:sp>
      <p:sp>
        <p:nvSpPr>
          <p:cNvPr id="12" name="Text 10"/>
          <p:cNvSpPr/>
          <p:nvPr/>
        </p:nvSpPr>
        <p:spPr>
          <a:xfrm>
            <a:off x="3566160" y="3749040"/>
            <a:ext cx="2194560" cy="640080"/>
          </a:xfrm>
          <a:prstGeom prst="rect">
            <a:avLst/>
          </a:prstGeom>
          <a:noFill/>
          <a:ln/>
        </p:spPr>
        <p:txBody>
          <a:bodyPr wrap="square" lIns="0" tIns="0" rIns="0" bIns="0" rtlCol="0" anchor="ctr"/>
          <a:lstStyle/>
          <a:p>
            <a:pPr marL="0" indent="0" algn="ctr">
              <a:buNone/>
            </a:pPr>
            <a:r>
              <a:rPr lang="en-US" sz="1300" dirty="0">
                <a:solidFill>
                  <a:srgbClr val="CBD5E1"/>
                </a:solidFill>
                <a:latin typeface="Arial" pitchFamily="34" charset="0"/>
                <a:ea typeface="Arial" pitchFamily="34" charset="-122"/>
                <a:cs typeface="Arial" pitchFamily="34" charset="-120"/>
              </a:rPr>
              <a:t>客服满意度</a:t>
            </a:r>
            <a:endParaRPr lang="en-US" sz="1300" dirty="0"/>
          </a:p>
          <a:p>
            <a:pPr marL="0" indent="0" algn="ctr">
              <a:buNone/>
            </a:pPr>
            <a:r>
              <a:rPr lang="en-US" sz="1300" dirty="0">
                <a:solidFill>
                  <a:srgbClr val="CBD5E1"/>
                </a:solidFill>
                <a:latin typeface="Arial" pitchFamily="34" charset="0"/>
                <a:ea typeface="Arial" pitchFamily="34" charset="-122"/>
                <a:cs typeface="Arial" pitchFamily="34" charset="-120"/>
              </a:rPr>
              <a:t>低于预期</a:t>
            </a:r>
            <a:endParaRPr lang="en-US" sz="1300" dirty="0"/>
          </a:p>
        </p:txBody>
      </p:sp>
      <p:sp>
        <p:nvSpPr>
          <p:cNvPr id="13" name="Shape 11"/>
          <p:cNvSpPr/>
          <p:nvPr/>
        </p:nvSpPr>
        <p:spPr>
          <a:xfrm>
            <a:off x="6217920" y="2926080"/>
            <a:ext cx="2560320" cy="1645920"/>
          </a:xfrm>
          <a:prstGeom prst="rect">
            <a:avLst/>
          </a:prstGeom>
          <a:solidFill>
            <a:srgbClr val="FFFFFF">
              <a:alpha val="5000"/>
            </a:srgbClr>
          </a:solidFill>
          <a:ln w="6350">
            <a:solidFill>
              <a:srgbClr val="1C7293">
                <a:alpha val="30000"/>
              </a:srgbClr>
            </a:solidFill>
            <a:prstDash val="solid"/>
          </a:ln>
        </p:spPr>
        <p:txBody>
          <a:bodyPr/>
          <a:lstStyle/>
          <a:p>
            <a:endParaRPr lang="zh-CN" altLang="en-US"/>
          </a:p>
        </p:txBody>
      </p:sp>
      <p:sp>
        <p:nvSpPr>
          <p:cNvPr id="14" name="Text 12"/>
          <p:cNvSpPr/>
          <p:nvPr/>
        </p:nvSpPr>
        <p:spPr>
          <a:xfrm>
            <a:off x="6217920" y="3063240"/>
            <a:ext cx="2560320" cy="594360"/>
          </a:xfrm>
          <a:prstGeom prst="rect">
            <a:avLst/>
          </a:prstGeom>
          <a:noFill/>
          <a:ln/>
        </p:spPr>
        <p:txBody>
          <a:bodyPr wrap="square" lIns="0" tIns="0" rIns="0" bIns="0" rtlCol="0" anchor="ctr"/>
          <a:lstStyle/>
          <a:p>
            <a:pPr marL="0" indent="0" algn="ctr">
              <a:buNone/>
            </a:pPr>
            <a:r>
              <a:rPr lang="en-US" sz="3600" b="1" dirty="0">
                <a:solidFill>
                  <a:srgbClr val="BB0000"/>
                </a:solidFill>
                <a:latin typeface="Arial" pitchFamily="34" charset="0"/>
                <a:ea typeface="Arial" pitchFamily="34" charset="-122"/>
                <a:cs typeface="Arial" pitchFamily="34" charset="-120"/>
              </a:rPr>
              <a:t>3x</a:t>
            </a:r>
            <a:endParaRPr lang="en-US" sz="3600" dirty="0"/>
          </a:p>
        </p:txBody>
      </p:sp>
      <p:sp>
        <p:nvSpPr>
          <p:cNvPr id="15" name="Text 13"/>
          <p:cNvSpPr/>
          <p:nvPr/>
        </p:nvSpPr>
        <p:spPr>
          <a:xfrm>
            <a:off x="6400800" y="3749040"/>
            <a:ext cx="2194560" cy="640080"/>
          </a:xfrm>
          <a:prstGeom prst="rect">
            <a:avLst/>
          </a:prstGeom>
          <a:noFill/>
          <a:ln/>
        </p:spPr>
        <p:txBody>
          <a:bodyPr wrap="square" lIns="0" tIns="0" rIns="0" bIns="0" rtlCol="0" anchor="ctr"/>
          <a:lstStyle/>
          <a:p>
            <a:pPr marL="0" indent="0" algn="ctr">
              <a:buNone/>
            </a:pPr>
            <a:r>
              <a:rPr lang="en-US" sz="1300" dirty="0">
                <a:solidFill>
                  <a:srgbClr val="CBD5E1"/>
                </a:solidFill>
                <a:latin typeface="Arial" pitchFamily="34" charset="0"/>
                <a:ea typeface="Arial" pitchFamily="34" charset="-122"/>
                <a:cs typeface="Arial" pitchFamily="34" charset="-120"/>
              </a:rPr>
              <a:t>AI幻觉导致</a:t>
            </a:r>
            <a:endParaRPr lang="en-US" sz="1300" dirty="0"/>
          </a:p>
          <a:p>
            <a:pPr marL="0" indent="0" algn="ctr">
              <a:buNone/>
            </a:pPr>
            <a:r>
              <a:rPr lang="en-US" sz="1300" dirty="0">
                <a:solidFill>
                  <a:srgbClr val="CBD5E1"/>
                </a:solidFill>
                <a:latin typeface="Arial" pitchFamily="34" charset="0"/>
                <a:ea typeface="Arial" pitchFamily="34" charset="-122"/>
                <a:cs typeface="Arial" pitchFamily="34" charset="-120"/>
              </a:rPr>
              <a:t>业务错误率上升</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Arial" pitchFamily="34" charset="0"/>
                <a:ea typeface="Arial" pitchFamily="34" charset="-122"/>
                <a:cs typeface="Arial" pitchFamily="34" charset="-120"/>
              </a:rPr>
              <a:t>企业 AI 落地的四大根本挑战</a:t>
            </a:r>
            <a:endParaRPr lang="en-US" sz="2600" dirty="0"/>
          </a:p>
        </p:txBody>
      </p:sp>
      <p:sp>
        <p:nvSpPr>
          <p:cNvPr id="4" name="Shape 2"/>
          <p:cNvSpPr/>
          <p:nvPr/>
        </p:nvSpPr>
        <p:spPr>
          <a:xfrm>
            <a:off x="457200" y="1005840"/>
            <a:ext cx="8229600" cy="841248"/>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zh-CN" altLang="en-US"/>
          </a:p>
        </p:txBody>
      </p:sp>
      <p:sp>
        <p:nvSpPr>
          <p:cNvPr id="5" name="Shape 3"/>
          <p:cNvSpPr/>
          <p:nvPr/>
        </p:nvSpPr>
        <p:spPr>
          <a:xfrm>
            <a:off x="457200" y="1005840"/>
            <a:ext cx="54864" cy="841248"/>
          </a:xfrm>
          <a:prstGeom prst="rect">
            <a:avLst/>
          </a:prstGeom>
          <a:solidFill>
            <a:srgbClr val="065A82"/>
          </a:solidFill>
          <a:ln/>
        </p:spPr>
        <p:txBody>
          <a:bodyPr/>
          <a:lstStyle/>
          <a:p>
            <a:endParaRPr lang="zh-CN" altLang="en-US"/>
          </a:p>
        </p:txBody>
      </p:sp>
      <p:pic>
        <p:nvPicPr>
          <p:cNvPr id="6" name="Image 0" descr="preencoded.png"/>
          <p:cNvPicPr>
            <a:picLocks noChangeAspect="1"/>
          </p:cNvPicPr>
          <p:nvPr/>
        </p:nvPicPr>
        <p:blipFill>
          <a:blip r:embed="rId3"/>
          <a:stretch>
            <a:fillRect/>
          </a:stretch>
        </p:blipFill>
        <p:spPr>
          <a:xfrm>
            <a:off x="731520" y="1207008"/>
            <a:ext cx="411480" cy="411480"/>
          </a:xfrm>
          <a:prstGeom prst="rect">
            <a:avLst/>
          </a:prstGeom>
        </p:spPr>
      </p:pic>
      <p:sp>
        <p:nvSpPr>
          <p:cNvPr id="7" name="Text 4"/>
          <p:cNvSpPr/>
          <p:nvPr/>
        </p:nvSpPr>
        <p:spPr>
          <a:xfrm>
            <a:off x="1371600" y="1097280"/>
            <a:ext cx="4572000" cy="32004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语义鸿沟</a:t>
            </a:r>
            <a:endParaRPr lang="en-US" sz="1600" dirty="0"/>
          </a:p>
        </p:txBody>
      </p:sp>
      <p:sp>
        <p:nvSpPr>
          <p:cNvPr id="8" name="Text 5"/>
          <p:cNvSpPr/>
          <p:nvPr/>
        </p:nvSpPr>
        <p:spPr>
          <a:xfrm>
            <a:off x="1371600" y="1417320"/>
            <a:ext cx="5029200" cy="32004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大模型不知道"客户"在CRM中对应哪张表，不理解"状态=3"代表什么业务含义</a:t>
            </a:r>
            <a:endParaRPr lang="en-US" sz="1100" dirty="0"/>
          </a:p>
        </p:txBody>
      </p:sp>
      <p:sp>
        <p:nvSpPr>
          <p:cNvPr id="9" name="Shape 6"/>
          <p:cNvSpPr/>
          <p:nvPr/>
        </p:nvSpPr>
        <p:spPr>
          <a:xfrm>
            <a:off x="7132320" y="1234440"/>
            <a:ext cx="1371600" cy="365760"/>
          </a:xfrm>
          <a:prstGeom prst="rect">
            <a:avLst/>
          </a:prstGeom>
          <a:solidFill>
            <a:srgbClr val="BB0000">
              <a:alpha val="15000"/>
            </a:srgbClr>
          </a:solidFill>
          <a:ln/>
        </p:spPr>
        <p:txBody>
          <a:bodyPr/>
          <a:lstStyle/>
          <a:p>
            <a:endParaRPr lang="zh-CN" altLang="en-US"/>
          </a:p>
        </p:txBody>
      </p:sp>
      <p:sp>
        <p:nvSpPr>
          <p:cNvPr id="10" name="Text 7"/>
          <p:cNvSpPr/>
          <p:nvPr/>
        </p:nvSpPr>
        <p:spPr>
          <a:xfrm>
            <a:off x="7132320" y="1234440"/>
            <a:ext cx="1371600" cy="365760"/>
          </a:xfrm>
          <a:prstGeom prst="rect">
            <a:avLst/>
          </a:prstGeom>
          <a:noFill/>
          <a:ln/>
        </p:spPr>
        <p:txBody>
          <a:bodyPr wrap="square" lIns="0" tIns="0" rIns="0" bIns="0" rtlCol="0" anchor="ctr"/>
          <a:lstStyle/>
          <a:p>
            <a:pPr marL="0" indent="0" algn="ctr">
              <a:buNone/>
            </a:pPr>
            <a:r>
              <a:rPr lang="en-US" sz="1100" b="1" dirty="0">
                <a:solidFill>
                  <a:srgbClr val="BB0000"/>
                </a:solidFill>
                <a:latin typeface="Arial" pitchFamily="34" charset="0"/>
                <a:ea typeface="Arial" pitchFamily="34" charset="-122"/>
                <a:cs typeface="Arial" pitchFamily="34" charset="-120"/>
              </a:rPr>
              <a:t>回答准确率 &lt;60%</a:t>
            </a:r>
            <a:endParaRPr lang="en-US" sz="1100" dirty="0"/>
          </a:p>
        </p:txBody>
      </p:sp>
      <p:sp>
        <p:nvSpPr>
          <p:cNvPr id="11" name="Shape 8"/>
          <p:cNvSpPr/>
          <p:nvPr/>
        </p:nvSpPr>
        <p:spPr>
          <a:xfrm>
            <a:off x="457200" y="1993392"/>
            <a:ext cx="8229600" cy="841248"/>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zh-CN" altLang="en-US"/>
          </a:p>
        </p:txBody>
      </p:sp>
      <p:sp>
        <p:nvSpPr>
          <p:cNvPr id="12" name="Shape 9"/>
          <p:cNvSpPr/>
          <p:nvPr/>
        </p:nvSpPr>
        <p:spPr>
          <a:xfrm>
            <a:off x="457200" y="1993392"/>
            <a:ext cx="54864" cy="841248"/>
          </a:xfrm>
          <a:prstGeom prst="rect">
            <a:avLst/>
          </a:prstGeom>
          <a:solidFill>
            <a:srgbClr val="065A82"/>
          </a:solidFill>
          <a:ln/>
        </p:spPr>
        <p:txBody>
          <a:bodyPr/>
          <a:lstStyle/>
          <a:p>
            <a:endParaRPr lang="zh-CN" altLang="en-US"/>
          </a:p>
        </p:txBody>
      </p:sp>
      <p:pic>
        <p:nvPicPr>
          <p:cNvPr id="13" name="Image 1" descr="preencoded.png"/>
          <p:cNvPicPr>
            <a:picLocks noChangeAspect="1"/>
          </p:cNvPicPr>
          <p:nvPr/>
        </p:nvPicPr>
        <p:blipFill>
          <a:blip r:embed="rId4"/>
          <a:stretch>
            <a:fillRect/>
          </a:stretch>
        </p:blipFill>
        <p:spPr>
          <a:xfrm>
            <a:off x="731520" y="2194560"/>
            <a:ext cx="411480" cy="411480"/>
          </a:xfrm>
          <a:prstGeom prst="rect">
            <a:avLst/>
          </a:prstGeom>
        </p:spPr>
      </p:pic>
      <p:sp>
        <p:nvSpPr>
          <p:cNvPr id="14" name="Text 10"/>
          <p:cNvSpPr/>
          <p:nvPr/>
        </p:nvSpPr>
        <p:spPr>
          <a:xfrm>
            <a:off x="1371600" y="2084832"/>
            <a:ext cx="4572000" cy="32004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幻觉失控</a:t>
            </a:r>
            <a:endParaRPr lang="en-US" sz="1600" dirty="0"/>
          </a:p>
        </p:txBody>
      </p:sp>
      <p:sp>
        <p:nvSpPr>
          <p:cNvPr id="15" name="Text 11"/>
          <p:cNvSpPr/>
          <p:nvPr/>
        </p:nvSpPr>
        <p:spPr>
          <a:xfrm>
            <a:off x="1371600" y="2404872"/>
            <a:ext cx="5029200" cy="32004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AI可能生成不存在的订单编号，可能承诺不存在的库存，可能提供违背业务政策的建议</a:t>
            </a:r>
            <a:endParaRPr lang="en-US" sz="1100" dirty="0"/>
          </a:p>
        </p:txBody>
      </p:sp>
      <p:sp>
        <p:nvSpPr>
          <p:cNvPr id="16" name="Shape 12"/>
          <p:cNvSpPr/>
          <p:nvPr/>
        </p:nvSpPr>
        <p:spPr>
          <a:xfrm>
            <a:off x="7132320" y="2221992"/>
            <a:ext cx="1371600" cy="365760"/>
          </a:xfrm>
          <a:prstGeom prst="rect">
            <a:avLst/>
          </a:prstGeom>
          <a:solidFill>
            <a:srgbClr val="BB0000">
              <a:alpha val="15000"/>
            </a:srgbClr>
          </a:solidFill>
          <a:ln/>
        </p:spPr>
        <p:txBody>
          <a:bodyPr/>
          <a:lstStyle/>
          <a:p>
            <a:endParaRPr lang="zh-CN" altLang="en-US"/>
          </a:p>
        </p:txBody>
      </p:sp>
      <p:sp>
        <p:nvSpPr>
          <p:cNvPr id="17" name="Text 13"/>
          <p:cNvSpPr/>
          <p:nvPr/>
        </p:nvSpPr>
        <p:spPr>
          <a:xfrm>
            <a:off x="7132320" y="2221992"/>
            <a:ext cx="1371600" cy="365760"/>
          </a:xfrm>
          <a:prstGeom prst="rect">
            <a:avLst/>
          </a:prstGeom>
          <a:noFill/>
          <a:ln/>
        </p:spPr>
        <p:txBody>
          <a:bodyPr wrap="square" lIns="0" tIns="0" rIns="0" bIns="0" rtlCol="0" anchor="ctr"/>
          <a:lstStyle/>
          <a:p>
            <a:pPr marL="0" indent="0" algn="ctr">
              <a:buNone/>
            </a:pPr>
            <a:r>
              <a:rPr lang="en-US" sz="1100" b="1" dirty="0">
                <a:solidFill>
                  <a:srgbClr val="BB0000"/>
                </a:solidFill>
                <a:latin typeface="Arial" pitchFamily="34" charset="0"/>
                <a:ea typeface="Arial" pitchFamily="34" charset="-122"/>
                <a:cs typeface="Arial" pitchFamily="34" charset="-120"/>
              </a:rPr>
              <a:t>业务错误率 &gt;5%</a:t>
            </a:r>
            <a:endParaRPr lang="en-US" sz="1100" dirty="0"/>
          </a:p>
        </p:txBody>
      </p:sp>
      <p:sp>
        <p:nvSpPr>
          <p:cNvPr id="18" name="Shape 14"/>
          <p:cNvSpPr/>
          <p:nvPr/>
        </p:nvSpPr>
        <p:spPr>
          <a:xfrm>
            <a:off x="457200" y="2980944"/>
            <a:ext cx="8229600" cy="841248"/>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zh-CN" altLang="en-US"/>
          </a:p>
        </p:txBody>
      </p:sp>
      <p:sp>
        <p:nvSpPr>
          <p:cNvPr id="19" name="Shape 15"/>
          <p:cNvSpPr/>
          <p:nvPr/>
        </p:nvSpPr>
        <p:spPr>
          <a:xfrm>
            <a:off x="457200" y="2980944"/>
            <a:ext cx="54864" cy="841248"/>
          </a:xfrm>
          <a:prstGeom prst="rect">
            <a:avLst/>
          </a:prstGeom>
          <a:solidFill>
            <a:srgbClr val="065A82"/>
          </a:solidFill>
          <a:ln/>
        </p:spPr>
        <p:txBody>
          <a:bodyPr/>
          <a:lstStyle/>
          <a:p>
            <a:endParaRPr lang="zh-CN" altLang="en-US"/>
          </a:p>
        </p:txBody>
      </p:sp>
      <p:pic>
        <p:nvPicPr>
          <p:cNvPr id="20" name="Image 2" descr="preencoded.png"/>
          <p:cNvPicPr>
            <a:picLocks noChangeAspect="1"/>
          </p:cNvPicPr>
          <p:nvPr/>
        </p:nvPicPr>
        <p:blipFill>
          <a:blip r:embed="rId5"/>
          <a:stretch>
            <a:fillRect/>
          </a:stretch>
        </p:blipFill>
        <p:spPr>
          <a:xfrm>
            <a:off x="731520" y="3182112"/>
            <a:ext cx="411480" cy="411480"/>
          </a:xfrm>
          <a:prstGeom prst="rect">
            <a:avLst/>
          </a:prstGeom>
        </p:spPr>
      </p:pic>
      <p:sp>
        <p:nvSpPr>
          <p:cNvPr id="21" name="Text 16"/>
          <p:cNvSpPr/>
          <p:nvPr/>
        </p:nvSpPr>
        <p:spPr>
          <a:xfrm>
            <a:off x="1371600" y="3072384"/>
            <a:ext cx="4572000" cy="32004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执行闭环缺失</a:t>
            </a:r>
            <a:endParaRPr lang="en-US" sz="1600" dirty="0"/>
          </a:p>
        </p:txBody>
      </p:sp>
      <p:sp>
        <p:nvSpPr>
          <p:cNvPr id="22" name="Text 17"/>
          <p:cNvSpPr/>
          <p:nvPr/>
        </p:nvSpPr>
        <p:spPr>
          <a:xfrm>
            <a:off x="1371600" y="3392424"/>
            <a:ext cx="5029200" cy="32004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AI只能给建议无法执行操作，需要执行时仍需人工介入，缺乏执行结果的追踪反馈</a:t>
            </a:r>
            <a:endParaRPr lang="en-US" sz="1100" dirty="0"/>
          </a:p>
        </p:txBody>
      </p:sp>
      <p:sp>
        <p:nvSpPr>
          <p:cNvPr id="23" name="Shape 18"/>
          <p:cNvSpPr/>
          <p:nvPr/>
        </p:nvSpPr>
        <p:spPr>
          <a:xfrm>
            <a:off x="7132320" y="3209544"/>
            <a:ext cx="1371600" cy="365760"/>
          </a:xfrm>
          <a:prstGeom prst="rect">
            <a:avLst/>
          </a:prstGeom>
          <a:solidFill>
            <a:srgbClr val="E78C07">
              <a:alpha val="15000"/>
            </a:srgbClr>
          </a:solidFill>
          <a:ln/>
        </p:spPr>
        <p:txBody>
          <a:bodyPr/>
          <a:lstStyle/>
          <a:p>
            <a:endParaRPr lang="zh-CN" altLang="en-US"/>
          </a:p>
        </p:txBody>
      </p:sp>
      <p:sp>
        <p:nvSpPr>
          <p:cNvPr id="24" name="Text 19"/>
          <p:cNvSpPr/>
          <p:nvPr/>
        </p:nvSpPr>
        <p:spPr>
          <a:xfrm>
            <a:off x="7132320" y="3209544"/>
            <a:ext cx="1371600" cy="365760"/>
          </a:xfrm>
          <a:prstGeom prst="rect">
            <a:avLst/>
          </a:prstGeom>
          <a:noFill/>
          <a:ln/>
        </p:spPr>
        <p:txBody>
          <a:bodyPr wrap="square" lIns="0" tIns="0" rIns="0" bIns="0" rtlCol="0" anchor="ctr"/>
          <a:lstStyle/>
          <a:p>
            <a:pPr marL="0" indent="0" algn="ctr">
              <a:buNone/>
            </a:pPr>
            <a:r>
              <a:rPr lang="en-US" sz="1100" b="1" dirty="0">
                <a:solidFill>
                  <a:srgbClr val="E78C07"/>
                </a:solidFill>
                <a:latin typeface="Arial" pitchFamily="34" charset="0"/>
                <a:ea typeface="Arial" pitchFamily="34" charset="-122"/>
                <a:cs typeface="Arial" pitchFamily="34" charset="-120"/>
              </a:rPr>
              <a:t>人工介入率 &gt;30%</a:t>
            </a:r>
            <a:endParaRPr lang="en-US" sz="1100" dirty="0"/>
          </a:p>
        </p:txBody>
      </p:sp>
      <p:sp>
        <p:nvSpPr>
          <p:cNvPr id="25" name="Shape 20"/>
          <p:cNvSpPr/>
          <p:nvPr/>
        </p:nvSpPr>
        <p:spPr>
          <a:xfrm>
            <a:off x="457200" y="3968496"/>
            <a:ext cx="8229600" cy="841248"/>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zh-CN" altLang="en-US"/>
          </a:p>
        </p:txBody>
      </p:sp>
      <p:sp>
        <p:nvSpPr>
          <p:cNvPr id="26" name="Shape 21"/>
          <p:cNvSpPr/>
          <p:nvPr/>
        </p:nvSpPr>
        <p:spPr>
          <a:xfrm>
            <a:off x="457200" y="3968496"/>
            <a:ext cx="54864" cy="841248"/>
          </a:xfrm>
          <a:prstGeom prst="rect">
            <a:avLst/>
          </a:prstGeom>
          <a:solidFill>
            <a:srgbClr val="065A82"/>
          </a:solidFill>
          <a:ln/>
        </p:spPr>
        <p:txBody>
          <a:bodyPr/>
          <a:lstStyle/>
          <a:p>
            <a:endParaRPr lang="zh-CN" altLang="en-US"/>
          </a:p>
        </p:txBody>
      </p:sp>
      <p:pic>
        <p:nvPicPr>
          <p:cNvPr id="27" name="Image 3" descr="preencoded.png"/>
          <p:cNvPicPr>
            <a:picLocks noChangeAspect="1"/>
          </p:cNvPicPr>
          <p:nvPr/>
        </p:nvPicPr>
        <p:blipFill>
          <a:blip r:embed="rId6"/>
          <a:stretch>
            <a:fillRect/>
          </a:stretch>
        </p:blipFill>
        <p:spPr>
          <a:xfrm>
            <a:off x="731520" y="4169664"/>
            <a:ext cx="411480" cy="411480"/>
          </a:xfrm>
          <a:prstGeom prst="rect">
            <a:avLst/>
          </a:prstGeom>
        </p:spPr>
      </p:pic>
      <p:sp>
        <p:nvSpPr>
          <p:cNvPr id="28" name="Text 22"/>
          <p:cNvSpPr/>
          <p:nvPr/>
        </p:nvSpPr>
        <p:spPr>
          <a:xfrm>
            <a:off x="1371600" y="4059936"/>
            <a:ext cx="4572000" cy="32004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知识流失</a:t>
            </a:r>
            <a:endParaRPr lang="en-US" sz="1600" dirty="0"/>
          </a:p>
        </p:txBody>
      </p:sp>
      <p:sp>
        <p:nvSpPr>
          <p:cNvPr id="29" name="Text 23"/>
          <p:cNvSpPr/>
          <p:nvPr/>
        </p:nvSpPr>
        <p:spPr>
          <a:xfrm>
            <a:off x="1371600" y="4379976"/>
            <a:ext cx="5029200" cy="32004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业务专家的经验无法显式化，跨部门协作缺乏统一语义，人员变动导致知识断层</a:t>
            </a:r>
            <a:endParaRPr lang="en-US" sz="1100" dirty="0"/>
          </a:p>
        </p:txBody>
      </p:sp>
      <p:sp>
        <p:nvSpPr>
          <p:cNvPr id="30" name="Shape 24"/>
          <p:cNvSpPr/>
          <p:nvPr/>
        </p:nvSpPr>
        <p:spPr>
          <a:xfrm>
            <a:off x="7132320" y="4197096"/>
            <a:ext cx="1371600" cy="365760"/>
          </a:xfrm>
          <a:prstGeom prst="rect">
            <a:avLst/>
          </a:prstGeom>
          <a:solidFill>
            <a:srgbClr val="E78C07">
              <a:alpha val="15000"/>
            </a:srgbClr>
          </a:solidFill>
          <a:ln/>
        </p:spPr>
        <p:txBody>
          <a:bodyPr/>
          <a:lstStyle/>
          <a:p>
            <a:endParaRPr lang="zh-CN" altLang="en-US"/>
          </a:p>
        </p:txBody>
      </p:sp>
      <p:sp>
        <p:nvSpPr>
          <p:cNvPr id="31" name="Text 25"/>
          <p:cNvSpPr/>
          <p:nvPr/>
        </p:nvSpPr>
        <p:spPr>
          <a:xfrm>
            <a:off x="7132320" y="4197096"/>
            <a:ext cx="1371600" cy="365760"/>
          </a:xfrm>
          <a:prstGeom prst="rect">
            <a:avLst/>
          </a:prstGeom>
          <a:noFill/>
          <a:ln/>
        </p:spPr>
        <p:txBody>
          <a:bodyPr wrap="square" lIns="0" tIns="0" rIns="0" bIns="0" rtlCol="0" anchor="ctr"/>
          <a:lstStyle/>
          <a:p>
            <a:pPr marL="0" indent="0" algn="ctr">
              <a:buNone/>
            </a:pPr>
            <a:r>
              <a:rPr lang="en-US" sz="1100" b="1" dirty="0">
                <a:solidFill>
                  <a:srgbClr val="E78C07"/>
                </a:solidFill>
                <a:latin typeface="Arial" pitchFamily="34" charset="0"/>
                <a:ea typeface="Arial" pitchFamily="34" charset="-122"/>
                <a:cs typeface="Arial" pitchFamily="34" charset="-120"/>
              </a:rPr>
              <a:t>新人上手周期 &gt;3月</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本体建模平台的核心价值：填补语义鸿沟</a:t>
            </a:r>
            <a:endParaRPr lang="en-US" sz="2400" dirty="0"/>
          </a:p>
        </p:txBody>
      </p:sp>
      <p:sp>
        <p:nvSpPr>
          <p:cNvPr id="4" name="Shape 2"/>
          <p:cNvSpPr/>
          <p:nvPr/>
        </p:nvSpPr>
        <p:spPr>
          <a:xfrm>
            <a:off x="457200" y="1005840"/>
            <a:ext cx="3200400" cy="16459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5" name="Shape 3"/>
          <p:cNvSpPr/>
          <p:nvPr/>
        </p:nvSpPr>
        <p:spPr>
          <a:xfrm>
            <a:off x="457200" y="1005840"/>
            <a:ext cx="3200400" cy="54864"/>
          </a:xfrm>
          <a:prstGeom prst="rect">
            <a:avLst/>
          </a:prstGeom>
          <a:solidFill>
            <a:srgbClr val="065A82"/>
          </a:solidFill>
          <a:ln/>
        </p:spPr>
        <p:txBody>
          <a:bodyPr/>
          <a:lstStyle/>
          <a:p>
            <a:endParaRPr lang="zh-CN" altLang="en-US"/>
          </a:p>
        </p:txBody>
      </p:sp>
      <p:pic>
        <p:nvPicPr>
          <p:cNvPr id="6" name="Image 0" descr="preencoded.png"/>
          <p:cNvPicPr>
            <a:picLocks noChangeAspect="1"/>
          </p:cNvPicPr>
          <p:nvPr/>
        </p:nvPicPr>
        <p:blipFill>
          <a:blip r:embed="rId3"/>
          <a:stretch>
            <a:fillRect/>
          </a:stretch>
        </p:blipFill>
        <p:spPr>
          <a:xfrm>
            <a:off x="731520" y="1234440"/>
            <a:ext cx="365760" cy="365760"/>
          </a:xfrm>
          <a:prstGeom prst="rect">
            <a:avLst/>
          </a:prstGeom>
        </p:spPr>
      </p:pic>
      <p:sp>
        <p:nvSpPr>
          <p:cNvPr id="7" name="Text 4"/>
          <p:cNvSpPr/>
          <p:nvPr/>
        </p:nvSpPr>
        <p:spPr>
          <a:xfrm>
            <a:off x="1234440" y="1234440"/>
            <a:ext cx="2286000" cy="365760"/>
          </a:xfrm>
          <a:prstGeom prst="rect">
            <a:avLst/>
          </a:prstGeom>
          <a:noFill/>
          <a:ln/>
        </p:spPr>
        <p:txBody>
          <a:bodyPr wrap="square" lIns="0" tIns="0" rIns="0" bIns="0" rtlCol="0" anchor="ctr"/>
          <a:lstStyle/>
          <a:p>
            <a:pPr marL="0" indent="0">
              <a:buNone/>
            </a:pPr>
            <a:r>
              <a:rPr lang="en-US" sz="1600" b="1" dirty="0">
                <a:solidFill>
                  <a:srgbClr val="065A82"/>
                </a:solidFill>
                <a:latin typeface="Arial" pitchFamily="34" charset="0"/>
                <a:ea typeface="Arial" pitchFamily="34" charset="-122"/>
                <a:cs typeface="Arial" pitchFamily="34" charset="-120"/>
              </a:rPr>
              <a:t>大模型能力</a:t>
            </a:r>
            <a:endParaRPr lang="en-US" sz="1600" dirty="0"/>
          </a:p>
        </p:txBody>
      </p:sp>
      <p:sp>
        <p:nvSpPr>
          <p:cNvPr id="8" name="Text 5"/>
          <p:cNvSpPr/>
          <p:nvPr/>
        </p:nvSpPr>
        <p:spPr>
          <a:xfrm>
            <a:off x="731520" y="1737360"/>
            <a:ext cx="2560320" cy="822960"/>
          </a:xfrm>
          <a:prstGeom prst="rect">
            <a:avLst/>
          </a:prstGeom>
          <a:noFill/>
          <a:ln/>
        </p:spPr>
        <p:txBody>
          <a:bodyPr wrap="square" rtlCol="0" anchor="ctr"/>
          <a:lstStyle/>
          <a:p>
            <a:pPr marL="342900" indent="-342900">
              <a:buSzPct val="100000"/>
              <a:buChar char="•"/>
            </a:pPr>
            <a:r>
              <a:rPr lang="en-US" sz="1200" dirty="0">
                <a:solidFill>
                  <a:srgbClr val="64748B"/>
                </a:solidFill>
              </a:rPr>
              <a:t>通用智能，知识渊博</a:t>
            </a:r>
            <a:endParaRPr lang="en-US" sz="1200" dirty="0"/>
          </a:p>
          <a:p>
            <a:pPr marL="342900" indent="-342900">
              <a:buSzPct val="100000"/>
              <a:buChar char="•"/>
            </a:pPr>
            <a:r>
              <a:rPr lang="en-US" sz="1200" dirty="0">
                <a:solidFill>
                  <a:srgbClr val="64748B"/>
                </a:solidFill>
              </a:rPr>
              <a:t>推理能力强</a:t>
            </a:r>
            <a:endParaRPr lang="en-US" sz="1200" dirty="0"/>
          </a:p>
          <a:p>
            <a:pPr marL="342900" indent="-342900">
              <a:buSzPct val="100000"/>
              <a:buChar char="•"/>
            </a:pPr>
            <a:r>
              <a:rPr lang="en-US" sz="1200" dirty="0">
                <a:solidFill>
                  <a:srgbClr val="BB0000"/>
                </a:solidFill>
              </a:rPr>
              <a:t>但不理解企业具体业务</a:t>
            </a:r>
            <a:endParaRPr lang="en-US" sz="1200" dirty="0"/>
          </a:p>
        </p:txBody>
      </p:sp>
      <p:sp>
        <p:nvSpPr>
          <p:cNvPr id="9" name="Shape 6"/>
          <p:cNvSpPr/>
          <p:nvPr/>
        </p:nvSpPr>
        <p:spPr>
          <a:xfrm>
            <a:off x="5486400" y="1005840"/>
            <a:ext cx="3200400" cy="16459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10" name="Shape 7"/>
          <p:cNvSpPr/>
          <p:nvPr/>
        </p:nvSpPr>
        <p:spPr>
          <a:xfrm>
            <a:off x="5486400" y="1005840"/>
            <a:ext cx="3200400" cy="54864"/>
          </a:xfrm>
          <a:prstGeom prst="rect">
            <a:avLst/>
          </a:prstGeom>
          <a:solidFill>
            <a:srgbClr val="065A82"/>
          </a:solidFill>
          <a:ln/>
        </p:spPr>
        <p:txBody>
          <a:bodyPr/>
          <a:lstStyle/>
          <a:p>
            <a:endParaRPr lang="zh-CN" altLang="en-US"/>
          </a:p>
        </p:txBody>
      </p:sp>
      <p:pic>
        <p:nvPicPr>
          <p:cNvPr id="11" name="Image 1" descr="preencoded.png"/>
          <p:cNvPicPr>
            <a:picLocks noChangeAspect="1"/>
          </p:cNvPicPr>
          <p:nvPr/>
        </p:nvPicPr>
        <p:blipFill>
          <a:blip r:embed="rId4"/>
          <a:stretch>
            <a:fillRect/>
          </a:stretch>
        </p:blipFill>
        <p:spPr>
          <a:xfrm>
            <a:off x="5760720" y="1234440"/>
            <a:ext cx="365760" cy="365760"/>
          </a:xfrm>
          <a:prstGeom prst="rect">
            <a:avLst/>
          </a:prstGeom>
        </p:spPr>
      </p:pic>
      <p:sp>
        <p:nvSpPr>
          <p:cNvPr id="12" name="Text 8"/>
          <p:cNvSpPr/>
          <p:nvPr/>
        </p:nvSpPr>
        <p:spPr>
          <a:xfrm>
            <a:off x="6263640" y="1234440"/>
            <a:ext cx="2286000" cy="365760"/>
          </a:xfrm>
          <a:prstGeom prst="rect">
            <a:avLst/>
          </a:prstGeom>
          <a:noFill/>
          <a:ln/>
        </p:spPr>
        <p:txBody>
          <a:bodyPr wrap="square" lIns="0" tIns="0" rIns="0" bIns="0" rtlCol="0" anchor="ctr"/>
          <a:lstStyle/>
          <a:p>
            <a:pPr marL="0" indent="0">
              <a:buNone/>
            </a:pPr>
            <a:r>
              <a:rPr lang="en-US" sz="1600" b="1" dirty="0">
                <a:solidFill>
                  <a:srgbClr val="065A82"/>
                </a:solidFill>
                <a:latin typeface="Arial" pitchFamily="34" charset="0"/>
                <a:ea typeface="Arial" pitchFamily="34" charset="-122"/>
                <a:cs typeface="Arial" pitchFamily="34" charset="-120"/>
              </a:rPr>
              <a:t>业务系统</a:t>
            </a:r>
            <a:endParaRPr lang="en-US" sz="1600" dirty="0"/>
          </a:p>
        </p:txBody>
      </p:sp>
      <p:sp>
        <p:nvSpPr>
          <p:cNvPr id="13" name="Text 9"/>
          <p:cNvSpPr/>
          <p:nvPr/>
        </p:nvSpPr>
        <p:spPr>
          <a:xfrm>
            <a:off x="5760720" y="1737360"/>
            <a:ext cx="2560320" cy="822960"/>
          </a:xfrm>
          <a:prstGeom prst="rect">
            <a:avLst/>
          </a:prstGeom>
          <a:noFill/>
          <a:ln/>
        </p:spPr>
        <p:txBody>
          <a:bodyPr wrap="square" rtlCol="0" anchor="ctr"/>
          <a:lstStyle/>
          <a:p>
            <a:pPr marL="342900" indent="-342900">
              <a:buSzPct val="100000"/>
              <a:buChar char="•"/>
            </a:pPr>
            <a:r>
              <a:rPr lang="en-US" sz="1200" dirty="0">
                <a:solidFill>
                  <a:srgbClr val="64748B"/>
                </a:solidFill>
              </a:rPr>
              <a:t>ERP / CRM / MES / WMS</a:t>
            </a:r>
            <a:endParaRPr lang="en-US" sz="1200" dirty="0"/>
          </a:p>
          <a:p>
            <a:pPr marL="342900" indent="-342900">
              <a:buSzPct val="100000"/>
              <a:buChar char="•"/>
            </a:pPr>
            <a:r>
              <a:rPr lang="en-US" sz="1200" dirty="0">
                <a:solidFill>
                  <a:srgbClr val="64748B"/>
                </a:solidFill>
              </a:rPr>
              <a:t>复杂表结构，编码字段</a:t>
            </a:r>
            <a:endParaRPr lang="en-US" sz="1200" dirty="0"/>
          </a:p>
          <a:p>
            <a:pPr marL="342900" indent="-342900">
              <a:buSzPct val="100000"/>
              <a:buChar char="•"/>
            </a:pPr>
            <a:r>
              <a:rPr lang="en-US" sz="1200" dirty="0">
                <a:solidFill>
                  <a:srgbClr val="BB0000"/>
                </a:solidFill>
              </a:rPr>
              <a:t>与LLM语义空间完全隔离</a:t>
            </a:r>
            <a:endParaRPr lang="en-US" sz="1200" dirty="0"/>
          </a:p>
        </p:txBody>
      </p:sp>
      <p:sp>
        <p:nvSpPr>
          <p:cNvPr id="14" name="Shape 10"/>
          <p:cNvSpPr/>
          <p:nvPr/>
        </p:nvSpPr>
        <p:spPr>
          <a:xfrm>
            <a:off x="3703320" y="1280160"/>
            <a:ext cx="1737360" cy="54864"/>
          </a:xfrm>
          <a:prstGeom prst="rect">
            <a:avLst/>
          </a:prstGeom>
          <a:solidFill>
            <a:srgbClr val="BB0000"/>
          </a:solidFill>
          <a:ln/>
        </p:spPr>
        <p:txBody>
          <a:bodyPr/>
          <a:lstStyle/>
          <a:p>
            <a:endParaRPr lang="zh-CN" altLang="en-US"/>
          </a:p>
        </p:txBody>
      </p:sp>
      <p:sp>
        <p:nvSpPr>
          <p:cNvPr id="15" name="Shape 11"/>
          <p:cNvSpPr/>
          <p:nvPr/>
        </p:nvSpPr>
        <p:spPr>
          <a:xfrm>
            <a:off x="4206240" y="1371600"/>
            <a:ext cx="731520" cy="731520"/>
          </a:xfrm>
          <a:prstGeom prst="rect">
            <a:avLst/>
          </a:prstGeom>
          <a:solidFill>
            <a:srgbClr val="BB0000">
              <a:alpha val="10000"/>
            </a:srgbClr>
          </a:solidFill>
          <a:ln/>
        </p:spPr>
        <p:txBody>
          <a:bodyPr/>
          <a:lstStyle/>
          <a:p>
            <a:endParaRPr lang="zh-CN" altLang="en-US"/>
          </a:p>
        </p:txBody>
      </p:sp>
      <p:sp>
        <p:nvSpPr>
          <p:cNvPr id="16" name="Text 12"/>
          <p:cNvSpPr/>
          <p:nvPr/>
        </p:nvSpPr>
        <p:spPr>
          <a:xfrm>
            <a:off x="4206240" y="1444752"/>
            <a:ext cx="731520" cy="594360"/>
          </a:xfrm>
          <a:prstGeom prst="rect">
            <a:avLst/>
          </a:prstGeom>
          <a:noFill/>
          <a:ln/>
        </p:spPr>
        <p:txBody>
          <a:bodyPr wrap="square" lIns="0" tIns="0" rIns="0" bIns="0" rtlCol="0" anchor="ctr"/>
          <a:lstStyle/>
          <a:p>
            <a:pPr marL="0" indent="0" algn="ctr">
              <a:buNone/>
            </a:pPr>
            <a:r>
              <a:rPr lang="en-US" sz="1200" b="1" dirty="0">
                <a:solidFill>
                  <a:srgbClr val="BB0000"/>
                </a:solidFill>
                <a:latin typeface="Arial" pitchFamily="34" charset="0"/>
                <a:ea typeface="Arial" pitchFamily="34" charset="-122"/>
                <a:cs typeface="Arial" pitchFamily="34" charset="-120"/>
              </a:rPr>
              <a:t>语义</a:t>
            </a:r>
            <a:endParaRPr lang="en-US" sz="1200" dirty="0"/>
          </a:p>
          <a:p>
            <a:pPr marL="0" indent="0" algn="ctr">
              <a:buNone/>
            </a:pPr>
            <a:r>
              <a:rPr lang="en-US" sz="1200" b="1" dirty="0">
                <a:solidFill>
                  <a:srgbClr val="BB0000"/>
                </a:solidFill>
                <a:latin typeface="Arial" pitchFamily="34" charset="0"/>
                <a:ea typeface="Arial" pitchFamily="34" charset="-122"/>
                <a:cs typeface="Arial" pitchFamily="34" charset="-120"/>
              </a:rPr>
              <a:t>鸿沟</a:t>
            </a:r>
            <a:endParaRPr lang="en-US" sz="1200" dirty="0"/>
          </a:p>
        </p:txBody>
      </p:sp>
      <p:sp>
        <p:nvSpPr>
          <p:cNvPr id="17" name="Shape 13"/>
          <p:cNvSpPr/>
          <p:nvPr/>
        </p:nvSpPr>
        <p:spPr>
          <a:xfrm>
            <a:off x="457200" y="3017520"/>
            <a:ext cx="8229600" cy="18288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zh-CN" altLang="en-US"/>
          </a:p>
        </p:txBody>
      </p:sp>
      <p:sp>
        <p:nvSpPr>
          <p:cNvPr id="18" name="Shape 14"/>
          <p:cNvSpPr/>
          <p:nvPr/>
        </p:nvSpPr>
        <p:spPr>
          <a:xfrm>
            <a:off x="457200" y="3017520"/>
            <a:ext cx="8229600" cy="54864"/>
          </a:xfrm>
          <a:prstGeom prst="rect">
            <a:avLst/>
          </a:prstGeom>
          <a:solidFill>
            <a:srgbClr val="22A699"/>
          </a:solidFill>
          <a:ln/>
        </p:spPr>
        <p:txBody>
          <a:bodyPr/>
          <a:lstStyle/>
          <a:p>
            <a:endParaRPr lang="zh-CN" altLang="en-US"/>
          </a:p>
        </p:txBody>
      </p:sp>
      <p:pic>
        <p:nvPicPr>
          <p:cNvPr id="19" name="Image 2" descr="preencoded.png"/>
          <p:cNvPicPr>
            <a:picLocks noChangeAspect="1"/>
          </p:cNvPicPr>
          <p:nvPr/>
        </p:nvPicPr>
        <p:blipFill>
          <a:blip r:embed="rId5"/>
          <a:stretch>
            <a:fillRect/>
          </a:stretch>
        </p:blipFill>
        <p:spPr>
          <a:xfrm>
            <a:off x="731520" y="3291840"/>
            <a:ext cx="457200" cy="457200"/>
          </a:xfrm>
          <a:prstGeom prst="rect">
            <a:avLst/>
          </a:prstGeom>
        </p:spPr>
      </p:pic>
      <p:sp>
        <p:nvSpPr>
          <p:cNvPr id="20" name="Text 15"/>
          <p:cNvSpPr/>
          <p:nvPr/>
        </p:nvSpPr>
        <p:spPr>
          <a:xfrm>
            <a:off x="1371600" y="3246120"/>
            <a:ext cx="6400800" cy="457200"/>
          </a:xfrm>
          <a:prstGeom prst="rect">
            <a:avLst/>
          </a:prstGeom>
          <a:noFill/>
          <a:ln/>
        </p:spPr>
        <p:txBody>
          <a:bodyPr wrap="square" lIns="0" tIns="0" rIns="0" bIns="0" rtlCol="0" anchor="ctr"/>
          <a:lstStyle/>
          <a:p>
            <a:pPr marL="0" indent="0">
              <a:buNone/>
            </a:pPr>
            <a:r>
              <a:rPr lang="en-US" sz="1800" b="1" dirty="0">
                <a:solidFill>
                  <a:srgbClr val="065A82"/>
                </a:solidFill>
                <a:latin typeface="Arial" pitchFamily="34" charset="0"/>
                <a:ea typeface="Arial" pitchFamily="34" charset="-122"/>
                <a:cs typeface="Arial" pitchFamily="34" charset="-120"/>
              </a:rPr>
              <a:t>本体建模平台 — 业务语义中台</a:t>
            </a:r>
            <a:endParaRPr lang="en-US" sz="1800" dirty="0"/>
          </a:p>
        </p:txBody>
      </p:sp>
      <p:pic>
        <p:nvPicPr>
          <p:cNvPr id="21" name="Image 3" descr="preencoded.png"/>
          <p:cNvPicPr>
            <a:picLocks noChangeAspect="1"/>
          </p:cNvPicPr>
          <p:nvPr/>
        </p:nvPicPr>
        <p:blipFill>
          <a:blip r:embed="rId6"/>
          <a:stretch>
            <a:fillRect/>
          </a:stretch>
        </p:blipFill>
        <p:spPr>
          <a:xfrm>
            <a:off x="1371600" y="3840480"/>
            <a:ext cx="228600" cy="228600"/>
          </a:xfrm>
          <a:prstGeom prst="rect">
            <a:avLst/>
          </a:prstGeom>
        </p:spPr>
      </p:pic>
      <p:sp>
        <p:nvSpPr>
          <p:cNvPr id="22" name="Text 16"/>
          <p:cNvSpPr/>
          <p:nvPr/>
        </p:nvSpPr>
        <p:spPr>
          <a:xfrm>
            <a:off x="1737360" y="3822192"/>
            <a:ext cx="6400800" cy="27432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将业务数据转化为 AI 可理解的语义模型</a:t>
            </a:r>
            <a:endParaRPr lang="en-US" sz="1200" dirty="0"/>
          </a:p>
        </p:txBody>
      </p:sp>
      <p:pic>
        <p:nvPicPr>
          <p:cNvPr id="23" name="Image 4" descr="preencoded.png"/>
          <p:cNvPicPr>
            <a:picLocks noChangeAspect="1"/>
          </p:cNvPicPr>
          <p:nvPr/>
        </p:nvPicPr>
        <p:blipFill>
          <a:blip r:embed="rId6"/>
          <a:stretch>
            <a:fillRect/>
          </a:stretch>
        </p:blipFill>
        <p:spPr>
          <a:xfrm>
            <a:off x="1371600" y="4160520"/>
            <a:ext cx="228600" cy="228600"/>
          </a:xfrm>
          <a:prstGeom prst="rect">
            <a:avLst/>
          </a:prstGeom>
        </p:spPr>
      </p:pic>
      <p:sp>
        <p:nvSpPr>
          <p:cNvPr id="24" name="Text 17"/>
          <p:cNvSpPr/>
          <p:nvPr/>
        </p:nvSpPr>
        <p:spPr>
          <a:xfrm>
            <a:off x="1737360" y="4142232"/>
            <a:ext cx="6400800" cy="27432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Agent 只能通过 MCP 工具白名单操作业务——结构上不可绕过</a:t>
            </a:r>
            <a:endParaRPr lang="en-US" sz="1200" dirty="0"/>
          </a:p>
        </p:txBody>
      </p:sp>
      <p:pic>
        <p:nvPicPr>
          <p:cNvPr id="25" name="Image 5" descr="preencoded.png"/>
          <p:cNvPicPr>
            <a:picLocks noChangeAspect="1"/>
          </p:cNvPicPr>
          <p:nvPr/>
        </p:nvPicPr>
        <p:blipFill>
          <a:blip r:embed="rId6"/>
          <a:stretch>
            <a:fillRect/>
          </a:stretch>
        </p:blipFill>
        <p:spPr>
          <a:xfrm>
            <a:off x="1371600" y="4480560"/>
            <a:ext cx="228600" cy="228600"/>
          </a:xfrm>
          <a:prstGeom prst="rect">
            <a:avLst/>
          </a:prstGeom>
        </p:spPr>
      </p:pic>
      <p:sp>
        <p:nvSpPr>
          <p:cNvPr id="26" name="Text 18"/>
          <p:cNvSpPr/>
          <p:nvPr/>
        </p:nvSpPr>
        <p:spPr>
          <a:xfrm>
            <a:off x="1737360" y="4462272"/>
            <a:ext cx="6400800" cy="27432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三通道纵深防御：软约束(意图识别) → 硬约束(MCP白名单) → 校验层(执行前)</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22A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0428"/>
            <a:ext cx="8046720" cy="548640"/>
          </a:xfrm>
          <a:prstGeom prst="rect">
            <a:avLst/>
          </a:prstGeom>
          <a:noFill/>
        </p:spPr>
        <p:txBody>
          <a:bodyPr wrap="square">
            <a:spAutoFit/>
          </a:bodyPr>
          <a:lstStyle/>
          <a:p>
            <a:pPr>
              <a:defRPr sz="2400" b="1">
                <a:solidFill>
                  <a:srgbClr val="1E293B"/>
                </a:solidFill>
                <a:latin typeface="Arial"/>
              </a:defRPr>
            </a:pPr>
            <a:r>
              <a:t>什么是本体（Ontology）—— AI 时代的业务知识工程</a:t>
            </a:r>
          </a:p>
        </p:txBody>
      </p:sp>
      <p:sp>
        <p:nvSpPr>
          <p:cNvPr id="4" name="Rectangle 3"/>
          <p:cNvSpPr/>
          <p:nvPr/>
        </p:nvSpPr>
        <p:spPr>
          <a:xfrm>
            <a:off x="457200" y="900000"/>
            <a:ext cx="3886200" cy="125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900000"/>
            <a:ext cx="54864" cy="125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7200" y="1020000"/>
            <a:ext cx="3526200" cy="1010000"/>
          </a:xfrm>
          <a:prstGeom prst="rect">
            <a:avLst/>
          </a:prstGeom>
          <a:noFill/>
        </p:spPr>
        <p:txBody>
          <a:bodyPr wrap="square">
            <a:spAutoFit/>
          </a:bodyPr>
          <a:lstStyle/>
          <a:p>
            <a:pPr>
              <a:spcAft>
                <a:spcPts val="600"/>
              </a:spcAft>
              <a:defRPr sz="1500" b="1">
                <a:solidFill>
                  <a:srgbClr val="065A82"/>
                </a:solidFill>
                <a:latin typeface="Arial"/>
              </a:defRPr>
            </a:pPr>
            <a:r>
              <a:t>📖 本体是什么</a:t>
            </a:r>
          </a:p>
          <a:p>
            <a:pPr>
              <a:spcAft>
                <a:spcPts val="400"/>
              </a:spcAft>
              <a:defRPr sz="1000">
                <a:solidFill>
                  <a:srgbClr val="64748B"/>
                </a:solidFill>
                <a:latin typeface="Arial"/>
              </a:defRPr>
            </a:pPr>
            <a:r>
              <a:t>  源自哲学：研究「存在」的学问 —— 什么事物存在？它们之间有什么关系？</a:t>
            </a:r>
          </a:p>
          <a:p>
            <a:pPr>
              <a:spcAft>
                <a:spcPts val="400"/>
              </a:spcAft>
              <a:defRPr sz="1000">
                <a:solidFill>
                  <a:srgbClr val="64748B"/>
                </a:solidFill>
                <a:latin typeface="Arial"/>
              </a:defRPr>
            </a:pPr>
            <a:r>
              <a:t>  在计算机科学中：对特定领域中概念及其关系的**形式化、可共享的规范说明**</a:t>
            </a:r>
          </a:p>
          <a:p>
            <a:pPr>
              <a:spcAft>
                <a:spcPts val="400"/>
              </a:spcAft>
              <a:defRPr sz="1000">
                <a:solidFill>
                  <a:srgbClr val="64748B"/>
                </a:solidFill>
                <a:latin typeface="Arial"/>
              </a:defRPr>
            </a:pPr>
            <a:r>
              <a:t>  核心要素：概念(Concepts) + 关系(Relations) + 公理(Axioms) + 实例(Instances)</a:t>
            </a:r>
          </a:p>
        </p:txBody>
      </p:sp>
      <p:sp>
        <p:nvSpPr>
          <p:cNvPr id="7" name="Rectangle 6"/>
          <p:cNvSpPr/>
          <p:nvPr/>
        </p:nvSpPr>
        <p:spPr>
          <a:xfrm>
            <a:off x="4800600" y="900000"/>
            <a:ext cx="3886200" cy="125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00600" y="900000"/>
            <a:ext cx="54864" cy="1250000"/>
          </a:xfrm>
          <a:prstGeom prst="rect">
            <a:avLst/>
          </a:prstGeom>
          <a:solidFill>
            <a:srgbClr val="E78C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80600" y="1020000"/>
            <a:ext cx="3526200" cy="1010000"/>
          </a:xfrm>
          <a:prstGeom prst="rect">
            <a:avLst/>
          </a:prstGeom>
          <a:noFill/>
        </p:spPr>
        <p:txBody>
          <a:bodyPr wrap="square">
            <a:spAutoFit/>
          </a:bodyPr>
          <a:lstStyle/>
          <a:p>
            <a:pPr>
              <a:spcAft>
                <a:spcPts val="600"/>
              </a:spcAft>
              <a:defRPr sz="1500" b="1">
                <a:solidFill>
                  <a:srgbClr val="E78C07"/>
                </a:solidFill>
                <a:latin typeface="Arial"/>
              </a:defRPr>
            </a:pPr>
            <a:r>
              <a:t>🎯 为什么需要本体</a:t>
            </a:r>
          </a:p>
          <a:p>
            <a:pPr>
              <a:spcAft>
                <a:spcPts val="400"/>
              </a:spcAft>
              <a:defRPr sz="1000">
                <a:solidFill>
                  <a:srgbClr val="64748B"/>
                </a:solidFill>
                <a:latin typeface="Arial"/>
              </a:defRPr>
            </a:pPr>
            <a:r>
              <a:t>  让机器「理解」业务而非仅仅「匹配」关键词</a:t>
            </a:r>
          </a:p>
          <a:p>
            <a:pPr>
              <a:spcAft>
                <a:spcPts val="400"/>
              </a:spcAft>
              <a:defRPr sz="1000">
                <a:solidFill>
                  <a:srgbClr val="64748B"/>
                </a:solidFill>
                <a:latin typeface="Arial"/>
              </a:defRPr>
            </a:pPr>
            <a:r>
              <a:t>  统一不同系统间的业务语义（ERP说「客户」、CRM说「Account」、其实是同一个概念）</a:t>
            </a:r>
          </a:p>
          <a:p>
            <a:pPr>
              <a:spcAft>
                <a:spcPts val="400"/>
              </a:spcAft>
              <a:defRPr sz="1000">
                <a:solidFill>
                  <a:srgbClr val="64748B"/>
                </a:solidFill>
                <a:latin typeface="Arial"/>
              </a:defRPr>
            </a:pPr>
            <a:r>
              <a:t>  为 AI Agent 提供可验证、可追溯的业务知识底座</a:t>
            </a:r>
          </a:p>
          <a:p>
            <a:pPr>
              <a:spcAft>
                <a:spcPts val="400"/>
              </a:spcAft>
              <a:defRPr sz="1000">
                <a:solidFill>
                  <a:srgbClr val="64748B"/>
                </a:solidFill>
                <a:latin typeface="Arial"/>
              </a:defRPr>
            </a:pPr>
            <a:r>
              <a:t>  消除大模型的幻觉：Agent 不能凭空创造不存在的业务流程</a:t>
            </a:r>
          </a:p>
        </p:txBody>
      </p:sp>
      <p:sp>
        <p:nvSpPr>
          <p:cNvPr id="10" name="Rectangle 9"/>
          <p:cNvSpPr/>
          <p:nvPr/>
        </p:nvSpPr>
        <p:spPr>
          <a:xfrm>
            <a:off x="457200" y="2330000"/>
            <a:ext cx="8229600" cy="11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330000"/>
            <a:ext cx="54864" cy="1100000"/>
          </a:xfrm>
          <a:prstGeom prst="rect">
            <a:avLst/>
          </a:prstGeom>
          <a:solidFill>
            <a:srgbClr val="22A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34400" y="2510000"/>
            <a:ext cx="280000" cy="26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300" b="1">
                <a:solidFill>
                  <a:srgbClr val="FFFFFF"/>
                </a:solidFill>
                <a:latin typeface="Arial"/>
              </a:defRPr>
            </a:pPr>
            <a:r>
              <a:t>1</a:t>
            </a:r>
          </a:p>
        </p:txBody>
      </p:sp>
      <p:sp>
        <p:nvSpPr>
          <p:cNvPr id="13" name="TextBox 12"/>
          <p:cNvSpPr txBox="1"/>
          <p:nvPr/>
        </p:nvSpPr>
        <p:spPr>
          <a:xfrm>
            <a:off x="1414400" y="2500000"/>
            <a:ext cx="1838400" cy="800000"/>
          </a:xfrm>
          <a:prstGeom prst="rect">
            <a:avLst/>
          </a:prstGeom>
          <a:noFill/>
        </p:spPr>
        <p:txBody>
          <a:bodyPr wrap="square">
            <a:spAutoFit/>
          </a:bodyPr>
          <a:lstStyle/>
          <a:p>
            <a:pPr>
              <a:spcAft>
                <a:spcPts val="600"/>
              </a:spcAft>
              <a:defRPr sz="1300" b="1">
                <a:solidFill>
                  <a:srgbClr val="065A82"/>
                </a:solidFill>
                <a:latin typeface="Arial"/>
              </a:defRPr>
            </a:pPr>
            <a:r>
              <a:t>概念层</a:t>
            </a:r>
          </a:p>
          <a:p>
            <a:pPr>
              <a:spcAft>
                <a:spcPts val="400"/>
              </a:spcAft>
              <a:defRPr sz="900">
                <a:solidFill>
                  <a:srgbClr val="64748B"/>
                </a:solidFill>
                <a:latin typeface="Arial"/>
              </a:defRPr>
            </a:pPr>
            <a:r>
              <a:t>  定义「客户」「订单」「产品」</a:t>
            </a:r>
            <a:br/>
            <a:r>
              <a:t>及其属性与关系</a:t>
            </a:r>
          </a:p>
        </p:txBody>
      </p:sp>
      <p:sp>
        <p:nvSpPr>
          <p:cNvPr id="14" name="Rectangle 13"/>
          <p:cNvSpPr/>
          <p:nvPr/>
        </p:nvSpPr>
        <p:spPr>
          <a:xfrm>
            <a:off x="3930000" y="2510000"/>
            <a:ext cx="280000" cy="260000"/>
          </a:xfrm>
          <a:prstGeom prst="rect">
            <a:avLst/>
          </a:prstGeom>
          <a:solidFill>
            <a:srgbClr val="E78C0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300" b="1">
                <a:solidFill>
                  <a:srgbClr val="FFFFFF"/>
                </a:solidFill>
                <a:latin typeface="Arial"/>
              </a:defRPr>
            </a:pPr>
            <a:r>
              <a:t>2</a:t>
            </a:r>
          </a:p>
        </p:txBody>
      </p:sp>
      <p:sp>
        <p:nvSpPr>
          <p:cNvPr id="15" name="TextBox 14"/>
          <p:cNvSpPr txBox="1"/>
          <p:nvPr/>
        </p:nvSpPr>
        <p:spPr>
          <a:xfrm>
            <a:off x="4310000" y="2500000"/>
            <a:ext cx="1838400" cy="800000"/>
          </a:xfrm>
          <a:prstGeom prst="rect">
            <a:avLst/>
          </a:prstGeom>
          <a:noFill/>
        </p:spPr>
        <p:txBody>
          <a:bodyPr wrap="square">
            <a:spAutoFit/>
          </a:bodyPr>
          <a:lstStyle/>
          <a:p>
            <a:pPr>
              <a:spcAft>
                <a:spcPts val="600"/>
              </a:spcAft>
              <a:defRPr sz="1300" b="1">
                <a:solidFill>
                  <a:srgbClr val="065A82"/>
                </a:solidFill>
                <a:latin typeface="Arial"/>
              </a:defRPr>
            </a:pPr>
            <a:r>
              <a:t>约束层</a:t>
            </a:r>
          </a:p>
          <a:p>
            <a:pPr>
              <a:spcAft>
                <a:spcPts val="400"/>
              </a:spcAft>
              <a:defRPr sz="900">
                <a:solidFill>
                  <a:srgbClr val="64748B"/>
                </a:solidFill>
                <a:latin typeface="Arial"/>
              </a:defRPr>
            </a:pPr>
            <a:r>
              <a:t>  定义「下单前必须校验库存」</a:t>
            </a:r>
            <a:br/>
            <a:r>
              <a:t>「已发货订单不可取消」</a:t>
            </a:r>
          </a:p>
        </p:txBody>
      </p:sp>
      <p:sp>
        <p:nvSpPr>
          <p:cNvPr id="16" name="Rectangle 15"/>
          <p:cNvSpPr/>
          <p:nvPr/>
        </p:nvSpPr>
        <p:spPr>
          <a:xfrm>
            <a:off x="6825600" y="2510000"/>
            <a:ext cx="280000" cy="260000"/>
          </a:xfrm>
          <a:prstGeom prst="rect">
            <a:avLst/>
          </a:prstGeom>
          <a:solidFill>
            <a:srgbClr val="22A69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300" b="1">
                <a:solidFill>
                  <a:srgbClr val="FFFFFF"/>
                </a:solidFill>
                <a:latin typeface="Arial"/>
              </a:defRPr>
            </a:pPr>
            <a:r>
              <a:t>3</a:t>
            </a:r>
          </a:p>
        </p:txBody>
      </p:sp>
      <p:sp>
        <p:nvSpPr>
          <p:cNvPr id="17" name="TextBox 16"/>
          <p:cNvSpPr txBox="1"/>
          <p:nvPr/>
        </p:nvSpPr>
        <p:spPr>
          <a:xfrm>
            <a:off x="7205600" y="2500000"/>
            <a:ext cx="1838400" cy="800000"/>
          </a:xfrm>
          <a:prstGeom prst="rect">
            <a:avLst/>
          </a:prstGeom>
          <a:noFill/>
        </p:spPr>
        <p:txBody>
          <a:bodyPr wrap="square">
            <a:spAutoFit/>
          </a:bodyPr>
          <a:lstStyle/>
          <a:p>
            <a:pPr>
              <a:spcAft>
                <a:spcPts val="600"/>
              </a:spcAft>
              <a:defRPr sz="1300" b="1">
                <a:solidFill>
                  <a:srgbClr val="065A82"/>
                </a:solidFill>
                <a:latin typeface="Arial"/>
              </a:defRPr>
            </a:pPr>
            <a:r>
              <a:t>执行层</a:t>
            </a:r>
          </a:p>
          <a:p>
            <a:pPr>
              <a:spcAft>
                <a:spcPts val="400"/>
              </a:spcAft>
              <a:defRPr sz="900">
                <a:solidFill>
                  <a:srgbClr val="64748B"/>
                </a:solidFill>
                <a:latin typeface="Arial"/>
              </a:defRPr>
            </a:pPr>
            <a:r>
              <a:t>  定义「谁可以做什么操作」</a:t>
            </a:r>
            <a:br/>
            <a:r>
              <a:t>「操作后触发什么事件」</a:t>
            </a:r>
          </a:p>
        </p:txBody>
      </p:sp>
      <p:sp>
        <p:nvSpPr>
          <p:cNvPr id="18" name="Rectangle 17"/>
          <p:cNvSpPr/>
          <p:nvPr/>
        </p:nvSpPr>
        <p:spPr>
          <a:xfrm>
            <a:off x="457200" y="3610000"/>
            <a:ext cx="8229600" cy="12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610000"/>
            <a:ext cx="54864" cy="120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7200" y="3810000"/>
            <a:ext cx="3686200" cy="800000"/>
          </a:xfrm>
          <a:prstGeom prst="rect">
            <a:avLst/>
          </a:prstGeom>
          <a:noFill/>
        </p:spPr>
        <p:txBody>
          <a:bodyPr wrap="square">
            <a:spAutoFit/>
          </a:bodyPr>
          <a:lstStyle/>
          <a:p>
            <a:pPr>
              <a:spcAft>
                <a:spcPts val="600"/>
              </a:spcAft>
              <a:defRPr sz="1500" b="1">
                <a:solidFill>
                  <a:srgbClr val="065A82"/>
                </a:solidFill>
                <a:latin typeface="Arial"/>
              </a:defRPr>
            </a:pPr>
            <a:r>
              <a:rPr dirty="0"/>
              <a:t>💡 </a:t>
            </a:r>
            <a:r>
              <a:rPr dirty="0" err="1"/>
              <a:t>一句话理解</a:t>
            </a:r>
            <a:endParaRPr dirty="0"/>
          </a:p>
          <a:p>
            <a:pPr>
              <a:spcAft>
                <a:spcPts val="400"/>
              </a:spcAft>
              <a:defRPr sz="1000">
                <a:solidFill>
                  <a:srgbClr val="64748B"/>
                </a:solidFill>
                <a:latin typeface="Arial"/>
              </a:defRPr>
            </a:pPr>
            <a:r>
              <a:rPr dirty="0"/>
              <a:t>  </a:t>
            </a:r>
            <a:r>
              <a:rPr dirty="0" err="1"/>
              <a:t>本体之于</a:t>
            </a:r>
            <a:r>
              <a:rPr dirty="0"/>
              <a:t> AI </a:t>
            </a:r>
            <a:r>
              <a:rPr dirty="0" err="1"/>
              <a:t>Agent，如同</a:t>
            </a:r>
            <a:r>
              <a:rPr dirty="0"/>
              <a:t>：</a:t>
            </a:r>
          </a:p>
          <a:p>
            <a:pPr>
              <a:spcAft>
                <a:spcPts val="400"/>
              </a:spcAft>
              <a:defRPr sz="1000">
                <a:solidFill>
                  <a:srgbClr val="64748B"/>
                </a:solidFill>
                <a:latin typeface="Arial"/>
              </a:defRPr>
            </a:pPr>
            <a:r>
              <a:rPr dirty="0"/>
              <a:t>    🔧  </a:t>
            </a:r>
            <a:r>
              <a:rPr dirty="0" err="1"/>
              <a:t>操作手册之于新员工</a:t>
            </a:r>
            <a:r>
              <a:rPr dirty="0"/>
              <a:t> —— </a:t>
            </a:r>
            <a:r>
              <a:rPr dirty="0" err="1"/>
              <a:t>告诉你系统怎么运作</a:t>
            </a:r>
            <a:endParaRPr dirty="0"/>
          </a:p>
          <a:p>
            <a:pPr>
              <a:spcAft>
                <a:spcPts val="400"/>
              </a:spcAft>
              <a:defRPr sz="1000">
                <a:solidFill>
                  <a:srgbClr val="64748B"/>
                </a:solidFill>
                <a:latin typeface="Arial"/>
              </a:defRPr>
            </a:pPr>
            <a:r>
              <a:rPr dirty="0"/>
              <a:t>    📐  </a:t>
            </a:r>
            <a:r>
              <a:rPr dirty="0" err="1"/>
              <a:t>建筑蓝图之于施工队</a:t>
            </a:r>
            <a:r>
              <a:rPr dirty="0"/>
              <a:t> —— </a:t>
            </a:r>
            <a:r>
              <a:rPr dirty="0" err="1"/>
              <a:t>规定结构和边界</a:t>
            </a:r>
            <a:endParaRPr dirty="0"/>
          </a:p>
          <a:p>
            <a:pPr>
              <a:spcAft>
                <a:spcPts val="400"/>
              </a:spcAft>
              <a:defRPr sz="1000">
                <a:solidFill>
                  <a:srgbClr val="64748B"/>
                </a:solidFill>
                <a:latin typeface="Arial"/>
              </a:defRPr>
            </a:pPr>
            <a:r>
              <a:rPr dirty="0"/>
              <a:t>    🗺️  </a:t>
            </a:r>
            <a:r>
              <a:rPr dirty="0" err="1"/>
              <a:t>高精地图之于自动驾驶</a:t>
            </a:r>
            <a:r>
              <a:rPr dirty="0"/>
              <a:t> —— </a:t>
            </a:r>
            <a:r>
              <a:rPr dirty="0" err="1"/>
              <a:t>提供可依赖的环境模型</a:t>
            </a:r>
            <a:endParaRPr dirty="0"/>
          </a:p>
          <a:p>
            <a:pPr>
              <a:spcAft>
                <a:spcPts val="400"/>
              </a:spcAft>
              <a:defRPr sz="1000">
                <a:solidFill>
                  <a:srgbClr val="64748B"/>
                </a:solidFill>
                <a:latin typeface="Arial"/>
              </a:defRPr>
            </a:pPr>
            <a:r>
              <a:rPr dirty="0"/>
              <a:t>  </a:t>
            </a:r>
          </a:p>
          <a:p>
            <a:pPr>
              <a:spcAft>
                <a:spcPts val="400"/>
              </a:spcAft>
              <a:defRPr sz="1000">
                <a:solidFill>
                  <a:srgbClr val="64748B"/>
                </a:solidFill>
                <a:latin typeface="Arial"/>
              </a:defRPr>
            </a:pPr>
            <a:r>
              <a:rPr dirty="0"/>
              <a:t>  </a:t>
            </a:r>
            <a:r>
              <a:rPr dirty="0" err="1"/>
              <a:t>没有本体</a:t>
            </a:r>
            <a:r>
              <a:rPr dirty="0"/>
              <a:t> = Agent </a:t>
            </a:r>
            <a:r>
              <a:rPr dirty="0" err="1"/>
              <a:t>在黑暗中摸索业务逻辑</a:t>
            </a:r>
            <a:endParaRPr dirty="0"/>
          </a:p>
          <a:p>
            <a:pPr>
              <a:spcAft>
                <a:spcPts val="400"/>
              </a:spcAft>
              <a:defRPr sz="1000">
                <a:solidFill>
                  <a:srgbClr val="64748B"/>
                </a:solidFill>
                <a:latin typeface="Arial"/>
              </a:defRPr>
            </a:pPr>
            <a:r>
              <a:rPr dirty="0"/>
              <a:t>  </a:t>
            </a:r>
            <a:r>
              <a:rPr dirty="0" err="1"/>
              <a:t>有本体</a:t>
            </a:r>
            <a:r>
              <a:rPr dirty="0"/>
              <a:t>   = Agent </a:t>
            </a:r>
            <a:r>
              <a:rPr dirty="0" err="1"/>
              <a:t>戴着夜视仪精准作业</a:t>
            </a:r>
            <a:endParaRPr dirty="0"/>
          </a:p>
        </p:txBody>
      </p:sp>
      <p:sp>
        <p:nvSpPr>
          <p:cNvPr id="21" name="Rectangle 20"/>
          <p:cNvSpPr/>
          <p:nvPr/>
        </p:nvSpPr>
        <p:spPr>
          <a:xfrm>
            <a:off x="4543400" y="3960000"/>
            <a:ext cx="3486200" cy="50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600" b="1">
                <a:solidFill>
                  <a:srgbClr val="FFFFFF"/>
                </a:solidFill>
                <a:latin typeface="Arial"/>
              </a:defRPr>
            </a:pPr>
            <a:r>
              <a:t>本体是 AI 时代的</a:t>
            </a:r>
            <a:br/>
            <a:r>
              <a:t>「业务知识工程」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22A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0428"/>
            <a:ext cx="8046720" cy="548640"/>
          </a:xfrm>
          <a:prstGeom prst="rect">
            <a:avLst/>
          </a:prstGeom>
          <a:noFill/>
        </p:spPr>
        <p:txBody>
          <a:bodyPr wrap="square">
            <a:spAutoFit/>
          </a:bodyPr>
          <a:lstStyle/>
          <a:p>
            <a:pPr>
              <a:defRPr sz="2400" b="1">
                <a:solidFill>
                  <a:srgbClr val="1E293B"/>
                </a:solidFill>
                <a:latin typeface="Arial"/>
              </a:defRPr>
            </a:pPr>
            <a:r>
              <a:t>什么是本体（Ontology）—— AI 时代的业务知识工程</a:t>
            </a:r>
          </a:p>
        </p:txBody>
      </p:sp>
      <p:sp>
        <p:nvSpPr>
          <p:cNvPr id="4" name="Rectangle 3"/>
          <p:cNvSpPr/>
          <p:nvPr/>
        </p:nvSpPr>
        <p:spPr>
          <a:xfrm>
            <a:off x="457200" y="900000"/>
            <a:ext cx="3886200" cy="125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900000"/>
            <a:ext cx="54864" cy="125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7200" y="1020000"/>
            <a:ext cx="3526200" cy="1010000"/>
          </a:xfrm>
          <a:prstGeom prst="rect">
            <a:avLst/>
          </a:prstGeom>
          <a:noFill/>
        </p:spPr>
        <p:txBody>
          <a:bodyPr wrap="square">
            <a:spAutoFit/>
          </a:bodyPr>
          <a:lstStyle/>
          <a:p>
            <a:pPr>
              <a:spcAft>
                <a:spcPts val="600"/>
              </a:spcAft>
              <a:defRPr sz="1500" b="1">
                <a:solidFill>
                  <a:srgbClr val="065A82"/>
                </a:solidFill>
                <a:latin typeface="Arial"/>
              </a:defRPr>
            </a:pPr>
            <a:r>
              <a:t>📖 本体是什么</a:t>
            </a:r>
          </a:p>
          <a:p>
            <a:pPr>
              <a:spcAft>
                <a:spcPts val="400"/>
              </a:spcAft>
              <a:defRPr sz="1000">
                <a:solidFill>
                  <a:srgbClr val="64748B"/>
                </a:solidFill>
                <a:latin typeface="Arial"/>
              </a:defRPr>
            </a:pPr>
            <a:r>
              <a:t>  源自哲学：研究「存在」的学问 —— 什么事物存在？它们之间有什么关系？</a:t>
            </a:r>
          </a:p>
          <a:p>
            <a:pPr>
              <a:spcAft>
                <a:spcPts val="400"/>
              </a:spcAft>
              <a:defRPr sz="1000">
                <a:solidFill>
                  <a:srgbClr val="64748B"/>
                </a:solidFill>
                <a:latin typeface="Arial"/>
              </a:defRPr>
            </a:pPr>
            <a:r>
              <a:t>  在计算机科学中：对特定领域中概念及其关系的**形式化、可共享的规范说明**</a:t>
            </a:r>
          </a:p>
          <a:p>
            <a:pPr>
              <a:spcAft>
                <a:spcPts val="400"/>
              </a:spcAft>
              <a:defRPr sz="1000">
                <a:solidFill>
                  <a:srgbClr val="64748B"/>
                </a:solidFill>
                <a:latin typeface="Arial"/>
              </a:defRPr>
            </a:pPr>
            <a:r>
              <a:t>  核心要素：概念(Concepts) + 关系(Relations) + 公理(Axioms) + 实例(Instances)</a:t>
            </a:r>
          </a:p>
        </p:txBody>
      </p:sp>
      <p:sp>
        <p:nvSpPr>
          <p:cNvPr id="7" name="Rectangle 6"/>
          <p:cNvSpPr/>
          <p:nvPr/>
        </p:nvSpPr>
        <p:spPr>
          <a:xfrm>
            <a:off x="4800600" y="900000"/>
            <a:ext cx="3886200" cy="125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00600" y="900000"/>
            <a:ext cx="54864" cy="1250000"/>
          </a:xfrm>
          <a:prstGeom prst="rect">
            <a:avLst/>
          </a:prstGeom>
          <a:solidFill>
            <a:srgbClr val="E78C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80600" y="1020000"/>
            <a:ext cx="3526200" cy="1010000"/>
          </a:xfrm>
          <a:prstGeom prst="rect">
            <a:avLst/>
          </a:prstGeom>
          <a:noFill/>
        </p:spPr>
        <p:txBody>
          <a:bodyPr wrap="square">
            <a:spAutoFit/>
          </a:bodyPr>
          <a:lstStyle/>
          <a:p>
            <a:pPr>
              <a:spcAft>
                <a:spcPts val="600"/>
              </a:spcAft>
              <a:defRPr sz="1500" b="1">
                <a:solidFill>
                  <a:srgbClr val="E78C07"/>
                </a:solidFill>
                <a:latin typeface="Arial"/>
              </a:defRPr>
            </a:pPr>
            <a:r>
              <a:t>🎯 为什么需要本体</a:t>
            </a:r>
          </a:p>
          <a:p>
            <a:pPr>
              <a:spcAft>
                <a:spcPts val="400"/>
              </a:spcAft>
              <a:defRPr sz="1000">
                <a:solidFill>
                  <a:srgbClr val="64748B"/>
                </a:solidFill>
                <a:latin typeface="Arial"/>
              </a:defRPr>
            </a:pPr>
            <a:r>
              <a:t>  让机器「理解」业务而非仅仅「匹配」关键词</a:t>
            </a:r>
          </a:p>
          <a:p>
            <a:pPr>
              <a:spcAft>
                <a:spcPts val="400"/>
              </a:spcAft>
              <a:defRPr sz="1000">
                <a:solidFill>
                  <a:srgbClr val="64748B"/>
                </a:solidFill>
                <a:latin typeface="Arial"/>
              </a:defRPr>
            </a:pPr>
            <a:r>
              <a:t>  统一不同系统间的业务语义（ERP说「客户」、CRM说「Account」、其实是同一个概念）</a:t>
            </a:r>
          </a:p>
          <a:p>
            <a:pPr>
              <a:spcAft>
                <a:spcPts val="400"/>
              </a:spcAft>
              <a:defRPr sz="1000">
                <a:solidFill>
                  <a:srgbClr val="64748B"/>
                </a:solidFill>
                <a:latin typeface="Arial"/>
              </a:defRPr>
            </a:pPr>
            <a:r>
              <a:t>  为 AI Agent 提供可验证、可追溯的业务知识底座</a:t>
            </a:r>
          </a:p>
          <a:p>
            <a:pPr>
              <a:spcAft>
                <a:spcPts val="400"/>
              </a:spcAft>
              <a:defRPr sz="1000">
                <a:solidFill>
                  <a:srgbClr val="64748B"/>
                </a:solidFill>
                <a:latin typeface="Arial"/>
              </a:defRPr>
            </a:pPr>
            <a:r>
              <a:t>  消除大模型的幻觉：Agent 不能凭空创造不存在的业务流程</a:t>
            </a:r>
          </a:p>
        </p:txBody>
      </p:sp>
      <p:sp>
        <p:nvSpPr>
          <p:cNvPr id="10" name="Rectangle 9"/>
          <p:cNvSpPr/>
          <p:nvPr/>
        </p:nvSpPr>
        <p:spPr>
          <a:xfrm>
            <a:off x="457200" y="2330000"/>
            <a:ext cx="8229600" cy="11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330000"/>
            <a:ext cx="54864" cy="1100000"/>
          </a:xfrm>
          <a:prstGeom prst="rect">
            <a:avLst/>
          </a:prstGeom>
          <a:solidFill>
            <a:srgbClr val="22A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34400" y="2510000"/>
            <a:ext cx="280000" cy="26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300" b="1">
                <a:solidFill>
                  <a:srgbClr val="FFFFFF"/>
                </a:solidFill>
                <a:latin typeface="Arial"/>
              </a:defRPr>
            </a:pPr>
            <a:r>
              <a:t>1</a:t>
            </a:r>
          </a:p>
        </p:txBody>
      </p:sp>
      <p:sp>
        <p:nvSpPr>
          <p:cNvPr id="13" name="TextBox 12"/>
          <p:cNvSpPr txBox="1"/>
          <p:nvPr/>
        </p:nvSpPr>
        <p:spPr>
          <a:xfrm>
            <a:off x="1414400" y="2500000"/>
            <a:ext cx="1838400" cy="800000"/>
          </a:xfrm>
          <a:prstGeom prst="rect">
            <a:avLst/>
          </a:prstGeom>
          <a:noFill/>
        </p:spPr>
        <p:txBody>
          <a:bodyPr wrap="square">
            <a:spAutoFit/>
          </a:bodyPr>
          <a:lstStyle/>
          <a:p>
            <a:pPr>
              <a:spcAft>
                <a:spcPts val="600"/>
              </a:spcAft>
              <a:defRPr sz="1300" b="1">
                <a:solidFill>
                  <a:srgbClr val="065A82"/>
                </a:solidFill>
                <a:latin typeface="Arial"/>
              </a:defRPr>
            </a:pPr>
            <a:r>
              <a:t>概念层</a:t>
            </a:r>
          </a:p>
          <a:p>
            <a:pPr>
              <a:spcAft>
                <a:spcPts val="400"/>
              </a:spcAft>
              <a:defRPr sz="900">
                <a:solidFill>
                  <a:srgbClr val="64748B"/>
                </a:solidFill>
                <a:latin typeface="Arial"/>
              </a:defRPr>
            </a:pPr>
            <a:r>
              <a:t>  定义「客户」「订单」「产品」</a:t>
            </a:r>
            <a:br/>
            <a:r>
              <a:t>及其属性与关系</a:t>
            </a:r>
          </a:p>
        </p:txBody>
      </p:sp>
      <p:sp>
        <p:nvSpPr>
          <p:cNvPr id="14" name="Rectangle 13"/>
          <p:cNvSpPr/>
          <p:nvPr/>
        </p:nvSpPr>
        <p:spPr>
          <a:xfrm>
            <a:off x="3930000" y="2510000"/>
            <a:ext cx="280000" cy="260000"/>
          </a:xfrm>
          <a:prstGeom prst="rect">
            <a:avLst/>
          </a:prstGeom>
          <a:solidFill>
            <a:srgbClr val="E78C0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300" b="1">
                <a:solidFill>
                  <a:srgbClr val="FFFFFF"/>
                </a:solidFill>
                <a:latin typeface="Arial"/>
              </a:defRPr>
            </a:pPr>
            <a:r>
              <a:t>2</a:t>
            </a:r>
          </a:p>
        </p:txBody>
      </p:sp>
      <p:sp>
        <p:nvSpPr>
          <p:cNvPr id="15" name="TextBox 14"/>
          <p:cNvSpPr txBox="1"/>
          <p:nvPr/>
        </p:nvSpPr>
        <p:spPr>
          <a:xfrm>
            <a:off x="4310000" y="2500000"/>
            <a:ext cx="1838400" cy="800000"/>
          </a:xfrm>
          <a:prstGeom prst="rect">
            <a:avLst/>
          </a:prstGeom>
          <a:noFill/>
        </p:spPr>
        <p:txBody>
          <a:bodyPr wrap="square">
            <a:spAutoFit/>
          </a:bodyPr>
          <a:lstStyle/>
          <a:p>
            <a:pPr>
              <a:spcAft>
                <a:spcPts val="600"/>
              </a:spcAft>
              <a:defRPr sz="1300" b="1">
                <a:solidFill>
                  <a:srgbClr val="065A82"/>
                </a:solidFill>
                <a:latin typeface="Arial"/>
              </a:defRPr>
            </a:pPr>
            <a:r>
              <a:t>约束层</a:t>
            </a:r>
          </a:p>
          <a:p>
            <a:pPr>
              <a:spcAft>
                <a:spcPts val="400"/>
              </a:spcAft>
              <a:defRPr sz="900">
                <a:solidFill>
                  <a:srgbClr val="64748B"/>
                </a:solidFill>
                <a:latin typeface="Arial"/>
              </a:defRPr>
            </a:pPr>
            <a:r>
              <a:t>  定义「下单前必须校验库存」</a:t>
            </a:r>
            <a:br/>
            <a:r>
              <a:t>「已发货订单不可取消」</a:t>
            </a:r>
          </a:p>
        </p:txBody>
      </p:sp>
      <p:sp>
        <p:nvSpPr>
          <p:cNvPr id="16" name="Rectangle 15"/>
          <p:cNvSpPr/>
          <p:nvPr/>
        </p:nvSpPr>
        <p:spPr>
          <a:xfrm>
            <a:off x="6825600" y="2510000"/>
            <a:ext cx="280000" cy="260000"/>
          </a:xfrm>
          <a:prstGeom prst="rect">
            <a:avLst/>
          </a:prstGeom>
          <a:solidFill>
            <a:srgbClr val="22A69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300" b="1">
                <a:solidFill>
                  <a:srgbClr val="FFFFFF"/>
                </a:solidFill>
                <a:latin typeface="Arial"/>
              </a:defRPr>
            </a:pPr>
            <a:r>
              <a:t>3</a:t>
            </a:r>
          </a:p>
        </p:txBody>
      </p:sp>
      <p:sp>
        <p:nvSpPr>
          <p:cNvPr id="17" name="TextBox 16"/>
          <p:cNvSpPr txBox="1"/>
          <p:nvPr/>
        </p:nvSpPr>
        <p:spPr>
          <a:xfrm>
            <a:off x="7205600" y="2500000"/>
            <a:ext cx="1838400" cy="800000"/>
          </a:xfrm>
          <a:prstGeom prst="rect">
            <a:avLst/>
          </a:prstGeom>
          <a:noFill/>
        </p:spPr>
        <p:txBody>
          <a:bodyPr wrap="square">
            <a:spAutoFit/>
          </a:bodyPr>
          <a:lstStyle/>
          <a:p>
            <a:pPr>
              <a:spcAft>
                <a:spcPts val="600"/>
              </a:spcAft>
              <a:defRPr sz="1300" b="1">
                <a:solidFill>
                  <a:srgbClr val="065A82"/>
                </a:solidFill>
                <a:latin typeface="Arial"/>
              </a:defRPr>
            </a:pPr>
            <a:r>
              <a:t>执行层</a:t>
            </a:r>
          </a:p>
          <a:p>
            <a:pPr>
              <a:spcAft>
                <a:spcPts val="400"/>
              </a:spcAft>
              <a:defRPr sz="900">
                <a:solidFill>
                  <a:srgbClr val="64748B"/>
                </a:solidFill>
                <a:latin typeface="Arial"/>
              </a:defRPr>
            </a:pPr>
            <a:r>
              <a:t>  定义「谁可以做什么操作」</a:t>
            </a:r>
            <a:br/>
            <a:r>
              <a:t>「操作后触发什么事件」</a:t>
            </a:r>
          </a:p>
        </p:txBody>
      </p:sp>
      <p:sp>
        <p:nvSpPr>
          <p:cNvPr id="18" name="Rectangle 17"/>
          <p:cNvSpPr/>
          <p:nvPr/>
        </p:nvSpPr>
        <p:spPr>
          <a:xfrm>
            <a:off x="457200" y="3610000"/>
            <a:ext cx="8229600" cy="12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610000"/>
            <a:ext cx="54864" cy="120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7200" y="3810000"/>
            <a:ext cx="3686200" cy="800000"/>
          </a:xfrm>
          <a:prstGeom prst="rect">
            <a:avLst/>
          </a:prstGeom>
          <a:noFill/>
        </p:spPr>
        <p:txBody>
          <a:bodyPr wrap="square">
            <a:spAutoFit/>
          </a:bodyPr>
          <a:lstStyle/>
          <a:p>
            <a:pPr>
              <a:spcAft>
                <a:spcPts val="600"/>
              </a:spcAft>
              <a:defRPr sz="1500" b="1">
                <a:solidFill>
                  <a:srgbClr val="065A82"/>
                </a:solidFill>
                <a:latin typeface="Arial"/>
              </a:defRPr>
            </a:pPr>
            <a:r>
              <a:t>💡 一句话理解</a:t>
            </a:r>
          </a:p>
          <a:p>
            <a:pPr>
              <a:spcAft>
                <a:spcPts val="400"/>
              </a:spcAft>
              <a:defRPr sz="1000">
                <a:solidFill>
                  <a:srgbClr val="64748B"/>
                </a:solidFill>
                <a:latin typeface="Arial"/>
              </a:defRPr>
            </a:pPr>
            <a:r>
              <a:t>  本体之于 AI Agent，如同：</a:t>
            </a:r>
          </a:p>
          <a:p>
            <a:pPr>
              <a:spcAft>
                <a:spcPts val="400"/>
              </a:spcAft>
              <a:defRPr sz="1000">
                <a:solidFill>
                  <a:srgbClr val="64748B"/>
                </a:solidFill>
                <a:latin typeface="Arial"/>
              </a:defRPr>
            </a:pPr>
            <a:r>
              <a:t>    🔧  操作手册之于新员工 —— 告诉你系统怎么运作</a:t>
            </a:r>
          </a:p>
          <a:p>
            <a:pPr>
              <a:spcAft>
                <a:spcPts val="400"/>
              </a:spcAft>
              <a:defRPr sz="1000">
                <a:solidFill>
                  <a:srgbClr val="64748B"/>
                </a:solidFill>
                <a:latin typeface="Arial"/>
              </a:defRPr>
            </a:pPr>
            <a:r>
              <a:t>    📐  建筑蓝图之于施工队 —— 规定结构和边界</a:t>
            </a:r>
          </a:p>
          <a:p>
            <a:pPr>
              <a:spcAft>
                <a:spcPts val="400"/>
              </a:spcAft>
              <a:defRPr sz="1000">
                <a:solidFill>
                  <a:srgbClr val="64748B"/>
                </a:solidFill>
                <a:latin typeface="Arial"/>
              </a:defRPr>
            </a:pPr>
            <a:r>
              <a:t>    🗺️  高精地图之于自动驾驶 —— 提供可依赖的环境模型</a:t>
            </a:r>
          </a:p>
          <a:p>
            <a:pPr>
              <a:spcAft>
                <a:spcPts val="400"/>
              </a:spcAft>
              <a:defRPr sz="1000">
                <a:solidFill>
                  <a:srgbClr val="64748B"/>
                </a:solidFill>
                <a:latin typeface="Arial"/>
              </a:defRPr>
            </a:pPr>
            <a:r>
              <a:t>  </a:t>
            </a:r>
          </a:p>
          <a:p>
            <a:pPr>
              <a:spcAft>
                <a:spcPts val="400"/>
              </a:spcAft>
              <a:defRPr sz="1000">
                <a:solidFill>
                  <a:srgbClr val="64748B"/>
                </a:solidFill>
                <a:latin typeface="Arial"/>
              </a:defRPr>
            </a:pPr>
            <a:r>
              <a:t>  没有本体 = Agent 在黑暗中摸索业务逻辑</a:t>
            </a:r>
          </a:p>
          <a:p>
            <a:pPr>
              <a:spcAft>
                <a:spcPts val="400"/>
              </a:spcAft>
              <a:defRPr sz="1000">
                <a:solidFill>
                  <a:srgbClr val="64748B"/>
                </a:solidFill>
                <a:latin typeface="Arial"/>
              </a:defRPr>
            </a:pPr>
            <a:r>
              <a:t>  有本体   = Agent 戴着夜视仪精准作业</a:t>
            </a:r>
          </a:p>
        </p:txBody>
      </p:sp>
      <p:sp>
        <p:nvSpPr>
          <p:cNvPr id="21" name="Rectangle 20"/>
          <p:cNvSpPr/>
          <p:nvPr/>
        </p:nvSpPr>
        <p:spPr>
          <a:xfrm>
            <a:off x="4543400" y="3960000"/>
            <a:ext cx="3486200" cy="500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600" b="1">
                <a:solidFill>
                  <a:srgbClr val="FFFFFF"/>
                </a:solidFill>
                <a:latin typeface="Arial"/>
              </a:defRPr>
            </a:pPr>
            <a:r>
              <a:t>本体是 AI 时代的</a:t>
            </a:r>
            <a:br/>
            <a:r>
              <a:t>「业务知识工程」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457200" y="1188720"/>
            <a:ext cx="54864" cy="1188720"/>
          </a:xfrm>
          <a:prstGeom prst="rect">
            <a:avLst/>
          </a:prstGeom>
          <a:solidFill>
            <a:srgbClr val="22A699"/>
          </a:solidFill>
          <a:ln/>
        </p:spPr>
        <p:txBody>
          <a:bodyPr/>
          <a:lstStyle/>
          <a:p>
            <a:endParaRPr lang="zh-CN" altLang="en-US"/>
          </a:p>
        </p:txBody>
      </p:sp>
      <p:sp>
        <p:nvSpPr>
          <p:cNvPr id="4" name="Text 2"/>
          <p:cNvSpPr/>
          <p:nvPr/>
        </p:nvSpPr>
        <p:spPr>
          <a:xfrm>
            <a:off x="731520" y="1005840"/>
            <a:ext cx="1371600" cy="548640"/>
          </a:xfrm>
          <a:prstGeom prst="rect">
            <a:avLst/>
          </a:prstGeom>
          <a:noFill/>
          <a:ln/>
        </p:spPr>
        <p:txBody>
          <a:bodyPr wrap="square" lIns="0" tIns="0" rIns="0" bIns="0" rtlCol="0" anchor="ctr"/>
          <a:lstStyle/>
          <a:p>
            <a:pPr marL="0" indent="0">
              <a:buNone/>
            </a:pPr>
            <a:r>
              <a:rPr lang="en-US" sz="4000" b="1" dirty="0">
                <a:solidFill>
                  <a:srgbClr val="22A699"/>
                </a:solidFill>
                <a:latin typeface="Arial" pitchFamily="34" charset="0"/>
                <a:ea typeface="Arial" pitchFamily="34" charset="-122"/>
                <a:cs typeface="Arial" pitchFamily="34" charset="-120"/>
              </a:rPr>
              <a:t>02</a:t>
            </a:r>
            <a:endParaRPr lang="en-US" sz="4000" dirty="0"/>
          </a:p>
        </p:txBody>
      </p:sp>
      <p:sp>
        <p:nvSpPr>
          <p:cNvPr id="5" name="Text 3"/>
          <p:cNvSpPr/>
          <p:nvPr/>
        </p:nvSpPr>
        <p:spPr>
          <a:xfrm>
            <a:off x="731520" y="160020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本体模型的角色定位</a:t>
            </a:r>
            <a:endParaRPr lang="en-US" sz="3400" dirty="0"/>
          </a:p>
        </p:txBody>
      </p:sp>
      <p:sp>
        <p:nvSpPr>
          <p:cNvPr id="6" name="Text 4"/>
          <p:cNvSpPr/>
          <p:nvPr/>
        </p:nvSpPr>
        <p:spPr>
          <a:xfrm>
            <a:off x="731520" y="2286000"/>
            <a:ext cx="7315200" cy="36576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Agent 与应用系统之间的业务语义桥梁</a:t>
            </a:r>
            <a:endParaRPr lang="en-US" sz="1400" dirty="0"/>
          </a:p>
        </p:txBody>
      </p:sp>
      <p:sp>
        <p:nvSpPr>
          <p:cNvPr id="7" name="Shape 5"/>
          <p:cNvSpPr/>
          <p:nvPr/>
        </p:nvSpPr>
        <p:spPr>
          <a:xfrm>
            <a:off x="1097280" y="2834640"/>
            <a:ext cx="6858000" cy="438912"/>
          </a:xfrm>
          <a:prstGeom prst="rect">
            <a:avLst/>
          </a:prstGeom>
          <a:solidFill>
            <a:srgbClr val="FFFFFF">
              <a:alpha val="7000"/>
            </a:srgbClr>
          </a:solidFill>
          <a:ln w="6350">
            <a:solidFill>
              <a:srgbClr val="22A699">
                <a:alpha val="50000"/>
              </a:srgbClr>
            </a:solidFill>
            <a:prstDash val="solid"/>
          </a:ln>
        </p:spPr>
        <p:txBody>
          <a:bodyPr/>
          <a:lstStyle/>
          <a:p>
            <a:endParaRPr lang="zh-CN" altLang="en-US"/>
          </a:p>
        </p:txBody>
      </p:sp>
      <p:sp>
        <p:nvSpPr>
          <p:cNvPr id="8" name="Text 6"/>
          <p:cNvSpPr/>
          <p:nvPr/>
        </p:nvSpPr>
        <p:spPr>
          <a:xfrm>
            <a:off x="1280160" y="2834640"/>
            <a:ext cx="2286000" cy="438912"/>
          </a:xfrm>
          <a:prstGeom prst="rect">
            <a:avLst/>
          </a:prstGeom>
          <a:noFill/>
          <a:ln/>
        </p:spPr>
        <p:txBody>
          <a:bodyPr wrap="square" lIns="0" tIns="0" rIns="0" bIns="0" rtlCol="0" anchor="ctr"/>
          <a:lstStyle/>
          <a:p>
            <a:pPr marL="0" indent="0">
              <a:buNone/>
            </a:pPr>
            <a:r>
              <a:rPr lang="en-US" sz="1200" b="1" dirty="0">
                <a:solidFill>
                  <a:srgbClr val="22A699"/>
                </a:solidFill>
                <a:latin typeface="Arial" pitchFamily="34" charset="0"/>
                <a:ea typeface="Arial" pitchFamily="34" charset="-122"/>
                <a:cs typeface="Arial" pitchFamily="34" charset="-120"/>
              </a:rPr>
              <a:t>AI Agent</a:t>
            </a:r>
            <a:endParaRPr lang="en-US" sz="1200" dirty="0"/>
          </a:p>
        </p:txBody>
      </p:sp>
      <p:sp>
        <p:nvSpPr>
          <p:cNvPr id="9" name="Text 7"/>
          <p:cNvSpPr/>
          <p:nvPr/>
        </p:nvSpPr>
        <p:spPr>
          <a:xfrm>
            <a:off x="3657600" y="2834640"/>
            <a:ext cx="4114800" cy="438912"/>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智能客服 · 决策辅助 · 流程自动化 · 数字员工</a:t>
            </a:r>
            <a:endParaRPr lang="en-US" sz="1100" dirty="0"/>
          </a:p>
        </p:txBody>
      </p:sp>
      <p:sp>
        <p:nvSpPr>
          <p:cNvPr id="10" name="Shape 8"/>
          <p:cNvSpPr/>
          <p:nvPr/>
        </p:nvSpPr>
        <p:spPr>
          <a:xfrm>
            <a:off x="1097280" y="3364992"/>
            <a:ext cx="6858000" cy="438912"/>
          </a:xfrm>
          <a:prstGeom prst="rect">
            <a:avLst/>
          </a:prstGeom>
          <a:solidFill>
            <a:srgbClr val="22A699"/>
          </a:solidFill>
          <a:ln w="15240">
            <a:solidFill>
              <a:srgbClr val="E78C07"/>
            </a:solidFill>
            <a:prstDash val="solid"/>
          </a:ln>
        </p:spPr>
        <p:txBody>
          <a:bodyPr/>
          <a:lstStyle/>
          <a:p>
            <a:endParaRPr lang="zh-CN" altLang="en-US"/>
          </a:p>
        </p:txBody>
      </p:sp>
      <p:sp>
        <p:nvSpPr>
          <p:cNvPr id="11" name="Text 9"/>
          <p:cNvSpPr/>
          <p:nvPr/>
        </p:nvSpPr>
        <p:spPr>
          <a:xfrm>
            <a:off x="1280160" y="3364992"/>
            <a:ext cx="2286000" cy="438912"/>
          </a:xfrm>
          <a:prstGeom prst="rect">
            <a:avLst/>
          </a:prstGeom>
          <a:noFill/>
          <a:ln/>
        </p:spPr>
        <p:txBody>
          <a:bodyPr wrap="square" lIns="0" tIns="0" rIns="0" bIns="0" rtlCol="0" anchor="ctr"/>
          <a:lstStyle/>
          <a:p>
            <a:pPr marL="0" indent="0">
              <a:buNone/>
            </a:pPr>
            <a:r>
              <a:rPr lang="en-US" sz="1200" b="1" dirty="0">
                <a:solidFill>
                  <a:srgbClr val="1C7293"/>
                </a:solidFill>
                <a:latin typeface="Arial" pitchFamily="34" charset="0"/>
                <a:ea typeface="Arial" pitchFamily="34" charset="-122"/>
                <a:cs typeface="Arial" pitchFamily="34" charset="-120"/>
              </a:rPr>
              <a:t>MCP Server</a:t>
            </a:r>
            <a:endParaRPr lang="en-US" sz="1200" dirty="0"/>
          </a:p>
        </p:txBody>
      </p:sp>
      <p:sp>
        <p:nvSpPr>
          <p:cNvPr id="12" name="Text 10"/>
          <p:cNvSpPr/>
          <p:nvPr/>
        </p:nvSpPr>
        <p:spPr>
          <a:xfrm>
            <a:off x="3657600" y="3364992"/>
            <a:ext cx="4114800" cy="438912"/>
          </a:xfrm>
          <a:prstGeom prst="rect">
            <a:avLst/>
          </a:prstGeom>
          <a:noFill/>
          <a:ln/>
        </p:spPr>
        <p:txBody>
          <a:bodyPr wrap="square" lIns="0" tIns="0" rIns="0" bIns="0" rtlCol="0" anchor="ctr"/>
          <a:lstStyle/>
          <a:p>
            <a:pPr marL="0" indent="0">
              <a:buNone/>
            </a:pPr>
            <a:r>
              <a:rPr lang="en-US" sz="1100" dirty="0">
                <a:latin typeface="Arial" pitchFamily="34" charset="0"/>
                <a:ea typeface="Arial" pitchFamily="34" charset="-122"/>
                <a:cs typeface="Arial" pitchFamily="34" charset="-120"/>
              </a:rPr>
              <a:t>协议适配层 · 大模型 ↔ 标准协议 ↔ 本体平台</a:t>
            </a:r>
            <a:endParaRPr lang="en-US" sz="1100" dirty="0"/>
          </a:p>
        </p:txBody>
      </p:sp>
      <p:sp>
        <p:nvSpPr>
          <p:cNvPr id="13" name="Shape 11"/>
          <p:cNvSpPr/>
          <p:nvPr/>
        </p:nvSpPr>
        <p:spPr>
          <a:xfrm>
            <a:off x="1097280" y="3895344"/>
            <a:ext cx="6858000" cy="438912"/>
          </a:xfrm>
          <a:prstGeom prst="rect">
            <a:avLst/>
          </a:prstGeom>
          <a:solidFill>
            <a:srgbClr val="22A699"/>
          </a:solidFill>
          <a:ln w="15240">
            <a:solidFill>
              <a:srgbClr val="E78C07"/>
            </a:solidFill>
            <a:prstDash val="solid"/>
          </a:ln>
        </p:spPr>
        <p:txBody>
          <a:bodyPr/>
          <a:lstStyle/>
          <a:p>
            <a:endParaRPr lang="zh-CN" altLang="en-US"/>
          </a:p>
        </p:txBody>
      </p:sp>
      <p:sp>
        <p:nvSpPr>
          <p:cNvPr id="14" name="Text 12"/>
          <p:cNvSpPr/>
          <p:nvPr/>
        </p:nvSpPr>
        <p:spPr>
          <a:xfrm>
            <a:off x="1280160" y="3895344"/>
            <a:ext cx="2286000" cy="438912"/>
          </a:xfrm>
          <a:prstGeom prst="rect">
            <a:avLst/>
          </a:prstGeom>
          <a:noFill/>
          <a:ln/>
        </p:spPr>
        <p:txBody>
          <a:bodyPr wrap="square" lIns="0" tIns="0" rIns="0" bIns="0" rtlCol="0" anchor="ctr"/>
          <a:lstStyle/>
          <a:p>
            <a:pPr marL="0" indent="0">
              <a:buNone/>
            </a:pPr>
            <a:r>
              <a:rPr lang="en-US" sz="1400" b="1" dirty="0">
                <a:solidFill>
                  <a:srgbClr val="0D1B2A"/>
                </a:solidFill>
                <a:latin typeface="Arial" pitchFamily="34" charset="0"/>
                <a:ea typeface="Arial" pitchFamily="34" charset="-122"/>
                <a:cs typeface="Arial" pitchFamily="34" charset="-120"/>
              </a:rPr>
              <a:t>本体建模平台 ★</a:t>
            </a:r>
            <a:endParaRPr lang="en-US" sz="1400" dirty="0"/>
          </a:p>
        </p:txBody>
      </p:sp>
      <p:sp>
        <p:nvSpPr>
          <p:cNvPr id="15" name="Text 13"/>
          <p:cNvSpPr/>
          <p:nvPr/>
        </p:nvSpPr>
        <p:spPr>
          <a:xfrm>
            <a:off x="3657600" y="3895344"/>
            <a:ext cx="4114800" cy="438912"/>
          </a:xfrm>
          <a:prstGeom prst="rect">
            <a:avLst/>
          </a:prstGeom>
          <a:noFill/>
          <a:ln/>
        </p:spPr>
        <p:txBody>
          <a:bodyPr wrap="square" lIns="0" tIns="0" rIns="0" bIns="0" rtlCol="0" anchor="ctr"/>
          <a:lstStyle/>
          <a:p>
            <a:pPr marL="0" indent="0">
              <a:buNone/>
            </a:pPr>
            <a:r>
              <a:rPr lang="en-US" sz="1100" dirty="0">
                <a:solidFill>
                  <a:srgbClr val="0D1B2A"/>
                </a:solidFill>
                <a:latin typeface="Arial" pitchFamily="34" charset="0"/>
                <a:ea typeface="Arial" pitchFamily="34" charset="-122"/>
                <a:cs typeface="Arial" pitchFamily="34" charset="-120"/>
              </a:rPr>
              <a:t>语义层+动力层+事件层+治理层</a:t>
            </a:r>
            <a:endParaRPr lang="en-US" sz="1100" dirty="0"/>
          </a:p>
        </p:txBody>
      </p:sp>
      <p:sp>
        <p:nvSpPr>
          <p:cNvPr id="16" name="Shape 14"/>
          <p:cNvSpPr/>
          <p:nvPr/>
        </p:nvSpPr>
        <p:spPr>
          <a:xfrm>
            <a:off x="1097280" y="4425696"/>
            <a:ext cx="6858000" cy="438912"/>
          </a:xfrm>
          <a:prstGeom prst="rect">
            <a:avLst/>
          </a:prstGeom>
          <a:solidFill>
            <a:srgbClr val="FFFFFF">
              <a:alpha val="7000"/>
            </a:srgbClr>
          </a:solidFill>
          <a:ln w="6350">
            <a:solidFill>
              <a:srgbClr val="64748B">
                <a:alpha val="50000"/>
              </a:srgbClr>
            </a:solidFill>
            <a:prstDash val="solid"/>
          </a:ln>
        </p:spPr>
        <p:txBody>
          <a:bodyPr/>
          <a:lstStyle/>
          <a:p>
            <a:endParaRPr lang="zh-CN" altLang="en-US"/>
          </a:p>
        </p:txBody>
      </p:sp>
      <p:sp>
        <p:nvSpPr>
          <p:cNvPr id="17" name="Text 15"/>
          <p:cNvSpPr/>
          <p:nvPr/>
        </p:nvSpPr>
        <p:spPr>
          <a:xfrm>
            <a:off x="1280160" y="4425696"/>
            <a:ext cx="2286000" cy="438912"/>
          </a:xfrm>
          <a:prstGeom prst="rect">
            <a:avLst/>
          </a:prstGeom>
          <a:noFill/>
          <a:ln/>
        </p:spPr>
        <p:txBody>
          <a:bodyPr wrap="square" lIns="0" tIns="0" rIns="0" bIns="0" rtlCol="0" anchor="ctr"/>
          <a:lstStyle/>
          <a:p>
            <a:pPr marL="0" indent="0">
              <a:buNone/>
            </a:pPr>
            <a:r>
              <a:rPr lang="zh-CN" altLang="en-US" sz="1200" b="1" dirty="0">
                <a:solidFill>
                  <a:srgbClr val="64748B"/>
                </a:solidFill>
                <a:latin typeface="Arial" pitchFamily="34" charset="0"/>
                <a:ea typeface="Arial" pitchFamily="34" charset="-122"/>
                <a:cs typeface="Arial" pitchFamily="34" charset="-120"/>
              </a:rPr>
              <a:t>应用系统</a:t>
            </a:r>
            <a:endParaRPr lang="en-US" sz="1200" dirty="0"/>
          </a:p>
        </p:txBody>
      </p:sp>
      <p:sp>
        <p:nvSpPr>
          <p:cNvPr id="18" name="Text 16"/>
          <p:cNvSpPr/>
          <p:nvPr/>
        </p:nvSpPr>
        <p:spPr>
          <a:xfrm>
            <a:off x="3657600" y="4425696"/>
            <a:ext cx="4114800" cy="438912"/>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ERP · CRM · MES · 数据湖 · 外部API（平台仅记录获取方式）</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457200" y="1188720"/>
            <a:ext cx="54864" cy="1188720"/>
          </a:xfrm>
          <a:prstGeom prst="rect">
            <a:avLst/>
          </a:prstGeom>
          <a:solidFill>
            <a:srgbClr val="22A699"/>
          </a:solidFill>
          <a:ln/>
        </p:spPr>
        <p:txBody>
          <a:bodyPr/>
          <a:lstStyle/>
          <a:p>
            <a:endParaRPr lang="zh-CN" altLang="en-US"/>
          </a:p>
        </p:txBody>
      </p:sp>
      <p:sp>
        <p:nvSpPr>
          <p:cNvPr id="4" name="Text 2"/>
          <p:cNvSpPr/>
          <p:nvPr/>
        </p:nvSpPr>
        <p:spPr>
          <a:xfrm>
            <a:off x="731520" y="1005840"/>
            <a:ext cx="1371600" cy="548640"/>
          </a:xfrm>
          <a:prstGeom prst="rect">
            <a:avLst/>
          </a:prstGeom>
          <a:noFill/>
          <a:ln/>
        </p:spPr>
        <p:txBody>
          <a:bodyPr wrap="square" lIns="0" tIns="0" rIns="0" bIns="0" rtlCol="0" anchor="ctr"/>
          <a:lstStyle/>
          <a:p>
            <a:pPr marL="0" indent="0">
              <a:buNone/>
            </a:pPr>
            <a:r>
              <a:rPr lang="en-US" sz="4000" b="1" dirty="0">
                <a:solidFill>
                  <a:srgbClr val="22A699"/>
                </a:solidFill>
                <a:latin typeface="Arial" pitchFamily="34" charset="0"/>
                <a:ea typeface="Arial" pitchFamily="34" charset="-122"/>
                <a:cs typeface="Arial" pitchFamily="34" charset="-120"/>
              </a:rPr>
              <a:t>03</a:t>
            </a:r>
            <a:endParaRPr lang="en-US" sz="4000" dirty="0"/>
          </a:p>
        </p:txBody>
      </p:sp>
      <p:sp>
        <p:nvSpPr>
          <p:cNvPr id="5" name="Text 3"/>
          <p:cNvSpPr/>
          <p:nvPr/>
        </p:nvSpPr>
        <p:spPr>
          <a:xfrm>
            <a:off x="731520" y="160020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Agent 如何调用本体模型</a:t>
            </a:r>
            <a:endParaRPr lang="en-US" sz="3400" dirty="0"/>
          </a:p>
        </p:txBody>
      </p:sp>
      <p:sp>
        <p:nvSpPr>
          <p:cNvPr id="6" name="Text 4"/>
          <p:cNvSpPr/>
          <p:nvPr/>
        </p:nvSpPr>
        <p:spPr>
          <a:xfrm>
            <a:off x="731520" y="2286000"/>
            <a:ext cx="7315200" cy="36576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MCP 分发机制 · Agent Manifest · 三通道合规</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200" b="1" dirty="0">
                <a:solidFill>
                  <a:srgbClr val="1E293B"/>
                </a:solidFill>
                <a:latin typeface="Arial" pitchFamily="34" charset="0"/>
                <a:ea typeface="Arial" pitchFamily="34" charset="-122"/>
                <a:cs typeface="Arial" pitchFamily="34" charset="-120"/>
              </a:rPr>
              <a:t>Agent 请求链路：从自然语言到安全执行</a:t>
            </a:r>
            <a:endParaRPr lang="en-US" sz="2200" dirty="0"/>
          </a:p>
        </p:txBody>
      </p:sp>
      <p:sp>
        <p:nvSpPr>
          <p:cNvPr id="4" name="Shape 2"/>
          <p:cNvSpPr/>
          <p:nvPr/>
        </p:nvSpPr>
        <p:spPr>
          <a:xfrm>
            <a:off x="457200" y="1005840"/>
            <a:ext cx="8229600" cy="713232"/>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dirty="0"/>
          </a:p>
        </p:txBody>
      </p:sp>
      <p:sp>
        <p:nvSpPr>
          <p:cNvPr id="5" name="Shape 3"/>
          <p:cNvSpPr/>
          <p:nvPr/>
        </p:nvSpPr>
        <p:spPr>
          <a:xfrm>
            <a:off x="640080" y="1143000"/>
            <a:ext cx="438912" cy="438912"/>
          </a:xfrm>
          <a:prstGeom prst="ellipse">
            <a:avLst/>
          </a:prstGeom>
          <a:solidFill>
            <a:srgbClr val="1E293B"/>
          </a:solidFill>
          <a:ln/>
        </p:spPr>
        <p:txBody>
          <a:bodyPr/>
          <a:lstStyle/>
          <a:p>
            <a:endParaRPr lang="zh-CN" altLang="en-US"/>
          </a:p>
        </p:txBody>
      </p:sp>
      <p:sp>
        <p:nvSpPr>
          <p:cNvPr id="6" name="Text 4"/>
          <p:cNvSpPr/>
          <p:nvPr/>
        </p:nvSpPr>
        <p:spPr>
          <a:xfrm>
            <a:off x="640080" y="1143000"/>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①</a:t>
            </a:r>
            <a:endParaRPr lang="en-US" sz="1800" dirty="0"/>
          </a:p>
        </p:txBody>
      </p:sp>
      <p:sp>
        <p:nvSpPr>
          <p:cNvPr id="7" name="Text 5"/>
          <p:cNvSpPr/>
          <p:nvPr/>
        </p:nvSpPr>
        <p:spPr>
          <a:xfrm>
            <a:off x="1280160" y="1078992"/>
            <a:ext cx="4572000" cy="27432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用户输入</a:t>
            </a:r>
            <a:endParaRPr lang="en-US" sz="1400" dirty="0"/>
          </a:p>
        </p:txBody>
      </p:sp>
      <p:sp>
        <p:nvSpPr>
          <p:cNvPr id="8" name="Text 6"/>
          <p:cNvSpPr/>
          <p:nvPr/>
        </p:nvSpPr>
        <p:spPr>
          <a:xfrm>
            <a:off x="1280160" y="1371600"/>
            <a:ext cx="7132320" cy="274320"/>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a:t>
            </a:r>
            <a:r>
              <a:rPr lang="en-US" sz="1000" dirty="0" err="1">
                <a:solidFill>
                  <a:srgbClr val="64748B"/>
                </a:solidFill>
                <a:latin typeface="Arial" pitchFamily="34" charset="0"/>
                <a:ea typeface="Arial" pitchFamily="34" charset="-122"/>
                <a:cs typeface="Arial" pitchFamily="34" charset="-120"/>
              </a:rPr>
              <a:t>帮我把订单</a:t>
            </a:r>
            <a:r>
              <a:rPr lang="en-US" sz="1000" dirty="0">
                <a:solidFill>
                  <a:srgbClr val="64748B"/>
                </a:solidFill>
                <a:latin typeface="Arial" pitchFamily="34" charset="0"/>
                <a:ea typeface="Arial" pitchFamily="34" charset="-122"/>
                <a:cs typeface="Arial" pitchFamily="34" charset="-120"/>
              </a:rPr>
              <a:t> #123 </a:t>
            </a:r>
            <a:r>
              <a:rPr lang="en-US" sz="1000" dirty="0" err="1">
                <a:solidFill>
                  <a:srgbClr val="64748B"/>
                </a:solidFill>
                <a:latin typeface="Arial" pitchFamily="34" charset="0"/>
                <a:ea typeface="Arial" pitchFamily="34" charset="-122"/>
                <a:cs typeface="Arial" pitchFamily="34" charset="-120"/>
              </a:rPr>
              <a:t>的状态改成</a:t>
            </a:r>
            <a:r>
              <a:rPr lang="en-US" sz="1000" dirty="0">
                <a:solidFill>
                  <a:srgbClr val="64748B"/>
                </a:solidFill>
                <a:latin typeface="Arial" pitchFamily="34" charset="0"/>
                <a:ea typeface="Arial" pitchFamily="34" charset="-122"/>
                <a:cs typeface="Arial" pitchFamily="34" charset="-120"/>
              </a:rPr>
              <a:t>’</a:t>
            </a:r>
            <a:r>
              <a:rPr lang="zh-CN" altLang="en-US" sz="1000" dirty="0">
                <a:solidFill>
                  <a:srgbClr val="64748B"/>
                </a:solidFill>
                <a:latin typeface="Arial" pitchFamily="34" charset="0"/>
                <a:ea typeface="Arial" pitchFamily="34" charset="-122"/>
                <a:cs typeface="Arial" pitchFamily="34" charset="-120"/>
              </a:rPr>
              <a:t>关闭</a:t>
            </a:r>
            <a:r>
              <a:rPr lang="en-US" altLang="zh-CN" sz="1000" dirty="0">
                <a:solidFill>
                  <a:srgbClr val="64748B"/>
                </a:solidFill>
                <a:latin typeface="Arial" pitchFamily="34" charset="0"/>
                <a:ea typeface="Arial" pitchFamily="34" charset="-122"/>
                <a:cs typeface="Arial" pitchFamily="34" charset="-120"/>
              </a:rPr>
              <a:t>’ </a:t>
            </a:r>
            <a:r>
              <a:rPr lang="zh-CN" altLang="en-US" sz="1000" dirty="0">
                <a:solidFill>
                  <a:srgbClr val="64748B"/>
                </a:solidFill>
                <a:latin typeface="Arial" pitchFamily="34" charset="0"/>
                <a:ea typeface="Arial" pitchFamily="34" charset="-122"/>
                <a:cs typeface="Arial" pitchFamily="34" charset="-120"/>
              </a:rPr>
              <a:t>”</a:t>
            </a:r>
            <a:endParaRPr lang="en-US" sz="1000" dirty="0"/>
          </a:p>
        </p:txBody>
      </p:sp>
      <p:pic>
        <p:nvPicPr>
          <p:cNvPr id="9" name="Image 0" descr="preencoded.png"/>
          <p:cNvPicPr>
            <a:picLocks noChangeAspect="1"/>
          </p:cNvPicPr>
          <p:nvPr/>
        </p:nvPicPr>
        <p:blipFill>
          <a:blip r:embed="rId3"/>
          <a:stretch>
            <a:fillRect/>
          </a:stretch>
        </p:blipFill>
        <p:spPr>
          <a:xfrm>
            <a:off x="4389120" y="1719072"/>
            <a:ext cx="182880" cy="137160"/>
          </a:xfrm>
          <a:prstGeom prst="rect">
            <a:avLst/>
          </a:prstGeom>
        </p:spPr>
      </p:pic>
      <p:sp>
        <p:nvSpPr>
          <p:cNvPr id="10" name="Shape 7"/>
          <p:cNvSpPr/>
          <p:nvPr/>
        </p:nvSpPr>
        <p:spPr>
          <a:xfrm>
            <a:off x="457200" y="1810512"/>
            <a:ext cx="8229600" cy="713232"/>
          </a:xfrm>
          <a:prstGeom prst="rect">
            <a:avLst/>
          </a:prstGeom>
          <a:solidFill>
            <a:srgbClr val="E8F4F8"/>
          </a:solidFill>
          <a:ln/>
          <a:effectLst>
            <a:outerShdw blurRad="25400" dist="12700" dir="8100000" algn="bl" rotWithShape="0">
              <a:srgbClr val="000000">
                <a:alpha val="4000"/>
              </a:srgbClr>
            </a:outerShdw>
          </a:effectLst>
        </p:spPr>
        <p:txBody>
          <a:bodyPr/>
          <a:lstStyle/>
          <a:p>
            <a:endParaRPr lang="zh-CN" altLang="en-US"/>
          </a:p>
        </p:txBody>
      </p:sp>
      <p:sp>
        <p:nvSpPr>
          <p:cNvPr id="11" name="Shape 8"/>
          <p:cNvSpPr/>
          <p:nvPr/>
        </p:nvSpPr>
        <p:spPr>
          <a:xfrm>
            <a:off x="640080" y="1947672"/>
            <a:ext cx="438912" cy="438912"/>
          </a:xfrm>
          <a:prstGeom prst="ellipse">
            <a:avLst/>
          </a:prstGeom>
          <a:solidFill>
            <a:srgbClr val="065A82"/>
          </a:solidFill>
          <a:ln/>
        </p:spPr>
        <p:txBody>
          <a:bodyPr/>
          <a:lstStyle/>
          <a:p>
            <a:endParaRPr lang="zh-CN" altLang="en-US"/>
          </a:p>
        </p:txBody>
      </p:sp>
      <p:sp>
        <p:nvSpPr>
          <p:cNvPr id="12" name="Text 9"/>
          <p:cNvSpPr/>
          <p:nvPr/>
        </p:nvSpPr>
        <p:spPr>
          <a:xfrm>
            <a:off x="640080" y="1947672"/>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②</a:t>
            </a:r>
            <a:endParaRPr lang="en-US" sz="1800" dirty="0"/>
          </a:p>
        </p:txBody>
      </p:sp>
      <p:sp>
        <p:nvSpPr>
          <p:cNvPr id="13" name="Text 10"/>
          <p:cNvSpPr/>
          <p:nvPr/>
        </p:nvSpPr>
        <p:spPr>
          <a:xfrm>
            <a:off x="1280160" y="1883664"/>
            <a:ext cx="4572000" cy="274320"/>
          </a:xfrm>
          <a:prstGeom prst="rect">
            <a:avLst/>
          </a:prstGeom>
          <a:noFill/>
          <a:ln/>
        </p:spPr>
        <p:txBody>
          <a:bodyPr wrap="square" lIns="0" tIns="0" rIns="0" bIns="0" rtlCol="0" anchor="ctr"/>
          <a:lstStyle/>
          <a:p>
            <a:pPr marL="0" indent="0">
              <a:buNone/>
            </a:pPr>
            <a:r>
              <a:rPr lang="en-US" sz="1400" b="1" dirty="0">
                <a:solidFill>
                  <a:srgbClr val="065A82"/>
                </a:solidFill>
                <a:latin typeface="Arial" pitchFamily="34" charset="0"/>
                <a:ea typeface="Arial" pitchFamily="34" charset="-122"/>
                <a:cs typeface="Arial" pitchFamily="34" charset="-120"/>
              </a:rPr>
              <a:t>软约束 · 意图识别</a:t>
            </a:r>
            <a:endParaRPr lang="en-US" sz="1400" dirty="0"/>
          </a:p>
        </p:txBody>
      </p:sp>
      <p:sp>
        <p:nvSpPr>
          <p:cNvPr id="14" name="Text 11"/>
          <p:cNvSpPr/>
          <p:nvPr/>
        </p:nvSpPr>
        <p:spPr>
          <a:xfrm>
            <a:off x="1280160" y="2176272"/>
            <a:ext cx="7132320" cy="274320"/>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LLM 过滤意图 → 调 MCP resolve_intent → 本体返回概念片段注入上下文 → LLM 拆解精确任务</a:t>
            </a:r>
            <a:endParaRPr lang="en-US" sz="1000" dirty="0"/>
          </a:p>
        </p:txBody>
      </p:sp>
      <p:pic>
        <p:nvPicPr>
          <p:cNvPr id="15" name="Image 1" descr="preencoded.png"/>
          <p:cNvPicPr>
            <a:picLocks noChangeAspect="1"/>
          </p:cNvPicPr>
          <p:nvPr/>
        </p:nvPicPr>
        <p:blipFill>
          <a:blip r:embed="rId3"/>
          <a:stretch>
            <a:fillRect/>
          </a:stretch>
        </p:blipFill>
        <p:spPr>
          <a:xfrm>
            <a:off x="4389120" y="2523744"/>
            <a:ext cx="182880" cy="137160"/>
          </a:xfrm>
          <a:prstGeom prst="rect">
            <a:avLst/>
          </a:prstGeom>
        </p:spPr>
      </p:pic>
      <p:sp>
        <p:nvSpPr>
          <p:cNvPr id="16" name="Shape 12"/>
          <p:cNvSpPr/>
          <p:nvPr/>
        </p:nvSpPr>
        <p:spPr>
          <a:xfrm>
            <a:off x="457200" y="2615184"/>
            <a:ext cx="8229600" cy="713232"/>
          </a:xfrm>
          <a:prstGeom prst="rect">
            <a:avLst/>
          </a:prstGeom>
          <a:solidFill>
            <a:srgbClr val="E6F7F5"/>
          </a:solidFill>
          <a:ln/>
          <a:effectLst>
            <a:outerShdw blurRad="25400" dist="12700" dir="8100000" algn="bl" rotWithShape="0">
              <a:srgbClr val="000000">
                <a:alpha val="4000"/>
              </a:srgbClr>
            </a:outerShdw>
          </a:effectLst>
        </p:spPr>
        <p:txBody>
          <a:bodyPr/>
          <a:lstStyle/>
          <a:p>
            <a:endParaRPr lang="zh-CN" altLang="en-US"/>
          </a:p>
        </p:txBody>
      </p:sp>
      <p:sp>
        <p:nvSpPr>
          <p:cNvPr id="17" name="Shape 13"/>
          <p:cNvSpPr/>
          <p:nvPr/>
        </p:nvSpPr>
        <p:spPr>
          <a:xfrm>
            <a:off x="640080" y="2752344"/>
            <a:ext cx="438912" cy="438912"/>
          </a:xfrm>
          <a:prstGeom prst="ellipse">
            <a:avLst/>
          </a:prstGeom>
          <a:solidFill>
            <a:srgbClr val="22A699"/>
          </a:solidFill>
          <a:ln/>
        </p:spPr>
        <p:txBody>
          <a:bodyPr/>
          <a:lstStyle/>
          <a:p>
            <a:endParaRPr lang="zh-CN" altLang="en-US"/>
          </a:p>
        </p:txBody>
      </p:sp>
      <p:sp>
        <p:nvSpPr>
          <p:cNvPr id="18" name="Text 14"/>
          <p:cNvSpPr/>
          <p:nvPr/>
        </p:nvSpPr>
        <p:spPr>
          <a:xfrm>
            <a:off x="640080" y="275234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③</a:t>
            </a:r>
            <a:endParaRPr lang="en-US" sz="1800" dirty="0"/>
          </a:p>
        </p:txBody>
      </p:sp>
      <p:sp>
        <p:nvSpPr>
          <p:cNvPr id="19" name="Text 15"/>
          <p:cNvSpPr/>
          <p:nvPr/>
        </p:nvSpPr>
        <p:spPr>
          <a:xfrm>
            <a:off x="1280160" y="2688336"/>
            <a:ext cx="4572000" cy="274320"/>
          </a:xfrm>
          <a:prstGeom prst="rect">
            <a:avLst/>
          </a:prstGeom>
          <a:noFill/>
          <a:ln/>
        </p:spPr>
        <p:txBody>
          <a:bodyPr wrap="square" lIns="0" tIns="0" rIns="0" bIns="0" rtlCol="0" anchor="ctr"/>
          <a:lstStyle/>
          <a:p>
            <a:pPr marL="0" indent="0">
              <a:buNone/>
            </a:pPr>
            <a:r>
              <a:rPr lang="en-US" sz="1400" b="1" dirty="0">
                <a:solidFill>
                  <a:srgbClr val="22A699"/>
                </a:solidFill>
                <a:latin typeface="Arial" pitchFamily="34" charset="0"/>
                <a:ea typeface="Arial" pitchFamily="34" charset="-122"/>
                <a:cs typeface="Arial" pitchFamily="34" charset="-120"/>
              </a:rPr>
              <a:t>硬约束 · 工具白名单</a:t>
            </a:r>
            <a:endParaRPr lang="en-US" sz="1400" dirty="0"/>
          </a:p>
        </p:txBody>
      </p:sp>
      <p:sp>
        <p:nvSpPr>
          <p:cNvPr id="20" name="Text 16"/>
          <p:cNvSpPr/>
          <p:nvPr/>
        </p:nvSpPr>
        <p:spPr>
          <a:xfrm>
            <a:off x="1280160" y="2980944"/>
            <a:ext cx="7132320" cy="274320"/>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Agent 只能调 execute_action / validate_action → 无 SQL/API/DB 直接访问权</a:t>
            </a:r>
            <a:endParaRPr lang="en-US" sz="1000" dirty="0"/>
          </a:p>
        </p:txBody>
      </p:sp>
      <p:pic>
        <p:nvPicPr>
          <p:cNvPr id="21" name="Image 2" descr="preencoded.png"/>
          <p:cNvPicPr>
            <a:picLocks noChangeAspect="1"/>
          </p:cNvPicPr>
          <p:nvPr/>
        </p:nvPicPr>
        <p:blipFill>
          <a:blip r:embed="rId3"/>
          <a:stretch>
            <a:fillRect/>
          </a:stretch>
        </p:blipFill>
        <p:spPr>
          <a:xfrm>
            <a:off x="4389120" y="3328416"/>
            <a:ext cx="182880" cy="137160"/>
          </a:xfrm>
          <a:prstGeom prst="rect">
            <a:avLst/>
          </a:prstGeom>
        </p:spPr>
      </p:pic>
      <p:sp>
        <p:nvSpPr>
          <p:cNvPr id="22" name="Shape 17"/>
          <p:cNvSpPr/>
          <p:nvPr/>
        </p:nvSpPr>
        <p:spPr>
          <a:xfrm>
            <a:off x="457200" y="3419856"/>
            <a:ext cx="8229600" cy="713232"/>
          </a:xfrm>
          <a:prstGeom prst="rect">
            <a:avLst/>
          </a:prstGeom>
          <a:solidFill>
            <a:srgbClr val="FEF3E6"/>
          </a:solidFill>
          <a:ln/>
          <a:effectLst>
            <a:outerShdw blurRad="25400" dist="12700" dir="8100000" algn="bl" rotWithShape="0">
              <a:srgbClr val="000000">
                <a:alpha val="4000"/>
              </a:srgbClr>
            </a:outerShdw>
          </a:effectLst>
        </p:spPr>
        <p:txBody>
          <a:bodyPr/>
          <a:lstStyle/>
          <a:p>
            <a:endParaRPr lang="zh-CN" altLang="en-US"/>
          </a:p>
        </p:txBody>
      </p:sp>
      <p:sp>
        <p:nvSpPr>
          <p:cNvPr id="23" name="Shape 18"/>
          <p:cNvSpPr/>
          <p:nvPr/>
        </p:nvSpPr>
        <p:spPr>
          <a:xfrm>
            <a:off x="640080" y="3557016"/>
            <a:ext cx="438912" cy="438912"/>
          </a:xfrm>
          <a:prstGeom prst="ellipse">
            <a:avLst/>
          </a:prstGeom>
          <a:solidFill>
            <a:srgbClr val="E78C07"/>
          </a:solidFill>
          <a:ln/>
        </p:spPr>
        <p:txBody>
          <a:bodyPr/>
          <a:lstStyle/>
          <a:p>
            <a:endParaRPr lang="zh-CN" altLang="en-US"/>
          </a:p>
        </p:txBody>
      </p:sp>
      <p:sp>
        <p:nvSpPr>
          <p:cNvPr id="24" name="Text 19"/>
          <p:cNvSpPr/>
          <p:nvPr/>
        </p:nvSpPr>
        <p:spPr>
          <a:xfrm>
            <a:off x="640080" y="3557016"/>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④</a:t>
            </a:r>
            <a:endParaRPr lang="en-US" sz="1800" dirty="0"/>
          </a:p>
        </p:txBody>
      </p:sp>
      <p:sp>
        <p:nvSpPr>
          <p:cNvPr id="25" name="Text 20"/>
          <p:cNvSpPr/>
          <p:nvPr/>
        </p:nvSpPr>
        <p:spPr>
          <a:xfrm>
            <a:off x="1280160" y="3493008"/>
            <a:ext cx="4572000" cy="274320"/>
          </a:xfrm>
          <a:prstGeom prst="rect">
            <a:avLst/>
          </a:prstGeom>
          <a:noFill/>
          <a:ln/>
        </p:spPr>
        <p:txBody>
          <a:bodyPr wrap="square" lIns="0" tIns="0" rIns="0" bIns="0" rtlCol="0" anchor="ctr"/>
          <a:lstStyle/>
          <a:p>
            <a:pPr marL="0" indent="0">
              <a:buNone/>
            </a:pPr>
            <a:r>
              <a:rPr lang="en-US" sz="1400" b="1" dirty="0">
                <a:solidFill>
                  <a:srgbClr val="E78C07"/>
                </a:solidFill>
                <a:latin typeface="Arial" pitchFamily="34" charset="0"/>
                <a:ea typeface="Arial" pitchFamily="34" charset="-122"/>
                <a:cs typeface="Arial" pitchFamily="34" charset="-120"/>
              </a:rPr>
              <a:t>校验层 · 执行前拦截</a:t>
            </a:r>
            <a:endParaRPr lang="en-US" sz="1400" dirty="0"/>
          </a:p>
        </p:txBody>
      </p:sp>
      <p:sp>
        <p:nvSpPr>
          <p:cNvPr id="26" name="Text 21"/>
          <p:cNvSpPr/>
          <p:nvPr/>
        </p:nvSpPr>
        <p:spPr>
          <a:xfrm>
            <a:off x="1280160" y="3785616"/>
            <a:ext cx="7132320" cy="274320"/>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Schema 白名单校验（实体/属性/枚举/前置条件/权限/聚合根入口）→ 不合规即拒绝</a:t>
            </a:r>
            <a:endParaRPr lang="en-US" sz="1000" dirty="0"/>
          </a:p>
        </p:txBody>
      </p:sp>
      <p:pic>
        <p:nvPicPr>
          <p:cNvPr id="27" name="Image 3" descr="preencoded.png"/>
          <p:cNvPicPr>
            <a:picLocks noChangeAspect="1"/>
          </p:cNvPicPr>
          <p:nvPr/>
        </p:nvPicPr>
        <p:blipFill>
          <a:blip r:embed="rId3"/>
          <a:stretch>
            <a:fillRect/>
          </a:stretch>
        </p:blipFill>
        <p:spPr>
          <a:xfrm>
            <a:off x="4389120" y="4133088"/>
            <a:ext cx="182880" cy="137160"/>
          </a:xfrm>
          <a:prstGeom prst="rect">
            <a:avLst/>
          </a:prstGeom>
        </p:spPr>
      </p:pic>
      <p:sp>
        <p:nvSpPr>
          <p:cNvPr id="28" name="Shape 22"/>
          <p:cNvSpPr/>
          <p:nvPr/>
        </p:nvSpPr>
        <p:spPr>
          <a:xfrm>
            <a:off x="457200" y="4224528"/>
            <a:ext cx="8229600" cy="713232"/>
          </a:xfrm>
          <a:prstGeom prst="rect">
            <a:avLst/>
          </a:prstGeom>
          <a:solidFill>
            <a:srgbClr val="EDF7ED"/>
          </a:solidFill>
          <a:ln/>
          <a:effectLst>
            <a:outerShdw blurRad="25400" dist="12700" dir="8100000" algn="bl" rotWithShape="0">
              <a:srgbClr val="000000">
                <a:alpha val="4000"/>
              </a:srgbClr>
            </a:outerShdw>
          </a:effectLst>
        </p:spPr>
        <p:txBody>
          <a:bodyPr/>
          <a:lstStyle/>
          <a:p>
            <a:endParaRPr lang="zh-CN" altLang="en-US"/>
          </a:p>
        </p:txBody>
      </p:sp>
      <p:sp>
        <p:nvSpPr>
          <p:cNvPr id="29" name="Shape 23"/>
          <p:cNvSpPr/>
          <p:nvPr/>
        </p:nvSpPr>
        <p:spPr>
          <a:xfrm>
            <a:off x="640080" y="4361688"/>
            <a:ext cx="438912" cy="438912"/>
          </a:xfrm>
          <a:prstGeom prst="ellipse">
            <a:avLst/>
          </a:prstGeom>
          <a:solidFill>
            <a:srgbClr val="107E3E"/>
          </a:solidFill>
          <a:ln/>
        </p:spPr>
        <p:txBody>
          <a:bodyPr/>
          <a:lstStyle/>
          <a:p>
            <a:endParaRPr lang="zh-CN" altLang="en-US"/>
          </a:p>
        </p:txBody>
      </p:sp>
      <p:sp>
        <p:nvSpPr>
          <p:cNvPr id="30" name="Text 24"/>
          <p:cNvSpPr/>
          <p:nvPr/>
        </p:nvSpPr>
        <p:spPr>
          <a:xfrm>
            <a:off x="640080" y="4361688"/>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⑤</a:t>
            </a:r>
            <a:endParaRPr lang="en-US" sz="1800" dirty="0"/>
          </a:p>
        </p:txBody>
      </p:sp>
      <p:sp>
        <p:nvSpPr>
          <p:cNvPr id="31" name="Text 25"/>
          <p:cNvSpPr/>
          <p:nvPr/>
        </p:nvSpPr>
        <p:spPr>
          <a:xfrm>
            <a:off x="1280160" y="4297680"/>
            <a:ext cx="4572000" cy="274320"/>
          </a:xfrm>
          <a:prstGeom prst="rect">
            <a:avLst/>
          </a:prstGeom>
          <a:noFill/>
          <a:ln/>
        </p:spPr>
        <p:txBody>
          <a:bodyPr wrap="square" lIns="0" tIns="0" rIns="0" bIns="0" rtlCol="0" anchor="ctr"/>
          <a:lstStyle/>
          <a:p>
            <a:pPr marL="0" indent="0">
              <a:buNone/>
            </a:pPr>
            <a:r>
              <a:rPr lang="en-US" sz="1400" b="1" dirty="0">
                <a:solidFill>
                  <a:srgbClr val="107E3E"/>
                </a:solidFill>
                <a:latin typeface="Arial" pitchFamily="34" charset="0"/>
                <a:ea typeface="Arial" pitchFamily="34" charset="-122"/>
                <a:cs typeface="Arial" pitchFamily="34" charset="-120"/>
              </a:rPr>
              <a:t>执行 &amp; 审计</a:t>
            </a:r>
            <a:endParaRPr lang="en-US" sz="1400" dirty="0"/>
          </a:p>
        </p:txBody>
      </p:sp>
      <p:sp>
        <p:nvSpPr>
          <p:cNvPr id="32" name="Text 26"/>
          <p:cNvSpPr/>
          <p:nvPr/>
        </p:nvSpPr>
        <p:spPr>
          <a:xfrm>
            <a:off x="1280160" y="4590288"/>
            <a:ext cx="7132320" cy="274320"/>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执行成功 → 事件发布 → 审计写入 → 结果返回 LLM → 向用户汇报</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200" b="1" dirty="0">
                <a:solidFill>
                  <a:srgbClr val="1E293B"/>
                </a:solidFill>
                <a:latin typeface="Arial" pitchFamily="34" charset="0"/>
                <a:ea typeface="Arial" pitchFamily="34" charset="-122"/>
                <a:cs typeface="Arial" pitchFamily="34" charset="-120"/>
              </a:rPr>
              <a:t>Agent 调用机制：为什么选择 MCP 而非 Skill？</a:t>
            </a:r>
            <a:endParaRPr lang="en-US" sz="2200" dirty="0"/>
          </a:p>
        </p:txBody>
      </p:sp>
      <p:sp>
        <p:nvSpPr>
          <p:cNvPr id="4" name="Shape 2"/>
          <p:cNvSpPr/>
          <p:nvPr/>
        </p:nvSpPr>
        <p:spPr>
          <a:xfrm>
            <a:off x="365760" y="1005840"/>
            <a:ext cx="3931920" cy="3749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zh-CN" altLang="en-US"/>
          </a:p>
        </p:txBody>
      </p:sp>
      <p:sp>
        <p:nvSpPr>
          <p:cNvPr id="5" name="Shape 3"/>
          <p:cNvSpPr/>
          <p:nvPr/>
        </p:nvSpPr>
        <p:spPr>
          <a:xfrm>
            <a:off x="365760" y="1005840"/>
            <a:ext cx="3931920" cy="54864"/>
          </a:xfrm>
          <a:prstGeom prst="rect">
            <a:avLst/>
          </a:prstGeom>
          <a:solidFill>
            <a:srgbClr val="22A699"/>
          </a:solidFill>
          <a:ln/>
        </p:spPr>
        <p:txBody>
          <a:bodyPr/>
          <a:lstStyle/>
          <a:p>
            <a:endParaRPr lang="zh-CN" altLang="en-US"/>
          </a:p>
        </p:txBody>
      </p:sp>
      <p:sp>
        <p:nvSpPr>
          <p:cNvPr id="6" name="Text 4"/>
          <p:cNvSpPr/>
          <p:nvPr/>
        </p:nvSpPr>
        <p:spPr>
          <a:xfrm>
            <a:off x="640080" y="1188720"/>
            <a:ext cx="3200400" cy="365760"/>
          </a:xfrm>
          <a:prstGeom prst="rect">
            <a:avLst/>
          </a:prstGeom>
          <a:noFill/>
          <a:ln/>
        </p:spPr>
        <p:txBody>
          <a:bodyPr wrap="square" lIns="0" tIns="0" rIns="0" bIns="0" rtlCol="0" anchor="ctr"/>
          <a:lstStyle/>
          <a:p>
            <a:pPr marL="0" indent="0">
              <a:buNone/>
            </a:pPr>
            <a:r>
              <a:rPr lang="en-US" sz="1600" b="1" dirty="0">
                <a:solidFill>
                  <a:srgbClr val="22A699"/>
                </a:solidFill>
                <a:latin typeface="Arial" pitchFamily="34" charset="0"/>
                <a:ea typeface="Arial" pitchFamily="34" charset="-122"/>
                <a:cs typeface="Arial" pitchFamily="34" charset="-120"/>
              </a:rPr>
              <a:t>MCP 分发机制 ★ 推荐</a:t>
            </a:r>
            <a:endParaRPr lang="en-US" sz="1600" dirty="0"/>
          </a:p>
        </p:txBody>
      </p:sp>
      <p:sp>
        <p:nvSpPr>
          <p:cNvPr id="7" name="Text 5"/>
          <p:cNvSpPr/>
          <p:nvPr/>
        </p:nvSpPr>
        <p:spPr>
          <a:xfrm>
            <a:off x="640080" y="1600200"/>
            <a:ext cx="3383280" cy="457200"/>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本体 → 编译为 Agent Manifest → MCP Server 加载 → Agent 通过 MCP 工具白名单调用</a:t>
            </a:r>
            <a:endParaRPr lang="en-US" sz="1000" dirty="0"/>
          </a:p>
        </p:txBody>
      </p:sp>
      <p:pic>
        <p:nvPicPr>
          <p:cNvPr id="8" name="Image 0" descr="preencoded.png"/>
          <p:cNvPicPr>
            <a:picLocks noChangeAspect="1"/>
          </p:cNvPicPr>
          <p:nvPr/>
        </p:nvPicPr>
        <p:blipFill>
          <a:blip r:embed="rId3"/>
          <a:stretch>
            <a:fillRect/>
          </a:stretch>
        </p:blipFill>
        <p:spPr>
          <a:xfrm>
            <a:off x="640080" y="2148840"/>
            <a:ext cx="182880" cy="182880"/>
          </a:xfrm>
          <a:prstGeom prst="rect">
            <a:avLst/>
          </a:prstGeom>
        </p:spPr>
      </p:pic>
      <p:sp>
        <p:nvSpPr>
          <p:cNvPr id="9" name="Text 6"/>
          <p:cNvSpPr/>
          <p:nvPr/>
        </p:nvSpPr>
        <p:spPr>
          <a:xfrm>
            <a:off x="960120" y="2103120"/>
            <a:ext cx="3200400" cy="3657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MCP 是开放标准协议，适用于 Dify / Coze / LangChain 等所有主流AI平台</a:t>
            </a:r>
            <a:endParaRPr lang="en-US" sz="1000" dirty="0"/>
          </a:p>
        </p:txBody>
      </p:sp>
      <p:pic>
        <p:nvPicPr>
          <p:cNvPr id="10" name="Image 1" descr="preencoded.png"/>
          <p:cNvPicPr>
            <a:picLocks noChangeAspect="1"/>
          </p:cNvPicPr>
          <p:nvPr/>
        </p:nvPicPr>
        <p:blipFill>
          <a:blip r:embed="rId3"/>
          <a:stretch>
            <a:fillRect/>
          </a:stretch>
        </p:blipFill>
        <p:spPr>
          <a:xfrm>
            <a:off x="640080" y="2542032"/>
            <a:ext cx="182880" cy="182880"/>
          </a:xfrm>
          <a:prstGeom prst="rect">
            <a:avLst/>
          </a:prstGeom>
        </p:spPr>
      </p:pic>
      <p:sp>
        <p:nvSpPr>
          <p:cNvPr id="11" name="Text 7"/>
          <p:cNvSpPr/>
          <p:nvPr/>
        </p:nvSpPr>
        <p:spPr>
          <a:xfrm>
            <a:off x="960120" y="2496312"/>
            <a:ext cx="3200400" cy="3657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Agent 工具列表由 Manifest 动态编译 —— 不同本体暴露不同工具，完全隔离</a:t>
            </a:r>
            <a:endParaRPr lang="en-US" sz="1000" dirty="0"/>
          </a:p>
        </p:txBody>
      </p:sp>
      <p:pic>
        <p:nvPicPr>
          <p:cNvPr id="12" name="Image 2" descr="preencoded.png"/>
          <p:cNvPicPr>
            <a:picLocks noChangeAspect="1"/>
          </p:cNvPicPr>
          <p:nvPr/>
        </p:nvPicPr>
        <p:blipFill>
          <a:blip r:embed="rId3"/>
          <a:stretch>
            <a:fillRect/>
          </a:stretch>
        </p:blipFill>
        <p:spPr>
          <a:xfrm>
            <a:off x="640080" y="2935224"/>
            <a:ext cx="182880" cy="182880"/>
          </a:xfrm>
          <a:prstGeom prst="rect">
            <a:avLst/>
          </a:prstGeom>
        </p:spPr>
      </p:pic>
      <p:sp>
        <p:nvSpPr>
          <p:cNvPr id="13" name="Text 8"/>
          <p:cNvSpPr/>
          <p:nvPr/>
        </p:nvSpPr>
        <p:spPr>
          <a:xfrm>
            <a:off x="960120" y="2889504"/>
            <a:ext cx="3200400" cy="3657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硬约束 100%：Agent 无 SQL/API/DB 直接访问权，结构上不可绕过</a:t>
            </a:r>
            <a:endParaRPr lang="en-US" sz="1000" dirty="0"/>
          </a:p>
        </p:txBody>
      </p:sp>
      <p:pic>
        <p:nvPicPr>
          <p:cNvPr id="14" name="Image 3" descr="preencoded.png"/>
          <p:cNvPicPr>
            <a:picLocks noChangeAspect="1"/>
          </p:cNvPicPr>
          <p:nvPr/>
        </p:nvPicPr>
        <p:blipFill>
          <a:blip r:embed="rId3"/>
          <a:stretch>
            <a:fillRect/>
          </a:stretch>
        </p:blipFill>
        <p:spPr>
          <a:xfrm>
            <a:off x="640080" y="3328416"/>
            <a:ext cx="182880" cy="182880"/>
          </a:xfrm>
          <a:prstGeom prst="rect">
            <a:avLst/>
          </a:prstGeom>
        </p:spPr>
      </p:pic>
      <p:sp>
        <p:nvSpPr>
          <p:cNvPr id="15" name="Text 9"/>
          <p:cNvSpPr/>
          <p:nvPr/>
        </p:nvSpPr>
        <p:spPr>
          <a:xfrm>
            <a:off x="960120" y="3282696"/>
            <a:ext cx="3200400" cy="3657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支持三通道纵深防御：意图识别 → 白名单入口 → 校验层拦截</a:t>
            </a:r>
            <a:endParaRPr lang="en-US" sz="1000" dirty="0"/>
          </a:p>
        </p:txBody>
      </p:sp>
      <p:pic>
        <p:nvPicPr>
          <p:cNvPr id="16" name="Image 4" descr="preencoded.png"/>
          <p:cNvPicPr>
            <a:picLocks noChangeAspect="1"/>
          </p:cNvPicPr>
          <p:nvPr/>
        </p:nvPicPr>
        <p:blipFill>
          <a:blip r:embed="rId3"/>
          <a:stretch>
            <a:fillRect/>
          </a:stretch>
        </p:blipFill>
        <p:spPr>
          <a:xfrm>
            <a:off x="640080" y="3721608"/>
            <a:ext cx="182880" cy="182880"/>
          </a:xfrm>
          <a:prstGeom prst="rect">
            <a:avLst/>
          </a:prstGeom>
        </p:spPr>
      </p:pic>
      <p:sp>
        <p:nvSpPr>
          <p:cNvPr id="17" name="Text 10"/>
          <p:cNvSpPr/>
          <p:nvPr/>
        </p:nvSpPr>
        <p:spPr>
          <a:xfrm>
            <a:off x="960120" y="3675888"/>
            <a:ext cx="3200400" cy="3657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版本化管理：Manifest 版本与本体版本严格对应，快照不可变</a:t>
            </a:r>
            <a:endParaRPr lang="en-US" sz="1000" dirty="0"/>
          </a:p>
        </p:txBody>
      </p:sp>
      <p:pic>
        <p:nvPicPr>
          <p:cNvPr id="18" name="Image 5" descr="preencoded.png"/>
          <p:cNvPicPr>
            <a:picLocks noChangeAspect="1"/>
          </p:cNvPicPr>
          <p:nvPr/>
        </p:nvPicPr>
        <p:blipFill>
          <a:blip r:embed="rId3"/>
          <a:stretch>
            <a:fillRect/>
          </a:stretch>
        </p:blipFill>
        <p:spPr>
          <a:xfrm>
            <a:off x="640080" y="4114800"/>
            <a:ext cx="182880" cy="182880"/>
          </a:xfrm>
          <a:prstGeom prst="rect">
            <a:avLst/>
          </a:prstGeom>
        </p:spPr>
      </p:pic>
      <p:sp>
        <p:nvSpPr>
          <p:cNvPr id="19" name="Text 11"/>
          <p:cNvSpPr/>
          <p:nvPr/>
        </p:nvSpPr>
        <p:spPr>
          <a:xfrm>
            <a:off x="960120" y="4069080"/>
            <a:ext cx="3200400" cy="3657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平台内置 3 个固定工具 + N 个动态编译工具（由本体定义自动生成）</a:t>
            </a:r>
            <a:endParaRPr lang="en-US" sz="1000" dirty="0"/>
          </a:p>
        </p:txBody>
      </p:sp>
      <p:sp>
        <p:nvSpPr>
          <p:cNvPr id="20" name="Shape 12"/>
          <p:cNvSpPr/>
          <p:nvPr/>
        </p:nvSpPr>
        <p:spPr>
          <a:xfrm>
            <a:off x="4846320" y="1005840"/>
            <a:ext cx="3931920" cy="2011680"/>
          </a:xfrm>
          <a:prstGeom prst="rect">
            <a:avLst/>
          </a:prstGeom>
          <a:solidFill>
            <a:srgbClr val="FFFFFF"/>
          </a:solidFill>
          <a:ln/>
          <a:effectLst>
            <a:outerShdw blurRad="38100" dist="12700" dir="8100000" algn="bl" rotWithShape="0">
              <a:srgbClr val="000000">
                <a:alpha val="5000"/>
              </a:srgbClr>
            </a:outerShdw>
          </a:effectLst>
        </p:spPr>
        <p:txBody>
          <a:bodyPr/>
          <a:lstStyle/>
          <a:p>
            <a:endParaRPr lang="zh-CN" altLang="en-US"/>
          </a:p>
        </p:txBody>
      </p:sp>
      <p:sp>
        <p:nvSpPr>
          <p:cNvPr id="21" name="Shape 13"/>
          <p:cNvSpPr/>
          <p:nvPr/>
        </p:nvSpPr>
        <p:spPr>
          <a:xfrm>
            <a:off x="4846320" y="1005840"/>
            <a:ext cx="3931920" cy="54864"/>
          </a:xfrm>
          <a:prstGeom prst="rect">
            <a:avLst/>
          </a:prstGeom>
          <a:solidFill>
            <a:srgbClr val="E78C07"/>
          </a:solidFill>
          <a:ln/>
        </p:spPr>
        <p:txBody>
          <a:bodyPr/>
          <a:lstStyle/>
          <a:p>
            <a:endParaRPr lang="zh-CN" altLang="en-US"/>
          </a:p>
        </p:txBody>
      </p:sp>
      <p:sp>
        <p:nvSpPr>
          <p:cNvPr id="22" name="Text 14"/>
          <p:cNvSpPr/>
          <p:nvPr/>
        </p:nvSpPr>
        <p:spPr>
          <a:xfrm>
            <a:off x="5120640" y="1188720"/>
            <a:ext cx="3200400" cy="365760"/>
          </a:xfrm>
          <a:prstGeom prst="rect">
            <a:avLst/>
          </a:prstGeom>
          <a:noFill/>
          <a:ln/>
        </p:spPr>
        <p:txBody>
          <a:bodyPr wrap="square" lIns="0" tIns="0" rIns="0" bIns="0" rtlCol="0" anchor="ctr"/>
          <a:lstStyle/>
          <a:p>
            <a:pPr marL="0" indent="0">
              <a:buNone/>
            </a:pPr>
            <a:r>
              <a:rPr lang="en-US" sz="1600" b="1" dirty="0">
                <a:solidFill>
                  <a:srgbClr val="E78C07"/>
                </a:solidFill>
                <a:latin typeface="Arial" pitchFamily="34" charset="0"/>
                <a:ea typeface="Arial" pitchFamily="34" charset="-122"/>
                <a:cs typeface="Arial" pitchFamily="34" charset="-120"/>
              </a:rPr>
              <a:t>Skill 方式 △ 受限</a:t>
            </a:r>
            <a:endParaRPr lang="en-US" sz="1600" dirty="0"/>
          </a:p>
        </p:txBody>
      </p:sp>
      <p:sp>
        <p:nvSpPr>
          <p:cNvPr id="23" name="Text 15"/>
          <p:cNvSpPr/>
          <p:nvPr/>
        </p:nvSpPr>
        <p:spPr>
          <a:xfrm>
            <a:off x="5120640" y="1645920"/>
            <a:ext cx="3474720" cy="274320"/>
          </a:xfrm>
          <a:prstGeom prst="rect">
            <a:avLst/>
          </a:prstGeom>
          <a:noFill/>
          <a:ln/>
        </p:spPr>
        <p:txBody>
          <a:bodyPr wrap="square" lIns="0" tIns="0" rIns="0" bIns="0" rtlCol="0" anchor="ctr"/>
          <a:lstStyle/>
          <a:p>
            <a:pPr marL="342900" indent="-342900">
              <a:buSzPct val="100000"/>
              <a:buChar char="•"/>
            </a:pPr>
            <a:r>
              <a:rPr lang="en-US" sz="1000" dirty="0">
                <a:solidFill>
                  <a:srgbClr val="64748B"/>
                </a:solidFill>
                <a:latin typeface="Arial" pitchFamily="34" charset="0"/>
                <a:ea typeface="Arial" pitchFamily="34" charset="-122"/>
                <a:cs typeface="Arial" pitchFamily="34" charset="-120"/>
              </a:rPr>
              <a:t>Skill 是提示词层面的约束——依赖 LLM "自觉遵守"，无法保证 100%</a:t>
            </a:r>
            <a:endParaRPr lang="en-US" sz="1000" dirty="0"/>
          </a:p>
        </p:txBody>
      </p:sp>
      <p:sp>
        <p:nvSpPr>
          <p:cNvPr id="24" name="Text 16"/>
          <p:cNvSpPr/>
          <p:nvPr/>
        </p:nvSpPr>
        <p:spPr>
          <a:xfrm>
            <a:off x="5120640" y="1965960"/>
            <a:ext cx="3474720" cy="274320"/>
          </a:xfrm>
          <a:prstGeom prst="rect">
            <a:avLst/>
          </a:prstGeom>
          <a:noFill/>
          <a:ln/>
        </p:spPr>
        <p:txBody>
          <a:bodyPr wrap="square" lIns="0" tIns="0" rIns="0" bIns="0" rtlCol="0" anchor="ctr"/>
          <a:lstStyle/>
          <a:p>
            <a:pPr marL="342900" indent="-342900">
              <a:buSzPct val="100000"/>
              <a:buChar char="•"/>
            </a:pPr>
            <a:r>
              <a:rPr lang="en-US" sz="1000" dirty="0">
                <a:solidFill>
                  <a:srgbClr val="64748B"/>
                </a:solidFill>
                <a:latin typeface="Arial" pitchFamily="34" charset="0"/>
                <a:ea typeface="Arial" pitchFamily="34" charset="-122"/>
                <a:cs typeface="Arial" pitchFamily="34" charset="-120"/>
              </a:rPr>
              <a:t>缺乏结构化的工具白名单——LLM 理论上可绕过 Skill 直接操作数据</a:t>
            </a:r>
            <a:endParaRPr lang="en-US" sz="1000" dirty="0"/>
          </a:p>
        </p:txBody>
      </p:sp>
      <p:sp>
        <p:nvSpPr>
          <p:cNvPr id="25" name="Text 17"/>
          <p:cNvSpPr/>
          <p:nvPr/>
        </p:nvSpPr>
        <p:spPr>
          <a:xfrm>
            <a:off x="5120640" y="2286000"/>
            <a:ext cx="3474720" cy="274320"/>
          </a:xfrm>
          <a:prstGeom prst="rect">
            <a:avLst/>
          </a:prstGeom>
          <a:noFill/>
          <a:ln/>
        </p:spPr>
        <p:txBody>
          <a:bodyPr wrap="square" lIns="0" tIns="0" rIns="0" bIns="0" rtlCol="0" anchor="ctr"/>
          <a:lstStyle/>
          <a:p>
            <a:pPr marL="342900" indent="-342900">
              <a:buSzPct val="100000"/>
              <a:buChar char="•"/>
            </a:pPr>
            <a:r>
              <a:rPr lang="en-US" sz="1000" dirty="0">
                <a:solidFill>
                  <a:srgbClr val="64748B"/>
                </a:solidFill>
                <a:latin typeface="Arial" pitchFamily="34" charset="0"/>
                <a:ea typeface="Arial" pitchFamily="34" charset="-122"/>
                <a:cs typeface="Arial" pitchFamily="34" charset="-120"/>
              </a:rPr>
              <a:t>无法做硬约束——没有 MCP 工具清单编译和白名单拦截机制</a:t>
            </a:r>
            <a:endParaRPr lang="en-US" sz="1000" dirty="0"/>
          </a:p>
        </p:txBody>
      </p:sp>
      <p:sp>
        <p:nvSpPr>
          <p:cNvPr id="26" name="Text 18"/>
          <p:cNvSpPr/>
          <p:nvPr/>
        </p:nvSpPr>
        <p:spPr>
          <a:xfrm>
            <a:off x="5120640" y="2606040"/>
            <a:ext cx="3474720" cy="274320"/>
          </a:xfrm>
          <a:prstGeom prst="rect">
            <a:avLst/>
          </a:prstGeom>
          <a:noFill/>
          <a:ln/>
        </p:spPr>
        <p:txBody>
          <a:bodyPr wrap="square" lIns="0" tIns="0" rIns="0" bIns="0" rtlCol="0" anchor="ctr"/>
          <a:lstStyle/>
          <a:p>
            <a:pPr marL="342900" indent="-342900">
              <a:buSzPct val="100000"/>
              <a:buChar char="•"/>
            </a:pPr>
            <a:r>
              <a:rPr lang="en-US" sz="1000" dirty="0">
                <a:solidFill>
                  <a:srgbClr val="64748B"/>
                </a:solidFill>
                <a:latin typeface="Arial" pitchFamily="34" charset="0"/>
                <a:ea typeface="Arial" pitchFamily="34" charset="-122"/>
                <a:cs typeface="Arial" pitchFamily="34" charset="-120"/>
              </a:rPr>
              <a:t>不适合企业级安全合规要求——审计链不完整，执行不可追溯</a:t>
            </a:r>
            <a:endParaRPr lang="en-US" sz="1000" dirty="0"/>
          </a:p>
        </p:txBody>
      </p:sp>
      <p:sp>
        <p:nvSpPr>
          <p:cNvPr id="27" name="Shape 19"/>
          <p:cNvSpPr/>
          <p:nvPr/>
        </p:nvSpPr>
        <p:spPr>
          <a:xfrm>
            <a:off x="4846320" y="3200400"/>
            <a:ext cx="3931920" cy="1554480"/>
          </a:xfrm>
          <a:prstGeom prst="rect">
            <a:avLst/>
          </a:prstGeom>
          <a:solidFill>
            <a:srgbClr val="FFFFFF"/>
          </a:solidFill>
          <a:ln/>
          <a:effectLst>
            <a:outerShdw blurRad="38100" dist="12700" dir="8100000" algn="bl" rotWithShape="0">
              <a:srgbClr val="000000">
                <a:alpha val="5000"/>
              </a:srgbClr>
            </a:outerShdw>
          </a:effectLst>
        </p:spPr>
        <p:txBody>
          <a:bodyPr/>
          <a:lstStyle/>
          <a:p>
            <a:endParaRPr lang="zh-CN" altLang="en-US"/>
          </a:p>
        </p:txBody>
      </p:sp>
      <p:sp>
        <p:nvSpPr>
          <p:cNvPr id="28" name="Shape 20"/>
          <p:cNvSpPr/>
          <p:nvPr/>
        </p:nvSpPr>
        <p:spPr>
          <a:xfrm>
            <a:off x="4846320" y="3200400"/>
            <a:ext cx="3931920" cy="54864"/>
          </a:xfrm>
          <a:prstGeom prst="rect">
            <a:avLst/>
          </a:prstGeom>
          <a:solidFill>
            <a:srgbClr val="065A82"/>
          </a:solidFill>
          <a:ln/>
        </p:spPr>
        <p:txBody>
          <a:bodyPr/>
          <a:lstStyle/>
          <a:p>
            <a:endParaRPr lang="zh-CN" altLang="en-US"/>
          </a:p>
        </p:txBody>
      </p:sp>
      <p:sp>
        <p:nvSpPr>
          <p:cNvPr id="29" name="Text 21"/>
          <p:cNvSpPr/>
          <p:nvPr/>
        </p:nvSpPr>
        <p:spPr>
          <a:xfrm>
            <a:off x="5120640" y="3383280"/>
            <a:ext cx="3200400" cy="320040"/>
          </a:xfrm>
          <a:prstGeom prst="rect">
            <a:avLst/>
          </a:prstGeom>
          <a:noFill/>
          <a:ln/>
        </p:spPr>
        <p:txBody>
          <a:bodyPr wrap="square" lIns="0" tIns="0" rIns="0" bIns="0" rtlCol="0" anchor="ctr"/>
          <a:lstStyle/>
          <a:p>
            <a:pPr marL="0" indent="0">
              <a:buNone/>
            </a:pPr>
            <a:r>
              <a:rPr lang="en-US" sz="1600" b="1" dirty="0">
                <a:solidFill>
                  <a:srgbClr val="065A82"/>
                </a:solidFill>
                <a:latin typeface="Arial" pitchFamily="34" charset="0"/>
                <a:ea typeface="Arial" pitchFamily="34" charset="-122"/>
                <a:cs typeface="Arial" pitchFamily="34" charset="-120"/>
              </a:rPr>
              <a:t>结论</a:t>
            </a:r>
            <a:endParaRPr lang="en-US" sz="1600" dirty="0"/>
          </a:p>
        </p:txBody>
      </p:sp>
      <p:sp>
        <p:nvSpPr>
          <p:cNvPr id="30" name="Text 22"/>
          <p:cNvSpPr/>
          <p:nvPr/>
        </p:nvSpPr>
        <p:spPr>
          <a:xfrm>
            <a:off x="5074920" y="3591330"/>
            <a:ext cx="3474720" cy="1188720"/>
          </a:xfrm>
          <a:prstGeom prst="rect">
            <a:avLst/>
          </a:prstGeom>
          <a:noFill/>
          <a:ln/>
        </p:spPr>
        <p:txBody>
          <a:bodyPr wrap="square" rtlCol="0" anchor="ctr"/>
          <a:lstStyle/>
          <a:p>
            <a:pPr marL="0" indent="0">
              <a:buNone/>
            </a:pPr>
            <a:r>
              <a:rPr lang="en-US" sz="1200" dirty="0">
                <a:solidFill>
                  <a:srgbClr val="1E293B"/>
                </a:solidFill>
              </a:rPr>
              <a:t>MCP 是唯一能保证 100% Agent 合规的分发方式</a:t>
            </a:r>
            <a:endParaRPr lang="en-US" sz="1200" dirty="0"/>
          </a:p>
          <a:p>
            <a:pPr marL="0" indent="0">
              <a:buNone/>
            </a:pPr>
            <a:endParaRPr lang="en-US" sz="1200" dirty="0"/>
          </a:p>
          <a:p>
            <a:pPr marL="0" indent="0">
              <a:buNone/>
            </a:pPr>
            <a:r>
              <a:rPr lang="en-US" sz="1100" b="1" dirty="0">
                <a:solidFill>
                  <a:srgbClr val="22A699"/>
                </a:solidFill>
              </a:rPr>
              <a:t>核心原则：</a:t>
            </a:r>
            <a:endParaRPr lang="en-US" sz="1200" dirty="0"/>
          </a:p>
          <a:p>
            <a:pPr marL="0" indent="0">
              <a:buNone/>
            </a:pPr>
            <a:r>
              <a:rPr lang="en-US" sz="1100" dirty="0">
                <a:solidFill>
                  <a:srgbClr val="1E293B"/>
                </a:solidFill>
              </a:rPr>
              <a:t>"不让 Agent 直接接触数据基础设施——</a:t>
            </a:r>
            <a:endParaRPr lang="en-US" sz="1200" dirty="0"/>
          </a:p>
          <a:p>
            <a:pPr marL="0" indent="0">
              <a:buNone/>
            </a:pPr>
            <a:r>
              <a:rPr lang="en-US" sz="1100" dirty="0">
                <a:solidFill>
                  <a:srgbClr val="1E293B"/>
                </a:solidFill>
              </a:rPr>
              <a:t>100% 遵守是结构必然而非意愿问题"</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457200" y="1188720"/>
            <a:ext cx="54864" cy="1188720"/>
          </a:xfrm>
          <a:prstGeom prst="rect">
            <a:avLst/>
          </a:prstGeom>
          <a:solidFill>
            <a:srgbClr val="22A699"/>
          </a:solidFill>
          <a:ln/>
        </p:spPr>
        <p:txBody>
          <a:bodyPr/>
          <a:lstStyle/>
          <a:p>
            <a:endParaRPr lang="zh-CN" altLang="en-US"/>
          </a:p>
        </p:txBody>
      </p:sp>
      <p:sp>
        <p:nvSpPr>
          <p:cNvPr id="4" name="Text 2"/>
          <p:cNvSpPr/>
          <p:nvPr/>
        </p:nvSpPr>
        <p:spPr>
          <a:xfrm>
            <a:off x="731520" y="1005840"/>
            <a:ext cx="1371600" cy="548640"/>
          </a:xfrm>
          <a:prstGeom prst="rect">
            <a:avLst/>
          </a:prstGeom>
          <a:noFill/>
          <a:ln/>
        </p:spPr>
        <p:txBody>
          <a:bodyPr wrap="square" lIns="0" tIns="0" rIns="0" bIns="0" rtlCol="0" anchor="ctr"/>
          <a:lstStyle/>
          <a:p>
            <a:pPr marL="0" indent="0">
              <a:buNone/>
            </a:pPr>
            <a:r>
              <a:rPr lang="en-US" sz="4000" b="1" dirty="0">
                <a:solidFill>
                  <a:srgbClr val="22A699"/>
                </a:solidFill>
                <a:latin typeface="Arial" pitchFamily="34" charset="0"/>
                <a:ea typeface="Arial" pitchFamily="34" charset="-122"/>
                <a:cs typeface="Arial" pitchFamily="34" charset="-120"/>
              </a:rPr>
              <a:t>04</a:t>
            </a:r>
            <a:endParaRPr lang="en-US" sz="4000" dirty="0"/>
          </a:p>
        </p:txBody>
      </p:sp>
      <p:sp>
        <p:nvSpPr>
          <p:cNvPr id="5" name="Text 3"/>
          <p:cNvSpPr/>
          <p:nvPr/>
        </p:nvSpPr>
        <p:spPr>
          <a:xfrm>
            <a:off x="731520" y="1600200"/>
            <a:ext cx="7315200" cy="640080"/>
          </a:xfrm>
          <a:prstGeom prst="rect">
            <a:avLst/>
          </a:prstGeom>
          <a:noFill/>
          <a:ln/>
        </p:spPr>
        <p:txBody>
          <a:bodyPr wrap="square" lIns="0" tIns="0" rIns="0" bIns="0" rtlCol="0" anchor="ctr"/>
          <a:lstStyle/>
          <a:p>
            <a:pPr marL="0" indent="0">
              <a:buNone/>
            </a:pPr>
            <a:r>
              <a:rPr lang="en-US" sz="3400" b="1" dirty="0" err="1">
                <a:solidFill>
                  <a:srgbClr val="FFFFFF"/>
                </a:solidFill>
                <a:latin typeface="Arial" pitchFamily="34" charset="0"/>
                <a:ea typeface="Arial" pitchFamily="34" charset="-122"/>
                <a:cs typeface="Arial" pitchFamily="34" charset="-120"/>
              </a:rPr>
              <a:t>本体模型的构成</a:t>
            </a:r>
            <a:endParaRPr lang="en-US" sz="3400" dirty="0"/>
          </a:p>
        </p:txBody>
      </p:sp>
      <p:sp>
        <p:nvSpPr>
          <p:cNvPr id="6" name="Text 4"/>
          <p:cNvSpPr/>
          <p:nvPr/>
        </p:nvSpPr>
        <p:spPr>
          <a:xfrm>
            <a:off x="731520" y="2286000"/>
            <a:ext cx="7315200" cy="365760"/>
          </a:xfrm>
          <a:prstGeom prst="rect">
            <a:avLst/>
          </a:prstGeom>
          <a:noFill/>
          <a:ln/>
        </p:spPr>
        <p:txBody>
          <a:bodyPr wrap="square" lIns="0" tIns="0" rIns="0" bIns="0" rtlCol="0" anchor="ctr"/>
          <a:lstStyle/>
          <a:p>
            <a:pPr marL="0" indent="0">
              <a:buNone/>
            </a:pPr>
            <a:r>
              <a:rPr lang="en-US" sz="1400" dirty="0" err="1">
                <a:solidFill>
                  <a:srgbClr val="94A3B8"/>
                </a:solidFill>
                <a:latin typeface="Arial" pitchFamily="34" charset="0"/>
                <a:ea typeface="Arial" pitchFamily="34" charset="-122"/>
                <a:cs typeface="Arial" pitchFamily="34" charset="-120"/>
              </a:rPr>
              <a:t>语义</a:t>
            </a:r>
            <a:r>
              <a:rPr lang="en-US" sz="1400" dirty="0">
                <a:solidFill>
                  <a:srgbClr val="94A3B8"/>
                </a:solidFill>
                <a:latin typeface="Arial" pitchFamily="34" charset="0"/>
                <a:ea typeface="Arial" pitchFamily="34" charset="-122"/>
                <a:cs typeface="Arial" pitchFamily="34" charset="-120"/>
              </a:rPr>
              <a:t> · </a:t>
            </a:r>
            <a:r>
              <a:rPr lang="en-US" sz="1400" dirty="0" err="1">
                <a:solidFill>
                  <a:srgbClr val="94A3B8"/>
                </a:solidFill>
                <a:latin typeface="Arial" pitchFamily="34" charset="0"/>
                <a:ea typeface="Arial" pitchFamily="34" charset="-122"/>
                <a:cs typeface="Arial" pitchFamily="34" charset="-120"/>
              </a:rPr>
              <a:t>动力</a:t>
            </a:r>
            <a:r>
              <a:rPr lang="en-US" sz="1400" dirty="0">
                <a:solidFill>
                  <a:srgbClr val="94A3B8"/>
                </a:solidFill>
                <a:latin typeface="Arial" pitchFamily="34" charset="0"/>
                <a:ea typeface="Arial" pitchFamily="34" charset="-122"/>
                <a:cs typeface="Arial" pitchFamily="34" charset="-120"/>
              </a:rPr>
              <a:t> · </a:t>
            </a:r>
            <a:r>
              <a:rPr lang="en-US" sz="1400" dirty="0" err="1">
                <a:solidFill>
                  <a:srgbClr val="94A3B8"/>
                </a:solidFill>
                <a:latin typeface="Arial" pitchFamily="34" charset="0"/>
                <a:ea typeface="Arial" pitchFamily="34" charset="-122"/>
                <a:cs typeface="Arial" pitchFamily="34" charset="-120"/>
              </a:rPr>
              <a:t>事件</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zh-CN" altLang="en-US" sz="2400" b="1" dirty="0">
                <a:solidFill>
                  <a:srgbClr val="1E293B"/>
                </a:solidFill>
                <a:latin typeface="Arial" pitchFamily="34" charset="0"/>
                <a:ea typeface="Arial" pitchFamily="34" charset="-122"/>
                <a:cs typeface="Arial" pitchFamily="34" charset="-120"/>
              </a:rPr>
              <a:t>语义 </a:t>
            </a:r>
            <a:r>
              <a:rPr lang="en-US" altLang="zh-CN" sz="2400" b="1" dirty="0">
                <a:solidFill>
                  <a:srgbClr val="1E293B"/>
                </a:solidFill>
                <a:latin typeface="Arial" pitchFamily="34" charset="0"/>
                <a:ea typeface="Arial" pitchFamily="34" charset="-122"/>
                <a:cs typeface="Arial" pitchFamily="34" charset="-120"/>
              </a:rPr>
              <a:t>· </a:t>
            </a:r>
            <a:r>
              <a:rPr lang="zh-CN" altLang="en-US" sz="2400" b="1" dirty="0">
                <a:solidFill>
                  <a:srgbClr val="1E293B"/>
                </a:solidFill>
                <a:latin typeface="Arial" pitchFamily="34" charset="0"/>
                <a:ea typeface="Arial" pitchFamily="34" charset="-122"/>
                <a:cs typeface="Arial" pitchFamily="34" charset="-120"/>
              </a:rPr>
              <a:t>行为 </a:t>
            </a:r>
            <a:r>
              <a:rPr lang="en-US" altLang="zh-CN" sz="2400" b="1" dirty="0">
                <a:solidFill>
                  <a:srgbClr val="1E293B"/>
                </a:solidFill>
                <a:latin typeface="Arial" pitchFamily="34" charset="0"/>
                <a:ea typeface="Arial" pitchFamily="34" charset="-122"/>
                <a:cs typeface="Arial" pitchFamily="34" charset="-120"/>
              </a:rPr>
              <a:t>· </a:t>
            </a:r>
            <a:r>
              <a:rPr lang="zh-CN" altLang="en-US" sz="2400" b="1" dirty="0">
                <a:solidFill>
                  <a:srgbClr val="1E293B"/>
                </a:solidFill>
                <a:latin typeface="Arial" pitchFamily="34" charset="0"/>
                <a:ea typeface="Arial" pitchFamily="34" charset="-122"/>
                <a:cs typeface="Arial" pitchFamily="34" charset="-120"/>
              </a:rPr>
              <a:t>事件</a:t>
            </a:r>
          </a:p>
        </p:txBody>
      </p:sp>
      <p:sp>
        <p:nvSpPr>
          <p:cNvPr id="4" name="Shape 2"/>
          <p:cNvSpPr/>
          <p:nvPr/>
        </p:nvSpPr>
        <p:spPr>
          <a:xfrm>
            <a:off x="365760" y="960120"/>
            <a:ext cx="2628900" cy="3605106"/>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5" name="Shape 3"/>
          <p:cNvSpPr/>
          <p:nvPr/>
        </p:nvSpPr>
        <p:spPr>
          <a:xfrm>
            <a:off x="365760" y="903679"/>
            <a:ext cx="2628900" cy="47297"/>
          </a:xfrm>
          <a:prstGeom prst="rect">
            <a:avLst/>
          </a:prstGeom>
          <a:solidFill>
            <a:srgbClr val="065A82"/>
          </a:solidFill>
          <a:ln/>
        </p:spPr>
        <p:txBody>
          <a:bodyPr/>
          <a:lstStyle/>
          <a:p>
            <a:endParaRPr lang="zh-CN" altLang="en-US"/>
          </a:p>
        </p:txBody>
      </p:sp>
      <p:sp>
        <p:nvSpPr>
          <p:cNvPr id="20" name="Shape 17"/>
          <p:cNvSpPr/>
          <p:nvPr/>
        </p:nvSpPr>
        <p:spPr>
          <a:xfrm>
            <a:off x="3127090" y="903679"/>
            <a:ext cx="2628900" cy="3661547"/>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21" name="Shape 18"/>
          <p:cNvSpPr/>
          <p:nvPr/>
        </p:nvSpPr>
        <p:spPr>
          <a:xfrm>
            <a:off x="3127090" y="903679"/>
            <a:ext cx="2628900" cy="47297"/>
          </a:xfrm>
          <a:prstGeom prst="rect">
            <a:avLst/>
          </a:prstGeom>
          <a:solidFill>
            <a:srgbClr val="22A699"/>
          </a:solidFill>
          <a:ln/>
        </p:spPr>
        <p:txBody>
          <a:bodyPr/>
          <a:lstStyle/>
          <a:p>
            <a:endParaRPr lang="zh-CN" altLang="en-US"/>
          </a:p>
        </p:txBody>
      </p:sp>
      <p:sp>
        <p:nvSpPr>
          <p:cNvPr id="36" name="Shape 2"/>
          <p:cNvSpPr/>
          <p:nvPr/>
        </p:nvSpPr>
        <p:spPr>
          <a:xfrm>
            <a:off x="6006445" y="929218"/>
            <a:ext cx="2628900" cy="3636007"/>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37" name="Shape 3"/>
          <p:cNvSpPr/>
          <p:nvPr/>
        </p:nvSpPr>
        <p:spPr>
          <a:xfrm>
            <a:off x="6006445" y="903679"/>
            <a:ext cx="2628900" cy="47297"/>
          </a:xfrm>
          <a:prstGeom prst="rect">
            <a:avLst/>
          </a:prstGeom>
          <a:solidFill>
            <a:srgbClr val="E78C07"/>
          </a:solidFill>
          <a:ln/>
        </p:spPr>
        <p:txBody>
          <a:bodyPr/>
          <a:lstStyle/>
          <a:p>
            <a:endParaRPr lang="zh-CN" altLang="en-US"/>
          </a:p>
        </p:txBody>
      </p:sp>
      <p:sp>
        <p:nvSpPr>
          <p:cNvPr id="64" name="Text 7">
            <a:extLst>
              <a:ext uri="{FF2B5EF4-FFF2-40B4-BE49-F238E27FC236}">
                <a16:creationId xmlns:a16="http://schemas.microsoft.com/office/drawing/2014/main" id="{ED079CC0-6645-ED36-F9FE-BA2D2F3005C4}"/>
              </a:ext>
            </a:extLst>
          </p:cNvPr>
          <p:cNvSpPr/>
          <p:nvPr/>
        </p:nvSpPr>
        <p:spPr>
          <a:xfrm>
            <a:off x="651510" y="1078707"/>
            <a:ext cx="2057400" cy="457200"/>
          </a:xfrm>
          <a:prstGeom prst="rect">
            <a:avLst/>
          </a:prstGeom>
          <a:noFill/>
          <a:ln/>
        </p:spPr>
        <p:txBody>
          <a:bodyPr wrap="square" lIns="0" tIns="0" rIns="0" bIns="0" rtlCol="0" anchor="ctr"/>
          <a:lstStyle/>
          <a:p>
            <a:pPr marL="0" indent="0" algn="ctr">
              <a:buNone/>
            </a:pPr>
            <a:r>
              <a:rPr lang="en-US" sz="2400" dirty="0">
                <a:solidFill>
                  <a:srgbClr val="000000"/>
                </a:solidFill>
              </a:rPr>
              <a:t>📋</a:t>
            </a:r>
            <a:r>
              <a:rPr lang="zh-CN" altLang="en-US" sz="1600" b="1" dirty="0">
                <a:solidFill>
                  <a:srgbClr val="065A82"/>
                </a:solidFill>
                <a:latin typeface="微软雅黑" panose="020B0503020204020204" pitchFamily="34" charset="-122"/>
                <a:ea typeface="微软雅黑" panose="020B0503020204020204" pitchFamily="34" charset="-122"/>
                <a:cs typeface="Arial" pitchFamily="34" charset="-120"/>
              </a:rPr>
              <a:t>语义</a:t>
            </a:r>
          </a:p>
        </p:txBody>
      </p:sp>
      <p:sp>
        <p:nvSpPr>
          <p:cNvPr id="65" name="Text 13">
            <a:extLst>
              <a:ext uri="{FF2B5EF4-FFF2-40B4-BE49-F238E27FC236}">
                <a16:creationId xmlns:a16="http://schemas.microsoft.com/office/drawing/2014/main" id="{8042F078-38F9-37E4-1EC7-FC295C00B074}"/>
              </a:ext>
            </a:extLst>
          </p:cNvPr>
          <p:cNvSpPr/>
          <p:nvPr/>
        </p:nvSpPr>
        <p:spPr>
          <a:xfrm>
            <a:off x="3412840" y="1078707"/>
            <a:ext cx="2057400" cy="457200"/>
          </a:xfrm>
          <a:prstGeom prst="rect">
            <a:avLst/>
          </a:prstGeom>
          <a:noFill/>
          <a:ln/>
        </p:spPr>
        <p:txBody>
          <a:bodyPr wrap="square" lIns="0" tIns="0" rIns="0" bIns="0" rtlCol="0" anchor="ctr"/>
          <a:lstStyle/>
          <a:p>
            <a:pPr marL="0" indent="0" algn="ctr">
              <a:buNone/>
            </a:pPr>
            <a:r>
              <a:rPr lang="en-US" sz="2400" dirty="0">
                <a:solidFill>
                  <a:srgbClr val="000000"/>
                </a:solidFill>
              </a:rPr>
              <a:t>⚡</a:t>
            </a:r>
            <a:r>
              <a:rPr lang="zh-CN" altLang="en-US" sz="1600" b="1" dirty="0">
                <a:solidFill>
                  <a:srgbClr val="22A699"/>
                </a:solidFill>
                <a:latin typeface="微软雅黑" panose="020B0503020204020204" pitchFamily="34" charset="-122"/>
                <a:ea typeface="微软雅黑" panose="020B0503020204020204" pitchFamily="34" charset="-122"/>
              </a:rPr>
              <a:t>行为</a:t>
            </a:r>
            <a:endParaRPr lang="zh-CN" altLang="en-US" sz="2400" b="1" dirty="0">
              <a:solidFill>
                <a:srgbClr val="22A699"/>
              </a:solidFill>
              <a:latin typeface="微软雅黑" panose="020B0503020204020204" pitchFamily="34" charset="-122"/>
              <a:ea typeface="微软雅黑" panose="020B0503020204020204" pitchFamily="34" charset="-122"/>
            </a:endParaRPr>
          </a:p>
        </p:txBody>
      </p:sp>
      <p:sp>
        <p:nvSpPr>
          <p:cNvPr id="66" name="Text 19">
            <a:extLst>
              <a:ext uri="{FF2B5EF4-FFF2-40B4-BE49-F238E27FC236}">
                <a16:creationId xmlns:a16="http://schemas.microsoft.com/office/drawing/2014/main" id="{0861722E-4D0F-8D47-E693-BEE4F1F0515D}"/>
              </a:ext>
            </a:extLst>
          </p:cNvPr>
          <p:cNvSpPr/>
          <p:nvPr/>
        </p:nvSpPr>
        <p:spPr>
          <a:xfrm>
            <a:off x="6292195" y="1078707"/>
            <a:ext cx="2057400" cy="457200"/>
          </a:xfrm>
          <a:prstGeom prst="rect">
            <a:avLst/>
          </a:prstGeom>
          <a:noFill/>
          <a:ln/>
        </p:spPr>
        <p:txBody>
          <a:bodyPr wrap="square" lIns="0" tIns="0" rIns="0" bIns="0" rtlCol="0" anchor="ctr"/>
          <a:lstStyle/>
          <a:p>
            <a:pPr marL="0" indent="0" algn="ctr">
              <a:buNone/>
            </a:pPr>
            <a:r>
              <a:rPr lang="en-US" sz="2400" dirty="0">
                <a:solidFill>
                  <a:srgbClr val="000000"/>
                </a:solidFill>
              </a:rPr>
              <a:t>🔔</a:t>
            </a:r>
            <a:r>
              <a:rPr lang="zh-CN" altLang="en-US" sz="1600" b="1" dirty="0">
                <a:solidFill>
                  <a:srgbClr val="E78C07"/>
                </a:solidFill>
                <a:latin typeface="微软雅黑" panose="020B0503020204020204" pitchFamily="34" charset="-122"/>
                <a:ea typeface="微软雅黑" panose="020B0503020204020204" pitchFamily="34" charset="-122"/>
              </a:rPr>
              <a:t>事件</a:t>
            </a:r>
            <a:endParaRPr lang="en-US" sz="2400" b="1" dirty="0">
              <a:solidFill>
                <a:srgbClr val="E78C07"/>
              </a:solidFill>
              <a:latin typeface="微软雅黑" panose="020B0503020204020204" pitchFamily="34" charset="-122"/>
              <a:ea typeface="微软雅黑" panose="020B0503020204020204" pitchFamily="34" charset="-122"/>
            </a:endParaRPr>
          </a:p>
        </p:txBody>
      </p:sp>
      <p:sp>
        <p:nvSpPr>
          <p:cNvPr id="68" name="文本框 67">
            <a:extLst>
              <a:ext uri="{FF2B5EF4-FFF2-40B4-BE49-F238E27FC236}">
                <a16:creationId xmlns:a16="http://schemas.microsoft.com/office/drawing/2014/main" id="{94FB79DC-1533-1645-E7FF-EB7C9B61EBC3}"/>
              </a:ext>
            </a:extLst>
          </p:cNvPr>
          <p:cNvSpPr txBox="1"/>
          <p:nvPr/>
        </p:nvSpPr>
        <p:spPr>
          <a:xfrm>
            <a:off x="383922" y="1628812"/>
            <a:ext cx="2653423" cy="2446824"/>
          </a:xfrm>
          <a:prstGeom prst="rect">
            <a:avLst/>
          </a:prstGeom>
          <a:noFill/>
        </p:spPr>
        <p:txBody>
          <a:bodyPr wrap="square">
            <a:spAutoFit/>
          </a:bodyPr>
          <a:lstStyle/>
          <a:p>
            <a:r>
              <a:rPr lang="zh-CN" altLang="en-US" sz="900" b="1" dirty="0">
                <a:latin typeface="微软雅黑" panose="020B0503020204020204" pitchFamily="34" charset="-122"/>
                <a:ea typeface="微软雅黑" panose="020B0503020204020204" pitchFamily="34" charset="-122"/>
              </a:rPr>
              <a:t>领域：</a:t>
            </a:r>
            <a:endParaRPr lang="en-US" altLang="zh-CN" sz="900" b="1" dirty="0">
              <a:latin typeface="微软雅黑" panose="020B0503020204020204" pitchFamily="34" charset="-122"/>
              <a:ea typeface="微软雅黑" panose="020B0503020204020204" pitchFamily="34" charset="-122"/>
            </a:endParaRPr>
          </a:p>
          <a:p>
            <a:r>
              <a:rPr lang="en-US" altLang="zh-CN" sz="900" dirty="0"/>
              <a:t>      |--</a:t>
            </a:r>
            <a:r>
              <a:rPr lang="zh-CN" altLang="en-US" sz="900" dirty="0"/>
              <a:t>生产制造</a:t>
            </a:r>
            <a:endParaRPr lang="en-US" altLang="zh-CN" sz="900" dirty="0"/>
          </a:p>
          <a:p>
            <a:r>
              <a:rPr lang="en-US" altLang="zh-CN" sz="900" dirty="0"/>
              <a:t>      |--</a:t>
            </a:r>
            <a:r>
              <a:rPr lang="zh-CN" altLang="en-US" sz="900" dirty="0"/>
              <a:t>质量管理</a:t>
            </a:r>
            <a:endParaRPr lang="en-US" altLang="zh-CN" sz="900" dirty="0"/>
          </a:p>
          <a:p>
            <a:r>
              <a:rPr lang="en-US" altLang="zh-CN" sz="900" dirty="0"/>
              <a:t>      |--</a:t>
            </a:r>
            <a:r>
              <a:rPr lang="zh-CN" altLang="en-US" sz="900" dirty="0"/>
              <a:t>设备管理</a:t>
            </a:r>
            <a:endParaRPr lang="en-US" altLang="zh-CN" sz="900" dirty="0"/>
          </a:p>
          <a:p>
            <a:r>
              <a:rPr lang="en-US" altLang="zh-CN" sz="900" dirty="0"/>
              <a:t>      |--</a:t>
            </a:r>
            <a:r>
              <a:rPr lang="zh-CN" altLang="en-US" sz="900" dirty="0"/>
              <a:t>供应链</a:t>
            </a:r>
            <a:endParaRPr lang="en-US" altLang="zh-CN" sz="900" dirty="0"/>
          </a:p>
          <a:p>
            <a:r>
              <a:rPr lang="zh-CN" altLang="en-US" sz="900" b="1" dirty="0">
                <a:latin typeface="微软雅黑" panose="020B0503020204020204" pitchFamily="34" charset="-122"/>
                <a:ea typeface="微软雅黑" panose="020B0503020204020204" pitchFamily="34" charset="-122"/>
              </a:rPr>
              <a:t>业务场景：</a:t>
            </a:r>
            <a:endParaRPr lang="en-US" altLang="zh-CN" sz="900" b="1" dirty="0">
              <a:latin typeface="微软雅黑" panose="020B0503020204020204" pitchFamily="34" charset="-122"/>
              <a:ea typeface="微软雅黑" panose="020B0503020204020204" pitchFamily="34" charset="-122"/>
            </a:endParaRPr>
          </a:p>
          <a:p>
            <a:r>
              <a:rPr lang="en-US" altLang="zh-CN" sz="900" dirty="0"/>
              <a:t>      |--</a:t>
            </a:r>
            <a:r>
              <a:rPr lang="zh-CN" altLang="en-US" sz="900" dirty="0"/>
              <a:t>面向库存生产</a:t>
            </a:r>
            <a:endParaRPr lang="en-US" altLang="zh-CN" sz="900" dirty="0"/>
          </a:p>
          <a:p>
            <a:r>
              <a:rPr lang="en-US" altLang="zh-CN" sz="900" dirty="0"/>
              <a:t>      |--</a:t>
            </a:r>
            <a:r>
              <a:rPr lang="zh-CN" altLang="en-US" sz="900" dirty="0"/>
              <a:t>面向订单生产</a:t>
            </a:r>
            <a:endParaRPr lang="en-US" altLang="zh-CN" sz="900" dirty="0"/>
          </a:p>
          <a:p>
            <a:r>
              <a:rPr lang="zh-CN" altLang="en-US" sz="900" b="1" dirty="0">
                <a:latin typeface="微软雅黑" panose="020B0503020204020204" pitchFamily="34" charset="-122"/>
                <a:ea typeface="微软雅黑" panose="020B0503020204020204" pitchFamily="34" charset="-122"/>
              </a:rPr>
              <a:t>本体模型：</a:t>
            </a:r>
            <a:endParaRPr lang="en-US" altLang="zh-CN" sz="900" b="1" dirty="0">
              <a:latin typeface="微软雅黑" panose="020B0503020204020204" pitchFamily="34" charset="-122"/>
              <a:ea typeface="微软雅黑" panose="020B0503020204020204" pitchFamily="34" charset="-122"/>
            </a:endParaRPr>
          </a:p>
          <a:p>
            <a:r>
              <a:rPr lang="zh-CN" altLang="en-US" sz="900" dirty="0"/>
              <a:t>      </a:t>
            </a:r>
            <a:r>
              <a:rPr lang="en-US" altLang="zh-CN" sz="900" dirty="0"/>
              <a:t>|--</a:t>
            </a:r>
            <a:r>
              <a:rPr lang="zh-CN" altLang="en-US" sz="900" dirty="0"/>
              <a:t>聚合根：物料、生产订单、物料、</a:t>
            </a:r>
            <a:r>
              <a:rPr lang="en-US" altLang="zh-CN" sz="900" dirty="0"/>
              <a:t>BOM</a:t>
            </a:r>
            <a:r>
              <a:rPr lang="zh-CN" altLang="en-US" sz="900" dirty="0"/>
              <a:t>等</a:t>
            </a:r>
            <a:endParaRPr lang="en-US" altLang="zh-CN" sz="900" dirty="0"/>
          </a:p>
          <a:p>
            <a:r>
              <a:rPr lang="en-US" altLang="zh-CN" sz="900" dirty="0"/>
              <a:t>      |--</a:t>
            </a:r>
            <a:r>
              <a:rPr lang="zh-CN" altLang="en-US" sz="900" dirty="0"/>
              <a:t>对象</a:t>
            </a:r>
            <a:endParaRPr lang="en-US" altLang="zh-CN" sz="900" dirty="0"/>
          </a:p>
          <a:p>
            <a:r>
              <a:rPr lang="en-US" altLang="zh-CN" sz="900" dirty="0"/>
              <a:t>            |--</a:t>
            </a:r>
            <a:r>
              <a:rPr lang="zh-CN" altLang="en-US" sz="900" dirty="0"/>
              <a:t>对象属性</a:t>
            </a:r>
            <a:endParaRPr lang="en-US" altLang="zh-CN" sz="900" dirty="0"/>
          </a:p>
          <a:p>
            <a:r>
              <a:rPr lang="en-US" altLang="zh-CN" sz="900" dirty="0"/>
              <a:t>            |--</a:t>
            </a:r>
            <a:r>
              <a:rPr lang="zh-CN" altLang="en-US" sz="900" dirty="0"/>
              <a:t>值对象</a:t>
            </a:r>
            <a:endParaRPr lang="en-US" altLang="zh-CN" sz="900" dirty="0"/>
          </a:p>
          <a:p>
            <a:r>
              <a:rPr lang="en-US" altLang="zh-CN" sz="900" dirty="0"/>
              <a:t>            |--</a:t>
            </a:r>
            <a:r>
              <a:rPr lang="zh-CN" altLang="en-US" sz="900" dirty="0"/>
              <a:t>关系</a:t>
            </a:r>
            <a:endParaRPr lang="en-US" altLang="zh-CN" sz="900" dirty="0"/>
          </a:p>
          <a:p>
            <a:r>
              <a:rPr lang="en-US" altLang="zh-CN" sz="900" dirty="0"/>
              <a:t>            |--</a:t>
            </a:r>
            <a:r>
              <a:rPr lang="zh-CN" altLang="en-US" sz="900" dirty="0"/>
              <a:t>状态</a:t>
            </a:r>
            <a:endParaRPr lang="en-US" altLang="zh-CN" sz="900" dirty="0"/>
          </a:p>
          <a:p>
            <a:r>
              <a:rPr lang="en-US" altLang="zh-CN" sz="900" dirty="0"/>
              <a:t>            |--</a:t>
            </a:r>
            <a:r>
              <a:rPr lang="zh-CN" altLang="en-US" sz="900" dirty="0"/>
              <a:t>数据获取方式</a:t>
            </a:r>
            <a:endParaRPr lang="en-US" altLang="zh-CN" sz="900" dirty="0"/>
          </a:p>
          <a:p>
            <a:r>
              <a:rPr lang="en-US" altLang="zh-CN" sz="900" dirty="0"/>
              <a:t>            |--API/MCP/SQL</a:t>
            </a:r>
          </a:p>
        </p:txBody>
      </p:sp>
      <p:sp>
        <p:nvSpPr>
          <p:cNvPr id="69" name="文本框 68">
            <a:extLst>
              <a:ext uri="{FF2B5EF4-FFF2-40B4-BE49-F238E27FC236}">
                <a16:creationId xmlns:a16="http://schemas.microsoft.com/office/drawing/2014/main" id="{B859D727-066F-9D71-437D-7ED0A910664A}"/>
              </a:ext>
            </a:extLst>
          </p:cNvPr>
          <p:cNvSpPr txBox="1"/>
          <p:nvPr/>
        </p:nvSpPr>
        <p:spPr>
          <a:xfrm>
            <a:off x="3103560" y="1564405"/>
            <a:ext cx="2652430" cy="3000821"/>
          </a:xfrm>
          <a:prstGeom prst="rect">
            <a:avLst/>
          </a:prstGeom>
          <a:noFill/>
        </p:spPr>
        <p:txBody>
          <a:bodyPr wrap="square">
            <a:spAutoFit/>
          </a:bodyPr>
          <a:lstStyle/>
          <a:p>
            <a:r>
              <a:rPr lang="zh-CN" altLang="en-US" sz="900" b="1" dirty="0">
                <a:latin typeface="微软雅黑" panose="020B0503020204020204" pitchFamily="34" charset="-122"/>
                <a:ea typeface="微软雅黑" panose="020B0503020204020204" pitchFamily="34" charset="-122"/>
              </a:rPr>
              <a:t>行为：</a:t>
            </a:r>
            <a:endParaRPr lang="en-US" altLang="zh-CN" sz="900" b="1" dirty="0">
              <a:latin typeface="微软雅黑" panose="020B0503020204020204" pitchFamily="34" charset="-122"/>
              <a:ea typeface="微软雅黑" panose="020B0503020204020204" pitchFamily="34" charset="-122"/>
            </a:endParaRPr>
          </a:p>
          <a:p>
            <a:r>
              <a:rPr lang="en-US" altLang="zh-CN" sz="900" dirty="0"/>
              <a:t>      |--</a:t>
            </a:r>
            <a:r>
              <a:rPr lang="zh-CN" altLang="en-US" sz="900" dirty="0"/>
              <a:t>创建生产订单</a:t>
            </a:r>
            <a:endParaRPr lang="en-US" altLang="zh-CN" sz="900" dirty="0"/>
          </a:p>
          <a:p>
            <a:r>
              <a:rPr lang="en-US" altLang="zh-CN" sz="900" dirty="0"/>
              <a:t>      |--</a:t>
            </a:r>
            <a:r>
              <a:rPr lang="zh-CN" altLang="en-US" sz="900" dirty="0"/>
              <a:t>生产订单下达</a:t>
            </a:r>
            <a:endParaRPr lang="en-US" altLang="zh-CN" sz="900" dirty="0"/>
          </a:p>
          <a:p>
            <a:r>
              <a:rPr lang="en-US" altLang="zh-CN" sz="900" dirty="0"/>
              <a:t>      |--</a:t>
            </a:r>
            <a:r>
              <a:rPr lang="zh-CN" altLang="en-US" sz="900" dirty="0"/>
              <a:t>物料领用</a:t>
            </a:r>
            <a:endParaRPr lang="en-US" altLang="zh-CN" sz="900" dirty="0"/>
          </a:p>
          <a:p>
            <a:r>
              <a:rPr lang="en-US" altLang="zh-CN" sz="900" dirty="0"/>
              <a:t>      |--</a:t>
            </a:r>
            <a:r>
              <a:rPr lang="zh-CN" altLang="en-US" sz="900" dirty="0"/>
              <a:t>生产报工</a:t>
            </a:r>
            <a:endParaRPr lang="en-US" altLang="zh-CN" sz="900" dirty="0"/>
          </a:p>
          <a:p>
            <a:r>
              <a:rPr lang="en-US" altLang="zh-CN" sz="900" dirty="0"/>
              <a:t>      |--</a:t>
            </a:r>
            <a:r>
              <a:rPr lang="zh-CN" altLang="en-US" sz="900" dirty="0"/>
              <a:t>成品产出</a:t>
            </a:r>
            <a:endParaRPr lang="en-US" altLang="zh-CN" sz="900" dirty="0"/>
          </a:p>
          <a:p>
            <a:r>
              <a:rPr lang="en-US" altLang="zh-CN" sz="900" dirty="0"/>
              <a:t>      |--</a:t>
            </a:r>
            <a:r>
              <a:rPr lang="zh-CN" altLang="en-US" sz="900" dirty="0"/>
              <a:t>工单技术关闭</a:t>
            </a:r>
            <a:endParaRPr lang="en-US" altLang="zh-CN" sz="900" dirty="0"/>
          </a:p>
          <a:p>
            <a:r>
              <a:rPr lang="zh-CN" altLang="en-US" sz="900" b="1" dirty="0">
                <a:latin typeface="微软雅黑" panose="020B0503020204020204" pitchFamily="34" charset="-122"/>
                <a:ea typeface="微软雅黑" panose="020B0503020204020204" pitchFamily="34" charset="-122"/>
              </a:rPr>
              <a:t>校验规则：</a:t>
            </a:r>
            <a:endParaRPr lang="en-US" altLang="zh-CN" sz="900" b="1" dirty="0">
              <a:latin typeface="微软雅黑" panose="020B0503020204020204" pitchFamily="34" charset="-122"/>
              <a:ea typeface="微软雅黑" panose="020B0503020204020204" pitchFamily="34" charset="-122"/>
            </a:endParaRPr>
          </a:p>
          <a:p>
            <a:r>
              <a:rPr lang="en-US" altLang="zh-CN" sz="900" dirty="0"/>
              <a:t>      |--</a:t>
            </a:r>
            <a:r>
              <a:rPr lang="zh-CN" altLang="en-US" sz="900" dirty="0"/>
              <a:t>物料齐套校验规则</a:t>
            </a:r>
            <a:r>
              <a:rPr lang="en-US" altLang="zh-CN" sz="900" dirty="0"/>
              <a:t>(</a:t>
            </a:r>
            <a:r>
              <a:rPr lang="zh-CN" altLang="en-US" sz="900" dirty="0"/>
              <a:t>规则</a:t>
            </a:r>
            <a:r>
              <a:rPr lang="en-US" altLang="zh-CN" sz="900" dirty="0"/>
              <a:t>#1</a:t>
            </a:r>
            <a:r>
              <a:rPr lang="zh-CN" altLang="en-US" sz="900" dirty="0"/>
              <a:t>：</a:t>
            </a:r>
            <a:r>
              <a:rPr lang="en-US" altLang="zh-CN" sz="900" dirty="0"/>
              <a:t>BOM </a:t>
            </a:r>
            <a:r>
              <a:rPr lang="zh-CN" altLang="en-US" sz="900" dirty="0"/>
              <a:t>中所有物料的库存余量 ≥ 工单需求量，否则拦截下达）</a:t>
            </a:r>
            <a:endParaRPr lang="en-US" altLang="zh-CN" sz="900" dirty="0"/>
          </a:p>
          <a:p>
            <a:r>
              <a:rPr lang="en-US" altLang="zh-CN" sz="900" dirty="0"/>
              <a:t>      |--</a:t>
            </a:r>
            <a:r>
              <a:rPr lang="zh-CN" altLang="en-US" sz="900" dirty="0"/>
              <a:t>工艺路线校验规则（规则</a:t>
            </a:r>
            <a:r>
              <a:rPr lang="en-US" altLang="zh-CN" sz="900" dirty="0"/>
              <a:t>#2</a:t>
            </a:r>
            <a:r>
              <a:rPr lang="zh-CN" altLang="en-US" sz="900" dirty="0"/>
              <a:t>：成品物料必须有且仅有一条「有效」工艺路线，且工序顺序不能有环）</a:t>
            </a:r>
          </a:p>
          <a:p>
            <a:r>
              <a:rPr lang="zh-CN" altLang="en-US" sz="900" b="1" dirty="0">
                <a:latin typeface="微软雅黑" panose="020B0503020204020204" pitchFamily="34" charset="-122"/>
                <a:ea typeface="微软雅黑" panose="020B0503020204020204" pitchFamily="34" charset="-122"/>
              </a:rPr>
              <a:t>衡量指标定义：</a:t>
            </a:r>
            <a:endParaRPr lang="en-US" altLang="zh-CN" sz="900" b="1" dirty="0">
              <a:latin typeface="微软雅黑" panose="020B0503020204020204" pitchFamily="34" charset="-122"/>
              <a:ea typeface="微软雅黑" panose="020B0503020204020204" pitchFamily="34" charset="-122"/>
            </a:endParaRPr>
          </a:p>
          <a:p>
            <a:r>
              <a:rPr lang="zh-CN" altLang="en-US" sz="900" dirty="0"/>
              <a:t> </a:t>
            </a:r>
            <a:r>
              <a:rPr lang="en-US" altLang="zh-CN" sz="900" dirty="0"/>
              <a:t>|--</a:t>
            </a:r>
            <a:r>
              <a:rPr lang="zh-CN" altLang="en-US" sz="900" dirty="0"/>
              <a:t>指标</a:t>
            </a:r>
            <a:r>
              <a:rPr lang="en-US" altLang="zh-CN" sz="900" dirty="0"/>
              <a:t>#1</a:t>
            </a:r>
            <a:r>
              <a:rPr lang="zh-CN" altLang="en-US" sz="900" dirty="0"/>
              <a:t>：准时完工率</a:t>
            </a:r>
            <a:r>
              <a:rPr lang="en-US" altLang="zh-CN" sz="900" dirty="0"/>
              <a:t>(</a:t>
            </a:r>
            <a:r>
              <a:rPr lang="zh-CN" altLang="en-US" sz="900" dirty="0"/>
              <a:t>计算公式、数据来源</a:t>
            </a:r>
            <a:r>
              <a:rPr lang="en-US" altLang="zh-CN" sz="900" dirty="0"/>
              <a:t>)</a:t>
            </a:r>
          </a:p>
          <a:p>
            <a:r>
              <a:rPr lang="zh-CN" altLang="en-US" sz="900" dirty="0"/>
              <a:t> </a:t>
            </a:r>
            <a:r>
              <a:rPr lang="en-US" altLang="zh-CN" sz="900" dirty="0"/>
              <a:t>|--</a:t>
            </a:r>
            <a:r>
              <a:rPr lang="zh-CN" altLang="en-US" sz="900" dirty="0"/>
              <a:t>指标</a:t>
            </a:r>
            <a:r>
              <a:rPr lang="en-US" altLang="zh-CN" sz="900" dirty="0"/>
              <a:t>#2</a:t>
            </a:r>
            <a:r>
              <a:rPr lang="zh-CN" altLang="en-US" sz="900" dirty="0"/>
              <a:t>：工单平均完成时间</a:t>
            </a:r>
            <a:r>
              <a:rPr lang="en-US" altLang="zh-CN" sz="900" dirty="0"/>
              <a:t>((</a:t>
            </a:r>
            <a:r>
              <a:rPr lang="zh-CN" altLang="en-US" sz="900" dirty="0"/>
              <a:t>计算公式、数据来源</a:t>
            </a:r>
            <a:r>
              <a:rPr lang="en-US" altLang="zh-CN" sz="900" dirty="0"/>
              <a:t>)</a:t>
            </a:r>
          </a:p>
          <a:p>
            <a:r>
              <a:rPr lang="zh-CN" altLang="en-US" sz="900" b="1" dirty="0">
                <a:latin typeface="微软雅黑" panose="020B0503020204020204" pitchFamily="34" charset="-122"/>
                <a:ea typeface="微软雅黑" panose="020B0503020204020204" pitchFamily="34" charset="-122"/>
              </a:rPr>
              <a:t>事务边界：</a:t>
            </a:r>
            <a:endParaRPr lang="en-US" altLang="zh-CN" sz="900" b="1" dirty="0">
              <a:latin typeface="微软雅黑" panose="020B0503020204020204" pitchFamily="34" charset="-122"/>
              <a:ea typeface="微软雅黑" panose="020B0503020204020204" pitchFamily="34" charset="-122"/>
            </a:endParaRPr>
          </a:p>
          <a:p>
            <a:r>
              <a:rPr lang="en-US" altLang="zh-CN" sz="900" dirty="0"/>
              <a:t>|--</a:t>
            </a:r>
            <a:r>
              <a:rPr lang="zh-CN" altLang="en-US" sz="900" dirty="0"/>
              <a:t>示例 </a:t>
            </a:r>
            <a:r>
              <a:rPr lang="en-US" altLang="zh-CN" sz="900" dirty="0"/>
              <a:t>1 — </a:t>
            </a:r>
            <a:r>
              <a:rPr lang="zh-CN" altLang="en-US" sz="900" dirty="0"/>
              <a:t>下达工单 的事务边界</a:t>
            </a:r>
            <a:endParaRPr lang="en-US" altLang="zh-CN" sz="900" dirty="0"/>
          </a:p>
          <a:p>
            <a:r>
              <a:rPr lang="en-US" altLang="zh-CN" sz="900" dirty="0"/>
              <a:t>(</a:t>
            </a:r>
            <a:r>
              <a:rPr lang="zh-CN" altLang="en-US" sz="900" dirty="0"/>
              <a:t>事务边界规定了哪些数据变更必须在同一个原子操作中一起成功或一起回滚，不允许中间态存在</a:t>
            </a:r>
            <a:r>
              <a:rPr lang="en-US" altLang="zh-CN" sz="900" dirty="0"/>
              <a:t>)</a:t>
            </a:r>
            <a:endParaRPr lang="zh-CN" altLang="en-US" sz="900" dirty="0"/>
          </a:p>
        </p:txBody>
      </p:sp>
      <p:sp>
        <p:nvSpPr>
          <p:cNvPr id="72" name="文本框 71">
            <a:extLst>
              <a:ext uri="{FF2B5EF4-FFF2-40B4-BE49-F238E27FC236}">
                <a16:creationId xmlns:a16="http://schemas.microsoft.com/office/drawing/2014/main" id="{906B179D-50DB-BB2C-F5D7-D72D45CCAAE5}"/>
              </a:ext>
            </a:extLst>
          </p:cNvPr>
          <p:cNvSpPr txBox="1"/>
          <p:nvPr/>
        </p:nvSpPr>
        <p:spPr>
          <a:xfrm>
            <a:off x="5982915" y="1484499"/>
            <a:ext cx="2652430" cy="3082190"/>
          </a:xfrm>
          <a:prstGeom prst="rect">
            <a:avLst/>
          </a:prstGeom>
          <a:noFill/>
        </p:spPr>
        <p:txBody>
          <a:bodyPr wrap="square">
            <a:spAutoFit/>
          </a:bodyPr>
          <a:lstStyle/>
          <a:p>
            <a:pPr>
              <a:lnSpc>
                <a:spcPts val="1300"/>
              </a:lnSpc>
            </a:pPr>
            <a:r>
              <a:rPr lang="zh-CN" altLang="en-US" sz="900" b="1" dirty="0">
                <a:latin typeface="微软雅黑" panose="020B0503020204020204" pitchFamily="34" charset="-122"/>
                <a:ea typeface="微软雅黑" panose="020B0503020204020204" pitchFamily="34" charset="-122"/>
              </a:rPr>
              <a:t>领域事件：</a:t>
            </a:r>
            <a:endParaRPr lang="en-US" altLang="zh-CN" sz="900" b="1" dirty="0">
              <a:latin typeface="微软雅黑" panose="020B0503020204020204" pitchFamily="34" charset="-122"/>
              <a:ea typeface="微软雅黑" panose="020B0503020204020204" pitchFamily="34" charset="-122"/>
            </a:endParaRPr>
          </a:p>
          <a:p>
            <a:pPr>
              <a:lnSpc>
                <a:spcPts val="1300"/>
              </a:lnSpc>
            </a:pPr>
            <a:r>
              <a:rPr lang="en-US" altLang="zh-CN" sz="900" dirty="0"/>
              <a:t>      |--</a:t>
            </a:r>
            <a:r>
              <a:rPr lang="zh-CN" altLang="en-US" sz="900" dirty="0"/>
              <a:t>生产订单已创建</a:t>
            </a:r>
            <a:endParaRPr lang="en-US" altLang="zh-CN" sz="900" dirty="0"/>
          </a:p>
          <a:p>
            <a:pPr>
              <a:lnSpc>
                <a:spcPts val="1300"/>
              </a:lnSpc>
            </a:pPr>
            <a:r>
              <a:rPr lang="en-US" altLang="zh-CN" sz="900" dirty="0"/>
              <a:t>      |--</a:t>
            </a:r>
            <a:r>
              <a:rPr lang="zh-CN" altLang="en-US" sz="900" dirty="0"/>
              <a:t>生产订单已下达</a:t>
            </a:r>
            <a:endParaRPr lang="en-US" altLang="zh-CN" sz="900" dirty="0"/>
          </a:p>
          <a:p>
            <a:pPr>
              <a:lnSpc>
                <a:spcPts val="1300"/>
              </a:lnSpc>
            </a:pPr>
            <a:r>
              <a:rPr lang="en-US" altLang="zh-CN" sz="900" dirty="0"/>
              <a:t>      |--</a:t>
            </a:r>
            <a:r>
              <a:rPr lang="zh-CN" altLang="en-US" sz="900" dirty="0"/>
              <a:t>生产订单已部分投料</a:t>
            </a:r>
            <a:endParaRPr lang="en-US" altLang="zh-CN" sz="900" dirty="0"/>
          </a:p>
          <a:p>
            <a:pPr>
              <a:lnSpc>
                <a:spcPts val="1300"/>
              </a:lnSpc>
            </a:pPr>
            <a:r>
              <a:rPr lang="en-US" altLang="zh-CN" sz="900" dirty="0"/>
              <a:t>      |--</a:t>
            </a:r>
            <a:r>
              <a:rPr lang="zh-CN" altLang="en-US" sz="900" dirty="0"/>
              <a:t>生产订单已部分报工</a:t>
            </a:r>
            <a:endParaRPr lang="en-US" altLang="zh-CN" sz="900" dirty="0"/>
          </a:p>
          <a:p>
            <a:pPr>
              <a:lnSpc>
                <a:spcPts val="1300"/>
              </a:lnSpc>
            </a:pPr>
            <a:r>
              <a:rPr lang="en-US" altLang="zh-CN" sz="900" dirty="0"/>
              <a:t>      |--</a:t>
            </a:r>
            <a:r>
              <a:rPr lang="zh-CN" altLang="en-US" sz="900" dirty="0"/>
              <a:t>生产订单已部分产出</a:t>
            </a:r>
          </a:p>
          <a:p>
            <a:pPr>
              <a:lnSpc>
                <a:spcPts val="1300"/>
              </a:lnSpc>
            </a:pPr>
            <a:r>
              <a:rPr lang="en-US" altLang="zh-CN" sz="900" dirty="0"/>
              <a:t>      |--</a:t>
            </a:r>
            <a:r>
              <a:rPr lang="zh-CN" altLang="en-US" sz="900" dirty="0"/>
              <a:t>生产订单技术关闭</a:t>
            </a:r>
            <a:endParaRPr lang="en-US" altLang="zh-CN" sz="900" dirty="0"/>
          </a:p>
          <a:p>
            <a:pPr>
              <a:lnSpc>
                <a:spcPts val="1300"/>
              </a:lnSpc>
            </a:pPr>
            <a:r>
              <a:rPr lang="zh-CN" altLang="en-US" sz="900" b="1" dirty="0">
                <a:latin typeface="微软雅黑" panose="020B0503020204020204" pitchFamily="34" charset="-122"/>
                <a:ea typeface="微软雅黑" panose="020B0503020204020204" pitchFamily="34" charset="-122"/>
              </a:rPr>
              <a:t>事件存储：</a:t>
            </a:r>
            <a:endParaRPr lang="en-US" altLang="zh-CN" sz="900" b="1" dirty="0">
              <a:latin typeface="微软雅黑" panose="020B0503020204020204" pitchFamily="34" charset="-122"/>
              <a:ea typeface="微软雅黑" panose="020B0503020204020204" pitchFamily="34" charset="-122"/>
            </a:endParaRPr>
          </a:p>
          <a:p>
            <a:pPr>
              <a:lnSpc>
                <a:spcPts val="1300"/>
              </a:lnSpc>
            </a:pPr>
            <a:r>
              <a:rPr lang="zh-CN" altLang="en-US" sz="900" dirty="0"/>
              <a:t>记录领域事件的持久化存放点</a:t>
            </a:r>
            <a:endParaRPr lang="en-US" altLang="zh-CN" sz="900" dirty="0"/>
          </a:p>
          <a:p>
            <a:pPr>
              <a:lnSpc>
                <a:spcPts val="1300"/>
              </a:lnSpc>
            </a:pPr>
            <a:r>
              <a:rPr lang="zh-CN" altLang="en-US" sz="900" b="1" dirty="0">
                <a:latin typeface="微软雅黑" panose="020B0503020204020204" pitchFamily="34" charset="-122"/>
                <a:ea typeface="微软雅黑" panose="020B0503020204020204" pitchFamily="34" charset="-122"/>
              </a:rPr>
              <a:t>事件路由与分发：</a:t>
            </a:r>
            <a:endParaRPr lang="en-US" altLang="zh-CN" sz="900" b="1" dirty="0">
              <a:latin typeface="微软雅黑" panose="020B0503020204020204" pitchFamily="34" charset="-122"/>
              <a:ea typeface="微软雅黑" panose="020B0503020204020204" pitchFamily="34" charset="-122"/>
            </a:endParaRPr>
          </a:p>
          <a:p>
            <a:pPr>
              <a:lnSpc>
                <a:spcPts val="1300"/>
              </a:lnSpc>
            </a:pPr>
            <a:r>
              <a:rPr lang="zh-CN" altLang="en-US" sz="900" dirty="0"/>
              <a:t>事件会影响哪些领域</a:t>
            </a:r>
            <a:r>
              <a:rPr lang="en-US" altLang="zh-CN" sz="900" dirty="0"/>
              <a:t>+</a:t>
            </a:r>
            <a:r>
              <a:rPr lang="zh-CN" altLang="en-US" sz="900" dirty="0"/>
              <a:t>系统</a:t>
            </a:r>
            <a:endParaRPr lang="en-US" altLang="zh-CN" sz="900" dirty="0"/>
          </a:p>
          <a:p>
            <a:pPr>
              <a:lnSpc>
                <a:spcPts val="1300"/>
              </a:lnSpc>
            </a:pPr>
            <a:r>
              <a:rPr lang="zh-CN" altLang="en-US" sz="900" b="1" dirty="0">
                <a:latin typeface="微软雅黑" panose="020B0503020204020204" pitchFamily="34" charset="-122"/>
                <a:ea typeface="微软雅黑" panose="020B0503020204020204" pitchFamily="34" charset="-122"/>
              </a:rPr>
              <a:t>事件处理器：</a:t>
            </a:r>
            <a:endParaRPr lang="en-US" altLang="zh-CN" sz="900" b="1" dirty="0">
              <a:latin typeface="微软雅黑" panose="020B0503020204020204" pitchFamily="34" charset="-122"/>
              <a:ea typeface="微软雅黑" panose="020B0503020204020204" pitchFamily="34" charset="-122"/>
            </a:endParaRPr>
          </a:p>
          <a:p>
            <a:pPr>
              <a:lnSpc>
                <a:spcPts val="1300"/>
              </a:lnSpc>
            </a:pPr>
            <a:r>
              <a:rPr lang="en-US" altLang="zh-CN" sz="900" dirty="0"/>
              <a:t>|--</a:t>
            </a:r>
            <a:r>
              <a:rPr lang="zh-CN" altLang="en-US" sz="900" dirty="0"/>
              <a:t>行为</a:t>
            </a:r>
            <a:r>
              <a:rPr lang="en-US" altLang="zh-CN" sz="900" dirty="0"/>
              <a:t>#1 (</a:t>
            </a:r>
            <a:r>
              <a:rPr lang="zh-CN" altLang="en-US" sz="900" dirty="0"/>
              <a:t>业务场景</a:t>
            </a:r>
            <a:r>
              <a:rPr lang="en-US" altLang="zh-CN" sz="900" dirty="0"/>
              <a:t>+</a:t>
            </a:r>
            <a:r>
              <a:rPr lang="zh-CN" altLang="en-US" sz="900" dirty="0"/>
              <a:t>行为</a:t>
            </a:r>
            <a:r>
              <a:rPr lang="en-US" altLang="zh-CN" sz="900" dirty="0"/>
              <a:t>+</a:t>
            </a:r>
            <a:r>
              <a:rPr lang="zh-CN" altLang="en-US" sz="900" dirty="0"/>
              <a:t>状态</a:t>
            </a:r>
            <a:r>
              <a:rPr lang="en-US" altLang="zh-CN" sz="900" dirty="0"/>
              <a:t>)</a:t>
            </a:r>
          </a:p>
          <a:p>
            <a:pPr>
              <a:lnSpc>
                <a:spcPts val="1300"/>
              </a:lnSpc>
            </a:pPr>
            <a:r>
              <a:rPr lang="en-US" altLang="zh-CN" sz="900" dirty="0"/>
              <a:t>|--</a:t>
            </a:r>
            <a:r>
              <a:rPr lang="zh-CN" altLang="en-US" sz="900" dirty="0"/>
              <a:t>行为</a:t>
            </a:r>
            <a:r>
              <a:rPr lang="en-US" altLang="zh-CN" sz="900" dirty="0"/>
              <a:t>#2(</a:t>
            </a:r>
            <a:r>
              <a:rPr lang="zh-CN" altLang="en-US" sz="900" dirty="0"/>
              <a:t>业务场景</a:t>
            </a:r>
            <a:r>
              <a:rPr lang="en-US" altLang="zh-CN" sz="900" dirty="0"/>
              <a:t>+</a:t>
            </a:r>
            <a:r>
              <a:rPr lang="zh-CN" altLang="en-US" sz="900" dirty="0"/>
              <a:t>行为</a:t>
            </a:r>
            <a:r>
              <a:rPr lang="en-US" altLang="zh-CN" sz="900" dirty="0"/>
              <a:t>+</a:t>
            </a:r>
            <a:r>
              <a:rPr lang="zh-CN" altLang="en-US" sz="900" dirty="0"/>
              <a:t>状态</a:t>
            </a:r>
            <a:r>
              <a:rPr lang="en-US" altLang="zh-CN" sz="900" dirty="0"/>
              <a:t>)</a:t>
            </a:r>
          </a:p>
          <a:p>
            <a:pPr>
              <a:lnSpc>
                <a:spcPts val="1300"/>
              </a:lnSpc>
            </a:pPr>
            <a:r>
              <a:rPr lang="en-US" altLang="zh-CN" sz="900" dirty="0"/>
              <a:t>|--</a:t>
            </a:r>
            <a:r>
              <a:rPr lang="zh-CN" altLang="en-US" sz="900" dirty="0"/>
              <a:t>行为</a:t>
            </a:r>
            <a:r>
              <a:rPr lang="en-US" altLang="zh-CN" sz="900" dirty="0"/>
              <a:t>#3(</a:t>
            </a:r>
            <a:r>
              <a:rPr lang="zh-CN" altLang="en-US" sz="900" dirty="0"/>
              <a:t>业务场景</a:t>
            </a:r>
            <a:r>
              <a:rPr lang="en-US" altLang="zh-CN" sz="900" dirty="0"/>
              <a:t>+</a:t>
            </a:r>
            <a:r>
              <a:rPr lang="zh-CN" altLang="en-US" sz="900" dirty="0"/>
              <a:t>行为</a:t>
            </a:r>
            <a:r>
              <a:rPr lang="en-US" altLang="zh-CN" sz="900" dirty="0"/>
              <a:t>+</a:t>
            </a:r>
            <a:r>
              <a:rPr lang="zh-CN" altLang="en-US" sz="900" dirty="0"/>
              <a:t>状态</a:t>
            </a:r>
            <a:r>
              <a:rPr lang="en-US" altLang="zh-CN" sz="900" dirty="0"/>
              <a:t>)</a:t>
            </a:r>
          </a:p>
          <a:p>
            <a:pPr>
              <a:lnSpc>
                <a:spcPts val="1300"/>
              </a:lnSpc>
            </a:pPr>
            <a:r>
              <a:rPr lang="en-US" altLang="zh-CN" sz="900" dirty="0"/>
              <a:t>|--</a:t>
            </a:r>
            <a:r>
              <a:rPr lang="zh-CN" altLang="en-US" sz="900" dirty="0"/>
              <a:t>行为</a:t>
            </a:r>
            <a:r>
              <a:rPr lang="en-US" altLang="zh-CN" sz="900" dirty="0"/>
              <a:t>#4(</a:t>
            </a:r>
            <a:r>
              <a:rPr lang="zh-CN" altLang="en-US" sz="900" dirty="0"/>
              <a:t>业务场景</a:t>
            </a:r>
            <a:r>
              <a:rPr lang="en-US" altLang="zh-CN" sz="900" dirty="0"/>
              <a:t>+</a:t>
            </a:r>
            <a:r>
              <a:rPr lang="zh-CN" altLang="en-US" sz="900" dirty="0"/>
              <a:t>行为</a:t>
            </a:r>
            <a:r>
              <a:rPr lang="en-US" altLang="zh-CN" sz="900" dirty="0"/>
              <a:t>+</a:t>
            </a:r>
            <a:r>
              <a:rPr lang="zh-CN" altLang="en-US" sz="900" dirty="0"/>
              <a:t>状态</a:t>
            </a:r>
            <a:r>
              <a:rPr lang="en-US" altLang="zh-CN" sz="900" dirty="0"/>
              <a:t>)</a:t>
            </a:r>
          </a:p>
          <a:p>
            <a:pPr>
              <a:lnSpc>
                <a:spcPts val="1300"/>
              </a:lnSpc>
            </a:pPr>
            <a:r>
              <a:rPr lang="en-US" altLang="zh-CN" sz="900" dirty="0"/>
              <a:t>|--</a:t>
            </a:r>
            <a:r>
              <a:rPr lang="zh-CN" altLang="en-US" sz="900" dirty="0"/>
              <a:t>行为</a:t>
            </a:r>
            <a:r>
              <a:rPr lang="en-US" altLang="zh-CN" sz="900" dirty="0"/>
              <a:t>#5 (</a:t>
            </a:r>
            <a:r>
              <a:rPr lang="zh-CN" altLang="en-US" sz="900" dirty="0"/>
              <a:t>业务场景</a:t>
            </a:r>
            <a:r>
              <a:rPr lang="en-US" altLang="zh-CN" sz="900" dirty="0"/>
              <a:t>+</a:t>
            </a:r>
            <a:r>
              <a:rPr lang="zh-CN" altLang="en-US" sz="900" dirty="0"/>
              <a:t>行为</a:t>
            </a:r>
            <a:r>
              <a:rPr lang="en-US" altLang="zh-CN" sz="900" dirty="0"/>
              <a:t>+</a:t>
            </a:r>
            <a:r>
              <a:rPr lang="zh-CN" altLang="en-US" sz="900" dirty="0"/>
              <a:t>状态</a:t>
            </a:r>
            <a:r>
              <a:rPr lang="en-US" altLang="zh-CN" sz="900" dirty="0"/>
              <a:t>)</a:t>
            </a:r>
          </a:p>
          <a:p>
            <a:pPr>
              <a:lnSpc>
                <a:spcPts val="1300"/>
              </a:lnSpc>
            </a:pPr>
            <a:r>
              <a:rPr lang="en-US" altLang="zh-CN" sz="900" dirty="0"/>
              <a:t>|--</a:t>
            </a:r>
            <a:r>
              <a:rPr lang="zh-CN" altLang="en-US" sz="900" dirty="0"/>
              <a:t>行为</a:t>
            </a:r>
            <a:r>
              <a:rPr lang="en-US" altLang="zh-CN" sz="900" dirty="0"/>
              <a:t>#6(</a:t>
            </a:r>
            <a:r>
              <a:rPr lang="zh-CN" altLang="en-US" sz="900" dirty="0"/>
              <a:t>业务场景</a:t>
            </a:r>
            <a:r>
              <a:rPr lang="en-US" altLang="zh-CN" sz="900" dirty="0"/>
              <a:t>+</a:t>
            </a:r>
            <a:r>
              <a:rPr lang="zh-CN" altLang="en-US" sz="900" dirty="0"/>
              <a:t>行为</a:t>
            </a:r>
            <a:r>
              <a:rPr lang="en-US" altLang="zh-CN" sz="900" dirty="0"/>
              <a:t>+</a:t>
            </a:r>
            <a:r>
              <a:rPr lang="zh-CN" altLang="en-US" sz="900" dirty="0"/>
              <a:t>状态</a:t>
            </a:r>
            <a:r>
              <a:rPr lang="en-US" altLang="zh-CN" sz="9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BA6C1350-2FC0-FC3E-4975-86641F8E30E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558596-CA91-38EC-43DA-6CCA65535C7B}"/>
              </a:ext>
            </a:extLst>
          </p:cNvPr>
          <p:cNvSpPr/>
          <p:nvPr/>
        </p:nvSpPr>
        <p:spPr>
          <a:xfrm>
            <a:off x="0" y="0"/>
            <a:ext cx="9144000" cy="54864"/>
          </a:xfrm>
          <a:prstGeom prst="rect">
            <a:avLst/>
          </a:prstGeom>
          <a:solidFill>
            <a:srgbClr val="22A699"/>
          </a:solidFill>
          <a:ln/>
        </p:spPr>
        <p:txBody>
          <a:bodyPr/>
          <a:lstStyle/>
          <a:p>
            <a:endParaRPr lang="zh-CN" altLang="en-US"/>
          </a:p>
        </p:txBody>
      </p:sp>
      <p:sp>
        <p:nvSpPr>
          <p:cNvPr id="3" name="Text 1">
            <a:extLst>
              <a:ext uri="{FF2B5EF4-FFF2-40B4-BE49-F238E27FC236}">
                <a16:creationId xmlns:a16="http://schemas.microsoft.com/office/drawing/2014/main" id="{E8FEFF75-AE3D-E086-72D7-D7DEA9FDFFB2}"/>
              </a:ext>
            </a:extLst>
          </p:cNvPr>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语义层 &amp; 动力层详解</a:t>
            </a:r>
            <a:endParaRPr lang="en-US" sz="2400" dirty="0"/>
          </a:p>
        </p:txBody>
      </p:sp>
      <p:sp>
        <p:nvSpPr>
          <p:cNvPr id="4" name="Shape 2">
            <a:extLst>
              <a:ext uri="{FF2B5EF4-FFF2-40B4-BE49-F238E27FC236}">
                <a16:creationId xmlns:a16="http://schemas.microsoft.com/office/drawing/2014/main" id="{42080285-0757-BE9D-9FF5-A315F7D6D525}"/>
              </a:ext>
            </a:extLst>
          </p:cNvPr>
          <p:cNvSpPr/>
          <p:nvPr/>
        </p:nvSpPr>
        <p:spPr>
          <a:xfrm>
            <a:off x="365760" y="960120"/>
            <a:ext cx="2628900" cy="342900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5" name="Shape 3">
            <a:extLst>
              <a:ext uri="{FF2B5EF4-FFF2-40B4-BE49-F238E27FC236}">
                <a16:creationId xmlns:a16="http://schemas.microsoft.com/office/drawing/2014/main" id="{E2F1B2E9-FD02-A098-628C-A2C0882B502B}"/>
              </a:ext>
            </a:extLst>
          </p:cNvPr>
          <p:cNvSpPr/>
          <p:nvPr/>
        </p:nvSpPr>
        <p:spPr>
          <a:xfrm>
            <a:off x="365760" y="960120"/>
            <a:ext cx="2628900" cy="47297"/>
          </a:xfrm>
          <a:prstGeom prst="rect">
            <a:avLst/>
          </a:prstGeom>
          <a:solidFill>
            <a:srgbClr val="065A82"/>
          </a:solidFill>
          <a:ln/>
        </p:spPr>
        <p:txBody>
          <a:bodyPr/>
          <a:lstStyle/>
          <a:p>
            <a:endParaRPr lang="zh-CN" altLang="en-US"/>
          </a:p>
        </p:txBody>
      </p:sp>
      <p:pic>
        <p:nvPicPr>
          <p:cNvPr id="6" name="Image 0" descr="preencoded.png">
            <a:extLst>
              <a:ext uri="{FF2B5EF4-FFF2-40B4-BE49-F238E27FC236}">
                <a16:creationId xmlns:a16="http://schemas.microsoft.com/office/drawing/2014/main" id="{B5B0E74A-CFE2-00A4-BE22-4FAA7CF69637}"/>
              </a:ext>
            </a:extLst>
          </p:cNvPr>
          <p:cNvPicPr>
            <a:picLocks noChangeAspect="1"/>
          </p:cNvPicPr>
          <p:nvPr/>
        </p:nvPicPr>
        <p:blipFill>
          <a:blip r:embed="rId3"/>
          <a:stretch>
            <a:fillRect/>
          </a:stretch>
        </p:blipFill>
        <p:spPr>
          <a:xfrm>
            <a:off x="594360" y="1143000"/>
            <a:ext cx="275897" cy="275897"/>
          </a:xfrm>
          <a:prstGeom prst="rect">
            <a:avLst/>
          </a:prstGeom>
        </p:spPr>
      </p:pic>
      <p:sp>
        <p:nvSpPr>
          <p:cNvPr id="7" name="Text 4">
            <a:extLst>
              <a:ext uri="{FF2B5EF4-FFF2-40B4-BE49-F238E27FC236}">
                <a16:creationId xmlns:a16="http://schemas.microsoft.com/office/drawing/2014/main" id="{C7D8D644-2FE1-49A5-58F9-EB1B12347EE8}"/>
              </a:ext>
            </a:extLst>
          </p:cNvPr>
          <p:cNvSpPr/>
          <p:nvPr/>
        </p:nvSpPr>
        <p:spPr>
          <a:xfrm>
            <a:off x="1051560" y="1143000"/>
            <a:ext cx="2091170" cy="275897"/>
          </a:xfrm>
          <a:prstGeom prst="rect">
            <a:avLst/>
          </a:prstGeom>
          <a:noFill/>
          <a:ln/>
        </p:spPr>
        <p:txBody>
          <a:bodyPr wrap="square" lIns="0" tIns="0" rIns="0" bIns="0" rtlCol="0" anchor="ctr"/>
          <a:lstStyle/>
          <a:p>
            <a:pPr marL="0" indent="0">
              <a:buNone/>
            </a:pPr>
            <a:r>
              <a:rPr lang="en-US" sz="1400" b="1" dirty="0">
                <a:solidFill>
                  <a:srgbClr val="065A82"/>
                </a:solidFill>
                <a:latin typeface="Arial" pitchFamily="34" charset="0"/>
                <a:ea typeface="Arial" pitchFamily="34" charset="-122"/>
                <a:cs typeface="Arial" pitchFamily="34" charset="-120"/>
              </a:rPr>
              <a:t>语义层 — 业务「名词」+ 数据获取方法</a:t>
            </a:r>
            <a:endParaRPr lang="en-US" sz="1400" dirty="0"/>
          </a:p>
        </p:txBody>
      </p:sp>
      <p:sp>
        <p:nvSpPr>
          <p:cNvPr id="8" name="Text 5">
            <a:extLst>
              <a:ext uri="{FF2B5EF4-FFF2-40B4-BE49-F238E27FC236}">
                <a16:creationId xmlns:a16="http://schemas.microsoft.com/office/drawing/2014/main" id="{A01146B3-3C6A-463D-1B3C-20CF18218944}"/>
              </a:ext>
            </a:extLst>
          </p:cNvPr>
          <p:cNvSpPr/>
          <p:nvPr/>
        </p:nvSpPr>
        <p:spPr>
          <a:xfrm>
            <a:off x="594360" y="1691640"/>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限界上下文 (1:1绑定本体)</a:t>
            </a:r>
            <a:endParaRPr lang="en-US" sz="1200" dirty="0"/>
          </a:p>
        </p:txBody>
      </p:sp>
      <p:sp>
        <p:nvSpPr>
          <p:cNvPr id="9" name="Text 6">
            <a:extLst>
              <a:ext uri="{FF2B5EF4-FFF2-40B4-BE49-F238E27FC236}">
                <a16:creationId xmlns:a16="http://schemas.microsoft.com/office/drawing/2014/main" id="{BF715FC1-8EDC-0ED9-F101-D2148962C093}"/>
              </a:ext>
            </a:extLst>
          </p:cNvPr>
          <p:cNvSpPr/>
          <p:nvPr/>
        </p:nvSpPr>
        <p:spPr>
          <a:xfrm>
            <a:off x="594360" y="1920240"/>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每个本体对应一个限界上下文，边界就是语言的边界</a:t>
            </a:r>
            <a:endParaRPr lang="en-US" sz="900" dirty="0"/>
          </a:p>
        </p:txBody>
      </p:sp>
      <p:sp>
        <p:nvSpPr>
          <p:cNvPr id="10" name="Text 7">
            <a:extLst>
              <a:ext uri="{FF2B5EF4-FFF2-40B4-BE49-F238E27FC236}">
                <a16:creationId xmlns:a16="http://schemas.microsoft.com/office/drawing/2014/main" id="{909BB2D0-7E80-2B71-5CDA-6E854873C399}"/>
              </a:ext>
            </a:extLst>
          </p:cNvPr>
          <p:cNvSpPr/>
          <p:nvPr/>
        </p:nvSpPr>
        <p:spPr>
          <a:xfrm>
            <a:off x="594360" y="2185416"/>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对象类型 · 属性 · 关系</a:t>
            </a:r>
            <a:endParaRPr lang="en-US" sz="1200" dirty="0"/>
          </a:p>
        </p:txBody>
      </p:sp>
      <p:sp>
        <p:nvSpPr>
          <p:cNvPr id="11" name="Text 8">
            <a:extLst>
              <a:ext uri="{FF2B5EF4-FFF2-40B4-BE49-F238E27FC236}">
                <a16:creationId xmlns:a16="http://schemas.microsoft.com/office/drawing/2014/main" id="{C11F6A7B-E3B0-B33E-5BBF-14B88378CC0A}"/>
              </a:ext>
            </a:extLst>
          </p:cNvPr>
          <p:cNvSpPr/>
          <p:nvPr/>
        </p:nvSpPr>
        <p:spPr>
          <a:xfrm>
            <a:off x="594360" y="2414016"/>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定义业务实体类型、属性(12种数据类型)、关系基数(1:1/1:N/M:N)</a:t>
            </a:r>
            <a:endParaRPr lang="en-US" sz="900" dirty="0"/>
          </a:p>
        </p:txBody>
      </p:sp>
      <p:sp>
        <p:nvSpPr>
          <p:cNvPr id="12" name="Text 9">
            <a:extLst>
              <a:ext uri="{FF2B5EF4-FFF2-40B4-BE49-F238E27FC236}">
                <a16:creationId xmlns:a16="http://schemas.microsoft.com/office/drawing/2014/main" id="{67AE31DE-C405-4B48-1EF4-19A70B3D191B}"/>
              </a:ext>
            </a:extLst>
          </p:cNvPr>
          <p:cNvSpPr/>
          <p:nvPr/>
        </p:nvSpPr>
        <p:spPr>
          <a:xfrm>
            <a:off x="594360" y="2679192"/>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聚合(聚合根)</a:t>
            </a:r>
            <a:endParaRPr lang="en-US" sz="1200" dirty="0"/>
          </a:p>
        </p:txBody>
      </p:sp>
      <p:sp>
        <p:nvSpPr>
          <p:cNvPr id="13" name="Text 10">
            <a:extLst>
              <a:ext uri="{FF2B5EF4-FFF2-40B4-BE49-F238E27FC236}">
                <a16:creationId xmlns:a16="http://schemas.microsoft.com/office/drawing/2014/main" id="{2F28E2F8-5F06-3E60-F743-E8EE62A35FDF}"/>
              </a:ext>
            </a:extLst>
          </p:cNvPr>
          <p:cNvSpPr/>
          <p:nvPr/>
        </p:nvSpPr>
        <p:spPr>
          <a:xfrm>
            <a:off x="594360" y="2907792"/>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紧密关联对象集群的事务一致性边界——AI 安全第一道防线</a:t>
            </a:r>
            <a:endParaRPr lang="en-US" sz="900" dirty="0"/>
          </a:p>
        </p:txBody>
      </p:sp>
      <p:sp>
        <p:nvSpPr>
          <p:cNvPr id="14" name="Text 11">
            <a:extLst>
              <a:ext uri="{FF2B5EF4-FFF2-40B4-BE49-F238E27FC236}">
                <a16:creationId xmlns:a16="http://schemas.microsoft.com/office/drawing/2014/main" id="{DA19B92C-466F-6B8C-E3A6-AEA34474D8C5}"/>
              </a:ext>
            </a:extLst>
          </p:cNvPr>
          <p:cNvSpPr/>
          <p:nvPr/>
        </p:nvSpPr>
        <p:spPr>
          <a:xfrm>
            <a:off x="594360" y="3172968"/>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数据源 &amp; 数据获取方式</a:t>
            </a:r>
            <a:endParaRPr lang="en-US" sz="1200" dirty="0"/>
          </a:p>
        </p:txBody>
      </p:sp>
      <p:sp>
        <p:nvSpPr>
          <p:cNvPr id="15" name="Text 12">
            <a:extLst>
              <a:ext uri="{FF2B5EF4-FFF2-40B4-BE49-F238E27FC236}">
                <a16:creationId xmlns:a16="http://schemas.microsoft.com/office/drawing/2014/main" id="{A2C722E6-7303-EAFF-962A-6D9F6CA036E4}"/>
              </a:ext>
            </a:extLst>
          </p:cNvPr>
          <p:cNvSpPr/>
          <p:nvPr/>
        </p:nvSpPr>
        <p:spPr>
          <a:xfrm>
            <a:off x="594360" y="3401568"/>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仅记录从哪里获取、怎么获取(SQL/API/MCP)——平台不存储实例数据</a:t>
            </a:r>
            <a:endParaRPr lang="en-US" sz="900" dirty="0"/>
          </a:p>
        </p:txBody>
      </p:sp>
      <p:sp>
        <p:nvSpPr>
          <p:cNvPr id="16" name="Text 13">
            <a:extLst>
              <a:ext uri="{FF2B5EF4-FFF2-40B4-BE49-F238E27FC236}">
                <a16:creationId xmlns:a16="http://schemas.microsoft.com/office/drawing/2014/main" id="{4952D823-737E-9F22-C315-1062ABEE7CA6}"/>
              </a:ext>
            </a:extLst>
          </p:cNvPr>
          <p:cNvSpPr/>
          <p:nvPr/>
        </p:nvSpPr>
        <p:spPr>
          <a:xfrm>
            <a:off x="594360" y="3666744"/>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数据血缘</a:t>
            </a:r>
            <a:endParaRPr lang="en-US" sz="1200" dirty="0"/>
          </a:p>
        </p:txBody>
      </p:sp>
      <p:sp>
        <p:nvSpPr>
          <p:cNvPr id="17" name="Text 14">
            <a:extLst>
              <a:ext uri="{FF2B5EF4-FFF2-40B4-BE49-F238E27FC236}">
                <a16:creationId xmlns:a16="http://schemas.microsoft.com/office/drawing/2014/main" id="{1C0AA7B2-AEF7-5708-4D82-732F4F2D3676}"/>
              </a:ext>
            </a:extLst>
          </p:cNvPr>
          <p:cNvSpPr/>
          <p:nvPr/>
        </p:nvSpPr>
        <p:spPr>
          <a:xfrm>
            <a:off x="594360" y="3895344"/>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属性值完整来源链路 → AI 回答 "这个数据哪来的" 时自动引用</a:t>
            </a:r>
            <a:endParaRPr lang="en-US" sz="900" dirty="0"/>
          </a:p>
        </p:txBody>
      </p:sp>
      <p:sp>
        <p:nvSpPr>
          <p:cNvPr id="18" name="Text 15">
            <a:extLst>
              <a:ext uri="{FF2B5EF4-FFF2-40B4-BE49-F238E27FC236}">
                <a16:creationId xmlns:a16="http://schemas.microsoft.com/office/drawing/2014/main" id="{377F6596-AC8F-F12B-25B4-9FC49A62D2DF}"/>
              </a:ext>
            </a:extLst>
          </p:cNvPr>
          <p:cNvSpPr/>
          <p:nvPr/>
        </p:nvSpPr>
        <p:spPr>
          <a:xfrm>
            <a:off x="594360" y="4160520"/>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上下文映射</a:t>
            </a:r>
            <a:endParaRPr lang="en-US" sz="1200" dirty="0"/>
          </a:p>
        </p:txBody>
      </p:sp>
      <p:sp>
        <p:nvSpPr>
          <p:cNvPr id="19" name="Text 16">
            <a:extLst>
              <a:ext uri="{FF2B5EF4-FFF2-40B4-BE49-F238E27FC236}">
                <a16:creationId xmlns:a16="http://schemas.microsoft.com/office/drawing/2014/main" id="{D95AA5B3-640D-94A7-FA50-713A814E47B2}"/>
              </a:ext>
            </a:extLst>
          </p:cNvPr>
          <p:cNvSpPr/>
          <p:nvPr/>
        </p:nvSpPr>
        <p:spPr>
          <a:xfrm>
            <a:off x="594360" y="4389120"/>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防腐层(ACL) · 共享内核 · 开放主机 · 上下游——跨本体协作模式</a:t>
            </a:r>
            <a:endParaRPr lang="en-US" sz="900" dirty="0"/>
          </a:p>
        </p:txBody>
      </p:sp>
      <p:sp>
        <p:nvSpPr>
          <p:cNvPr id="20" name="Shape 17">
            <a:extLst>
              <a:ext uri="{FF2B5EF4-FFF2-40B4-BE49-F238E27FC236}">
                <a16:creationId xmlns:a16="http://schemas.microsoft.com/office/drawing/2014/main" id="{B8882AC4-D94B-156F-A5B0-89B65DCE51D5}"/>
              </a:ext>
            </a:extLst>
          </p:cNvPr>
          <p:cNvSpPr/>
          <p:nvPr/>
        </p:nvSpPr>
        <p:spPr>
          <a:xfrm>
            <a:off x="3127090" y="903679"/>
            <a:ext cx="2628900" cy="342900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21" name="Shape 18">
            <a:extLst>
              <a:ext uri="{FF2B5EF4-FFF2-40B4-BE49-F238E27FC236}">
                <a16:creationId xmlns:a16="http://schemas.microsoft.com/office/drawing/2014/main" id="{5E1A896B-E9E2-C0FB-7B5D-E552982AD214}"/>
              </a:ext>
            </a:extLst>
          </p:cNvPr>
          <p:cNvSpPr/>
          <p:nvPr/>
        </p:nvSpPr>
        <p:spPr>
          <a:xfrm>
            <a:off x="3127090" y="903679"/>
            <a:ext cx="2628900" cy="47297"/>
          </a:xfrm>
          <a:prstGeom prst="rect">
            <a:avLst/>
          </a:prstGeom>
          <a:solidFill>
            <a:srgbClr val="22A699"/>
          </a:solidFill>
          <a:ln/>
        </p:spPr>
        <p:txBody>
          <a:bodyPr/>
          <a:lstStyle/>
          <a:p>
            <a:endParaRPr lang="zh-CN" altLang="en-US"/>
          </a:p>
        </p:txBody>
      </p:sp>
      <p:pic>
        <p:nvPicPr>
          <p:cNvPr id="22" name="Image 1" descr="preencoded.png">
            <a:extLst>
              <a:ext uri="{FF2B5EF4-FFF2-40B4-BE49-F238E27FC236}">
                <a16:creationId xmlns:a16="http://schemas.microsoft.com/office/drawing/2014/main" id="{AC8601A3-BAC2-3F43-8BC1-ABE6F1E1ED8F}"/>
              </a:ext>
            </a:extLst>
          </p:cNvPr>
          <p:cNvPicPr>
            <a:picLocks noChangeAspect="1"/>
          </p:cNvPicPr>
          <p:nvPr/>
        </p:nvPicPr>
        <p:blipFill>
          <a:blip r:embed="rId4"/>
          <a:stretch>
            <a:fillRect/>
          </a:stretch>
        </p:blipFill>
        <p:spPr>
          <a:xfrm>
            <a:off x="3355690" y="1086559"/>
            <a:ext cx="275897" cy="275897"/>
          </a:xfrm>
          <a:prstGeom prst="rect">
            <a:avLst/>
          </a:prstGeom>
        </p:spPr>
      </p:pic>
      <p:sp>
        <p:nvSpPr>
          <p:cNvPr id="23" name="Text 19">
            <a:extLst>
              <a:ext uri="{FF2B5EF4-FFF2-40B4-BE49-F238E27FC236}">
                <a16:creationId xmlns:a16="http://schemas.microsoft.com/office/drawing/2014/main" id="{67B85164-888E-4208-C6B5-30683826CDD9}"/>
              </a:ext>
            </a:extLst>
          </p:cNvPr>
          <p:cNvSpPr/>
          <p:nvPr/>
        </p:nvSpPr>
        <p:spPr>
          <a:xfrm>
            <a:off x="3812890" y="1086559"/>
            <a:ext cx="2091170" cy="275897"/>
          </a:xfrm>
          <a:prstGeom prst="rect">
            <a:avLst/>
          </a:prstGeom>
          <a:noFill/>
          <a:ln/>
        </p:spPr>
        <p:txBody>
          <a:bodyPr wrap="square" lIns="0" tIns="0" rIns="0" bIns="0" rtlCol="0" anchor="ctr"/>
          <a:lstStyle/>
          <a:p>
            <a:pPr marL="0" indent="0">
              <a:buNone/>
            </a:pPr>
            <a:r>
              <a:rPr lang="en-US" sz="1400" b="1" dirty="0">
                <a:solidFill>
                  <a:srgbClr val="22A699"/>
                </a:solidFill>
                <a:latin typeface="Arial" pitchFamily="34" charset="0"/>
                <a:ea typeface="Arial" pitchFamily="34" charset="-122"/>
                <a:cs typeface="Arial" pitchFamily="34" charset="-120"/>
              </a:rPr>
              <a:t>动力层 — 业务「动词」+ 衡量指标</a:t>
            </a:r>
            <a:endParaRPr lang="en-US" sz="1400" dirty="0"/>
          </a:p>
        </p:txBody>
      </p:sp>
      <p:sp>
        <p:nvSpPr>
          <p:cNvPr id="24" name="Text 20">
            <a:extLst>
              <a:ext uri="{FF2B5EF4-FFF2-40B4-BE49-F238E27FC236}">
                <a16:creationId xmlns:a16="http://schemas.microsoft.com/office/drawing/2014/main" id="{53AEA3DC-3496-DFAF-9CE2-C482929B330C}"/>
              </a:ext>
            </a:extLst>
          </p:cNvPr>
          <p:cNvSpPr/>
          <p:nvPr/>
        </p:nvSpPr>
        <p:spPr>
          <a:xfrm>
            <a:off x="3355690" y="1635199"/>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行为(唯一核心元语)</a:t>
            </a:r>
            <a:endParaRPr lang="en-US" sz="1200" dirty="0"/>
          </a:p>
        </p:txBody>
      </p:sp>
      <p:sp>
        <p:nvSpPr>
          <p:cNvPr id="25" name="Text 21">
            <a:extLst>
              <a:ext uri="{FF2B5EF4-FFF2-40B4-BE49-F238E27FC236}">
                <a16:creationId xmlns:a16="http://schemas.microsoft.com/office/drawing/2014/main" id="{09BC0829-7C6B-3030-F9EA-A446322D4BAC}"/>
              </a:ext>
            </a:extLst>
          </p:cNvPr>
          <p:cNvSpPr/>
          <p:nvPr/>
        </p:nvSpPr>
        <p:spPr>
          <a:xfrm>
            <a:off x="3355690" y="1863799"/>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可执行业务操作(审批/取消/分配)——挂载到聚合根时标记为入口行为</a:t>
            </a:r>
            <a:endParaRPr lang="en-US" sz="900" dirty="0"/>
          </a:p>
        </p:txBody>
      </p:sp>
      <p:sp>
        <p:nvSpPr>
          <p:cNvPr id="26" name="Text 22">
            <a:extLst>
              <a:ext uri="{FF2B5EF4-FFF2-40B4-BE49-F238E27FC236}">
                <a16:creationId xmlns:a16="http://schemas.microsoft.com/office/drawing/2014/main" id="{045DE9CC-2C55-C010-DAF7-CD10714FB8FE}"/>
              </a:ext>
            </a:extLst>
          </p:cNvPr>
          <p:cNvSpPr/>
          <p:nvPr/>
        </p:nvSpPr>
        <p:spPr>
          <a:xfrm>
            <a:off x="3355690" y="2128975"/>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校验规则</a:t>
            </a:r>
            <a:endParaRPr lang="en-US" sz="1200" dirty="0"/>
          </a:p>
        </p:txBody>
      </p:sp>
      <p:sp>
        <p:nvSpPr>
          <p:cNvPr id="27" name="Text 23">
            <a:extLst>
              <a:ext uri="{FF2B5EF4-FFF2-40B4-BE49-F238E27FC236}">
                <a16:creationId xmlns:a16="http://schemas.microsoft.com/office/drawing/2014/main" id="{2C271F29-5F90-FB14-2416-8FE26FC05A5D}"/>
              </a:ext>
            </a:extLst>
          </p:cNvPr>
          <p:cNvSpPr/>
          <p:nvPr/>
        </p:nvSpPr>
        <p:spPr>
          <a:xfrm>
            <a:off x="3355690" y="2357575"/>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行为执行前后的业务规则校验——前置条件(状态检查) + 后置条件</a:t>
            </a:r>
            <a:endParaRPr lang="en-US" sz="900" dirty="0"/>
          </a:p>
        </p:txBody>
      </p:sp>
      <p:sp>
        <p:nvSpPr>
          <p:cNvPr id="28" name="Text 24">
            <a:extLst>
              <a:ext uri="{FF2B5EF4-FFF2-40B4-BE49-F238E27FC236}">
                <a16:creationId xmlns:a16="http://schemas.microsoft.com/office/drawing/2014/main" id="{AD6BE79C-6EC8-72E2-CD4F-438916B6D57F}"/>
              </a:ext>
            </a:extLst>
          </p:cNvPr>
          <p:cNvSpPr/>
          <p:nvPr/>
        </p:nvSpPr>
        <p:spPr>
          <a:xfrm>
            <a:off x="3355690" y="2622751"/>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副作用配置</a:t>
            </a:r>
            <a:endParaRPr lang="en-US" sz="1200" dirty="0"/>
          </a:p>
        </p:txBody>
      </p:sp>
      <p:sp>
        <p:nvSpPr>
          <p:cNvPr id="29" name="Text 25">
            <a:extLst>
              <a:ext uri="{FF2B5EF4-FFF2-40B4-BE49-F238E27FC236}">
                <a16:creationId xmlns:a16="http://schemas.microsoft.com/office/drawing/2014/main" id="{017D245A-8E3D-E50C-C228-51342A0720D0}"/>
              </a:ext>
            </a:extLst>
          </p:cNvPr>
          <p:cNvSpPr/>
          <p:nvPr/>
        </p:nvSpPr>
        <p:spPr>
          <a:xfrm>
            <a:off x="3355690" y="2851351"/>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行为触发的关联操作：通知、回写、事件发布</a:t>
            </a:r>
            <a:endParaRPr lang="en-US" sz="900" dirty="0"/>
          </a:p>
        </p:txBody>
      </p:sp>
      <p:sp>
        <p:nvSpPr>
          <p:cNvPr id="30" name="Text 26">
            <a:extLst>
              <a:ext uri="{FF2B5EF4-FFF2-40B4-BE49-F238E27FC236}">
                <a16:creationId xmlns:a16="http://schemas.microsoft.com/office/drawing/2014/main" id="{1F9FA5C9-0BB5-757F-B5A3-0B1ECA5009C6}"/>
              </a:ext>
            </a:extLst>
          </p:cNvPr>
          <p:cNvSpPr/>
          <p:nvPr/>
        </p:nvSpPr>
        <p:spPr>
          <a:xfrm>
            <a:off x="3355690" y="3116527"/>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事务边界</a:t>
            </a:r>
            <a:endParaRPr lang="en-US" sz="1200" dirty="0"/>
          </a:p>
        </p:txBody>
      </p:sp>
      <p:sp>
        <p:nvSpPr>
          <p:cNvPr id="31" name="Text 27">
            <a:extLst>
              <a:ext uri="{FF2B5EF4-FFF2-40B4-BE49-F238E27FC236}">
                <a16:creationId xmlns:a16="http://schemas.microsoft.com/office/drawing/2014/main" id="{2371ACFF-6B6A-41D3-DCE2-0B72F94C79D9}"/>
              </a:ext>
            </a:extLst>
          </p:cNvPr>
          <p:cNvSpPr/>
          <p:nvPr/>
        </p:nvSpPr>
        <p:spPr>
          <a:xfrm>
            <a:off x="3355690" y="3345127"/>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聚合行为原子性事务范围——部分失败自动回滚，幂等性保证</a:t>
            </a:r>
            <a:endParaRPr lang="en-US" sz="900" dirty="0"/>
          </a:p>
        </p:txBody>
      </p:sp>
      <p:sp>
        <p:nvSpPr>
          <p:cNvPr id="32" name="Text 28">
            <a:extLst>
              <a:ext uri="{FF2B5EF4-FFF2-40B4-BE49-F238E27FC236}">
                <a16:creationId xmlns:a16="http://schemas.microsoft.com/office/drawing/2014/main" id="{46103395-4B78-9C37-8AE6-BE2657F8627B}"/>
              </a:ext>
            </a:extLst>
          </p:cNvPr>
          <p:cNvSpPr/>
          <p:nvPr/>
        </p:nvSpPr>
        <p:spPr>
          <a:xfrm>
            <a:off x="3355690" y="3610303"/>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指标定义</a:t>
            </a:r>
            <a:endParaRPr lang="en-US" sz="1200" dirty="0"/>
          </a:p>
        </p:txBody>
      </p:sp>
      <p:sp>
        <p:nvSpPr>
          <p:cNvPr id="33" name="Text 29">
            <a:extLst>
              <a:ext uri="{FF2B5EF4-FFF2-40B4-BE49-F238E27FC236}">
                <a16:creationId xmlns:a16="http://schemas.microsoft.com/office/drawing/2014/main" id="{B40F39AE-0A0F-2B8D-8D28-FB17D3454D84}"/>
              </a:ext>
            </a:extLst>
          </p:cNvPr>
          <p:cNvSpPr/>
          <p:nvPr/>
        </p:nvSpPr>
        <p:spPr>
          <a:xfrm>
            <a:off x="3355690" y="3838903"/>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计算公式+维度拆分+聚合逻辑——"上个月销售额多少"直接调用预定义指标</a:t>
            </a:r>
            <a:endParaRPr lang="en-US" sz="900" dirty="0"/>
          </a:p>
        </p:txBody>
      </p:sp>
      <p:sp>
        <p:nvSpPr>
          <p:cNvPr id="34" name="Text 30">
            <a:extLst>
              <a:ext uri="{FF2B5EF4-FFF2-40B4-BE49-F238E27FC236}">
                <a16:creationId xmlns:a16="http://schemas.microsoft.com/office/drawing/2014/main" id="{D0B2B3A4-40DC-CC7F-6E13-66106E7D17C6}"/>
              </a:ext>
            </a:extLst>
          </p:cNvPr>
          <p:cNvSpPr/>
          <p:nvPr/>
        </p:nvSpPr>
        <p:spPr>
          <a:xfrm>
            <a:off x="3355690" y="4104079"/>
            <a:ext cx="2330161" cy="197069"/>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行为声明式发布事件</a:t>
            </a:r>
            <a:endParaRPr lang="en-US" sz="1200" dirty="0"/>
          </a:p>
        </p:txBody>
      </p:sp>
      <p:sp>
        <p:nvSpPr>
          <p:cNvPr id="35" name="Text 31">
            <a:extLst>
              <a:ext uri="{FF2B5EF4-FFF2-40B4-BE49-F238E27FC236}">
                <a16:creationId xmlns:a16="http://schemas.microsoft.com/office/drawing/2014/main" id="{533FEF70-9752-F03C-7E37-33457D542249}"/>
              </a:ext>
            </a:extLst>
          </p:cNvPr>
          <p:cNvSpPr/>
          <p:nvPr/>
        </p:nvSpPr>
        <p:spPr>
          <a:xfrm>
            <a:off x="3355690" y="4332679"/>
            <a:ext cx="2330161" cy="157655"/>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行为定义中的 events[] 数组声明执行后发布哪些领域事件</a:t>
            </a:r>
            <a:endParaRPr lang="en-US" sz="900" dirty="0"/>
          </a:p>
        </p:txBody>
      </p:sp>
      <p:sp>
        <p:nvSpPr>
          <p:cNvPr id="36" name="Shape 2">
            <a:extLst>
              <a:ext uri="{FF2B5EF4-FFF2-40B4-BE49-F238E27FC236}">
                <a16:creationId xmlns:a16="http://schemas.microsoft.com/office/drawing/2014/main" id="{4BBA9B2B-3A43-8309-A5A1-8BCEF05DEF35}"/>
              </a:ext>
            </a:extLst>
          </p:cNvPr>
          <p:cNvSpPr/>
          <p:nvPr/>
        </p:nvSpPr>
        <p:spPr>
          <a:xfrm>
            <a:off x="6006445" y="929219"/>
            <a:ext cx="2628900" cy="342837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37" name="Shape 3">
            <a:extLst>
              <a:ext uri="{FF2B5EF4-FFF2-40B4-BE49-F238E27FC236}">
                <a16:creationId xmlns:a16="http://schemas.microsoft.com/office/drawing/2014/main" id="{E2D9CE55-A2FF-968F-7737-E95857FE44F3}"/>
              </a:ext>
            </a:extLst>
          </p:cNvPr>
          <p:cNvSpPr/>
          <p:nvPr/>
        </p:nvSpPr>
        <p:spPr>
          <a:xfrm>
            <a:off x="6006445" y="929219"/>
            <a:ext cx="2628900" cy="47297"/>
          </a:xfrm>
          <a:prstGeom prst="rect">
            <a:avLst/>
          </a:prstGeom>
          <a:solidFill>
            <a:srgbClr val="E78C07"/>
          </a:solidFill>
          <a:ln/>
        </p:spPr>
        <p:txBody>
          <a:bodyPr/>
          <a:lstStyle/>
          <a:p>
            <a:endParaRPr lang="zh-CN" altLang="en-US"/>
          </a:p>
        </p:txBody>
      </p:sp>
      <p:pic>
        <p:nvPicPr>
          <p:cNvPr id="38" name="Image 0" descr="preencoded.png">
            <a:extLst>
              <a:ext uri="{FF2B5EF4-FFF2-40B4-BE49-F238E27FC236}">
                <a16:creationId xmlns:a16="http://schemas.microsoft.com/office/drawing/2014/main" id="{D52EEC4A-3D0F-43AD-A816-38FF52E0F87E}"/>
              </a:ext>
            </a:extLst>
          </p:cNvPr>
          <p:cNvPicPr>
            <a:picLocks noChangeAspect="1"/>
          </p:cNvPicPr>
          <p:nvPr/>
        </p:nvPicPr>
        <p:blipFill>
          <a:blip r:embed="rId5"/>
          <a:stretch>
            <a:fillRect/>
          </a:stretch>
        </p:blipFill>
        <p:spPr>
          <a:xfrm>
            <a:off x="6235045" y="1112099"/>
            <a:ext cx="275897" cy="275897"/>
          </a:xfrm>
          <a:prstGeom prst="rect">
            <a:avLst/>
          </a:prstGeom>
        </p:spPr>
      </p:pic>
      <p:sp>
        <p:nvSpPr>
          <p:cNvPr id="39" name="Text 4">
            <a:extLst>
              <a:ext uri="{FF2B5EF4-FFF2-40B4-BE49-F238E27FC236}">
                <a16:creationId xmlns:a16="http://schemas.microsoft.com/office/drawing/2014/main" id="{00C66AC6-4266-76AD-2691-5595E5E60B51}"/>
              </a:ext>
            </a:extLst>
          </p:cNvPr>
          <p:cNvSpPr/>
          <p:nvPr/>
        </p:nvSpPr>
        <p:spPr>
          <a:xfrm>
            <a:off x="6692245" y="1112099"/>
            <a:ext cx="2091170" cy="275897"/>
          </a:xfrm>
          <a:prstGeom prst="rect">
            <a:avLst/>
          </a:prstGeom>
          <a:noFill/>
          <a:ln/>
        </p:spPr>
        <p:txBody>
          <a:bodyPr wrap="square" lIns="0" tIns="0" rIns="0" bIns="0" rtlCol="0" anchor="ctr"/>
          <a:lstStyle/>
          <a:p>
            <a:pPr marL="0" indent="0">
              <a:buNone/>
            </a:pPr>
            <a:r>
              <a:rPr lang="en-US" sz="1400" b="1" dirty="0">
                <a:solidFill>
                  <a:srgbClr val="E78C07"/>
                </a:solidFill>
                <a:latin typeface="Arial" pitchFamily="34" charset="0"/>
                <a:ea typeface="Arial" pitchFamily="34" charset="-122"/>
                <a:cs typeface="Arial" pitchFamily="34" charset="-120"/>
              </a:rPr>
              <a:t>事件层 — 业务「信号」</a:t>
            </a:r>
            <a:endParaRPr lang="en-US" sz="1400" dirty="0"/>
          </a:p>
        </p:txBody>
      </p:sp>
      <p:pic>
        <p:nvPicPr>
          <p:cNvPr id="40" name="Image 1" descr="preencoded.png">
            <a:extLst>
              <a:ext uri="{FF2B5EF4-FFF2-40B4-BE49-F238E27FC236}">
                <a16:creationId xmlns:a16="http://schemas.microsoft.com/office/drawing/2014/main" id="{843A36AD-2B77-9677-6EDD-7ABEDBD95045}"/>
              </a:ext>
            </a:extLst>
          </p:cNvPr>
          <p:cNvPicPr>
            <a:picLocks noChangeAspect="1"/>
          </p:cNvPicPr>
          <p:nvPr/>
        </p:nvPicPr>
        <p:blipFill>
          <a:blip r:embed="rId6"/>
          <a:stretch>
            <a:fillRect/>
          </a:stretch>
        </p:blipFill>
        <p:spPr>
          <a:xfrm>
            <a:off x="6235045" y="1615019"/>
            <a:ext cx="141890" cy="141890"/>
          </a:xfrm>
          <a:prstGeom prst="rect">
            <a:avLst/>
          </a:prstGeom>
        </p:spPr>
      </p:pic>
      <p:sp>
        <p:nvSpPr>
          <p:cNvPr id="41" name="Text 5">
            <a:extLst>
              <a:ext uri="{FF2B5EF4-FFF2-40B4-BE49-F238E27FC236}">
                <a16:creationId xmlns:a16="http://schemas.microsoft.com/office/drawing/2014/main" id="{BA563769-486C-1B16-6424-9C74DD3F8872}"/>
              </a:ext>
            </a:extLst>
          </p:cNvPr>
          <p:cNvSpPr/>
          <p:nvPr/>
        </p:nvSpPr>
        <p:spPr>
          <a:xfrm>
            <a:off x="6509365" y="1596731"/>
            <a:ext cx="2150918" cy="157655"/>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领域事件：聚合内行为完成后的业务事实(OrderApproved)</a:t>
            </a:r>
            <a:endParaRPr lang="en-US" sz="1000" dirty="0"/>
          </a:p>
        </p:txBody>
      </p:sp>
      <p:pic>
        <p:nvPicPr>
          <p:cNvPr id="42" name="Image 2" descr="preencoded.png">
            <a:extLst>
              <a:ext uri="{FF2B5EF4-FFF2-40B4-BE49-F238E27FC236}">
                <a16:creationId xmlns:a16="http://schemas.microsoft.com/office/drawing/2014/main" id="{0F20897A-8B20-4D3C-5AFD-92941659938A}"/>
              </a:ext>
            </a:extLst>
          </p:cNvPr>
          <p:cNvPicPr>
            <a:picLocks noChangeAspect="1"/>
          </p:cNvPicPr>
          <p:nvPr/>
        </p:nvPicPr>
        <p:blipFill>
          <a:blip r:embed="rId6"/>
          <a:stretch>
            <a:fillRect/>
          </a:stretch>
        </p:blipFill>
        <p:spPr>
          <a:xfrm>
            <a:off x="6235045" y="2229132"/>
            <a:ext cx="141890" cy="141890"/>
          </a:xfrm>
          <a:prstGeom prst="rect">
            <a:avLst/>
          </a:prstGeom>
        </p:spPr>
      </p:pic>
      <p:sp>
        <p:nvSpPr>
          <p:cNvPr id="43" name="Text 6">
            <a:extLst>
              <a:ext uri="{FF2B5EF4-FFF2-40B4-BE49-F238E27FC236}">
                <a16:creationId xmlns:a16="http://schemas.microsoft.com/office/drawing/2014/main" id="{36983626-4EE7-7B5E-C377-4D3E611E9475}"/>
              </a:ext>
            </a:extLst>
          </p:cNvPr>
          <p:cNvSpPr/>
          <p:nvPr/>
        </p:nvSpPr>
        <p:spPr>
          <a:xfrm>
            <a:off x="6509365" y="2208788"/>
            <a:ext cx="2210666" cy="157655"/>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集成事件：跨限界上下文的异步通信(ERP→WMS订单同步)</a:t>
            </a:r>
            <a:endParaRPr lang="en-US" sz="1000" dirty="0"/>
          </a:p>
        </p:txBody>
      </p:sp>
      <p:pic>
        <p:nvPicPr>
          <p:cNvPr id="44" name="Image 3" descr="preencoded.png">
            <a:extLst>
              <a:ext uri="{FF2B5EF4-FFF2-40B4-BE49-F238E27FC236}">
                <a16:creationId xmlns:a16="http://schemas.microsoft.com/office/drawing/2014/main" id="{D85ED7CA-7C90-33BB-E20B-BD88E8CF3404}"/>
              </a:ext>
            </a:extLst>
          </p:cNvPr>
          <p:cNvPicPr>
            <a:picLocks noChangeAspect="1"/>
          </p:cNvPicPr>
          <p:nvPr/>
        </p:nvPicPr>
        <p:blipFill>
          <a:blip r:embed="rId6"/>
          <a:stretch>
            <a:fillRect/>
          </a:stretch>
        </p:blipFill>
        <p:spPr>
          <a:xfrm>
            <a:off x="6235045" y="2843245"/>
            <a:ext cx="141890" cy="141890"/>
          </a:xfrm>
          <a:prstGeom prst="rect">
            <a:avLst/>
          </a:prstGeom>
        </p:spPr>
      </p:pic>
      <p:sp>
        <p:nvSpPr>
          <p:cNvPr id="45" name="Text 7">
            <a:extLst>
              <a:ext uri="{FF2B5EF4-FFF2-40B4-BE49-F238E27FC236}">
                <a16:creationId xmlns:a16="http://schemas.microsoft.com/office/drawing/2014/main" id="{97CDC513-9A96-8E31-AD30-0E200160F161}"/>
              </a:ext>
            </a:extLst>
          </p:cNvPr>
          <p:cNvSpPr/>
          <p:nvPr/>
        </p:nvSpPr>
        <p:spPr>
          <a:xfrm>
            <a:off x="6509365" y="2820845"/>
            <a:ext cx="2150918" cy="157655"/>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事件处理器：事件触发后的逻辑(新行为/通知/Webhook)</a:t>
            </a:r>
            <a:endParaRPr lang="en-US" sz="1000" dirty="0"/>
          </a:p>
        </p:txBody>
      </p:sp>
      <p:pic>
        <p:nvPicPr>
          <p:cNvPr id="46" name="Image 4" descr="preencoded.png">
            <a:extLst>
              <a:ext uri="{FF2B5EF4-FFF2-40B4-BE49-F238E27FC236}">
                <a16:creationId xmlns:a16="http://schemas.microsoft.com/office/drawing/2014/main" id="{CABC42C3-2947-3CD9-E7EA-57C5E62FA300}"/>
              </a:ext>
            </a:extLst>
          </p:cNvPr>
          <p:cNvPicPr>
            <a:picLocks noChangeAspect="1"/>
          </p:cNvPicPr>
          <p:nvPr/>
        </p:nvPicPr>
        <p:blipFill>
          <a:blip r:embed="rId6"/>
          <a:stretch>
            <a:fillRect/>
          </a:stretch>
        </p:blipFill>
        <p:spPr>
          <a:xfrm>
            <a:off x="6235045" y="3457358"/>
            <a:ext cx="141890" cy="141890"/>
          </a:xfrm>
          <a:prstGeom prst="rect">
            <a:avLst/>
          </a:prstGeom>
        </p:spPr>
      </p:pic>
      <p:sp>
        <p:nvSpPr>
          <p:cNvPr id="47" name="Text 8">
            <a:extLst>
              <a:ext uri="{FF2B5EF4-FFF2-40B4-BE49-F238E27FC236}">
                <a16:creationId xmlns:a16="http://schemas.microsoft.com/office/drawing/2014/main" id="{C90F84A1-2107-92D7-99AA-39592639F4A1}"/>
              </a:ext>
            </a:extLst>
          </p:cNvPr>
          <p:cNvSpPr/>
          <p:nvPr/>
        </p:nvSpPr>
        <p:spPr>
          <a:xfrm>
            <a:off x="6509365" y="3432902"/>
            <a:ext cx="2150918" cy="157655"/>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事件存储(Event Store)：不可变事件序列，支持事件溯源</a:t>
            </a:r>
            <a:endParaRPr lang="en-US" sz="1000" dirty="0"/>
          </a:p>
        </p:txBody>
      </p:sp>
      <p:pic>
        <p:nvPicPr>
          <p:cNvPr id="48" name="Image 5" descr="preencoded.png">
            <a:extLst>
              <a:ext uri="{FF2B5EF4-FFF2-40B4-BE49-F238E27FC236}">
                <a16:creationId xmlns:a16="http://schemas.microsoft.com/office/drawing/2014/main" id="{B72CF376-CB82-B5C4-1521-7096BAF2BB01}"/>
              </a:ext>
            </a:extLst>
          </p:cNvPr>
          <p:cNvPicPr>
            <a:picLocks noChangeAspect="1"/>
          </p:cNvPicPr>
          <p:nvPr/>
        </p:nvPicPr>
        <p:blipFill>
          <a:blip r:embed="rId6"/>
          <a:stretch>
            <a:fillRect/>
          </a:stretch>
        </p:blipFill>
        <p:spPr>
          <a:xfrm>
            <a:off x="6222789" y="4071471"/>
            <a:ext cx="141890" cy="141890"/>
          </a:xfrm>
          <a:prstGeom prst="rect">
            <a:avLst/>
          </a:prstGeom>
        </p:spPr>
      </p:pic>
      <p:sp>
        <p:nvSpPr>
          <p:cNvPr id="49" name="Text 9">
            <a:extLst>
              <a:ext uri="{FF2B5EF4-FFF2-40B4-BE49-F238E27FC236}">
                <a16:creationId xmlns:a16="http://schemas.microsoft.com/office/drawing/2014/main" id="{8C93CC46-E837-CD76-1C6D-3D86E669C911}"/>
              </a:ext>
            </a:extLst>
          </p:cNvPr>
          <p:cNvSpPr/>
          <p:nvPr/>
        </p:nvSpPr>
        <p:spPr>
          <a:xfrm>
            <a:off x="6480261" y="4044958"/>
            <a:ext cx="2268874" cy="157655"/>
          </a:xfrm>
          <a:prstGeom prst="rect">
            <a:avLst/>
          </a:prstGeom>
          <a:noFill/>
          <a:ln/>
        </p:spPr>
        <p:txBody>
          <a:bodyPr wrap="square" lIns="0" tIns="0" rIns="0" bIns="0" rtlCol="0" anchor="ctr"/>
          <a:lstStyle/>
          <a:p>
            <a:pPr marL="0" indent="0">
              <a:buNone/>
            </a:pPr>
            <a:r>
              <a:rPr lang="en-US" sz="1000" dirty="0" err="1">
                <a:solidFill>
                  <a:srgbClr val="1E293B"/>
                </a:solidFill>
                <a:latin typeface="Arial" pitchFamily="34" charset="0"/>
                <a:ea typeface="Arial" pitchFamily="34" charset="-122"/>
                <a:cs typeface="Arial" pitchFamily="34" charset="-120"/>
              </a:rPr>
              <a:t>CQRS预留：写模型→领域事件→读模型投影</a:t>
            </a:r>
            <a:r>
              <a:rPr lang="en-US" sz="1000" dirty="0">
                <a:solidFill>
                  <a:srgbClr val="1E293B"/>
                </a:solidFill>
                <a:latin typeface="Arial" pitchFamily="34" charset="0"/>
                <a:ea typeface="Arial" pitchFamily="34" charset="-122"/>
                <a:cs typeface="Arial" pitchFamily="34" charset="-120"/>
              </a:rPr>
              <a:t> → 最终一致性</a:t>
            </a:r>
            <a:endParaRPr lang="en-US" sz="1000" dirty="0"/>
          </a:p>
        </p:txBody>
      </p:sp>
    </p:spTree>
    <p:extLst>
      <p:ext uri="{BB962C8B-B14F-4D97-AF65-F5344CB8AC3E}">
        <p14:creationId xmlns:p14="http://schemas.microsoft.com/office/powerpoint/2010/main" val="1510059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182880" y="100584"/>
            <a:ext cx="8229600" cy="548640"/>
          </a:xfrm>
          <a:prstGeom prst="rect">
            <a:avLst/>
          </a:prstGeom>
          <a:noFill/>
          <a:ln/>
        </p:spPr>
        <p:txBody>
          <a:bodyPr wrap="square" lIns="0" tIns="0" rIns="0" bIns="0" rtlCol="0" anchor="ctr"/>
          <a:lstStyle/>
          <a:p>
            <a:pPr marL="0" indent="0">
              <a:buNone/>
            </a:pPr>
            <a:r>
              <a:rPr lang="en-US" sz="2400" b="1" dirty="0" err="1">
                <a:solidFill>
                  <a:srgbClr val="1E293B"/>
                </a:solidFill>
                <a:latin typeface="Arial" pitchFamily="34" charset="0"/>
                <a:ea typeface="Arial" pitchFamily="34" charset="-122"/>
                <a:cs typeface="Arial" pitchFamily="34" charset="-120"/>
              </a:rPr>
              <a:t>治理层</a:t>
            </a:r>
            <a:r>
              <a:rPr lang="en-US" sz="2400" b="1" dirty="0">
                <a:solidFill>
                  <a:srgbClr val="1E293B"/>
                </a:solidFill>
                <a:latin typeface="Arial" pitchFamily="34" charset="0"/>
                <a:ea typeface="Arial" pitchFamily="34" charset="-122"/>
                <a:cs typeface="Arial" pitchFamily="34" charset="-120"/>
              </a:rPr>
              <a:t> · Agent Manifest 结构</a:t>
            </a:r>
            <a:endParaRPr lang="en-US" sz="2400" dirty="0"/>
          </a:p>
        </p:txBody>
      </p:sp>
      <p:sp>
        <p:nvSpPr>
          <p:cNvPr id="18" name="Shape 10"/>
          <p:cNvSpPr/>
          <p:nvPr/>
        </p:nvSpPr>
        <p:spPr>
          <a:xfrm>
            <a:off x="365760" y="960120"/>
            <a:ext cx="8413200" cy="182880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19" name="Shape 11"/>
          <p:cNvSpPr/>
          <p:nvPr/>
        </p:nvSpPr>
        <p:spPr>
          <a:xfrm>
            <a:off x="365760" y="960120"/>
            <a:ext cx="8413200" cy="54864"/>
          </a:xfrm>
          <a:prstGeom prst="rect">
            <a:avLst/>
          </a:prstGeom>
          <a:solidFill>
            <a:srgbClr val="BB0000"/>
          </a:solidFill>
          <a:ln/>
        </p:spPr>
        <p:txBody>
          <a:bodyPr/>
          <a:lstStyle/>
          <a:p>
            <a:endParaRPr lang="zh-CN" altLang="en-US"/>
          </a:p>
        </p:txBody>
      </p:sp>
      <p:pic>
        <p:nvPicPr>
          <p:cNvPr id="20" name="Image 6" descr="preencoded.png"/>
          <p:cNvPicPr>
            <a:picLocks noChangeAspect="1"/>
          </p:cNvPicPr>
          <p:nvPr/>
        </p:nvPicPr>
        <p:blipFill>
          <a:blip r:embed="rId3"/>
          <a:stretch>
            <a:fillRect/>
          </a:stretch>
        </p:blipFill>
        <p:spPr>
          <a:xfrm>
            <a:off x="468040" y="1080689"/>
            <a:ext cx="320040" cy="320040"/>
          </a:xfrm>
          <a:prstGeom prst="rect">
            <a:avLst/>
          </a:prstGeom>
        </p:spPr>
      </p:pic>
      <p:sp>
        <p:nvSpPr>
          <p:cNvPr id="21" name="Text 12"/>
          <p:cNvSpPr/>
          <p:nvPr/>
        </p:nvSpPr>
        <p:spPr>
          <a:xfrm>
            <a:off x="925240" y="1080689"/>
            <a:ext cx="3200400" cy="320040"/>
          </a:xfrm>
          <a:prstGeom prst="rect">
            <a:avLst/>
          </a:prstGeom>
          <a:noFill/>
          <a:ln/>
        </p:spPr>
        <p:txBody>
          <a:bodyPr wrap="square" lIns="0" tIns="0" rIns="0" bIns="0" rtlCol="0" anchor="ctr"/>
          <a:lstStyle/>
          <a:p>
            <a:pPr marL="0" indent="0">
              <a:buNone/>
            </a:pPr>
            <a:r>
              <a:rPr lang="en-US" sz="1400" b="1" dirty="0">
                <a:solidFill>
                  <a:srgbClr val="BB0000"/>
                </a:solidFill>
                <a:latin typeface="Arial" pitchFamily="34" charset="0"/>
                <a:ea typeface="Arial" pitchFamily="34" charset="-122"/>
                <a:cs typeface="Arial" pitchFamily="34" charset="-120"/>
              </a:rPr>
              <a:t>治理层 — 业务「权限」</a:t>
            </a:r>
            <a:endParaRPr lang="en-US" sz="1400" dirty="0"/>
          </a:p>
        </p:txBody>
      </p:sp>
      <p:pic>
        <p:nvPicPr>
          <p:cNvPr id="22" name="Image 7" descr="preencoded.png"/>
          <p:cNvPicPr>
            <a:picLocks noChangeAspect="1"/>
          </p:cNvPicPr>
          <p:nvPr/>
        </p:nvPicPr>
        <p:blipFill>
          <a:blip r:embed="rId4"/>
          <a:stretch>
            <a:fillRect/>
          </a:stretch>
        </p:blipFill>
        <p:spPr>
          <a:xfrm>
            <a:off x="520026" y="1484534"/>
            <a:ext cx="164592" cy="164592"/>
          </a:xfrm>
          <a:prstGeom prst="rect">
            <a:avLst/>
          </a:prstGeom>
        </p:spPr>
      </p:pic>
      <p:sp>
        <p:nvSpPr>
          <p:cNvPr id="23" name="Text 13"/>
          <p:cNvSpPr/>
          <p:nvPr/>
        </p:nvSpPr>
        <p:spPr>
          <a:xfrm>
            <a:off x="742360" y="1475672"/>
            <a:ext cx="7200000" cy="18288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RBAC + 上下文隔离：权限挂在限界上下文，全局默认 + 上下文覆盖</a:t>
            </a:r>
            <a:endParaRPr lang="en-US" sz="1000" dirty="0"/>
          </a:p>
        </p:txBody>
      </p:sp>
      <p:pic>
        <p:nvPicPr>
          <p:cNvPr id="24" name="Image 8" descr="preencoded.png"/>
          <p:cNvPicPr>
            <a:picLocks noChangeAspect="1"/>
          </p:cNvPicPr>
          <p:nvPr/>
        </p:nvPicPr>
        <p:blipFill>
          <a:blip r:embed="rId4"/>
          <a:stretch>
            <a:fillRect/>
          </a:stretch>
        </p:blipFill>
        <p:spPr>
          <a:xfrm>
            <a:off x="524598" y="1726402"/>
            <a:ext cx="164592" cy="164592"/>
          </a:xfrm>
          <a:prstGeom prst="rect">
            <a:avLst/>
          </a:prstGeom>
        </p:spPr>
      </p:pic>
      <p:sp>
        <p:nvSpPr>
          <p:cNvPr id="25" name="Text 14"/>
          <p:cNvSpPr/>
          <p:nvPr/>
        </p:nvSpPr>
        <p:spPr>
          <a:xfrm>
            <a:off x="742360" y="1717540"/>
            <a:ext cx="7200000" cy="18288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对象级+字段级权限：可控制到"客服不能看成本和利润字段"</a:t>
            </a:r>
            <a:endParaRPr lang="en-US" sz="1000" dirty="0"/>
          </a:p>
        </p:txBody>
      </p:sp>
      <p:pic>
        <p:nvPicPr>
          <p:cNvPr id="26" name="Image 9" descr="preencoded.png"/>
          <p:cNvPicPr>
            <a:picLocks noChangeAspect="1"/>
          </p:cNvPicPr>
          <p:nvPr/>
        </p:nvPicPr>
        <p:blipFill>
          <a:blip r:embed="rId4"/>
          <a:stretch>
            <a:fillRect/>
          </a:stretch>
        </p:blipFill>
        <p:spPr>
          <a:xfrm>
            <a:off x="524598" y="1968270"/>
            <a:ext cx="164592" cy="164592"/>
          </a:xfrm>
          <a:prstGeom prst="rect">
            <a:avLst/>
          </a:prstGeom>
        </p:spPr>
      </p:pic>
      <p:sp>
        <p:nvSpPr>
          <p:cNvPr id="27" name="Text 15"/>
          <p:cNvSpPr/>
          <p:nvPr/>
        </p:nvSpPr>
        <p:spPr>
          <a:xfrm>
            <a:off x="742360" y="1959408"/>
            <a:ext cx="7200000" cy="18288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条件权限：动态计算——"部门经理只看本部门数据"</a:t>
            </a:r>
            <a:endParaRPr lang="en-US" sz="1000" dirty="0"/>
          </a:p>
        </p:txBody>
      </p:sp>
      <p:pic>
        <p:nvPicPr>
          <p:cNvPr id="28" name="Image 10" descr="preencoded.png"/>
          <p:cNvPicPr>
            <a:picLocks noChangeAspect="1"/>
          </p:cNvPicPr>
          <p:nvPr/>
        </p:nvPicPr>
        <p:blipFill>
          <a:blip r:embed="rId4"/>
          <a:stretch>
            <a:fillRect/>
          </a:stretch>
        </p:blipFill>
        <p:spPr>
          <a:xfrm>
            <a:off x="524598" y="2210138"/>
            <a:ext cx="164592" cy="164592"/>
          </a:xfrm>
          <a:prstGeom prst="rect">
            <a:avLst/>
          </a:prstGeom>
        </p:spPr>
      </p:pic>
      <p:sp>
        <p:nvSpPr>
          <p:cNvPr id="29" name="Text 16"/>
          <p:cNvSpPr/>
          <p:nvPr/>
        </p:nvSpPr>
        <p:spPr>
          <a:xfrm>
            <a:off x="742360" y="2201276"/>
            <a:ext cx="7200000" cy="18288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AI Agent 沙箱：Agent进入上下文时自动加载沙箱规则</a:t>
            </a:r>
            <a:endParaRPr lang="en-US" sz="1000" dirty="0"/>
          </a:p>
        </p:txBody>
      </p:sp>
      <p:pic>
        <p:nvPicPr>
          <p:cNvPr id="30" name="Image 11" descr="preencoded.png"/>
          <p:cNvPicPr>
            <a:picLocks noChangeAspect="1"/>
          </p:cNvPicPr>
          <p:nvPr/>
        </p:nvPicPr>
        <p:blipFill>
          <a:blip r:embed="rId4"/>
          <a:stretch>
            <a:fillRect/>
          </a:stretch>
        </p:blipFill>
        <p:spPr>
          <a:xfrm>
            <a:off x="524598" y="2452007"/>
            <a:ext cx="164592" cy="164592"/>
          </a:xfrm>
          <a:prstGeom prst="rect">
            <a:avLst/>
          </a:prstGeom>
        </p:spPr>
      </p:pic>
      <p:sp>
        <p:nvSpPr>
          <p:cNvPr id="31" name="Text 17"/>
          <p:cNvSpPr/>
          <p:nvPr/>
        </p:nvSpPr>
        <p:spPr>
          <a:xfrm>
            <a:off x="742360" y="2443145"/>
            <a:ext cx="7200000" cy="18288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最小权限原则：Agent 默认无权限，需显式授权</a:t>
            </a:r>
            <a:endParaRPr lang="en-US" sz="1000" dirty="0"/>
          </a:p>
        </p:txBody>
      </p:sp>
      <p:sp>
        <p:nvSpPr>
          <p:cNvPr id="32" name="Shape 18"/>
          <p:cNvSpPr/>
          <p:nvPr/>
        </p:nvSpPr>
        <p:spPr>
          <a:xfrm>
            <a:off x="365760" y="3017520"/>
            <a:ext cx="8412480" cy="196596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33" name="Shape 19"/>
          <p:cNvSpPr/>
          <p:nvPr/>
        </p:nvSpPr>
        <p:spPr>
          <a:xfrm>
            <a:off x="365760" y="3017520"/>
            <a:ext cx="8412480" cy="54864"/>
          </a:xfrm>
          <a:prstGeom prst="rect">
            <a:avLst/>
          </a:prstGeom>
          <a:solidFill>
            <a:srgbClr val="065A82"/>
          </a:solidFill>
          <a:ln/>
        </p:spPr>
        <p:txBody>
          <a:bodyPr/>
          <a:lstStyle/>
          <a:p>
            <a:endParaRPr lang="zh-CN" altLang="en-US"/>
          </a:p>
        </p:txBody>
      </p:sp>
      <p:sp>
        <p:nvSpPr>
          <p:cNvPr id="34" name="Text 20"/>
          <p:cNvSpPr/>
          <p:nvPr/>
        </p:nvSpPr>
        <p:spPr>
          <a:xfrm>
            <a:off x="640080" y="3200400"/>
            <a:ext cx="7315200" cy="320040"/>
          </a:xfrm>
          <a:prstGeom prst="rect">
            <a:avLst/>
          </a:prstGeom>
          <a:noFill/>
          <a:ln/>
        </p:spPr>
        <p:txBody>
          <a:bodyPr wrap="square" lIns="0" tIns="0" rIns="0" bIns="0" rtlCol="0" anchor="ctr"/>
          <a:lstStyle/>
          <a:p>
            <a:pPr marL="0" indent="0">
              <a:buNone/>
            </a:pPr>
            <a:r>
              <a:rPr lang="en-US" sz="1400" b="1" dirty="0">
                <a:solidFill>
                  <a:srgbClr val="065A82"/>
                </a:solidFill>
                <a:latin typeface="Arial" pitchFamily="34" charset="0"/>
                <a:ea typeface="Arial" pitchFamily="34" charset="-122"/>
                <a:cs typeface="Arial" pitchFamily="34" charset="-120"/>
              </a:rPr>
              <a:t>Agent Manifest 编译结构</a:t>
            </a:r>
            <a:endParaRPr lang="en-US" sz="1400" dirty="0"/>
          </a:p>
        </p:txBody>
      </p:sp>
      <p:sp>
        <p:nvSpPr>
          <p:cNvPr id="35" name="Text 21"/>
          <p:cNvSpPr/>
          <p:nvPr/>
        </p:nvSpPr>
        <p:spPr>
          <a:xfrm>
            <a:off x="640080" y="3611880"/>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manifest_version</a:t>
            </a:r>
            <a:endParaRPr lang="en-US" sz="900" dirty="0"/>
          </a:p>
        </p:txBody>
      </p:sp>
      <p:sp>
        <p:nvSpPr>
          <p:cNvPr id="36" name="Text 22"/>
          <p:cNvSpPr/>
          <p:nvPr/>
        </p:nvSpPr>
        <p:spPr>
          <a:xfrm>
            <a:off x="2331720" y="3611880"/>
            <a:ext cx="2194560" cy="201168"/>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Manifest 版本号</a:t>
            </a:r>
            <a:endParaRPr lang="en-US" sz="900" dirty="0"/>
          </a:p>
        </p:txBody>
      </p:sp>
      <p:sp>
        <p:nvSpPr>
          <p:cNvPr id="37" name="Text 23"/>
          <p:cNvSpPr/>
          <p:nvPr/>
        </p:nvSpPr>
        <p:spPr>
          <a:xfrm>
            <a:off x="640080" y="3913632"/>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ontology_id / ontology_version</a:t>
            </a:r>
            <a:endParaRPr lang="en-US" sz="900" dirty="0"/>
          </a:p>
        </p:txBody>
      </p:sp>
      <p:sp>
        <p:nvSpPr>
          <p:cNvPr id="38" name="Text 24"/>
          <p:cNvSpPr/>
          <p:nvPr/>
        </p:nvSpPr>
        <p:spPr>
          <a:xfrm>
            <a:off x="2331720" y="3913632"/>
            <a:ext cx="2194560" cy="201168"/>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本体标识与版本（严格对应）</a:t>
            </a:r>
            <a:endParaRPr lang="en-US" sz="900" dirty="0"/>
          </a:p>
        </p:txBody>
      </p:sp>
      <p:sp>
        <p:nvSpPr>
          <p:cNvPr id="39" name="Text 25"/>
          <p:cNvSpPr/>
          <p:nvPr/>
        </p:nvSpPr>
        <p:spPr>
          <a:xfrm>
            <a:off x="640080" y="4215384"/>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contexts[]</a:t>
            </a:r>
            <a:endParaRPr lang="en-US" sz="900" dirty="0"/>
          </a:p>
        </p:txBody>
      </p:sp>
      <p:sp>
        <p:nvSpPr>
          <p:cNvPr id="40" name="Text 26"/>
          <p:cNvSpPr/>
          <p:nvPr/>
        </p:nvSpPr>
        <p:spPr>
          <a:xfrm>
            <a:off x="2331720" y="4215384"/>
            <a:ext cx="2194560" cy="201168"/>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限界上下文定义</a:t>
            </a:r>
            <a:endParaRPr lang="en-US" sz="900" dirty="0"/>
          </a:p>
        </p:txBody>
      </p:sp>
      <p:sp>
        <p:nvSpPr>
          <p:cNvPr id="41" name="Text 27"/>
          <p:cNvSpPr/>
          <p:nvPr/>
        </p:nvSpPr>
        <p:spPr>
          <a:xfrm>
            <a:off x="640080" y="4517136"/>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entities[]</a:t>
            </a:r>
            <a:endParaRPr lang="en-US" sz="900" dirty="0"/>
          </a:p>
        </p:txBody>
      </p:sp>
      <p:sp>
        <p:nvSpPr>
          <p:cNvPr id="42" name="Text 28"/>
          <p:cNvSpPr/>
          <p:nvPr/>
        </p:nvSpPr>
        <p:spPr>
          <a:xfrm>
            <a:off x="2331720" y="4517136"/>
            <a:ext cx="2194560" cy="201168"/>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实体 + 属性 + 数据获取方式 + 聚合根标志</a:t>
            </a:r>
            <a:endParaRPr lang="en-US" sz="900" dirty="0"/>
          </a:p>
        </p:txBody>
      </p:sp>
      <p:sp>
        <p:nvSpPr>
          <p:cNvPr id="43" name="Text 29"/>
          <p:cNvSpPr/>
          <p:nvPr/>
        </p:nvSpPr>
        <p:spPr>
          <a:xfrm>
            <a:off x="4754880" y="3611880"/>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actions[]</a:t>
            </a:r>
            <a:endParaRPr lang="en-US" sz="900" dirty="0"/>
          </a:p>
        </p:txBody>
      </p:sp>
      <p:sp>
        <p:nvSpPr>
          <p:cNvPr id="44" name="Text 30"/>
          <p:cNvSpPr/>
          <p:nvPr/>
        </p:nvSpPr>
        <p:spPr>
          <a:xfrm>
            <a:off x="6446520" y="3611880"/>
            <a:ext cx="2194560" cy="201168"/>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行为 + 参数 + 校验规则 + 声明式事件发布</a:t>
            </a:r>
            <a:endParaRPr lang="en-US" sz="900" dirty="0"/>
          </a:p>
        </p:txBody>
      </p:sp>
      <p:sp>
        <p:nvSpPr>
          <p:cNvPr id="45" name="Text 31"/>
          <p:cNvSpPr/>
          <p:nvPr/>
        </p:nvSpPr>
        <p:spPr>
          <a:xfrm>
            <a:off x="4754880" y="3913632"/>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events[]</a:t>
            </a:r>
            <a:endParaRPr lang="en-US" sz="900" dirty="0"/>
          </a:p>
        </p:txBody>
      </p:sp>
      <p:sp>
        <p:nvSpPr>
          <p:cNvPr id="46" name="Text 32"/>
          <p:cNvSpPr/>
          <p:nvPr/>
        </p:nvSpPr>
        <p:spPr>
          <a:xfrm>
            <a:off x="6446520" y="3913632"/>
            <a:ext cx="2194560" cy="201168"/>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领域事件 + 集成事件 + Payload Schema</a:t>
            </a:r>
            <a:endParaRPr lang="en-US" sz="900" dirty="0"/>
          </a:p>
        </p:txBody>
      </p:sp>
      <p:sp>
        <p:nvSpPr>
          <p:cNvPr id="47" name="Text 33"/>
          <p:cNvSpPr/>
          <p:nvPr/>
        </p:nvSpPr>
        <p:spPr>
          <a:xfrm>
            <a:off x="4754880" y="4215384"/>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permissions[]</a:t>
            </a:r>
            <a:endParaRPr lang="en-US" sz="900" dirty="0"/>
          </a:p>
        </p:txBody>
      </p:sp>
      <p:sp>
        <p:nvSpPr>
          <p:cNvPr id="48" name="Text 34"/>
          <p:cNvSpPr/>
          <p:nvPr/>
        </p:nvSpPr>
        <p:spPr>
          <a:xfrm>
            <a:off x="6446520" y="4215384"/>
            <a:ext cx="2194560" cy="201168"/>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角色 + 字段权限 + Agent 沙箱配置</a:t>
            </a:r>
            <a:endParaRPr lang="en-US" sz="900" dirty="0"/>
          </a:p>
        </p:txBody>
      </p:sp>
      <p:sp>
        <p:nvSpPr>
          <p:cNvPr id="49" name="Text 35"/>
          <p:cNvSpPr/>
          <p:nvPr/>
        </p:nvSpPr>
        <p:spPr>
          <a:xfrm>
            <a:off x="4754880" y="4517136"/>
            <a:ext cx="1645920" cy="201168"/>
          </a:xfrm>
          <a:prstGeom prst="rect">
            <a:avLst/>
          </a:prstGeom>
          <a:noFill/>
          <a:ln/>
        </p:spPr>
        <p:txBody>
          <a:bodyPr wrap="square" lIns="0" tIns="0" rIns="0" bIns="0" rtlCol="0" anchor="ctr"/>
          <a:lstStyle/>
          <a:p>
            <a:pPr marL="0" indent="0">
              <a:buNone/>
            </a:pPr>
            <a:r>
              <a:rPr lang="en-US" sz="900" b="1" dirty="0">
                <a:solidFill>
                  <a:srgbClr val="22A699"/>
                </a:solidFill>
                <a:latin typeface="Consolas" pitchFamily="34" charset="0"/>
                <a:ea typeface="Consolas" pitchFamily="34" charset="-122"/>
                <a:cs typeface="Consolas" pitchFamily="34" charset="-120"/>
              </a:rPr>
              <a:t>data_sources[]</a:t>
            </a:r>
            <a:endParaRPr lang="en-US" sz="900" dirty="0"/>
          </a:p>
        </p:txBody>
      </p:sp>
      <p:sp>
        <p:nvSpPr>
          <p:cNvPr id="50" name="Text 36"/>
          <p:cNvSpPr/>
          <p:nvPr/>
        </p:nvSpPr>
        <p:spPr>
          <a:xfrm>
            <a:off x="6446520" y="4517136"/>
            <a:ext cx="2194560" cy="201168"/>
          </a:xfrm>
          <a:prstGeom prst="rect">
            <a:avLst/>
          </a:prstGeom>
          <a:noFill/>
          <a:ln/>
        </p:spPr>
        <p:txBody>
          <a:bodyPr wrap="square" lIns="0" tIns="0" rIns="0" bIns="0" rtlCol="0" anchor="ctr"/>
          <a:lstStyle/>
          <a:p>
            <a:pPr marL="0" indent="0">
              <a:buNone/>
            </a:pPr>
            <a:r>
              <a:rPr lang="en-US" sz="900" dirty="0" err="1">
                <a:solidFill>
                  <a:srgbClr val="64748B"/>
                </a:solidFill>
                <a:latin typeface="Arial" pitchFamily="34" charset="0"/>
                <a:ea typeface="Arial" pitchFamily="34" charset="-122"/>
                <a:cs typeface="Arial" pitchFamily="34" charset="-120"/>
              </a:rPr>
              <a:t>数据源元数据</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457200" y="1188720"/>
            <a:ext cx="54864" cy="1188720"/>
          </a:xfrm>
          <a:prstGeom prst="rect">
            <a:avLst/>
          </a:prstGeom>
          <a:solidFill>
            <a:srgbClr val="22A699"/>
          </a:solidFill>
          <a:ln/>
        </p:spPr>
        <p:txBody>
          <a:bodyPr/>
          <a:lstStyle/>
          <a:p>
            <a:endParaRPr lang="zh-CN" altLang="en-US"/>
          </a:p>
        </p:txBody>
      </p:sp>
      <p:sp>
        <p:nvSpPr>
          <p:cNvPr id="4" name="Text 2"/>
          <p:cNvSpPr/>
          <p:nvPr/>
        </p:nvSpPr>
        <p:spPr>
          <a:xfrm>
            <a:off x="731520" y="1005840"/>
            <a:ext cx="1371600" cy="548640"/>
          </a:xfrm>
          <a:prstGeom prst="rect">
            <a:avLst/>
          </a:prstGeom>
          <a:noFill/>
          <a:ln/>
        </p:spPr>
        <p:txBody>
          <a:bodyPr wrap="square" lIns="0" tIns="0" rIns="0" bIns="0" rtlCol="0" anchor="ctr"/>
          <a:lstStyle/>
          <a:p>
            <a:pPr marL="0" indent="0">
              <a:buNone/>
            </a:pPr>
            <a:r>
              <a:rPr lang="en-US" sz="4000" b="1" dirty="0">
                <a:solidFill>
                  <a:srgbClr val="22A699"/>
                </a:solidFill>
                <a:latin typeface="Arial" pitchFamily="34" charset="0"/>
                <a:ea typeface="Arial" pitchFamily="34" charset="-122"/>
                <a:cs typeface="Arial" pitchFamily="34" charset="-120"/>
              </a:rPr>
              <a:t>05</a:t>
            </a:r>
            <a:endParaRPr lang="en-US" sz="4000" dirty="0"/>
          </a:p>
        </p:txBody>
      </p:sp>
      <p:sp>
        <p:nvSpPr>
          <p:cNvPr id="5" name="Text 3"/>
          <p:cNvSpPr/>
          <p:nvPr/>
        </p:nvSpPr>
        <p:spPr>
          <a:xfrm>
            <a:off x="731520" y="160020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本体模型的迭代适配</a:t>
            </a:r>
            <a:endParaRPr lang="en-US" sz="3400" dirty="0"/>
          </a:p>
        </p:txBody>
      </p:sp>
      <p:sp>
        <p:nvSpPr>
          <p:cNvPr id="6" name="Text 4"/>
          <p:cNvSpPr/>
          <p:nvPr/>
        </p:nvSpPr>
        <p:spPr>
          <a:xfrm>
            <a:off x="731520" y="2286000"/>
            <a:ext cx="7315200" cy="36576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适配不同企业的既有应用系统 · 持续演进的语义中台</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本体模型的全生命周期迭代</a:t>
            </a:r>
            <a:endParaRPr lang="en-US" sz="2400" dirty="0"/>
          </a:p>
        </p:txBody>
      </p:sp>
      <p:sp>
        <p:nvSpPr>
          <p:cNvPr id="4" name="Shape 2"/>
          <p:cNvSpPr/>
          <p:nvPr/>
        </p:nvSpPr>
        <p:spPr>
          <a:xfrm>
            <a:off x="320040" y="960120"/>
            <a:ext cx="2011680" cy="237744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5" name="Shape 3"/>
          <p:cNvSpPr/>
          <p:nvPr/>
        </p:nvSpPr>
        <p:spPr>
          <a:xfrm>
            <a:off x="320040" y="960120"/>
            <a:ext cx="2011680" cy="45720"/>
          </a:xfrm>
          <a:prstGeom prst="rect">
            <a:avLst/>
          </a:prstGeom>
          <a:solidFill>
            <a:srgbClr val="065A82"/>
          </a:solidFill>
          <a:ln/>
        </p:spPr>
        <p:txBody>
          <a:bodyPr/>
          <a:lstStyle/>
          <a:p>
            <a:endParaRPr lang="zh-CN" altLang="en-US"/>
          </a:p>
        </p:txBody>
      </p:sp>
      <p:pic>
        <p:nvPicPr>
          <p:cNvPr id="6" name="Image 0" descr="preencoded.png"/>
          <p:cNvPicPr>
            <a:picLocks noChangeAspect="1"/>
          </p:cNvPicPr>
          <p:nvPr/>
        </p:nvPicPr>
        <p:blipFill>
          <a:blip r:embed="rId3"/>
          <a:stretch>
            <a:fillRect/>
          </a:stretch>
        </p:blipFill>
        <p:spPr>
          <a:xfrm>
            <a:off x="1097280" y="1143000"/>
            <a:ext cx="457200" cy="457200"/>
          </a:xfrm>
          <a:prstGeom prst="rect">
            <a:avLst/>
          </a:prstGeom>
        </p:spPr>
      </p:pic>
      <p:sp>
        <p:nvSpPr>
          <p:cNvPr id="7" name="Text 4"/>
          <p:cNvSpPr/>
          <p:nvPr/>
        </p:nvSpPr>
        <p:spPr>
          <a:xfrm>
            <a:off x="457200" y="1737360"/>
            <a:ext cx="173736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1. 快速起步</a:t>
            </a:r>
            <a:endParaRPr lang="en-US" sz="1300" dirty="0"/>
          </a:p>
        </p:txBody>
      </p:sp>
      <p:sp>
        <p:nvSpPr>
          <p:cNvPr id="8" name="Text 5"/>
          <p:cNvSpPr/>
          <p:nvPr/>
        </p:nvSpPr>
        <p:spPr>
          <a:xfrm>
            <a:off x="457200" y="2148840"/>
            <a:ext cx="1737360" cy="1005840"/>
          </a:xfrm>
          <a:prstGeom prst="rect">
            <a:avLst/>
          </a:prstGeom>
          <a:noFill/>
          <a:ln/>
        </p:spPr>
        <p:txBody>
          <a:bodyPr wrap="square" lIns="180000" tIns="0" rIns="18000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数据库逆向：从现有ERP/CRM表结构自动生成本体骨架</a:t>
            </a:r>
            <a:endParaRPr lang="en-US" sz="900" dirty="0"/>
          </a:p>
          <a:p>
            <a:pPr marL="0" indent="0" algn="ctr">
              <a:buNone/>
            </a:pPr>
            <a:r>
              <a:rPr lang="en-US" sz="900" dirty="0">
                <a:solidFill>
                  <a:srgbClr val="64748B"/>
                </a:solidFill>
                <a:latin typeface="Arial" pitchFamily="34" charset="0"/>
                <a:ea typeface="Arial" pitchFamily="34" charset="-122"/>
                <a:cs typeface="Arial" pitchFamily="34" charset="-120"/>
              </a:rPr>
              <a:t>模板市场：预置制造/金融/政务等行业本体模板</a:t>
            </a:r>
            <a:endParaRPr lang="en-US" sz="900" dirty="0"/>
          </a:p>
        </p:txBody>
      </p:sp>
      <p:sp>
        <p:nvSpPr>
          <p:cNvPr id="9" name="Shape 6"/>
          <p:cNvSpPr/>
          <p:nvPr/>
        </p:nvSpPr>
        <p:spPr>
          <a:xfrm>
            <a:off x="2514600" y="960120"/>
            <a:ext cx="2011680" cy="237744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10" name="Shape 7"/>
          <p:cNvSpPr/>
          <p:nvPr/>
        </p:nvSpPr>
        <p:spPr>
          <a:xfrm>
            <a:off x="2514600" y="960120"/>
            <a:ext cx="2011680" cy="45720"/>
          </a:xfrm>
          <a:prstGeom prst="rect">
            <a:avLst/>
          </a:prstGeom>
          <a:solidFill>
            <a:srgbClr val="065A82"/>
          </a:solidFill>
          <a:ln/>
        </p:spPr>
        <p:txBody>
          <a:bodyPr/>
          <a:lstStyle/>
          <a:p>
            <a:endParaRPr lang="zh-CN" altLang="en-US"/>
          </a:p>
        </p:txBody>
      </p:sp>
      <p:pic>
        <p:nvPicPr>
          <p:cNvPr id="11" name="Image 1" descr="preencoded.png"/>
          <p:cNvPicPr>
            <a:picLocks noChangeAspect="1"/>
          </p:cNvPicPr>
          <p:nvPr/>
        </p:nvPicPr>
        <p:blipFill>
          <a:blip r:embed="rId4"/>
          <a:stretch>
            <a:fillRect/>
          </a:stretch>
        </p:blipFill>
        <p:spPr>
          <a:xfrm>
            <a:off x="3291840" y="1143000"/>
            <a:ext cx="457200" cy="457200"/>
          </a:xfrm>
          <a:prstGeom prst="rect">
            <a:avLst/>
          </a:prstGeom>
        </p:spPr>
      </p:pic>
      <p:sp>
        <p:nvSpPr>
          <p:cNvPr id="12" name="Text 8"/>
          <p:cNvSpPr/>
          <p:nvPr/>
        </p:nvSpPr>
        <p:spPr>
          <a:xfrm>
            <a:off x="2651760" y="1737360"/>
            <a:ext cx="173736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2. 按需定制</a:t>
            </a:r>
            <a:endParaRPr lang="en-US" sz="1300" dirty="0"/>
          </a:p>
        </p:txBody>
      </p:sp>
      <p:sp>
        <p:nvSpPr>
          <p:cNvPr id="13" name="Text 9"/>
          <p:cNvSpPr/>
          <p:nvPr/>
        </p:nvSpPr>
        <p:spPr>
          <a:xfrm>
            <a:off x="2651760" y="2148840"/>
            <a:ext cx="1737360" cy="1005840"/>
          </a:xfrm>
          <a:prstGeom prst="rect">
            <a:avLst/>
          </a:prstGeom>
          <a:noFill/>
          <a:ln/>
        </p:spPr>
        <p:txBody>
          <a:bodyPr wrap="square" lIns="180000" tIns="0" rIns="14400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可视化建模：拖拽式增删改对象/属性/关系</a:t>
            </a:r>
            <a:endParaRPr lang="en-US" sz="900" dirty="0"/>
          </a:p>
          <a:p>
            <a:pPr marL="0" indent="0" algn="ctr">
              <a:buNone/>
            </a:pPr>
            <a:r>
              <a:rPr lang="en-US" sz="900" dirty="0">
                <a:solidFill>
                  <a:srgbClr val="64748B"/>
                </a:solidFill>
                <a:latin typeface="Arial" pitchFamily="34" charset="0"/>
                <a:ea typeface="Arial" pitchFamily="34" charset="-122"/>
                <a:cs typeface="Arial" pitchFamily="34" charset="-120"/>
              </a:rPr>
              <a:t>数据源配置：SQL/OData/MCP三种接入方式灵活配置</a:t>
            </a:r>
            <a:endParaRPr lang="en-US" sz="900" dirty="0"/>
          </a:p>
        </p:txBody>
      </p:sp>
      <p:sp>
        <p:nvSpPr>
          <p:cNvPr id="14" name="Shape 10"/>
          <p:cNvSpPr/>
          <p:nvPr/>
        </p:nvSpPr>
        <p:spPr>
          <a:xfrm>
            <a:off x="4709160" y="960120"/>
            <a:ext cx="2011680" cy="237744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15" name="Shape 11"/>
          <p:cNvSpPr/>
          <p:nvPr/>
        </p:nvSpPr>
        <p:spPr>
          <a:xfrm>
            <a:off x="4709160" y="960120"/>
            <a:ext cx="2011680" cy="45720"/>
          </a:xfrm>
          <a:prstGeom prst="rect">
            <a:avLst/>
          </a:prstGeom>
          <a:solidFill>
            <a:srgbClr val="065A82"/>
          </a:solidFill>
          <a:ln/>
        </p:spPr>
        <p:txBody>
          <a:bodyPr/>
          <a:lstStyle/>
          <a:p>
            <a:endParaRPr lang="zh-CN" altLang="en-US"/>
          </a:p>
        </p:txBody>
      </p:sp>
      <p:pic>
        <p:nvPicPr>
          <p:cNvPr id="16" name="Image 2" descr="preencoded.png"/>
          <p:cNvPicPr>
            <a:picLocks noChangeAspect="1"/>
          </p:cNvPicPr>
          <p:nvPr/>
        </p:nvPicPr>
        <p:blipFill>
          <a:blip r:embed="rId5"/>
          <a:stretch>
            <a:fillRect/>
          </a:stretch>
        </p:blipFill>
        <p:spPr>
          <a:xfrm>
            <a:off x="5486400" y="1143000"/>
            <a:ext cx="457200" cy="457200"/>
          </a:xfrm>
          <a:prstGeom prst="rect">
            <a:avLst/>
          </a:prstGeom>
        </p:spPr>
      </p:pic>
      <p:sp>
        <p:nvSpPr>
          <p:cNvPr id="17" name="Text 12"/>
          <p:cNvSpPr/>
          <p:nvPr/>
        </p:nvSpPr>
        <p:spPr>
          <a:xfrm>
            <a:off x="4846320" y="1737360"/>
            <a:ext cx="173736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3. 版本演进</a:t>
            </a:r>
            <a:endParaRPr lang="en-US" sz="1300" dirty="0"/>
          </a:p>
        </p:txBody>
      </p:sp>
      <p:sp>
        <p:nvSpPr>
          <p:cNvPr id="18" name="Text 13"/>
          <p:cNvSpPr/>
          <p:nvPr/>
        </p:nvSpPr>
        <p:spPr>
          <a:xfrm>
            <a:off x="4846320" y="2148840"/>
            <a:ext cx="1737360" cy="1005840"/>
          </a:xfrm>
          <a:prstGeom prst="rect">
            <a:avLst/>
          </a:prstGeom>
          <a:noFill/>
          <a:ln/>
        </p:spPr>
        <p:txBody>
          <a:bodyPr wrap="square" lIns="144000" tIns="0" rIns="108000" bIns="0" rtlCol="0" anchor="ctr"/>
          <a:lstStyle/>
          <a:p>
            <a:pPr marL="0" indent="0" algn="ctr">
              <a:buNone/>
            </a:pPr>
            <a:r>
              <a:rPr lang="en-US" sz="900" dirty="0" err="1">
                <a:solidFill>
                  <a:srgbClr val="64748B"/>
                </a:solidFill>
                <a:latin typeface="Arial" pitchFamily="34" charset="0"/>
                <a:ea typeface="Arial" pitchFamily="34" charset="-122"/>
                <a:cs typeface="Arial" pitchFamily="34" charset="-120"/>
              </a:rPr>
              <a:t>语义化版本：每次发布创建不可变快照</a:t>
            </a:r>
            <a:endParaRPr lang="en-US" sz="900" dirty="0"/>
          </a:p>
          <a:p>
            <a:pPr marL="0" indent="0" algn="ctr">
              <a:buNone/>
            </a:pPr>
            <a:r>
              <a:rPr lang="en-US" sz="900" dirty="0">
                <a:solidFill>
                  <a:srgbClr val="64748B"/>
                </a:solidFill>
                <a:latin typeface="Arial" pitchFamily="34" charset="0"/>
                <a:ea typeface="Arial" pitchFamily="34" charset="-122"/>
                <a:cs typeface="Arial" pitchFamily="34" charset="-120"/>
              </a:rPr>
              <a:t>Manifest版本与本体版本严格对应，确保一致性</a:t>
            </a:r>
            <a:endParaRPr lang="en-US" sz="900" dirty="0"/>
          </a:p>
        </p:txBody>
      </p:sp>
      <p:sp>
        <p:nvSpPr>
          <p:cNvPr id="19" name="Shape 14"/>
          <p:cNvSpPr/>
          <p:nvPr/>
        </p:nvSpPr>
        <p:spPr>
          <a:xfrm>
            <a:off x="6903720" y="960120"/>
            <a:ext cx="2011680" cy="237744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20" name="Shape 15"/>
          <p:cNvSpPr/>
          <p:nvPr/>
        </p:nvSpPr>
        <p:spPr>
          <a:xfrm>
            <a:off x="6903720" y="960120"/>
            <a:ext cx="2011680" cy="45720"/>
          </a:xfrm>
          <a:prstGeom prst="rect">
            <a:avLst/>
          </a:prstGeom>
          <a:solidFill>
            <a:srgbClr val="065A82"/>
          </a:solidFill>
          <a:ln/>
        </p:spPr>
        <p:txBody>
          <a:bodyPr/>
          <a:lstStyle/>
          <a:p>
            <a:endParaRPr lang="zh-CN" altLang="en-US"/>
          </a:p>
        </p:txBody>
      </p:sp>
      <p:pic>
        <p:nvPicPr>
          <p:cNvPr id="21" name="Image 3" descr="preencoded.png"/>
          <p:cNvPicPr>
            <a:picLocks noChangeAspect="1"/>
          </p:cNvPicPr>
          <p:nvPr/>
        </p:nvPicPr>
        <p:blipFill>
          <a:blip r:embed="rId6"/>
          <a:stretch>
            <a:fillRect/>
          </a:stretch>
        </p:blipFill>
        <p:spPr>
          <a:xfrm>
            <a:off x="7680960" y="1143000"/>
            <a:ext cx="457200" cy="457200"/>
          </a:xfrm>
          <a:prstGeom prst="rect">
            <a:avLst/>
          </a:prstGeom>
        </p:spPr>
      </p:pic>
      <p:sp>
        <p:nvSpPr>
          <p:cNvPr id="22" name="Text 16"/>
          <p:cNvSpPr/>
          <p:nvPr/>
        </p:nvSpPr>
        <p:spPr>
          <a:xfrm>
            <a:off x="7040880" y="1737360"/>
            <a:ext cx="173736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4. 灰度发布</a:t>
            </a:r>
            <a:endParaRPr lang="en-US" sz="1300" dirty="0"/>
          </a:p>
        </p:txBody>
      </p:sp>
      <p:sp>
        <p:nvSpPr>
          <p:cNvPr id="23" name="Text 17"/>
          <p:cNvSpPr/>
          <p:nvPr/>
        </p:nvSpPr>
        <p:spPr>
          <a:xfrm>
            <a:off x="7040880" y="2148840"/>
            <a:ext cx="1737360" cy="1005840"/>
          </a:xfrm>
          <a:prstGeom prst="rect">
            <a:avLst/>
          </a:prstGeom>
          <a:noFill/>
          <a:ln/>
        </p:spPr>
        <p:txBody>
          <a:bodyPr wrap="square" lIns="108000" tIns="0" rIns="10800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多版本共存：不同Agent可连接不同版本本体</a:t>
            </a:r>
            <a:endParaRPr lang="en-US" sz="900" dirty="0"/>
          </a:p>
          <a:p>
            <a:pPr marL="0" indent="0" algn="ctr">
              <a:buNone/>
            </a:pPr>
            <a:r>
              <a:rPr lang="en-US" sz="900" dirty="0">
                <a:solidFill>
                  <a:srgbClr val="64748B"/>
                </a:solidFill>
                <a:latin typeface="Arial" pitchFamily="34" charset="0"/>
                <a:ea typeface="Arial" pitchFamily="34" charset="-122"/>
                <a:cs typeface="Arial" pitchFamily="34" charset="-120"/>
              </a:rPr>
              <a:t>A/B测试：新旧本体效果对比后平滑切换</a:t>
            </a:r>
            <a:endParaRPr lang="en-US" sz="900" dirty="0"/>
          </a:p>
        </p:txBody>
      </p:sp>
      <p:sp>
        <p:nvSpPr>
          <p:cNvPr id="24" name="Text 18"/>
          <p:cNvSpPr/>
          <p:nvPr/>
        </p:nvSpPr>
        <p:spPr>
          <a:xfrm>
            <a:off x="548640" y="3520440"/>
            <a:ext cx="8229600" cy="36576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适配不同企业既有系统的策略</a:t>
            </a:r>
            <a:endParaRPr lang="en-US" sz="1600" dirty="0"/>
          </a:p>
        </p:txBody>
      </p:sp>
      <p:sp>
        <p:nvSpPr>
          <p:cNvPr id="25" name="Shape 19"/>
          <p:cNvSpPr/>
          <p:nvPr/>
        </p:nvSpPr>
        <p:spPr>
          <a:xfrm>
            <a:off x="457200" y="3977640"/>
            <a:ext cx="3931920" cy="457200"/>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sp>
        <p:nvSpPr>
          <p:cNvPr id="26" name="Shape 20"/>
          <p:cNvSpPr/>
          <p:nvPr/>
        </p:nvSpPr>
        <p:spPr>
          <a:xfrm>
            <a:off x="457200" y="3977640"/>
            <a:ext cx="45720" cy="457200"/>
          </a:xfrm>
          <a:prstGeom prst="rect">
            <a:avLst/>
          </a:prstGeom>
          <a:solidFill>
            <a:srgbClr val="22A699"/>
          </a:solidFill>
          <a:ln/>
        </p:spPr>
        <p:txBody>
          <a:bodyPr/>
          <a:lstStyle/>
          <a:p>
            <a:endParaRPr lang="zh-CN" altLang="en-US"/>
          </a:p>
        </p:txBody>
      </p:sp>
      <p:sp>
        <p:nvSpPr>
          <p:cNvPr id="27" name="Text 21"/>
          <p:cNvSpPr/>
          <p:nvPr/>
        </p:nvSpPr>
        <p:spPr>
          <a:xfrm>
            <a:off x="640080" y="3995928"/>
            <a:ext cx="1371600" cy="201168"/>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上下文映射</a:t>
            </a:r>
            <a:endParaRPr lang="en-US" sz="1100" dirty="0"/>
          </a:p>
        </p:txBody>
      </p:sp>
      <p:sp>
        <p:nvSpPr>
          <p:cNvPr id="28" name="Text 22"/>
          <p:cNvSpPr/>
          <p:nvPr/>
        </p:nvSpPr>
        <p:spPr>
          <a:xfrm>
            <a:off x="640080" y="4206240"/>
            <a:ext cx="3566160" cy="201168"/>
          </a:xfrm>
          <a:prstGeom prst="rect">
            <a:avLst/>
          </a:prstGeom>
          <a:noFill/>
          <a:ln/>
        </p:spPr>
        <p:txBody>
          <a:bodyPr wrap="square" lIns="0" tIns="0" rIns="0" bIns="0" rtlCol="0" anchor="ctr"/>
          <a:lstStyle/>
          <a:p>
            <a:pPr marL="0" indent="0">
              <a:buNone/>
            </a:pPr>
            <a:r>
              <a:rPr lang="en-US" sz="800" dirty="0">
                <a:solidFill>
                  <a:srgbClr val="64748B"/>
                </a:solidFill>
                <a:latin typeface="Arial" pitchFamily="34" charset="0"/>
                <a:ea typeface="Arial" pitchFamily="34" charset="-122"/>
                <a:cs typeface="Arial" pitchFamily="34" charset="-120"/>
              </a:rPr>
              <a:t>防腐层(ACL)</a:t>
            </a:r>
            <a:r>
              <a:rPr lang="en-US" sz="800" dirty="0" err="1">
                <a:solidFill>
                  <a:srgbClr val="64748B"/>
                </a:solidFill>
                <a:latin typeface="Arial" pitchFamily="34" charset="0"/>
                <a:ea typeface="Arial" pitchFamily="34" charset="-122"/>
                <a:cs typeface="Arial" pitchFamily="34" charset="-120"/>
              </a:rPr>
              <a:t>将外部系统概念翻译为本地本体语义</a:t>
            </a:r>
            <a:r>
              <a:rPr lang="en-US" sz="800" dirty="0">
                <a:solidFill>
                  <a:srgbClr val="64748B"/>
                </a:solidFill>
                <a:latin typeface="Arial" pitchFamily="34" charset="0"/>
                <a:ea typeface="Arial" pitchFamily="34" charset="-122"/>
                <a:cs typeface="Arial" pitchFamily="34" charset="-120"/>
              </a:rPr>
              <a:t>——“</a:t>
            </a:r>
            <a:r>
              <a:rPr lang="en-US" sz="800" dirty="0" err="1">
                <a:solidFill>
                  <a:srgbClr val="64748B"/>
                </a:solidFill>
                <a:latin typeface="Arial" pitchFamily="34" charset="0"/>
                <a:ea typeface="Arial" pitchFamily="34" charset="-122"/>
                <a:cs typeface="Arial" pitchFamily="34" charset="-120"/>
              </a:rPr>
              <a:t>ERP的</a:t>
            </a:r>
            <a:r>
              <a:rPr lang="zh-CN" altLang="en-US" sz="800" dirty="0">
                <a:solidFill>
                  <a:srgbClr val="64748B"/>
                </a:solidFill>
                <a:latin typeface="Arial" pitchFamily="34" charset="0"/>
                <a:ea typeface="Arial" pitchFamily="34" charset="-122"/>
                <a:cs typeface="Arial" pitchFamily="34" charset="-120"/>
              </a:rPr>
              <a:t>客户</a:t>
            </a:r>
            <a:r>
              <a:rPr lang="en-US" sz="800" dirty="0" err="1">
                <a:solidFill>
                  <a:srgbClr val="64748B"/>
                </a:solidFill>
                <a:latin typeface="Arial" pitchFamily="34" charset="0"/>
                <a:ea typeface="Arial" pitchFamily="34" charset="-122"/>
                <a:cs typeface="Arial" pitchFamily="34" charset="-120"/>
              </a:rPr>
              <a:t>字段→本体的客户编号</a:t>
            </a:r>
            <a:r>
              <a:rPr lang="en-US" sz="800" dirty="0">
                <a:solidFill>
                  <a:srgbClr val="64748B"/>
                </a:solidFill>
                <a:latin typeface="Arial" pitchFamily="34" charset="0"/>
                <a:ea typeface="Arial" pitchFamily="34" charset="-122"/>
                <a:cs typeface="Arial" pitchFamily="34" charset="-120"/>
              </a:rPr>
              <a:t>"</a:t>
            </a:r>
            <a:endParaRPr lang="en-US" sz="800" dirty="0"/>
          </a:p>
        </p:txBody>
      </p:sp>
      <p:sp>
        <p:nvSpPr>
          <p:cNvPr id="29" name="Shape 23"/>
          <p:cNvSpPr/>
          <p:nvPr/>
        </p:nvSpPr>
        <p:spPr>
          <a:xfrm>
            <a:off x="4800600" y="3977640"/>
            <a:ext cx="3931920" cy="457200"/>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sp>
        <p:nvSpPr>
          <p:cNvPr id="30" name="Shape 24"/>
          <p:cNvSpPr/>
          <p:nvPr/>
        </p:nvSpPr>
        <p:spPr>
          <a:xfrm>
            <a:off x="4800600" y="3977640"/>
            <a:ext cx="45720" cy="457200"/>
          </a:xfrm>
          <a:prstGeom prst="rect">
            <a:avLst/>
          </a:prstGeom>
          <a:solidFill>
            <a:srgbClr val="22A699"/>
          </a:solidFill>
          <a:ln/>
        </p:spPr>
        <p:txBody>
          <a:bodyPr/>
          <a:lstStyle/>
          <a:p>
            <a:endParaRPr lang="zh-CN" altLang="en-US"/>
          </a:p>
        </p:txBody>
      </p:sp>
      <p:sp>
        <p:nvSpPr>
          <p:cNvPr id="31" name="Text 25"/>
          <p:cNvSpPr/>
          <p:nvPr/>
        </p:nvSpPr>
        <p:spPr>
          <a:xfrm>
            <a:off x="4983480" y="3995928"/>
            <a:ext cx="1371600" cy="201168"/>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多数据源</a:t>
            </a:r>
            <a:endParaRPr lang="en-US" sz="1100" dirty="0"/>
          </a:p>
        </p:txBody>
      </p:sp>
      <p:sp>
        <p:nvSpPr>
          <p:cNvPr id="32" name="Text 26"/>
          <p:cNvSpPr/>
          <p:nvPr/>
        </p:nvSpPr>
        <p:spPr>
          <a:xfrm>
            <a:off x="4983480" y="4206240"/>
            <a:ext cx="3566160" cy="201168"/>
          </a:xfrm>
          <a:prstGeom prst="rect">
            <a:avLst/>
          </a:prstGeom>
          <a:noFill/>
          <a:ln/>
        </p:spPr>
        <p:txBody>
          <a:bodyPr wrap="square" lIns="0" tIns="0" rIns="0" bIns="0" rtlCol="0" anchor="ctr"/>
          <a:lstStyle/>
          <a:p>
            <a:pPr marL="0" indent="0">
              <a:buNone/>
            </a:pPr>
            <a:r>
              <a:rPr lang="en-US" sz="800" dirty="0">
                <a:solidFill>
                  <a:srgbClr val="64748B"/>
                </a:solidFill>
                <a:latin typeface="Arial" pitchFamily="34" charset="0"/>
                <a:ea typeface="Arial" pitchFamily="34" charset="-122"/>
                <a:cs typeface="Arial" pitchFamily="34" charset="-120"/>
              </a:rPr>
              <a:t>支持同时接入 SQL直查 · OData API · MCP工具 · REST——每个属性可独立配置获取方式</a:t>
            </a:r>
            <a:endParaRPr lang="en-US" sz="800" dirty="0"/>
          </a:p>
        </p:txBody>
      </p:sp>
      <p:sp>
        <p:nvSpPr>
          <p:cNvPr id="33" name="Shape 27"/>
          <p:cNvSpPr/>
          <p:nvPr/>
        </p:nvSpPr>
        <p:spPr>
          <a:xfrm>
            <a:off x="457200" y="4526280"/>
            <a:ext cx="3931920" cy="457200"/>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sp>
        <p:nvSpPr>
          <p:cNvPr id="34" name="Shape 28"/>
          <p:cNvSpPr/>
          <p:nvPr/>
        </p:nvSpPr>
        <p:spPr>
          <a:xfrm>
            <a:off x="457200" y="4526280"/>
            <a:ext cx="45720" cy="457200"/>
          </a:xfrm>
          <a:prstGeom prst="rect">
            <a:avLst/>
          </a:prstGeom>
          <a:solidFill>
            <a:srgbClr val="22A699"/>
          </a:solidFill>
          <a:ln/>
        </p:spPr>
        <p:txBody>
          <a:bodyPr/>
          <a:lstStyle/>
          <a:p>
            <a:endParaRPr lang="zh-CN" altLang="en-US"/>
          </a:p>
        </p:txBody>
      </p:sp>
      <p:sp>
        <p:nvSpPr>
          <p:cNvPr id="35" name="Text 29"/>
          <p:cNvSpPr/>
          <p:nvPr/>
        </p:nvSpPr>
        <p:spPr>
          <a:xfrm>
            <a:off x="640080" y="4544568"/>
            <a:ext cx="1371600" cy="201168"/>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行业模板</a:t>
            </a:r>
            <a:endParaRPr lang="en-US" sz="1100" dirty="0"/>
          </a:p>
        </p:txBody>
      </p:sp>
      <p:sp>
        <p:nvSpPr>
          <p:cNvPr id="36" name="Text 30"/>
          <p:cNvSpPr/>
          <p:nvPr/>
        </p:nvSpPr>
        <p:spPr>
          <a:xfrm>
            <a:off x="640080" y="4754880"/>
            <a:ext cx="3566160" cy="201168"/>
          </a:xfrm>
          <a:prstGeom prst="rect">
            <a:avLst/>
          </a:prstGeom>
          <a:noFill/>
          <a:ln/>
        </p:spPr>
        <p:txBody>
          <a:bodyPr wrap="square" lIns="0" tIns="0" rIns="0" bIns="0" rtlCol="0" anchor="ctr"/>
          <a:lstStyle/>
          <a:p>
            <a:pPr marL="0" indent="0">
              <a:buNone/>
            </a:pPr>
            <a:r>
              <a:rPr lang="en-US" sz="800" dirty="0">
                <a:solidFill>
                  <a:srgbClr val="64748B"/>
                </a:solidFill>
                <a:latin typeface="Arial" pitchFamily="34" charset="0"/>
                <a:ea typeface="Arial" pitchFamily="34" charset="-122"/>
                <a:cs typeface="Arial" pitchFamily="34" charset="-120"/>
              </a:rPr>
              <a:t>预置行业本体模板——不需要从零构建，在模板基础上按企业实际情况微调</a:t>
            </a:r>
            <a:endParaRPr lang="en-US" sz="800" dirty="0"/>
          </a:p>
        </p:txBody>
      </p:sp>
      <p:sp>
        <p:nvSpPr>
          <p:cNvPr id="37" name="Shape 31"/>
          <p:cNvSpPr/>
          <p:nvPr/>
        </p:nvSpPr>
        <p:spPr>
          <a:xfrm>
            <a:off x="4800600" y="4526280"/>
            <a:ext cx="3931920" cy="457200"/>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sp>
        <p:nvSpPr>
          <p:cNvPr id="38" name="Shape 32"/>
          <p:cNvSpPr/>
          <p:nvPr/>
        </p:nvSpPr>
        <p:spPr>
          <a:xfrm>
            <a:off x="4800600" y="4526280"/>
            <a:ext cx="45720" cy="457200"/>
          </a:xfrm>
          <a:prstGeom prst="rect">
            <a:avLst/>
          </a:prstGeom>
          <a:solidFill>
            <a:srgbClr val="22A699"/>
          </a:solidFill>
          <a:ln/>
        </p:spPr>
        <p:txBody>
          <a:bodyPr/>
          <a:lstStyle/>
          <a:p>
            <a:endParaRPr lang="zh-CN" altLang="en-US"/>
          </a:p>
        </p:txBody>
      </p:sp>
      <p:sp>
        <p:nvSpPr>
          <p:cNvPr id="39" name="Text 33"/>
          <p:cNvSpPr/>
          <p:nvPr/>
        </p:nvSpPr>
        <p:spPr>
          <a:xfrm>
            <a:off x="4983480" y="4544568"/>
            <a:ext cx="1371600" cy="201168"/>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租户隔离</a:t>
            </a:r>
            <a:endParaRPr lang="en-US" sz="1100" dirty="0"/>
          </a:p>
        </p:txBody>
      </p:sp>
      <p:sp>
        <p:nvSpPr>
          <p:cNvPr id="40" name="Text 34"/>
          <p:cNvSpPr/>
          <p:nvPr/>
        </p:nvSpPr>
        <p:spPr>
          <a:xfrm>
            <a:off x="4983480" y="4754880"/>
            <a:ext cx="3566160" cy="201168"/>
          </a:xfrm>
          <a:prstGeom prst="rect">
            <a:avLst/>
          </a:prstGeom>
          <a:noFill/>
          <a:ln/>
        </p:spPr>
        <p:txBody>
          <a:bodyPr wrap="square" lIns="0" tIns="0" rIns="0" bIns="0" rtlCol="0" anchor="ctr"/>
          <a:lstStyle/>
          <a:p>
            <a:pPr marL="0" indent="0">
              <a:buNone/>
            </a:pPr>
            <a:r>
              <a:rPr lang="en-US" sz="800" dirty="0">
                <a:solidFill>
                  <a:srgbClr val="64748B"/>
                </a:solidFill>
                <a:latin typeface="Arial" pitchFamily="34" charset="0"/>
                <a:ea typeface="Arial" pitchFamily="34" charset="-122"/>
                <a:cs typeface="Arial" pitchFamily="34" charset="-120"/>
              </a:rPr>
              <a:t>多租户架构——不同企业/团队的建模数据通过 tenant_id 行级隔离，互不干扰</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457200" y="1188720"/>
            <a:ext cx="54864" cy="1188720"/>
          </a:xfrm>
          <a:prstGeom prst="rect">
            <a:avLst/>
          </a:prstGeom>
          <a:solidFill>
            <a:srgbClr val="22A699"/>
          </a:solidFill>
          <a:ln/>
        </p:spPr>
        <p:txBody>
          <a:bodyPr/>
          <a:lstStyle/>
          <a:p>
            <a:endParaRPr lang="zh-CN" altLang="en-US"/>
          </a:p>
        </p:txBody>
      </p:sp>
      <p:sp>
        <p:nvSpPr>
          <p:cNvPr id="4" name="Text 2"/>
          <p:cNvSpPr/>
          <p:nvPr/>
        </p:nvSpPr>
        <p:spPr>
          <a:xfrm>
            <a:off x="731520" y="1005840"/>
            <a:ext cx="1371600" cy="548640"/>
          </a:xfrm>
          <a:prstGeom prst="rect">
            <a:avLst/>
          </a:prstGeom>
          <a:noFill/>
          <a:ln/>
        </p:spPr>
        <p:txBody>
          <a:bodyPr wrap="square" lIns="0" tIns="0" rIns="0" bIns="0" rtlCol="0" anchor="ctr"/>
          <a:lstStyle/>
          <a:p>
            <a:pPr marL="0" indent="0">
              <a:buNone/>
            </a:pPr>
            <a:r>
              <a:rPr lang="en-US" sz="4000" b="1" dirty="0">
                <a:solidFill>
                  <a:srgbClr val="22A699"/>
                </a:solidFill>
                <a:latin typeface="Arial" pitchFamily="34" charset="0"/>
                <a:ea typeface="Arial" pitchFamily="34" charset="-122"/>
                <a:cs typeface="Arial" pitchFamily="34" charset="-120"/>
              </a:rPr>
              <a:t>06</a:t>
            </a:r>
            <a:endParaRPr lang="en-US" sz="4000" dirty="0"/>
          </a:p>
        </p:txBody>
      </p:sp>
      <p:sp>
        <p:nvSpPr>
          <p:cNvPr id="5" name="Text 3"/>
          <p:cNvSpPr/>
          <p:nvPr/>
        </p:nvSpPr>
        <p:spPr>
          <a:xfrm>
            <a:off x="731520" y="160020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企业运维体系</a:t>
            </a:r>
            <a:endParaRPr lang="en-US" sz="3400" dirty="0"/>
          </a:p>
        </p:txBody>
      </p:sp>
      <p:sp>
        <p:nvSpPr>
          <p:cNvPr id="6" name="Text 4"/>
          <p:cNvSpPr/>
          <p:nvPr/>
        </p:nvSpPr>
        <p:spPr>
          <a:xfrm>
            <a:off x="731520" y="2286000"/>
            <a:ext cx="7315200" cy="36576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监控 · 日志 · 追踪 · 告警 · 多租户 · 国产化</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五大运维支柱 · 多租户架构</a:t>
            </a:r>
            <a:endParaRPr lang="en-US" sz="2400" dirty="0"/>
          </a:p>
        </p:txBody>
      </p:sp>
      <p:sp>
        <p:nvSpPr>
          <p:cNvPr id="4" name="Shape 2"/>
          <p:cNvSpPr/>
          <p:nvPr/>
        </p:nvSpPr>
        <p:spPr>
          <a:xfrm>
            <a:off x="365760" y="960120"/>
            <a:ext cx="5303520" cy="475488"/>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pic>
        <p:nvPicPr>
          <p:cNvPr id="5" name="Image 0" descr="preencoded.png"/>
          <p:cNvPicPr>
            <a:picLocks noChangeAspect="1"/>
          </p:cNvPicPr>
          <p:nvPr/>
        </p:nvPicPr>
        <p:blipFill>
          <a:blip r:embed="rId3"/>
          <a:stretch>
            <a:fillRect/>
          </a:stretch>
        </p:blipFill>
        <p:spPr>
          <a:xfrm>
            <a:off x="548640" y="1051560"/>
            <a:ext cx="274320" cy="274320"/>
          </a:xfrm>
          <a:prstGeom prst="rect">
            <a:avLst/>
          </a:prstGeom>
        </p:spPr>
      </p:pic>
      <p:sp>
        <p:nvSpPr>
          <p:cNvPr id="6" name="Text 3"/>
          <p:cNvSpPr/>
          <p:nvPr/>
        </p:nvSpPr>
        <p:spPr>
          <a:xfrm>
            <a:off x="960120" y="1005840"/>
            <a:ext cx="1371600" cy="182880"/>
          </a:xfrm>
          <a:prstGeom prst="rect">
            <a:avLst/>
          </a:prstGeom>
          <a:noFill/>
          <a:ln/>
        </p:spPr>
        <p:txBody>
          <a:bodyPr wrap="square" lIns="0" tIns="0" rIns="0" bIns="0" rtlCol="0" anchor="ctr"/>
          <a:lstStyle/>
          <a:p>
            <a:pPr marL="0" indent="0">
              <a:buNone/>
            </a:pPr>
            <a:r>
              <a:rPr lang="en-US" sz="1300" b="1" dirty="0">
                <a:solidFill>
                  <a:srgbClr val="065A82"/>
                </a:solidFill>
                <a:latin typeface="Arial" pitchFamily="34" charset="0"/>
                <a:ea typeface="Arial" pitchFamily="34" charset="-122"/>
                <a:cs typeface="Arial" pitchFamily="34" charset="-120"/>
              </a:rPr>
              <a:t>Logging</a:t>
            </a:r>
            <a:endParaRPr lang="en-US" sz="1300" dirty="0"/>
          </a:p>
        </p:txBody>
      </p:sp>
      <p:sp>
        <p:nvSpPr>
          <p:cNvPr id="7" name="Text 4"/>
          <p:cNvSpPr/>
          <p:nvPr/>
        </p:nvSpPr>
        <p:spPr>
          <a:xfrm>
            <a:off x="960120" y="1207008"/>
            <a:ext cx="4892040" cy="18288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结构化JSON日志 · trace_id贯穿全链路 · 分级(ERROR/WARN/INFO)</a:t>
            </a:r>
            <a:endParaRPr lang="en-US" sz="900" dirty="0"/>
          </a:p>
        </p:txBody>
      </p:sp>
      <p:sp>
        <p:nvSpPr>
          <p:cNvPr id="8" name="Shape 5"/>
          <p:cNvSpPr/>
          <p:nvPr/>
        </p:nvSpPr>
        <p:spPr>
          <a:xfrm>
            <a:off x="365760" y="1508760"/>
            <a:ext cx="5303520" cy="475488"/>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pic>
        <p:nvPicPr>
          <p:cNvPr id="9" name="Image 1" descr="preencoded.png"/>
          <p:cNvPicPr>
            <a:picLocks noChangeAspect="1"/>
          </p:cNvPicPr>
          <p:nvPr/>
        </p:nvPicPr>
        <p:blipFill>
          <a:blip r:embed="rId4"/>
          <a:stretch>
            <a:fillRect/>
          </a:stretch>
        </p:blipFill>
        <p:spPr>
          <a:xfrm>
            <a:off x="548640" y="1600200"/>
            <a:ext cx="274320" cy="274320"/>
          </a:xfrm>
          <a:prstGeom prst="rect">
            <a:avLst/>
          </a:prstGeom>
        </p:spPr>
      </p:pic>
      <p:sp>
        <p:nvSpPr>
          <p:cNvPr id="10" name="Text 6"/>
          <p:cNvSpPr/>
          <p:nvPr/>
        </p:nvSpPr>
        <p:spPr>
          <a:xfrm>
            <a:off x="960120" y="1554480"/>
            <a:ext cx="1371600" cy="182880"/>
          </a:xfrm>
          <a:prstGeom prst="rect">
            <a:avLst/>
          </a:prstGeom>
          <a:noFill/>
          <a:ln/>
        </p:spPr>
        <p:txBody>
          <a:bodyPr wrap="square" lIns="0" tIns="0" rIns="0" bIns="0" rtlCol="0" anchor="ctr"/>
          <a:lstStyle/>
          <a:p>
            <a:pPr marL="0" indent="0">
              <a:buNone/>
            </a:pPr>
            <a:r>
              <a:rPr lang="en-US" sz="1300" b="1" dirty="0">
                <a:solidFill>
                  <a:srgbClr val="065A82"/>
                </a:solidFill>
                <a:latin typeface="Arial" pitchFamily="34" charset="0"/>
                <a:ea typeface="Arial" pitchFamily="34" charset="-122"/>
                <a:cs typeface="Arial" pitchFamily="34" charset="-120"/>
              </a:rPr>
              <a:t>Metrics</a:t>
            </a:r>
            <a:endParaRPr lang="en-US" sz="1300" dirty="0"/>
          </a:p>
        </p:txBody>
      </p:sp>
      <p:sp>
        <p:nvSpPr>
          <p:cNvPr id="11" name="Text 7"/>
          <p:cNvSpPr/>
          <p:nvPr/>
        </p:nvSpPr>
        <p:spPr>
          <a:xfrm>
            <a:off x="960120" y="1755648"/>
            <a:ext cx="4480560" cy="182880"/>
          </a:xfrm>
          <a:prstGeom prst="rect">
            <a:avLst/>
          </a:prstGeom>
          <a:noFill/>
          <a:ln/>
        </p:spPr>
        <p:txBody>
          <a:bodyPr wrap="square" lIns="0" tIns="0" rIns="0" bIns="0" rtlCol="0" anchor="ctr"/>
          <a:lstStyle/>
          <a:p>
            <a:pPr marL="0" indent="0">
              <a:buNone/>
            </a:pPr>
            <a:r>
              <a:rPr lang="en-US" sz="900" dirty="0" err="1">
                <a:solidFill>
                  <a:srgbClr val="64748B"/>
                </a:solidFill>
                <a:latin typeface="Arial" pitchFamily="34" charset="0"/>
                <a:ea typeface="Arial" pitchFamily="34" charset="-122"/>
                <a:cs typeface="Arial" pitchFamily="34" charset="-120"/>
              </a:rPr>
              <a:t>Prometheus采集指标</a:t>
            </a:r>
            <a:r>
              <a:rPr lang="en-US" sz="900" dirty="0">
                <a:solidFill>
                  <a:srgbClr val="64748B"/>
                </a:solidFill>
                <a:latin typeface="Arial" pitchFamily="34" charset="0"/>
                <a:ea typeface="Arial" pitchFamily="34" charset="-122"/>
                <a:cs typeface="Arial" pitchFamily="34" charset="-120"/>
              </a:rPr>
              <a:t> · QPS/错误率 · MCP工具调用量 · Grafana统一面板</a:t>
            </a:r>
            <a:endParaRPr lang="en-US" sz="900" dirty="0"/>
          </a:p>
        </p:txBody>
      </p:sp>
      <p:sp>
        <p:nvSpPr>
          <p:cNvPr id="12" name="Shape 8"/>
          <p:cNvSpPr/>
          <p:nvPr/>
        </p:nvSpPr>
        <p:spPr>
          <a:xfrm>
            <a:off x="365760" y="2057400"/>
            <a:ext cx="5303520" cy="475488"/>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pic>
        <p:nvPicPr>
          <p:cNvPr id="13" name="Image 2" descr="preencoded.png"/>
          <p:cNvPicPr>
            <a:picLocks noChangeAspect="1"/>
          </p:cNvPicPr>
          <p:nvPr/>
        </p:nvPicPr>
        <p:blipFill>
          <a:blip r:embed="rId5"/>
          <a:stretch>
            <a:fillRect/>
          </a:stretch>
        </p:blipFill>
        <p:spPr>
          <a:xfrm>
            <a:off x="548640" y="2148840"/>
            <a:ext cx="274320" cy="274320"/>
          </a:xfrm>
          <a:prstGeom prst="rect">
            <a:avLst/>
          </a:prstGeom>
        </p:spPr>
      </p:pic>
      <p:sp>
        <p:nvSpPr>
          <p:cNvPr id="14" name="Text 9"/>
          <p:cNvSpPr/>
          <p:nvPr/>
        </p:nvSpPr>
        <p:spPr>
          <a:xfrm>
            <a:off x="960120" y="2103120"/>
            <a:ext cx="1371600" cy="182880"/>
          </a:xfrm>
          <a:prstGeom prst="rect">
            <a:avLst/>
          </a:prstGeom>
          <a:noFill/>
          <a:ln/>
        </p:spPr>
        <p:txBody>
          <a:bodyPr wrap="square" lIns="0" tIns="0" rIns="0" bIns="0" rtlCol="0" anchor="ctr"/>
          <a:lstStyle/>
          <a:p>
            <a:pPr marL="0" indent="0">
              <a:buNone/>
            </a:pPr>
            <a:r>
              <a:rPr lang="en-US" sz="1300" b="1" dirty="0">
                <a:solidFill>
                  <a:srgbClr val="065A82"/>
                </a:solidFill>
                <a:latin typeface="Arial" pitchFamily="34" charset="0"/>
                <a:ea typeface="Arial" pitchFamily="34" charset="-122"/>
                <a:cs typeface="Arial" pitchFamily="34" charset="-120"/>
              </a:rPr>
              <a:t>Tracing</a:t>
            </a:r>
            <a:endParaRPr lang="en-US" sz="1300" dirty="0"/>
          </a:p>
        </p:txBody>
      </p:sp>
      <p:sp>
        <p:nvSpPr>
          <p:cNvPr id="15" name="Text 10"/>
          <p:cNvSpPr/>
          <p:nvPr/>
        </p:nvSpPr>
        <p:spPr>
          <a:xfrm>
            <a:off x="960120" y="2304288"/>
            <a:ext cx="4480560" cy="182880"/>
          </a:xfrm>
          <a:prstGeom prst="rect">
            <a:avLst/>
          </a:prstGeom>
          <a:noFill/>
          <a:ln/>
        </p:spPr>
        <p:txBody>
          <a:bodyPr wrap="square" lIns="0" tIns="0" rIns="0" bIns="0" rtlCol="0" anchor="ctr"/>
          <a:lstStyle/>
          <a:p>
            <a:pPr marL="0" indent="0">
              <a:buNone/>
            </a:pPr>
            <a:r>
              <a:rPr lang="en-US" sz="900" dirty="0" err="1">
                <a:solidFill>
                  <a:srgbClr val="64748B"/>
                </a:solidFill>
                <a:latin typeface="Arial" pitchFamily="34" charset="0"/>
                <a:ea typeface="Arial" pitchFamily="34" charset="-122"/>
                <a:cs typeface="Arial" pitchFamily="34" charset="-120"/>
              </a:rPr>
              <a:t>分布式追踪</a:t>
            </a:r>
            <a:r>
              <a:rPr lang="zh-CN" altLang="en-US" sz="900" dirty="0">
                <a:solidFill>
                  <a:srgbClr val="64748B"/>
                </a:solidFill>
                <a:latin typeface="Arial" pitchFamily="34" charset="0"/>
                <a:ea typeface="Arial" pitchFamily="34" charset="-122"/>
                <a:cs typeface="Arial" pitchFamily="34" charset="-120"/>
              </a:rPr>
              <a:t>：</a:t>
            </a:r>
            <a:r>
              <a:rPr lang="en-US" sz="900" dirty="0">
                <a:solidFill>
                  <a:srgbClr val="64748B"/>
                </a:solidFill>
                <a:latin typeface="Arial" pitchFamily="34" charset="0"/>
                <a:ea typeface="Arial" pitchFamily="34" charset="-122"/>
                <a:cs typeface="Arial" pitchFamily="34" charset="-120"/>
              </a:rPr>
              <a:t>MCP Client→MCP </a:t>
            </a:r>
            <a:r>
              <a:rPr lang="en-US" sz="900" dirty="0" err="1">
                <a:solidFill>
                  <a:srgbClr val="64748B"/>
                </a:solidFill>
                <a:latin typeface="Arial" pitchFamily="34" charset="0"/>
                <a:ea typeface="Arial" pitchFamily="34" charset="-122"/>
                <a:cs typeface="Arial" pitchFamily="34" charset="-120"/>
              </a:rPr>
              <a:t>Server→API→DB</a:t>
            </a:r>
            <a:r>
              <a:rPr lang="en-US" sz="900" dirty="0">
                <a:solidFill>
                  <a:srgbClr val="64748B"/>
                </a:solidFill>
                <a:latin typeface="Arial" pitchFamily="34" charset="0"/>
                <a:ea typeface="Arial" pitchFamily="34" charset="-122"/>
                <a:cs typeface="Arial" pitchFamily="34" charset="-120"/>
              </a:rPr>
              <a:t> </a:t>
            </a:r>
            <a:r>
              <a:rPr lang="en-US" sz="900" dirty="0" err="1">
                <a:solidFill>
                  <a:srgbClr val="64748B"/>
                </a:solidFill>
                <a:latin typeface="Arial" pitchFamily="34" charset="0"/>
                <a:ea typeface="Arial" pitchFamily="34" charset="-122"/>
                <a:cs typeface="Arial" pitchFamily="34" charset="-120"/>
              </a:rPr>
              <a:t>全链路</a:t>
            </a:r>
            <a:endParaRPr lang="en-US" sz="900" dirty="0"/>
          </a:p>
        </p:txBody>
      </p:sp>
      <p:sp>
        <p:nvSpPr>
          <p:cNvPr id="16" name="Shape 11"/>
          <p:cNvSpPr/>
          <p:nvPr/>
        </p:nvSpPr>
        <p:spPr>
          <a:xfrm>
            <a:off x="365760" y="2606040"/>
            <a:ext cx="5303520" cy="475488"/>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pic>
        <p:nvPicPr>
          <p:cNvPr id="17" name="Image 3" descr="preencoded.png"/>
          <p:cNvPicPr>
            <a:picLocks noChangeAspect="1"/>
          </p:cNvPicPr>
          <p:nvPr/>
        </p:nvPicPr>
        <p:blipFill>
          <a:blip r:embed="rId6"/>
          <a:stretch>
            <a:fillRect/>
          </a:stretch>
        </p:blipFill>
        <p:spPr>
          <a:xfrm>
            <a:off x="548640" y="2697480"/>
            <a:ext cx="274320" cy="274320"/>
          </a:xfrm>
          <a:prstGeom prst="rect">
            <a:avLst/>
          </a:prstGeom>
        </p:spPr>
      </p:pic>
      <p:sp>
        <p:nvSpPr>
          <p:cNvPr id="18" name="Text 12"/>
          <p:cNvSpPr/>
          <p:nvPr/>
        </p:nvSpPr>
        <p:spPr>
          <a:xfrm>
            <a:off x="960120" y="2651760"/>
            <a:ext cx="1371600" cy="182880"/>
          </a:xfrm>
          <a:prstGeom prst="rect">
            <a:avLst/>
          </a:prstGeom>
          <a:noFill/>
          <a:ln/>
        </p:spPr>
        <p:txBody>
          <a:bodyPr wrap="square" lIns="0" tIns="0" rIns="0" bIns="0" rtlCol="0" anchor="ctr"/>
          <a:lstStyle/>
          <a:p>
            <a:pPr marL="0" indent="0">
              <a:buNone/>
            </a:pPr>
            <a:r>
              <a:rPr lang="en-US" sz="1300" b="1" dirty="0">
                <a:solidFill>
                  <a:srgbClr val="065A82"/>
                </a:solidFill>
                <a:latin typeface="Arial" pitchFamily="34" charset="0"/>
                <a:ea typeface="Arial" pitchFamily="34" charset="-122"/>
                <a:cs typeface="Arial" pitchFamily="34" charset="-120"/>
              </a:rPr>
              <a:t>Alerting</a:t>
            </a:r>
            <a:endParaRPr lang="en-US" sz="1300" dirty="0"/>
          </a:p>
        </p:txBody>
      </p:sp>
      <p:sp>
        <p:nvSpPr>
          <p:cNvPr id="19" name="Text 13"/>
          <p:cNvSpPr/>
          <p:nvPr/>
        </p:nvSpPr>
        <p:spPr>
          <a:xfrm>
            <a:off x="960120" y="2852928"/>
            <a:ext cx="4480560" cy="182880"/>
          </a:xfrm>
          <a:prstGeom prst="rect">
            <a:avLst/>
          </a:prstGeom>
          <a:noFill/>
          <a:ln/>
        </p:spPr>
        <p:txBody>
          <a:bodyPr wrap="square" lIns="0" tIns="0" rIns="0" bIns="0" rtlCol="0" anchor="ctr"/>
          <a:lstStyle/>
          <a:p>
            <a:pPr marL="0" indent="0">
              <a:buNone/>
            </a:pPr>
            <a:r>
              <a:rPr lang="en-US" sz="900" dirty="0" err="1">
                <a:solidFill>
                  <a:srgbClr val="64748B"/>
                </a:solidFill>
                <a:latin typeface="Arial" pitchFamily="34" charset="0"/>
                <a:ea typeface="Arial" pitchFamily="34" charset="-122"/>
                <a:cs typeface="Arial" pitchFamily="34" charset="-120"/>
              </a:rPr>
              <a:t>告警</a:t>
            </a:r>
            <a:r>
              <a:rPr lang="zh-CN" altLang="en-US" sz="900" dirty="0">
                <a:solidFill>
                  <a:srgbClr val="64748B"/>
                </a:solidFill>
                <a:latin typeface="Arial" pitchFamily="34" charset="0"/>
                <a:ea typeface="Arial" pitchFamily="34" charset="-122"/>
                <a:cs typeface="Arial" pitchFamily="34" charset="-120"/>
              </a:rPr>
              <a:t>：</a:t>
            </a:r>
            <a:r>
              <a:rPr lang="en-US" sz="900" dirty="0" err="1">
                <a:solidFill>
                  <a:srgbClr val="64748B"/>
                </a:solidFill>
                <a:latin typeface="Arial" pitchFamily="34" charset="0"/>
                <a:ea typeface="Arial" pitchFamily="34" charset="-122"/>
                <a:cs typeface="Arial" pitchFamily="34" charset="-120"/>
              </a:rPr>
              <a:t>错误率</a:t>
            </a:r>
            <a:r>
              <a:rPr lang="en-US" sz="900" dirty="0">
                <a:solidFill>
                  <a:srgbClr val="64748B"/>
                </a:solidFill>
                <a:latin typeface="Arial" pitchFamily="34" charset="0"/>
                <a:ea typeface="Arial" pitchFamily="34" charset="-122"/>
                <a:cs typeface="Arial" pitchFamily="34" charset="-120"/>
              </a:rPr>
              <a:t>&gt;5%自动触发 · 租户配额预警</a:t>
            </a:r>
            <a:endParaRPr lang="en-US" sz="900" dirty="0"/>
          </a:p>
        </p:txBody>
      </p:sp>
      <p:sp>
        <p:nvSpPr>
          <p:cNvPr id="20" name="Shape 14"/>
          <p:cNvSpPr/>
          <p:nvPr/>
        </p:nvSpPr>
        <p:spPr>
          <a:xfrm>
            <a:off x="365760" y="3154680"/>
            <a:ext cx="5303520" cy="475488"/>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pic>
        <p:nvPicPr>
          <p:cNvPr id="21" name="Image 4" descr="preencoded.png"/>
          <p:cNvPicPr>
            <a:picLocks noChangeAspect="1"/>
          </p:cNvPicPr>
          <p:nvPr/>
        </p:nvPicPr>
        <p:blipFill>
          <a:blip r:embed="rId7"/>
          <a:stretch>
            <a:fillRect/>
          </a:stretch>
        </p:blipFill>
        <p:spPr>
          <a:xfrm>
            <a:off x="548640" y="3246120"/>
            <a:ext cx="274320" cy="274320"/>
          </a:xfrm>
          <a:prstGeom prst="rect">
            <a:avLst/>
          </a:prstGeom>
        </p:spPr>
      </p:pic>
      <p:sp>
        <p:nvSpPr>
          <p:cNvPr id="22" name="Text 15"/>
          <p:cNvSpPr/>
          <p:nvPr/>
        </p:nvSpPr>
        <p:spPr>
          <a:xfrm>
            <a:off x="960120" y="3200400"/>
            <a:ext cx="1371600" cy="182880"/>
          </a:xfrm>
          <a:prstGeom prst="rect">
            <a:avLst/>
          </a:prstGeom>
          <a:noFill/>
          <a:ln/>
        </p:spPr>
        <p:txBody>
          <a:bodyPr wrap="square" lIns="0" tIns="0" rIns="0" bIns="0" rtlCol="0" anchor="ctr"/>
          <a:lstStyle/>
          <a:p>
            <a:pPr marL="0" indent="0">
              <a:buNone/>
            </a:pPr>
            <a:r>
              <a:rPr lang="en-US" sz="1300" b="1" dirty="0">
                <a:solidFill>
                  <a:srgbClr val="065A82"/>
                </a:solidFill>
                <a:latin typeface="Arial" pitchFamily="34" charset="0"/>
                <a:ea typeface="Arial" pitchFamily="34" charset="-122"/>
                <a:cs typeface="Arial" pitchFamily="34" charset="-120"/>
              </a:rPr>
              <a:t>Health Check</a:t>
            </a:r>
            <a:endParaRPr lang="en-US" sz="1300" dirty="0"/>
          </a:p>
        </p:txBody>
      </p:sp>
      <p:sp>
        <p:nvSpPr>
          <p:cNvPr id="23" name="Text 16"/>
          <p:cNvSpPr/>
          <p:nvPr/>
        </p:nvSpPr>
        <p:spPr>
          <a:xfrm>
            <a:off x="960120" y="3401568"/>
            <a:ext cx="4480560" cy="18288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Liveness · Readiness · Deep Check · K8s自动摘除未就绪Pod · 故障恢复&lt;5分钟</a:t>
            </a:r>
            <a:endParaRPr lang="en-US" sz="900" dirty="0"/>
          </a:p>
        </p:txBody>
      </p:sp>
      <p:sp>
        <p:nvSpPr>
          <p:cNvPr id="24" name="Shape 17"/>
          <p:cNvSpPr/>
          <p:nvPr/>
        </p:nvSpPr>
        <p:spPr>
          <a:xfrm>
            <a:off x="5943600" y="960120"/>
            <a:ext cx="2926080" cy="2761488"/>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25" name="Shape 18"/>
          <p:cNvSpPr/>
          <p:nvPr/>
        </p:nvSpPr>
        <p:spPr>
          <a:xfrm>
            <a:off x="5943600" y="960120"/>
            <a:ext cx="2926080" cy="45720"/>
          </a:xfrm>
          <a:prstGeom prst="rect">
            <a:avLst/>
          </a:prstGeom>
          <a:solidFill>
            <a:srgbClr val="22A699"/>
          </a:solidFill>
          <a:ln/>
        </p:spPr>
        <p:txBody>
          <a:bodyPr/>
          <a:lstStyle/>
          <a:p>
            <a:endParaRPr lang="zh-CN" altLang="en-US"/>
          </a:p>
        </p:txBody>
      </p:sp>
      <p:sp>
        <p:nvSpPr>
          <p:cNvPr id="26" name="Text 19"/>
          <p:cNvSpPr/>
          <p:nvPr/>
        </p:nvSpPr>
        <p:spPr>
          <a:xfrm>
            <a:off x="6126480" y="1097280"/>
            <a:ext cx="2560320" cy="274320"/>
          </a:xfrm>
          <a:prstGeom prst="rect">
            <a:avLst/>
          </a:prstGeom>
          <a:noFill/>
          <a:ln/>
        </p:spPr>
        <p:txBody>
          <a:bodyPr wrap="square" lIns="0" tIns="0" rIns="0" bIns="0" rtlCol="0" anchor="ctr"/>
          <a:lstStyle/>
          <a:p>
            <a:pPr marL="0" indent="0">
              <a:buNone/>
            </a:pPr>
            <a:r>
              <a:rPr lang="en-US" sz="1300" b="1" dirty="0">
                <a:solidFill>
                  <a:srgbClr val="22A699"/>
                </a:solidFill>
                <a:latin typeface="Arial" pitchFamily="34" charset="0"/>
                <a:ea typeface="Arial" pitchFamily="34" charset="-122"/>
                <a:cs typeface="Arial" pitchFamily="34" charset="-120"/>
              </a:rPr>
              <a:t>多租户架构演进</a:t>
            </a:r>
            <a:endParaRPr lang="en-US" sz="1300" dirty="0"/>
          </a:p>
        </p:txBody>
      </p:sp>
      <p:sp>
        <p:nvSpPr>
          <p:cNvPr id="27" name="Shape 20"/>
          <p:cNvSpPr/>
          <p:nvPr/>
        </p:nvSpPr>
        <p:spPr>
          <a:xfrm>
            <a:off x="6126480" y="1508760"/>
            <a:ext cx="73152" cy="73152"/>
          </a:xfrm>
          <a:prstGeom prst="ellipse">
            <a:avLst/>
          </a:prstGeom>
          <a:solidFill>
            <a:srgbClr val="22A699"/>
          </a:solidFill>
          <a:ln/>
        </p:spPr>
        <p:txBody>
          <a:bodyPr/>
          <a:lstStyle/>
          <a:p>
            <a:endParaRPr lang="zh-CN" altLang="en-US"/>
          </a:p>
        </p:txBody>
      </p:sp>
      <p:sp>
        <p:nvSpPr>
          <p:cNvPr id="28" name="Text 21"/>
          <p:cNvSpPr/>
          <p:nvPr/>
        </p:nvSpPr>
        <p:spPr>
          <a:xfrm>
            <a:off x="6355080" y="1417320"/>
            <a:ext cx="731520" cy="22860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MVP</a:t>
            </a:r>
            <a:endParaRPr lang="en-US" sz="1100" dirty="0"/>
          </a:p>
        </p:txBody>
      </p:sp>
      <p:sp>
        <p:nvSpPr>
          <p:cNvPr id="29" name="Text 22"/>
          <p:cNvSpPr/>
          <p:nvPr/>
        </p:nvSpPr>
        <p:spPr>
          <a:xfrm>
            <a:off x="6766560" y="1422976"/>
            <a:ext cx="2103120" cy="22860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共享DB + tenant_id 行级隔离 (RLS)</a:t>
            </a:r>
            <a:endParaRPr lang="en-US" sz="900" dirty="0"/>
          </a:p>
        </p:txBody>
      </p:sp>
      <p:sp>
        <p:nvSpPr>
          <p:cNvPr id="30" name="Shape 23"/>
          <p:cNvSpPr/>
          <p:nvPr/>
        </p:nvSpPr>
        <p:spPr>
          <a:xfrm>
            <a:off x="6126480" y="2194560"/>
            <a:ext cx="73152" cy="73152"/>
          </a:xfrm>
          <a:prstGeom prst="ellipse">
            <a:avLst/>
          </a:prstGeom>
          <a:solidFill>
            <a:srgbClr val="22A699"/>
          </a:solidFill>
          <a:ln/>
        </p:spPr>
        <p:txBody>
          <a:bodyPr/>
          <a:lstStyle/>
          <a:p>
            <a:endParaRPr lang="zh-CN" altLang="en-US"/>
          </a:p>
        </p:txBody>
      </p:sp>
      <p:sp>
        <p:nvSpPr>
          <p:cNvPr id="31" name="Text 24"/>
          <p:cNvSpPr/>
          <p:nvPr/>
        </p:nvSpPr>
        <p:spPr>
          <a:xfrm>
            <a:off x="6355080" y="2103120"/>
            <a:ext cx="731520" cy="22860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V1.5</a:t>
            </a:r>
            <a:endParaRPr lang="en-US" sz="1100" dirty="0"/>
          </a:p>
        </p:txBody>
      </p:sp>
      <p:sp>
        <p:nvSpPr>
          <p:cNvPr id="32" name="Text 25"/>
          <p:cNvSpPr/>
          <p:nvPr/>
        </p:nvSpPr>
        <p:spPr>
          <a:xfrm>
            <a:off x="6766560" y="2108776"/>
            <a:ext cx="2103120" cy="22860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独立Schema（大客户专用）</a:t>
            </a:r>
            <a:endParaRPr lang="en-US" sz="900" dirty="0"/>
          </a:p>
        </p:txBody>
      </p:sp>
      <p:sp>
        <p:nvSpPr>
          <p:cNvPr id="33" name="Shape 26"/>
          <p:cNvSpPr/>
          <p:nvPr/>
        </p:nvSpPr>
        <p:spPr>
          <a:xfrm>
            <a:off x="6126480" y="2880360"/>
            <a:ext cx="73152" cy="73152"/>
          </a:xfrm>
          <a:prstGeom prst="ellipse">
            <a:avLst/>
          </a:prstGeom>
          <a:solidFill>
            <a:srgbClr val="22A699"/>
          </a:solidFill>
          <a:ln/>
        </p:spPr>
        <p:txBody>
          <a:bodyPr/>
          <a:lstStyle/>
          <a:p>
            <a:endParaRPr lang="zh-CN" altLang="en-US"/>
          </a:p>
        </p:txBody>
      </p:sp>
      <p:sp>
        <p:nvSpPr>
          <p:cNvPr id="34" name="Text 27"/>
          <p:cNvSpPr/>
          <p:nvPr/>
        </p:nvSpPr>
        <p:spPr>
          <a:xfrm>
            <a:off x="6355080" y="2788920"/>
            <a:ext cx="731520" cy="22860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V2.0</a:t>
            </a:r>
            <a:endParaRPr lang="en-US" sz="1100" dirty="0"/>
          </a:p>
        </p:txBody>
      </p:sp>
      <p:sp>
        <p:nvSpPr>
          <p:cNvPr id="35" name="Text 28"/>
          <p:cNvSpPr/>
          <p:nvPr/>
        </p:nvSpPr>
        <p:spPr>
          <a:xfrm>
            <a:off x="6766560" y="2794576"/>
            <a:ext cx="2103120" cy="228600"/>
          </a:xfrm>
          <a:prstGeom prst="rect">
            <a:avLst/>
          </a:prstGeom>
          <a:noFill/>
          <a:ln/>
        </p:spPr>
        <p:txBody>
          <a:bodyPr wrap="square" lIns="0" tIns="0" rIns="0" bIns="0" rtlCol="0" anchor="ctr"/>
          <a:lstStyle/>
          <a:p>
            <a:pPr marL="0" indent="0">
              <a:buNone/>
            </a:pPr>
            <a:r>
              <a:rPr lang="en-US" sz="900" dirty="0">
                <a:solidFill>
                  <a:srgbClr val="64748B"/>
                </a:solidFill>
                <a:latin typeface="Arial" pitchFamily="34" charset="0"/>
                <a:ea typeface="Arial" pitchFamily="34" charset="-122"/>
                <a:cs typeface="Arial" pitchFamily="34" charset="-120"/>
              </a:rPr>
              <a:t>独立DB实例（金融/政务强合规）</a:t>
            </a:r>
            <a:endParaRPr lang="en-US" sz="900" dirty="0"/>
          </a:p>
        </p:txBody>
      </p:sp>
      <p:sp>
        <p:nvSpPr>
          <p:cNvPr id="36" name="Shape 29"/>
          <p:cNvSpPr/>
          <p:nvPr/>
        </p:nvSpPr>
        <p:spPr>
          <a:xfrm>
            <a:off x="5943600" y="3886200"/>
            <a:ext cx="2926080" cy="1097280"/>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sp>
        <p:nvSpPr>
          <p:cNvPr id="37" name="Shape 30"/>
          <p:cNvSpPr/>
          <p:nvPr/>
        </p:nvSpPr>
        <p:spPr>
          <a:xfrm>
            <a:off x="5943600" y="3886200"/>
            <a:ext cx="2926080" cy="36576"/>
          </a:xfrm>
          <a:prstGeom prst="rect">
            <a:avLst/>
          </a:prstGeom>
          <a:solidFill>
            <a:srgbClr val="BB0000"/>
          </a:solidFill>
          <a:ln/>
        </p:spPr>
        <p:txBody>
          <a:bodyPr/>
          <a:lstStyle/>
          <a:p>
            <a:endParaRPr lang="zh-CN" altLang="en-US"/>
          </a:p>
        </p:txBody>
      </p:sp>
      <p:sp>
        <p:nvSpPr>
          <p:cNvPr id="38" name="Text 31"/>
          <p:cNvSpPr/>
          <p:nvPr/>
        </p:nvSpPr>
        <p:spPr>
          <a:xfrm>
            <a:off x="6126480" y="4023360"/>
            <a:ext cx="2560320" cy="228600"/>
          </a:xfrm>
          <a:prstGeom prst="rect">
            <a:avLst/>
          </a:prstGeom>
          <a:noFill/>
          <a:ln/>
        </p:spPr>
        <p:txBody>
          <a:bodyPr wrap="square" lIns="0" tIns="0" rIns="0" bIns="0" rtlCol="0" anchor="ctr"/>
          <a:lstStyle/>
          <a:p>
            <a:pPr marL="0" indent="0">
              <a:buNone/>
            </a:pPr>
            <a:r>
              <a:rPr lang="en-US" sz="1300" b="1" dirty="0">
                <a:solidFill>
                  <a:srgbClr val="BB0000"/>
                </a:solidFill>
                <a:latin typeface="Arial" pitchFamily="34" charset="0"/>
                <a:ea typeface="Arial" pitchFamily="34" charset="-122"/>
                <a:cs typeface="Arial" pitchFamily="34" charset="-120"/>
              </a:rPr>
              <a:t>国产化适配</a:t>
            </a:r>
            <a:endParaRPr lang="en-US" sz="1300" dirty="0"/>
          </a:p>
        </p:txBody>
      </p:sp>
      <p:sp>
        <p:nvSpPr>
          <p:cNvPr id="39" name="Text 32"/>
          <p:cNvSpPr/>
          <p:nvPr/>
        </p:nvSpPr>
        <p:spPr>
          <a:xfrm>
            <a:off x="6126480" y="4297680"/>
            <a:ext cx="2560320" cy="594360"/>
          </a:xfrm>
          <a:prstGeom prst="rect">
            <a:avLst/>
          </a:prstGeom>
          <a:noFill/>
          <a:ln/>
        </p:spPr>
        <p:txBody>
          <a:bodyPr wrap="square" rtlCol="0" anchor="ctr"/>
          <a:lstStyle/>
          <a:p>
            <a:pPr marL="342900" indent="-342900">
              <a:buSzPct val="100000"/>
              <a:buChar char="•"/>
            </a:pPr>
            <a:r>
              <a:rPr lang="en-US" sz="900" dirty="0" err="1">
                <a:solidFill>
                  <a:srgbClr val="64748B"/>
                </a:solidFill>
              </a:rPr>
              <a:t>国产大模型：</a:t>
            </a:r>
            <a:r>
              <a:rPr lang="en-US" altLang="zh-CN" sz="900" dirty="0" err="1">
                <a:solidFill>
                  <a:srgbClr val="64748B"/>
                </a:solidFill>
              </a:rPr>
              <a:t>DeepSeek</a:t>
            </a:r>
            <a:r>
              <a:rPr lang="en-US" altLang="zh-CN" sz="900" dirty="0">
                <a:solidFill>
                  <a:srgbClr val="64748B"/>
                </a:solidFill>
              </a:rPr>
              <a:t>/</a:t>
            </a:r>
            <a:r>
              <a:rPr lang="zh-CN" altLang="en-US" sz="900" dirty="0">
                <a:solidFill>
                  <a:srgbClr val="64748B"/>
                </a:solidFill>
              </a:rPr>
              <a:t>千问</a:t>
            </a:r>
            <a:r>
              <a:rPr lang="en-US" sz="900" dirty="0">
                <a:solidFill>
                  <a:srgbClr val="64748B"/>
                </a:solidFill>
              </a:rPr>
              <a:t>/智谱GLM</a:t>
            </a:r>
            <a:endParaRPr lang="en-US" sz="900" dirty="0"/>
          </a:p>
          <a:p>
            <a:pPr marL="342900" indent="-342900">
              <a:buSzPct val="100000"/>
              <a:buChar char="•"/>
            </a:pPr>
            <a:r>
              <a:rPr lang="en-US" sz="900" dirty="0">
                <a:solidFill>
                  <a:srgbClr val="64748B"/>
                </a:solidFill>
              </a:rPr>
              <a:t>国产数据库：达梦/人大金仓/GaussDB</a:t>
            </a:r>
            <a:endParaRPr lang="en-US" sz="900" dirty="0"/>
          </a:p>
          <a:p>
            <a:pPr marL="342900" indent="-342900">
              <a:buSzPct val="100000"/>
              <a:buChar char="•"/>
            </a:pPr>
            <a:r>
              <a:rPr lang="en-US" sz="900" dirty="0">
                <a:solidFill>
                  <a:srgbClr val="64748B"/>
                </a:solidFill>
              </a:rPr>
              <a:t>国产OS：麒麟/统信UOS</a:t>
            </a:r>
            <a:endParaRPr lang="en-US" sz="900" dirty="0"/>
          </a:p>
        </p:txBody>
      </p:sp>
      <p:sp>
        <p:nvSpPr>
          <p:cNvPr id="40" name="Shape 33"/>
          <p:cNvSpPr/>
          <p:nvPr/>
        </p:nvSpPr>
        <p:spPr>
          <a:xfrm>
            <a:off x="365760" y="3886200"/>
            <a:ext cx="5303520" cy="1097280"/>
          </a:xfrm>
          <a:prstGeom prst="rect">
            <a:avLst/>
          </a:prstGeom>
          <a:solidFill>
            <a:srgbClr val="FFFFFF"/>
          </a:solidFill>
          <a:ln/>
          <a:effectLst>
            <a:outerShdw blurRad="25400" dist="12700" dir="8100000" algn="bl" rotWithShape="0">
              <a:srgbClr val="000000">
                <a:alpha val="4000"/>
              </a:srgbClr>
            </a:outerShdw>
          </a:effectLst>
        </p:spPr>
        <p:txBody>
          <a:bodyPr/>
          <a:lstStyle/>
          <a:p>
            <a:endParaRPr lang="zh-CN" altLang="en-US"/>
          </a:p>
        </p:txBody>
      </p:sp>
      <p:sp>
        <p:nvSpPr>
          <p:cNvPr id="41" name="Shape 34"/>
          <p:cNvSpPr/>
          <p:nvPr/>
        </p:nvSpPr>
        <p:spPr>
          <a:xfrm>
            <a:off x="365760" y="3886200"/>
            <a:ext cx="45720" cy="1097280"/>
          </a:xfrm>
          <a:prstGeom prst="rect">
            <a:avLst/>
          </a:prstGeom>
          <a:solidFill>
            <a:srgbClr val="107E3E"/>
          </a:solidFill>
          <a:ln/>
        </p:spPr>
        <p:txBody>
          <a:bodyPr/>
          <a:lstStyle/>
          <a:p>
            <a:endParaRPr lang="zh-CN" altLang="en-US"/>
          </a:p>
        </p:txBody>
      </p:sp>
      <p:sp>
        <p:nvSpPr>
          <p:cNvPr id="42" name="Text 35"/>
          <p:cNvSpPr/>
          <p:nvPr/>
        </p:nvSpPr>
        <p:spPr>
          <a:xfrm>
            <a:off x="594360" y="4023360"/>
            <a:ext cx="4572000" cy="228600"/>
          </a:xfrm>
          <a:prstGeom prst="rect">
            <a:avLst/>
          </a:prstGeom>
          <a:noFill/>
          <a:ln/>
        </p:spPr>
        <p:txBody>
          <a:bodyPr wrap="square" lIns="0" tIns="0" rIns="0" bIns="0" rtlCol="0" anchor="ctr"/>
          <a:lstStyle/>
          <a:p>
            <a:pPr marL="0" indent="0">
              <a:buNone/>
            </a:pPr>
            <a:r>
              <a:rPr lang="en-US" sz="1300" b="1" dirty="0">
                <a:solidFill>
                  <a:srgbClr val="107E3E"/>
                </a:solidFill>
                <a:latin typeface="Arial" pitchFamily="34" charset="0"/>
                <a:ea typeface="Arial" pitchFamily="34" charset="-122"/>
                <a:cs typeface="Arial" pitchFamily="34" charset="-120"/>
              </a:rPr>
              <a:t>安全与合规</a:t>
            </a:r>
            <a:endParaRPr lang="en-US" sz="1300" dirty="0"/>
          </a:p>
        </p:txBody>
      </p:sp>
      <p:sp>
        <p:nvSpPr>
          <p:cNvPr id="43" name="Text 36"/>
          <p:cNvSpPr/>
          <p:nvPr/>
        </p:nvSpPr>
        <p:spPr>
          <a:xfrm>
            <a:off x="594360" y="4297680"/>
            <a:ext cx="4937760" cy="457200"/>
          </a:xfrm>
          <a:prstGeom prst="rect">
            <a:avLst/>
          </a:prstGeom>
          <a:noFill/>
          <a:ln/>
        </p:spPr>
        <p:txBody>
          <a:bodyPr wrap="square" rtlCol="0" anchor="ctr"/>
          <a:lstStyle/>
          <a:p>
            <a:pPr marL="0" indent="0">
              <a:buNone/>
            </a:pPr>
            <a:r>
              <a:rPr lang="en-US" sz="900" dirty="0">
                <a:solidFill>
                  <a:srgbClr val="64748B"/>
                </a:solidFill>
              </a:rPr>
              <a:t>OAuth 2.0 / API Key / JWT 认证  ·  所有敏感凭证加密存储，不在 Manifest 中明文出现</a:t>
            </a:r>
            <a:endParaRPr lang="en-US" sz="900" dirty="0"/>
          </a:p>
          <a:p>
            <a:pPr marL="0" indent="0">
              <a:buNone/>
            </a:pPr>
            <a:r>
              <a:rPr lang="en-US" sz="900" dirty="0" err="1">
                <a:solidFill>
                  <a:srgbClr val="64748B"/>
                </a:solidFill>
              </a:rPr>
              <a:t>审计日志不可篡改</a:t>
            </a:r>
            <a:r>
              <a:rPr lang="en-US" sz="900" dirty="0">
                <a:solidFill>
                  <a:srgbClr val="64748B"/>
                </a:solidFill>
              </a:rPr>
              <a:t>·  行为执行全链路可追溯  ·  请求参数不记录到日志防止数据泄露</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Arial" pitchFamily="34" charset="0"/>
                <a:ea typeface="Arial" pitchFamily="34" charset="-122"/>
                <a:cs typeface="Arial" pitchFamily="34" charset="-120"/>
              </a:rPr>
              <a:t>产品路线图</a:t>
            </a:r>
            <a:endParaRPr lang="en-US" sz="2800" dirty="0"/>
          </a:p>
        </p:txBody>
      </p:sp>
      <p:sp>
        <p:nvSpPr>
          <p:cNvPr id="4" name="Shape 2"/>
          <p:cNvSpPr/>
          <p:nvPr/>
        </p:nvSpPr>
        <p:spPr>
          <a:xfrm>
            <a:off x="731520" y="1920240"/>
            <a:ext cx="7680960" cy="36576"/>
          </a:xfrm>
          <a:prstGeom prst="rect">
            <a:avLst/>
          </a:prstGeom>
          <a:solidFill>
            <a:srgbClr val="E2E8F0"/>
          </a:solidFill>
          <a:ln/>
        </p:spPr>
        <p:txBody>
          <a:bodyPr/>
          <a:lstStyle/>
          <a:p>
            <a:endParaRPr lang="zh-CN" altLang="en-US"/>
          </a:p>
        </p:txBody>
      </p:sp>
      <p:sp>
        <p:nvSpPr>
          <p:cNvPr id="5" name="Shape 3"/>
          <p:cNvSpPr/>
          <p:nvPr/>
        </p:nvSpPr>
        <p:spPr>
          <a:xfrm>
            <a:off x="1051560" y="1828800"/>
            <a:ext cx="228600" cy="228600"/>
          </a:xfrm>
          <a:prstGeom prst="ellipse">
            <a:avLst/>
          </a:prstGeom>
          <a:solidFill>
            <a:srgbClr val="065A82"/>
          </a:solidFill>
          <a:ln/>
        </p:spPr>
        <p:txBody>
          <a:bodyPr/>
          <a:lstStyle/>
          <a:p>
            <a:endParaRPr lang="zh-CN" altLang="en-US"/>
          </a:p>
        </p:txBody>
      </p:sp>
      <p:sp>
        <p:nvSpPr>
          <p:cNvPr id="6" name="Text 4"/>
          <p:cNvSpPr/>
          <p:nvPr/>
        </p:nvSpPr>
        <p:spPr>
          <a:xfrm>
            <a:off x="457200" y="1371600"/>
            <a:ext cx="1463040" cy="320040"/>
          </a:xfrm>
          <a:prstGeom prst="rect">
            <a:avLst/>
          </a:prstGeom>
          <a:noFill/>
          <a:ln/>
        </p:spPr>
        <p:txBody>
          <a:bodyPr wrap="square" lIns="0" tIns="0" rIns="0" bIns="0" rtlCol="0" anchor="ctr"/>
          <a:lstStyle/>
          <a:p>
            <a:pPr marL="0" indent="0" algn="ctr">
              <a:buNone/>
            </a:pPr>
            <a:r>
              <a:rPr lang="en-US" sz="1300" b="1" dirty="0">
                <a:solidFill>
                  <a:srgbClr val="065A82"/>
                </a:solidFill>
                <a:latin typeface="Arial" pitchFamily="34" charset="0"/>
                <a:ea typeface="Arial" pitchFamily="34" charset="-122"/>
                <a:cs typeface="Arial" pitchFamily="34" charset="-120"/>
              </a:rPr>
              <a:t>MVP V1.0</a:t>
            </a:r>
            <a:endParaRPr lang="en-US" sz="1300" dirty="0"/>
          </a:p>
        </p:txBody>
      </p:sp>
      <p:sp>
        <p:nvSpPr>
          <p:cNvPr id="7" name="Text 5"/>
          <p:cNvSpPr/>
          <p:nvPr/>
        </p:nvSpPr>
        <p:spPr>
          <a:xfrm>
            <a:off x="457200" y="1602087"/>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2026 Q1</a:t>
            </a:r>
            <a:endParaRPr lang="en-US" sz="1000" dirty="0"/>
          </a:p>
        </p:txBody>
      </p:sp>
      <p:sp>
        <p:nvSpPr>
          <p:cNvPr id="8" name="Shape 6"/>
          <p:cNvSpPr/>
          <p:nvPr/>
        </p:nvSpPr>
        <p:spPr>
          <a:xfrm>
            <a:off x="548640" y="2286000"/>
            <a:ext cx="1965960" cy="2560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9" name="Shape 7"/>
          <p:cNvSpPr/>
          <p:nvPr/>
        </p:nvSpPr>
        <p:spPr>
          <a:xfrm>
            <a:off x="548640" y="2286000"/>
            <a:ext cx="1965960" cy="36576"/>
          </a:xfrm>
          <a:prstGeom prst="rect">
            <a:avLst/>
          </a:prstGeom>
          <a:solidFill>
            <a:srgbClr val="065A82"/>
          </a:solidFill>
          <a:ln/>
        </p:spPr>
        <p:txBody>
          <a:bodyPr/>
          <a:lstStyle/>
          <a:p>
            <a:endParaRPr lang="zh-CN" altLang="en-US"/>
          </a:p>
        </p:txBody>
      </p:sp>
      <p:pic>
        <p:nvPicPr>
          <p:cNvPr id="10" name="Image 0" descr="preencoded.png"/>
          <p:cNvPicPr>
            <a:picLocks noChangeAspect="1"/>
          </p:cNvPicPr>
          <p:nvPr/>
        </p:nvPicPr>
        <p:blipFill>
          <a:blip r:embed="rId3"/>
          <a:stretch>
            <a:fillRect/>
          </a:stretch>
        </p:blipFill>
        <p:spPr>
          <a:xfrm>
            <a:off x="658368" y="2437395"/>
            <a:ext cx="146304" cy="146304"/>
          </a:xfrm>
          <a:prstGeom prst="rect">
            <a:avLst/>
          </a:prstGeom>
        </p:spPr>
      </p:pic>
      <p:sp>
        <p:nvSpPr>
          <p:cNvPr id="11" name="Text 8"/>
          <p:cNvSpPr/>
          <p:nvPr/>
        </p:nvSpPr>
        <p:spPr>
          <a:xfrm>
            <a:off x="896112" y="2429383"/>
            <a:ext cx="1508760" cy="274320"/>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可视化本体设计器 · 对象/属性/关系</a:t>
            </a:r>
            <a:endParaRPr lang="en-US" sz="900" dirty="0"/>
          </a:p>
        </p:txBody>
      </p:sp>
      <p:pic>
        <p:nvPicPr>
          <p:cNvPr id="12" name="Image 1" descr="preencoded.png"/>
          <p:cNvPicPr>
            <a:picLocks noChangeAspect="1"/>
          </p:cNvPicPr>
          <p:nvPr/>
        </p:nvPicPr>
        <p:blipFill>
          <a:blip r:embed="rId3"/>
          <a:stretch>
            <a:fillRect/>
          </a:stretch>
        </p:blipFill>
        <p:spPr>
          <a:xfrm>
            <a:off x="659593" y="2828517"/>
            <a:ext cx="146304" cy="146304"/>
          </a:xfrm>
          <a:prstGeom prst="rect">
            <a:avLst/>
          </a:prstGeom>
        </p:spPr>
      </p:pic>
      <p:sp>
        <p:nvSpPr>
          <p:cNvPr id="13" name="Text 9"/>
          <p:cNvSpPr/>
          <p:nvPr/>
        </p:nvSpPr>
        <p:spPr>
          <a:xfrm>
            <a:off x="896112" y="2764509"/>
            <a:ext cx="1508760" cy="274320"/>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REST API + JWT认证</a:t>
            </a:r>
            <a:endParaRPr lang="en-US" sz="900" dirty="0"/>
          </a:p>
        </p:txBody>
      </p:sp>
      <p:pic>
        <p:nvPicPr>
          <p:cNvPr id="14" name="Image 2" descr="preencoded.png"/>
          <p:cNvPicPr>
            <a:picLocks noChangeAspect="1"/>
          </p:cNvPicPr>
          <p:nvPr/>
        </p:nvPicPr>
        <p:blipFill>
          <a:blip r:embed="rId3"/>
          <a:stretch>
            <a:fillRect/>
          </a:stretch>
        </p:blipFill>
        <p:spPr>
          <a:xfrm>
            <a:off x="658368" y="3182112"/>
            <a:ext cx="146304" cy="146304"/>
          </a:xfrm>
          <a:prstGeom prst="rect">
            <a:avLst/>
          </a:prstGeom>
        </p:spPr>
      </p:pic>
      <p:sp>
        <p:nvSpPr>
          <p:cNvPr id="15" name="Text 10"/>
          <p:cNvSpPr/>
          <p:nvPr/>
        </p:nvSpPr>
        <p:spPr>
          <a:xfrm>
            <a:off x="896112" y="3182112"/>
            <a:ext cx="1508760" cy="185901"/>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MCP Server</a:t>
            </a:r>
            <a:endParaRPr lang="en-US" sz="900" dirty="0"/>
          </a:p>
        </p:txBody>
      </p:sp>
      <p:pic>
        <p:nvPicPr>
          <p:cNvPr id="16" name="Image 3" descr="preencoded.png"/>
          <p:cNvPicPr>
            <a:picLocks noChangeAspect="1"/>
          </p:cNvPicPr>
          <p:nvPr/>
        </p:nvPicPr>
        <p:blipFill>
          <a:blip r:embed="rId3"/>
          <a:stretch>
            <a:fillRect/>
          </a:stretch>
        </p:blipFill>
        <p:spPr>
          <a:xfrm>
            <a:off x="658368" y="3560036"/>
            <a:ext cx="146304" cy="146304"/>
          </a:xfrm>
          <a:prstGeom prst="rect">
            <a:avLst/>
          </a:prstGeom>
        </p:spPr>
      </p:pic>
      <p:sp>
        <p:nvSpPr>
          <p:cNvPr id="17" name="Text 11"/>
          <p:cNvSpPr/>
          <p:nvPr/>
        </p:nvSpPr>
        <p:spPr>
          <a:xfrm>
            <a:off x="896112" y="3496028"/>
            <a:ext cx="1508760" cy="274320"/>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基础RBAC + 审计日志</a:t>
            </a:r>
            <a:endParaRPr lang="en-US" sz="900" dirty="0"/>
          </a:p>
        </p:txBody>
      </p:sp>
      <p:pic>
        <p:nvPicPr>
          <p:cNvPr id="18" name="Image 4" descr="preencoded.png"/>
          <p:cNvPicPr>
            <a:picLocks noChangeAspect="1"/>
          </p:cNvPicPr>
          <p:nvPr/>
        </p:nvPicPr>
        <p:blipFill>
          <a:blip r:embed="rId3"/>
          <a:stretch>
            <a:fillRect/>
          </a:stretch>
        </p:blipFill>
        <p:spPr>
          <a:xfrm>
            <a:off x="658368" y="3895629"/>
            <a:ext cx="146304" cy="146304"/>
          </a:xfrm>
          <a:prstGeom prst="rect">
            <a:avLst/>
          </a:prstGeom>
        </p:spPr>
      </p:pic>
      <p:sp>
        <p:nvSpPr>
          <p:cNvPr id="19" name="Text 12"/>
          <p:cNvSpPr/>
          <p:nvPr/>
        </p:nvSpPr>
        <p:spPr>
          <a:xfrm>
            <a:off x="896112" y="3831621"/>
            <a:ext cx="1508760" cy="274320"/>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数据库逆向建模</a:t>
            </a:r>
            <a:endParaRPr lang="en-US" sz="900" dirty="0"/>
          </a:p>
        </p:txBody>
      </p:sp>
      <p:sp>
        <p:nvSpPr>
          <p:cNvPr id="20" name="Shape 13"/>
          <p:cNvSpPr/>
          <p:nvPr/>
        </p:nvSpPr>
        <p:spPr>
          <a:xfrm>
            <a:off x="3200400" y="1828800"/>
            <a:ext cx="228600" cy="228600"/>
          </a:xfrm>
          <a:prstGeom prst="ellipse">
            <a:avLst/>
          </a:prstGeom>
          <a:solidFill>
            <a:srgbClr val="22A699"/>
          </a:solidFill>
          <a:ln/>
        </p:spPr>
        <p:txBody>
          <a:bodyPr/>
          <a:lstStyle/>
          <a:p>
            <a:endParaRPr lang="zh-CN" altLang="en-US"/>
          </a:p>
        </p:txBody>
      </p:sp>
      <p:sp>
        <p:nvSpPr>
          <p:cNvPr id="21" name="Text 14"/>
          <p:cNvSpPr/>
          <p:nvPr/>
        </p:nvSpPr>
        <p:spPr>
          <a:xfrm>
            <a:off x="2606040" y="1371600"/>
            <a:ext cx="1463040" cy="320040"/>
          </a:xfrm>
          <a:prstGeom prst="rect">
            <a:avLst/>
          </a:prstGeom>
          <a:noFill/>
          <a:ln/>
        </p:spPr>
        <p:txBody>
          <a:bodyPr wrap="square" lIns="0" tIns="0" rIns="0" bIns="0" rtlCol="0" anchor="ctr"/>
          <a:lstStyle/>
          <a:p>
            <a:pPr marL="0" indent="0" algn="ctr">
              <a:buNone/>
            </a:pPr>
            <a:r>
              <a:rPr lang="en-US" sz="1300" b="1" dirty="0">
                <a:solidFill>
                  <a:srgbClr val="22A699"/>
                </a:solidFill>
                <a:latin typeface="Arial" pitchFamily="34" charset="0"/>
                <a:ea typeface="Arial" pitchFamily="34" charset="-122"/>
                <a:cs typeface="Arial" pitchFamily="34" charset="-120"/>
              </a:rPr>
              <a:t>V1.5</a:t>
            </a:r>
            <a:endParaRPr lang="en-US" sz="1300" dirty="0"/>
          </a:p>
        </p:txBody>
      </p:sp>
      <p:sp>
        <p:nvSpPr>
          <p:cNvPr id="22" name="Text 15"/>
          <p:cNvSpPr/>
          <p:nvPr/>
        </p:nvSpPr>
        <p:spPr>
          <a:xfrm>
            <a:off x="2606040" y="1602087"/>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2026 Q2</a:t>
            </a:r>
            <a:endParaRPr lang="en-US" sz="1000" dirty="0"/>
          </a:p>
        </p:txBody>
      </p:sp>
      <p:sp>
        <p:nvSpPr>
          <p:cNvPr id="23" name="Shape 16"/>
          <p:cNvSpPr/>
          <p:nvPr/>
        </p:nvSpPr>
        <p:spPr>
          <a:xfrm>
            <a:off x="2697480" y="2286000"/>
            <a:ext cx="1965960" cy="2560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24" name="Shape 17"/>
          <p:cNvSpPr/>
          <p:nvPr/>
        </p:nvSpPr>
        <p:spPr>
          <a:xfrm>
            <a:off x="2697480" y="2286000"/>
            <a:ext cx="1965960" cy="36576"/>
          </a:xfrm>
          <a:prstGeom prst="rect">
            <a:avLst/>
          </a:prstGeom>
          <a:solidFill>
            <a:srgbClr val="22A699"/>
          </a:solidFill>
          <a:ln/>
        </p:spPr>
        <p:txBody>
          <a:bodyPr/>
          <a:lstStyle/>
          <a:p>
            <a:endParaRPr lang="zh-CN" altLang="en-US"/>
          </a:p>
        </p:txBody>
      </p:sp>
      <p:pic>
        <p:nvPicPr>
          <p:cNvPr id="25" name="Image 5" descr="preencoded.png"/>
          <p:cNvPicPr>
            <a:picLocks noChangeAspect="1"/>
          </p:cNvPicPr>
          <p:nvPr/>
        </p:nvPicPr>
        <p:blipFill>
          <a:blip r:embed="rId3"/>
          <a:stretch>
            <a:fillRect/>
          </a:stretch>
        </p:blipFill>
        <p:spPr>
          <a:xfrm>
            <a:off x="2807208" y="2493391"/>
            <a:ext cx="146304" cy="146304"/>
          </a:xfrm>
          <a:prstGeom prst="rect">
            <a:avLst/>
          </a:prstGeom>
        </p:spPr>
      </p:pic>
      <p:sp>
        <p:nvSpPr>
          <p:cNvPr id="26" name="Text 18"/>
          <p:cNvSpPr/>
          <p:nvPr/>
        </p:nvSpPr>
        <p:spPr>
          <a:xfrm>
            <a:off x="3044952" y="2429383"/>
            <a:ext cx="1508760" cy="274320"/>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行为系统 + 校验规则引擎</a:t>
            </a:r>
            <a:endParaRPr lang="en-US" sz="900" dirty="0"/>
          </a:p>
        </p:txBody>
      </p:sp>
      <p:pic>
        <p:nvPicPr>
          <p:cNvPr id="27" name="Image 6" descr="preencoded.png"/>
          <p:cNvPicPr>
            <a:picLocks noChangeAspect="1"/>
          </p:cNvPicPr>
          <p:nvPr/>
        </p:nvPicPr>
        <p:blipFill>
          <a:blip r:embed="rId3"/>
          <a:stretch>
            <a:fillRect/>
          </a:stretch>
        </p:blipFill>
        <p:spPr>
          <a:xfrm>
            <a:off x="2807208" y="2828517"/>
            <a:ext cx="146304" cy="146304"/>
          </a:xfrm>
          <a:prstGeom prst="rect">
            <a:avLst/>
          </a:prstGeom>
        </p:spPr>
      </p:pic>
      <p:sp>
        <p:nvSpPr>
          <p:cNvPr id="28" name="Text 19"/>
          <p:cNvSpPr/>
          <p:nvPr/>
        </p:nvSpPr>
        <p:spPr>
          <a:xfrm>
            <a:off x="3044952" y="2828517"/>
            <a:ext cx="1618488" cy="146304"/>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MCP execute_action / validate</a:t>
            </a:r>
            <a:endParaRPr lang="en-US" sz="900" dirty="0"/>
          </a:p>
        </p:txBody>
      </p:sp>
      <p:pic>
        <p:nvPicPr>
          <p:cNvPr id="29" name="Image 7" descr="preencoded.png"/>
          <p:cNvPicPr>
            <a:picLocks noChangeAspect="1"/>
          </p:cNvPicPr>
          <p:nvPr/>
        </p:nvPicPr>
        <p:blipFill>
          <a:blip r:embed="rId3"/>
          <a:stretch>
            <a:fillRect/>
          </a:stretch>
        </p:blipFill>
        <p:spPr>
          <a:xfrm>
            <a:off x="2807208" y="3191441"/>
            <a:ext cx="146304" cy="146304"/>
          </a:xfrm>
          <a:prstGeom prst="rect">
            <a:avLst/>
          </a:prstGeom>
        </p:spPr>
      </p:pic>
      <p:sp>
        <p:nvSpPr>
          <p:cNvPr id="30" name="Text 20"/>
          <p:cNvSpPr/>
          <p:nvPr/>
        </p:nvSpPr>
        <p:spPr>
          <a:xfrm>
            <a:off x="3044952" y="3127814"/>
            <a:ext cx="1508760" cy="274320"/>
          </a:xfrm>
          <a:prstGeom prst="rect">
            <a:avLst/>
          </a:prstGeom>
          <a:noFill/>
          <a:ln/>
        </p:spPr>
        <p:txBody>
          <a:bodyPr wrap="square" lIns="0" tIns="0" rIns="0" bIns="0" rtlCol="0" anchor="ctr"/>
          <a:lstStyle/>
          <a:p>
            <a:pPr marL="0" indent="0">
              <a:buNone/>
            </a:pPr>
            <a:r>
              <a:rPr lang="en-US" sz="900" dirty="0" err="1">
                <a:solidFill>
                  <a:srgbClr val="1E293B"/>
                </a:solidFill>
                <a:latin typeface="Arial" pitchFamily="34" charset="0"/>
                <a:ea typeface="Arial" pitchFamily="34" charset="-122"/>
                <a:cs typeface="Arial" pitchFamily="34" charset="-120"/>
              </a:rPr>
              <a:t>指标定义</a:t>
            </a:r>
            <a:endParaRPr lang="en-US" sz="900" dirty="0"/>
          </a:p>
        </p:txBody>
      </p:sp>
      <p:pic>
        <p:nvPicPr>
          <p:cNvPr id="31" name="Image 8" descr="preencoded.png"/>
          <p:cNvPicPr>
            <a:picLocks noChangeAspect="1"/>
          </p:cNvPicPr>
          <p:nvPr/>
        </p:nvPicPr>
        <p:blipFill>
          <a:blip r:embed="rId3"/>
          <a:stretch>
            <a:fillRect/>
          </a:stretch>
        </p:blipFill>
        <p:spPr>
          <a:xfrm>
            <a:off x="2807208" y="3524591"/>
            <a:ext cx="146304" cy="146304"/>
          </a:xfrm>
          <a:prstGeom prst="rect">
            <a:avLst/>
          </a:prstGeom>
        </p:spPr>
      </p:pic>
      <p:sp>
        <p:nvSpPr>
          <p:cNvPr id="32" name="Text 21"/>
          <p:cNvSpPr/>
          <p:nvPr/>
        </p:nvSpPr>
        <p:spPr>
          <a:xfrm>
            <a:off x="3044952" y="3460583"/>
            <a:ext cx="1508760" cy="274320"/>
          </a:xfrm>
          <a:prstGeom prst="rect">
            <a:avLst/>
          </a:prstGeom>
          <a:noFill/>
          <a:ln/>
        </p:spPr>
        <p:txBody>
          <a:bodyPr wrap="square" lIns="0" tIns="0" rIns="0" bIns="0" rtlCol="0" anchor="ctr"/>
          <a:lstStyle/>
          <a:p>
            <a:pPr marL="0" indent="0">
              <a:buNone/>
            </a:pPr>
            <a:r>
              <a:rPr lang="en-US" sz="900" dirty="0" err="1">
                <a:solidFill>
                  <a:srgbClr val="1E293B"/>
                </a:solidFill>
                <a:latin typeface="Arial" pitchFamily="34" charset="0"/>
                <a:ea typeface="Arial" pitchFamily="34" charset="-122"/>
                <a:cs typeface="Arial" pitchFamily="34" charset="-120"/>
              </a:rPr>
              <a:t>聚合根</a:t>
            </a:r>
            <a:endParaRPr lang="en-US" sz="900" dirty="0"/>
          </a:p>
        </p:txBody>
      </p:sp>
      <p:sp>
        <p:nvSpPr>
          <p:cNvPr id="35" name="Shape 23"/>
          <p:cNvSpPr/>
          <p:nvPr/>
        </p:nvSpPr>
        <p:spPr>
          <a:xfrm>
            <a:off x="5349240" y="1828800"/>
            <a:ext cx="228600" cy="228600"/>
          </a:xfrm>
          <a:prstGeom prst="ellipse">
            <a:avLst/>
          </a:prstGeom>
          <a:solidFill>
            <a:srgbClr val="E78C07"/>
          </a:solidFill>
          <a:ln/>
        </p:spPr>
        <p:txBody>
          <a:bodyPr/>
          <a:lstStyle/>
          <a:p>
            <a:endParaRPr lang="zh-CN" altLang="en-US"/>
          </a:p>
        </p:txBody>
      </p:sp>
      <p:sp>
        <p:nvSpPr>
          <p:cNvPr id="36" name="Text 24"/>
          <p:cNvSpPr/>
          <p:nvPr/>
        </p:nvSpPr>
        <p:spPr>
          <a:xfrm>
            <a:off x="4754880" y="1371600"/>
            <a:ext cx="1463040" cy="320040"/>
          </a:xfrm>
          <a:prstGeom prst="rect">
            <a:avLst/>
          </a:prstGeom>
          <a:noFill/>
          <a:ln/>
        </p:spPr>
        <p:txBody>
          <a:bodyPr wrap="square" lIns="0" tIns="0" rIns="0" bIns="0" rtlCol="0" anchor="ctr"/>
          <a:lstStyle/>
          <a:p>
            <a:pPr marL="0" indent="0" algn="ctr">
              <a:buNone/>
            </a:pPr>
            <a:r>
              <a:rPr lang="en-US" sz="1300" b="1" dirty="0">
                <a:solidFill>
                  <a:srgbClr val="E78C07"/>
                </a:solidFill>
                <a:latin typeface="Arial" pitchFamily="34" charset="0"/>
                <a:ea typeface="Arial" pitchFamily="34" charset="-122"/>
                <a:cs typeface="Arial" pitchFamily="34" charset="-120"/>
              </a:rPr>
              <a:t>V2.0</a:t>
            </a:r>
            <a:endParaRPr lang="en-US" sz="1300" dirty="0"/>
          </a:p>
        </p:txBody>
      </p:sp>
      <p:sp>
        <p:nvSpPr>
          <p:cNvPr id="37" name="Text 25"/>
          <p:cNvSpPr/>
          <p:nvPr/>
        </p:nvSpPr>
        <p:spPr>
          <a:xfrm>
            <a:off x="4754880" y="1602087"/>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2026 Q3</a:t>
            </a:r>
            <a:endParaRPr lang="en-US" sz="1000" dirty="0"/>
          </a:p>
        </p:txBody>
      </p:sp>
      <p:sp>
        <p:nvSpPr>
          <p:cNvPr id="38" name="Shape 26"/>
          <p:cNvSpPr/>
          <p:nvPr/>
        </p:nvSpPr>
        <p:spPr>
          <a:xfrm>
            <a:off x="4846320" y="2286000"/>
            <a:ext cx="1965960" cy="2560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39" name="Shape 27"/>
          <p:cNvSpPr/>
          <p:nvPr/>
        </p:nvSpPr>
        <p:spPr>
          <a:xfrm>
            <a:off x="4846320" y="2286000"/>
            <a:ext cx="1965960" cy="36576"/>
          </a:xfrm>
          <a:prstGeom prst="rect">
            <a:avLst/>
          </a:prstGeom>
          <a:solidFill>
            <a:srgbClr val="E78C07"/>
          </a:solidFill>
          <a:ln/>
        </p:spPr>
        <p:txBody>
          <a:bodyPr/>
          <a:lstStyle/>
          <a:p>
            <a:endParaRPr lang="zh-CN" altLang="en-US"/>
          </a:p>
        </p:txBody>
      </p:sp>
      <p:pic>
        <p:nvPicPr>
          <p:cNvPr id="40" name="Image 10" descr="preencoded.png"/>
          <p:cNvPicPr>
            <a:picLocks noChangeAspect="1"/>
          </p:cNvPicPr>
          <p:nvPr/>
        </p:nvPicPr>
        <p:blipFill>
          <a:blip r:embed="rId3"/>
          <a:stretch>
            <a:fillRect/>
          </a:stretch>
        </p:blipFill>
        <p:spPr>
          <a:xfrm>
            <a:off x="2807208" y="3860184"/>
            <a:ext cx="146304" cy="146304"/>
          </a:xfrm>
          <a:prstGeom prst="rect">
            <a:avLst/>
          </a:prstGeom>
        </p:spPr>
      </p:pic>
      <p:sp>
        <p:nvSpPr>
          <p:cNvPr id="41" name="Text 28"/>
          <p:cNvSpPr/>
          <p:nvPr/>
        </p:nvSpPr>
        <p:spPr>
          <a:xfrm>
            <a:off x="3044952" y="3796176"/>
            <a:ext cx="1508760" cy="274320"/>
          </a:xfrm>
          <a:prstGeom prst="rect">
            <a:avLst/>
          </a:prstGeom>
          <a:noFill/>
          <a:ln/>
        </p:spPr>
        <p:txBody>
          <a:bodyPr wrap="square" lIns="0" tIns="0" rIns="0" bIns="0" rtlCol="0" anchor="ctr"/>
          <a:lstStyle/>
          <a:p>
            <a:pPr marL="0" indent="0">
              <a:buNone/>
            </a:pPr>
            <a:r>
              <a:rPr lang="en-US" sz="900" dirty="0" err="1">
                <a:solidFill>
                  <a:srgbClr val="1E293B"/>
                </a:solidFill>
                <a:latin typeface="Arial" pitchFamily="34" charset="0"/>
                <a:ea typeface="Arial" pitchFamily="34" charset="-122"/>
                <a:cs typeface="Arial" pitchFamily="34" charset="-120"/>
              </a:rPr>
              <a:t>事件层</a:t>
            </a:r>
            <a:endParaRPr lang="en-US" sz="900" dirty="0"/>
          </a:p>
        </p:txBody>
      </p:sp>
      <p:pic>
        <p:nvPicPr>
          <p:cNvPr id="44" name="Image 12" descr="preencoded.png"/>
          <p:cNvPicPr>
            <a:picLocks noChangeAspect="1"/>
          </p:cNvPicPr>
          <p:nvPr/>
        </p:nvPicPr>
        <p:blipFill>
          <a:blip r:embed="rId3"/>
          <a:stretch>
            <a:fillRect/>
          </a:stretch>
        </p:blipFill>
        <p:spPr>
          <a:xfrm>
            <a:off x="4937760" y="2493391"/>
            <a:ext cx="146304" cy="146304"/>
          </a:xfrm>
          <a:prstGeom prst="rect">
            <a:avLst/>
          </a:prstGeom>
        </p:spPr>
      </p:pic>
      <p:sp>
        <p:nvSpPr>
          <p:cNvPr id="45" name="Text 30"/>
          <p:cNvSpPr/>
          <p:nvPr/>
        </p:nvSpPr>
        <p:spPr>
          <a:xfrm>
            <a:off x="5193792" y="2429383"/>
            <a:ext cx="1508760" cy="274320"/>
          </a:xfrm>
          <a:prstGeom prst="rect">
            <a:avLst/>
          </a:prstGeom>
          <a:noFill/>
          <a:ln/>
        </p:spPr>
        <p:txBody>
          <a:bodyPr wrap="square" lIns="0" tIns="0" rIns="0" bIns="0" rtlCol="0" anchor="ctr"/>
          <a:lstStyle/>
          <a:p>
            <a:pPr marL="0" indent="0">
              <a:buNone/>
            </a:pPr>
            <a:r>
              <a:rPr lang="en-US" sz="900" dirty="0" err="1">
                <a:solidFill>
                  <a:srgbClr val="1E293B"/>
                </a:solidFill>
                <a:latin typeface="Arial" pitchFamily="34" charset="0"/>
                <a:ea typeface="Arial" pitchFamily="34" charset="-122"/>
                <a:cs typeface="Arial" pitchFamily="34" charset="-120"/>
              </a:rPr>
              <a:t>AI辅助本体建模</a:t>
            </a:r>
            <a:endParaRPr lang="en-US" sz="900" dirty="0"/>
          </a:p>
        </p:txBody>
      </p:sp>
      <p:pic>
        <p:nvPicPr>
          <p:cNvPr id="46" name="Image 13" descr="preencoded.png"/>
          <p:cNvPicPr>
            <a:picLocks noChangeAspect="1"/>
          </p:cNvPicPr>
          <p:nvPr/>
        </p:nvPicPr>
        <p:blipFill>
          <a:blip r:embed="rId3"/>
          <a:stretch>
            <a:fillRect/>
          </a:stretch>
        </p:blipFill>
        <p:spPr>
          <a:xfrm>
            <a:off x="4956048" y="3281848"/>
            <a:ext cx="146304" cy="146304"/>
          </a:xfrm>
          <a:prstGeom prst="rect">
            <a:avLst/>
          </a:prstGeom>
        </p:spPr>
      </p:pic>
      <p:sp>
        <p:nvSpPr>
          <p:cNvPr id="47" name="Text 31"/>
          <p:cNvSpPr/>
          <p:nvPr/>
        </p:nvSpPr>
        <p:spPr>
          <a:xfrm>
            <a:off x="5193792" y="3217840"/>
            <a:ext cx="1508760" cy="274320"/>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What-if场景推演</a:t>
            </a:r>
            <a:endParaRPr lang="en-US" sz="900" dirty="0"/>
          </a:p>
        </p:txBody>
      </p:sp>
      <p:sp>
        <p:nvSpPr>
          <p:cNvPr id="50" name="Shape 33"/>
          <p:cNvSpPr/>
          <p:nvPr/>
        </p:nvSpPr>
        <p:spPr>
          <a:xfrm>
            <a:off x="7498080" y="1828800"/>
            <a:ext cx="228600" cy="228600"/>
          </a:xfrm>
          <a:prstGeom prst="ellipse">
            <a:avLst/>
          </a:prstGeom>
          <a:solidFill>
            <a:srgbClr val="8B5CF6"/>
          </a:solidFill>
          <a:ln/>
        </p:spPr>
        <p:txBody>
          <a:bodyPr/>
          <a:lstStyle/>
          <a:p>
            <a:endParaRPr lang="zh-CN" altLang="en-US"/>
          </a:p>
        </p:txBody>
      </p:sp>
      <p:sp>
        <p:nvSpPr>
          <p:cNvPr id="51" name="Text 34"/>
          <p:cNvSpPr/>
          <p:nvPr/>
        </p:nvSpPr>
        <p:spPr>
          <a:xfrm>
            <a:off x="6903720" y="1371600"/>
            <a:ext cx="1463040" cy="320040"/>
          </a:xfrm>
          <a:prstGeom prst="rect">
            <a:avLst/>
          </a:prstGeom>
          <a:noFill/>
          <a:ln/>
        </p:spPr>
        <p:txBody>
          <a:bodyPr wrap="square" lIns="0" tIns="0" rIns="0" bIns="0" rtlCol="0" anchor="ctr"/>
          <a:lstStyle/>
          <a:p>
            <a:pPr marL="0" indent="0" algn="ctr">
              <a:buNone/>
            </a:pPr>
            <a:r>
              <a:rPr lang="en-US" sz="1300" b="1" dirty="0">
                <a:solidFill>
                  <a:srgbClr val="8B5CF6"/>
                </a:solidFill>
                <a:latin typeface="Arial" pitchFamily="34" charset="0"/>
                <a:ea typeface="Arial" pitchFamily="34" charset="-122"/>
                <a:cs typeface="Arial" pitchFamily="34" charset="-120"/>
              </a:rPr>
              <a:t>V2.5+</a:t>
            </a:r>
            <a:endParaRPr lang="en-US" sz="1300" dirty="0"/>
          </a:p>
        </p:txBody>
      </p:sp>
      <p:sp>
        <p:nvSpPr>
          <p:cNvPr id="52" name="Text 35"/>
          <p:cNvSpPr/>
          <p:nvPr/>
        </p:nvSpPr>
        <p:spPr>
          <a:xfrm>
            <a:off x="6903720" y="1602087"/>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2026 Q4+</a:t>
            </a:r>
            <a:endParaRPr lang="en-US" sz="1000" dirty="0"/>
          </a:p>
        </p:txBody>
      </p:sp>
      <p:sp>
        <p:nvSpPr>
          <p:cNvPr id="53" name="Shape 36"/>
          <p:cNvSpPr/>
          <p:nvPr/>
        </p:nvSpPr>
        <p:spPr>
          <a:xfrm>
            <a:off x="6995160" y="2286000"/>
            <a:ext cx="1965960" cy="2560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zh-CN" altLang="en-US"/>
          </a:p>
        </p:txBody>
      </p:sp>
      <p:sp>
        <p:nvSpPr>
          <p:cNvPr id="54" name="Shape 37"/>
          <p:cNvSpPr/>
          <p:nvPr/>
        </p:nvSpPr>
        <p:spPr>
          <a:xfrm>
            <a:off x="6995160" y="2286000"/>
            <a:ext cx="1965960" cy="36576"/>
          </a:xfrm>
          <a:prstGeom prst="rect">
            <a:avLst/>
          </a:prstGeom>
          <a:solidFill>
            <a:srgbClr val="8B5CF6"/>
          </a:solidFill>
          <a:ln/>
        </p:spPr>
        <p:txBody>
          <a:bodyPr/>
          <a:lstStyle/>
          <a:p>
            <a:endParaRPr lang="zh-CN" altLang="en-US"/>
          </a:p>
        </p:txBody>
      </p:sp>
      <p:pic>
        <p:nvPicPr>
          <p:cNvPr id="55" name="Image 15" descr="preencoded.png"/>
          <p:cNvPicPr>
            <a:picLocks noChangeAspect="1"/>
          </p:cNvPicPr>
          <p:nvPr/>
        </p:nvPicPr>
        <p:blipFill>
          <a:blip r:embed="rId3"/>
          <a:stretch>
            <a:fillRect/>
          </a:stretch>
        </p:blipFill>
        <p:spPr>
          <a:xfrm>
            <a:off x="7104888" y="2493391"/>
            <a:ext cx="146304" cy="146304"/>
          </a:xfrm>
          <a:prstGeom prst="rect">
            <a:avLst/>
          </a:prstGeom>
        </p:spPr>
      </p:pic>
      <p:sp>
        <p:nvSpPr>
          <p:cNvPr id="56" name="Text 38"/>
          <p:cNvSpPr/>
          <p:nvPr/>
        </p:nvSpPr>
        <p:spPr>
          <a:xfrm>
            <a:off x="7342632" y="2484247"/>
            <a:ext cx="1508760" cy="16459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本体市场 · 插件体系</a:t>
            </a:r>
            <a:endParaRPr lang="en-US" sz="900" dirty="0"/>
          </a:p>
        </p:txBody>
      </p:sp>
      <p:pic>
        <p:nvPicPr>
          <p:cNvPr id="57" name="Image 16" descr="preencoded.png"/>
          <p:cNvPicPr>
            <a:picLocks noChangeAspect="1"/>
          </p:cNvPicPr>
          <p:nvPr/>
        </p:nvPicPr>
        <p:blipFill>
          <a:blip r:embed="rId3"/>
          <a:stretch>
            <a:fillRect/>
          </a:stretch>
        </p:blipFill>
        <p:spPr>
          <a:xfrm>
            <a:off x="7104888" y="2828517"/>
            <a:ext cx="146304" cy="146304"/>
          </a:xfrm>
          <a:prstGeom prst="rect">
            <a:avLst/>
          </a:prstGeom>
        </p:spPr>
      </p:pic>
      <p:sp>
        <p:nvSpPr>
          <p:cNvPr id="58" name="Text 39"/>
          <p:cNvSpPr/>
          <p:nvPr/>
        </p:nvSpPr>
        <p:spPr>
          <a:xfrm>
            <a:off x="7342632" y="2819373"/>
            <a:ext cx="1508760" cy="16459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自动本体更新 · 效果分析</a:t>
            </a:r>
            <a:endParaRPr lang="en-US" sz="900" dirty="0"/>
          </a:p>
        </p:txBody>
      </p:sp>
      <p:pic>
        <p:nvPicPr>
          <p:cNvPr id="59" name="Image 17" descr="preencoded.png"/>
          <p:cNvPicPr>
            <a:picLocks noChangeAspect="1"/>
          </p:cNvPicPr>
          <p:nvPr/>
        </p:nvPicPr>
        <p:blipFill>
          <a:blip r:embed="rId3"/>
          <a:stretch>
            <a:fillRect/>
          </a:stretch>
        </p:blipFill>
        <p:spPr>
          <a:xfrm>
            <a:off x="7104888" y="3182112"/>
            <a:ext cx="146304" cy="146304"/>
          </a:xfrm>
          <a:prstGeom prst="rect">
            <a:avLst/>
          </a:prstGeom>
        </p:spPr>
      </p:pic>
      <p:sp>
        <p:nvSpPr>
          <p:cNvPr id="60" name="Text 40"/>
          <p:cNvSpPr/>
          <p:nvPr/>
        </p:nvSpPr>
        <p:spPr>
          <a:xfrm>
            <a:off x="7342632" y="3182112"/>
            <a:ext cx="1508760" cy="203055"/>
          </a:xfrm>
          <a:prstGeom prst="rect">
            <a:avLst/>
          </a:prstGeom>
          <a:noFill/>
          <a:ln/>
        </p:spPr>
        <p:txBody>
          <a:bodyPr wrap="square" lIns="0" tIns="0" rIns="0" bIns="0" rtlCol="0" anchor="ctr"/>
          <a:lstStyle/>
          <a:p>
            <a:r>
              <a:rPr lang="en-US" altLang="zh-CN" sz="900" dirty="0" err="1">
                <a:solidFill>
                  <a:srgbClr val="1E293B"/>
                </a:solidFill>
                <a:latin typeface="Arial" pitchFamily="34" charset="0"/>
                <a:ea typeface="Arial" pitchFamily="34" charset="-122"/>
                <a:cs typeface="Arial" pitchFamily="34" charset="-120"/>
              </a:rPr>
              <a:t>独立Schema</a:t>
            </a:r>
            <a:r>
              <a:rPr lang="en-US" altLang="zh-CN" sz="900" dirty="0">
                <a:solidFill>
                  <a:srgbClr val="1E293B"/>
                </a:solidFill>
                <a:latin typeface="Arial" pitchFamily="34" charset="0"/>
                <a:ea typeface="Arial" pitchFamily="34" charset="-122"/>
                <a:cs typeface="Arial" pitchFamily="34" charset="-120"/>
              </a:rPr>
              <a:t> </a:t>
            </a:r>
            <a:r>
              <a:rPr lang="zh-CN" altLang="en-US" sz="900" dirty="0">
                <a:solidFill>
                  <a:srgbClr val="1E293B"/>
                </a:solidFill>
                <a:latin typeface="Arial" pitchFamily="34" charset="0"/>
                <a:ea typeface="Arial" pitchFamily="34" charset="-122"/>
                <a:cs typeface="Arial" pitchFamily="34" charset="-120"/>
              </a:rPr>
              <a:t>，</a:t>
            </a:r>
            <a:r>
              <a:rPr lang="en-US" sz="900" dirty="0" err="1">
                <a:solidFill>
                  <a:srgbClr val="1E293B"/>
                </a:solidFill>
                <a:latin typeface="Arial" pitchFamily="34" charset="0"/>
                <a:ea typeface="Arial" pitchFamily="34" charset="-122"/>
                <a:cs typeface="Arial" pitchFamily="34" charset="-120"/>
              </a:rPr>
              <a:t>独立DB实例</a:t>
            </a:r>
            <a:r>
              <a:rPr lang="zh-CN" altLang="en-US" sz="900" dirty="0">
                <a:solidFill>
                  <a:srgbClr val="1E293B"/>
                </a:solidFill>
                <a:latin typeface="Arial" pitchFamily="34" charset="0"/>
                <a:ea typeface="Arial" pitchFamily="34" charset="-122"/>
                <a:cs typeface="Arial" pitchFamily="34" charset="-120"/>
              </a:rPr>
              <a:t>，</a:t>
            </a:r>
            <a:r>
              <a:rPr lang="en-US" sz="900" dirty="0" err="1">
                <a:solidFill>
                  <a:srgbClr val="1E293B"/>
                </a:solidFill>
                <a:latin typeface="Arial" pitchFamily="34" charset="0"/>
                <a:ea typeface="Arial" pitchFamily="34" charset="-122"/>
                <a:cs typeface="Arial" pitchFamily="34" charset="-120"/>
              </a:rPr>
              <a:t>多租户</a:t>
            </a:r>
            <a:endParaRPr lang="en-US" sz="900" dirty="0"/>
          </a:p>
        </p:txBody>
      </p:sp>
      <p:pic>
        <p:nvPicPr>
          <p:cNvPr id="61" name="Image 18" descr="preencoded.png"/>
          <p:cNvPicPr>
            <a:picLocks noChangeAspect="1"/>
          </p:cNvPicPr>
          <p:nvPr/>
        </p:nvPicPr>
        <p:blipFill>
          <a:blip r:embed="rId3"/>
          <a:stretch>
            <a:fillRect/>
          </a:stretch>
        </p:blipFill>
        <p:spPr>
          <a:xfrm>
            <a:off x="7104888" y="3611880"/>
            <a:ext cx="146304" cy="146304"/>
          </a:xfrm>
          <a:prstGeom prst="rect">
            <a:avLst/>
          </a:prstGeom>
        </p:spPr>
      </p:pic>
      <p:sp>
        <p:nvSpPr>
          <p:cNvPr id="62" name="Text 41"/>
          <p:cNvSpPr/>
          <p:nvPr/>
        </p:nvSpPr>
        <p:spPr>
          <a:xfrm>
            <a:off x="7342632" y="3602736"/>
            <a:ext cx="1508760" cy="16459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10+行业模板</a:t>
            </a:r>
            <a:endParaRPr lang="en-US" sz="900" dirty="0"/>
          </a:p>
        </p:txBody>
      </p:sp>
      <p:pic>
        <p:nvPicPr>
          <p:cNvPr id="63" name="Image 19" descr="preencoded.png"/>
          <p:cNvPicPr>
            <a:picLocks noChangeAspect="1"/>
          </p:cNvPicPr>
          <p:nvPr/>
        </p:nvPicPr>
        <p:blipFill>
          <a:blip r:embed="rId3"/>
          <a:stretch>
            <a:fillRect/>
          </a:stretch>
        </p:blipFill>
        <p:spPr>
          <a:xfrm>
            <a:off x="7104888" y="3947473"/>
            <a:ext cx="146304" cy="146304"/>
          </a:xfrm>
          <a:prstGeom prst="rect">
            <a:avLst/>
          </a:prstGeom>
        </p:spPr>
      </p:pic>
      <p:sp>
        <p:nvSpPr>
          <p:cNvPr id="64" name="Text 42"/>
          <p:cNvSpPr/>
          <p:nvPr/>
        </p:nvSpPr>
        <p:spPr>
          <a:xfrm>
            <a:off x="7342632" y="3938329"/>
            <a:ext cx="1508760" cy="16459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高可用架构 · 弹性伸缩</a:t>
            </a:r>
            <a:endParaRPr lang="en-US" sz="900" dirty="0"/>
          </a:p>
        </p:txBody>
      </p:sp>
      <p:pic>
        <p:nvPicPr>
          <p:cNvPr id="33" name="Image 9" descr="preencoded.png"/>
          <p:cNvPicPr>
            <a:picLocks noChangeAspect="1"/>
          </p:cNvPicPr>
          <p:nvPr/>
        </p:nvPicPr>
        <p:blipFill>
          <a:blip r:embed="rId3"/>
          <a:stretch>
            <a:fillRect/>
          </a:stretch>
        </p:blipFill>
        <p:spPr>
          <a:xfrm>
            <a:off x="4965664" y="3673153"/>
            <a:ext cx="146304" cy="146304"/>
          </a:xfrm>
          <a:prstGeom prst="rect">
            <a:avLst/>
          </a:prstGeom>
        </p:spPr>
      </p:pic>
      <p:sp>
        <p:nvSpPr>
          <p:cNvPr id="34" name="Text 22"/>
          <p:cNvSpPr/>
          <p:nvPr/>
        </p:nvSpPr>
        <p:spPr>
          <a:xfrm>
            <a:off x="5203408" y="3664009"/>
            <a:ext cx="1508760" cy="16459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行业模板(</a:t>
            </a:r>
            <a:r>
              <a:rPr lang="en-US" sz="900" dirty="0" err="1">
                <a:solidFill>
                  <a:srgbClr val="1E293B"/>
                </a:solidFill>
                <a:latin typeface="Arial" pitchFamily="34" charset="0"/>
                <a:ea typeface="Arial" pitchFamily="34" charset="-122"/>
                <a:cs typeface="Arial" pitchFamily="34" charset="-120"/>
              </a:rPr>
              <a:t>制造</a:t>
            </a:r>
            <a:r>
              <a:rPr lang="en-US" sz="900" dirty="0">
                <a:solidFill>
                  <a:srgbClr val="1E293B"/>
                </a:solidFill>
                <a:latin typeface="Arial" pitchFamily="34" charset="0"/>
                <a:ea typeface="Arial" pitchFamily="34" charset="-122"/>
                <a:cs typeface="Arial" pitchFamily="34" charset="-120"/>
              </a:rPr>
              <a:t>)</a:t>
            </a:r>
            <a:endParaRPr lang="en-US" sz="900" dirty="0"/>
          </a:p>
        </p:txBody>
      </p:sp>
      <p:pic>
        <p:nvPicPr>
          <p:cNvPr id="65" name="Image 10" descr="preencoded.png">
            <a:extLst>
              <a:ext uri="{FF2B5EF4-FFF2-40B4-BE49-F238E27FC236}">
                <a16:creationId xmlns:a16="http://schemas.microsoft.com/office/drawing/2014/main" id="{95E24D41-0DEE-2F23-6792-BED67406D790}"/>
              </a:ext>
            </a:extLst>
          </p:cNvPr>
          <p:cNvPicPr>
            <a:picLocks noChangeAspect="1"/>
          </p:cNvPicPr>
          <p:nvPr/>
        </p:nvPicPr>
        <p:blipFill>
          <a:blip r:embed="rId3"/>
          <a:stretch>
            <a:fillRect/>
          </a:stretch>
        </p:blipFill>
        <p:spPr>
          <a:xfrm>
            <a:off x="2807208" y="4200175"/>
            <a:ext cx="146304" cy="146304"/>
          </a:xfrm>
          <a:prstGeom prst="rect">
            <a:avLst/>
          </a:prstGeom>
        </p:spPr>
      </p:pic>
      <p:sp>
        <p:nvSpPr>
          <p:cNvPr id="66" name="Text 28">
            <a:extLst>
              <a:ext uri="{FF2B5EF4-FFF2-40B4-BE49-F238E27FC236}">
                <a16:creationId xmlns:a16="http://schemas.microsoft.com/office/drawing/2014/main" id="{A24EF4ED-D00F-17C2-F3CE-7365B0FACE7A}"/>
              </a:ext>
            </a:extLst>
          </p:cNvPr>
          <p:cNvSpPr/>
          <p:nvPr/>
        </p:nvSpPr>
        <p:spPr>
          <a:xfrm>
            <a:off x="3044952" y="4136167"/>
            <a:ext cx="1508760" cy="274320"/>
          </a:xfrm>
          <a:prstGeom prst="rect">
            <a:avLst/>
          </a:prstGeom>
          <a:noFill/>
          <a:ln/>
        </p:spPr>
        <p:txBody>
          <a:bodyPr wrap="square" lIns="0" tIns="0" rIns="0" bIns="0" rtlCol="0" anchor="ctr"/>
          <a:lstStyle/>
          <a:p>
            <a:pPr marL="0" indent="0">
              <a:buNone/>
            </a:pPr>
            <a:r>
              <a:rPr lang="zh-CN" altLang="en-US" sz="900" dirty="0">
                <a:solidFill>
                  <a:srgbClr val="1E293B"/>
                </a:solidFill>
                <a:latin typeface="Arial" pitchFamily="34" charset="0"/>
                <a:ea typeface="Arial" pitchFamily="34" charset="-122"/>
                <a:cs typeface="Arial" pitchFamily="34" charset="-120"/>
              </a:rPr>
              <a:t>规则层</a:t>
            </a:r>
            <a:endParaRPr lang="en-US" sz="900" dirty="0"/>
          </a:p>
        </p:txBody>
      </p:sp>
      <p:sp>
        <p:nvSpPr>
          <p:cNvPr id="68" name="文本框 67">
            <a:extLst>
              <a:ext uri="{FF2B5EF4-FFF2-40B4-BE49-F238E27FC236}">
                <a16:creationId xmlns:a16="http://schemas.microsoft.com/office/drawing/2014/main" id="{E22CE1FF-6011-BC8C-2F6B-C2BDA9575165}"/>
              </a:ext>
            </a:extLst>
          </p:cNvPr>
          <p:cNvSpPr txBox="1"/>
          <p:nvPr/>
        </p:nvSpPr>
        <p:spPr>
          <a:xfrm>
            <a:off x="5102352" y="2837840"/>
            <a:ext cx="1605008" cy="230832"/>
          </a:xfrm>
          <a:prstGeom prst="rect">
            <a:avLst/>
          </a:prstGeom>
          <a:noFill/>
        </p:spPr>
        <p:txBody>
          <a:bodyPr wrap="square">
            <a:spAutoFit/>
          </a:bodyPr>
          <a:lstStyle/>
          <a:p>
            <a:r>
              <a:rPr lang="en-US" altLang="zh-CN" sz="900" dirty="0" err="1">
                <a:solidFill>
                  <a:srgbClr val="1E293B"/>
                </a:solidFill>
                <a:latin typeface="Arial" pitchFamily="34" charset="0"/>
                <a:cs typeface="Arial" pitchFamily="34" charset="-120"/>
              </a:rPr>
              <a:t>resolve_intent</a:t>
            </a:r>
            <a:endParaRPr lang="zh-CN" altLang="en-US" sz="900" dirty="0">
              <a:solidFill>
                <a:srgbClr val="1E293B"/>
              </a:solidFill>
              <a:latin typeface="Arial" pitchFamily="34" charset="0"/>
              <a:cs typeface="Arial" pitchFamily="34" charset="-120"/>
            </a:endParaRPr>
          </a:p>
        </p:txBody>
      </p:sp>
      <p:pic>
        <p:nvPicPr>
          <p:cNvPr id="69" name="Image 12" descr="preencoded.png">
            <a:extLst>
              <a:ext uri="{FF2B5EF4-FFF2-40B4-BE49-F238E27FC236}">
                <a16:creationId xmlns:a16="http://schemas.microsoft.com/office/drawing/2014/main" id="{001790D6-65D6-5B6B-C3B0-76DAD9C0FC02}"/>
              </a:ext>
            </a:extLst>
          </p:cNvPr>
          <p:cNvPicPr>
            <a:picLocks noChangeAspect="1"/>
          </p:cNvPicPr>
          <p:nvPr/>
        </p:nvPicPr>
        <p:blipFill>
          <a:blip r:embed="rId3"/>
          <a:stretch>
            <a:fillRect/>
          </a:stretch>
        </p:blipFill>
        <p:spPr>
          <a:xfrm>
            <a:off x="4943856" y="2910813"/>
            <a:ext cx="146304" cy="14630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0" y="5070348"/>
            <a:ext cx="9144000" cy="54864"/>
          </a:xfrm>
          <a:prstGeom prst="rect">
            <a:avLst/>
          </a:prstGeom>
          <a:solidFill>
            <a:srgbClr val="22A699"/>
          </a:solidFill>
          <a:ln/>
        </p:spPr>
        <p:txBody>
          <a:bodyPr/>
          <a:lstStyle/>
          <a:p>
            <a:endParaRPr lang="zh-CN" altLang="en-US"/>
          </a:p>
        </p:txBody>
      </p:sp>
      <p:pic>
        <p:nvPicPr>
          <p:cNvPr id="4" name="Image 0" descr="preencoded.png"/>
          <p:cNvPicPr>
            <a:picLocks noChangeAspect="1"/>
          </p:cNvPicPr>
          <p:nvPr/>
        </p:nvPicPr>
        <p:blipFill>
          <a:blip r:embed="rId3"/>
          <a:stretch>
            <a:fillRect/>
          </a:stretch>
        </p:blipFill>
        <p:spPr>
          <a:xfrm>
            <a:off x="4297680" y="418338"/>
            <a:ext cx="548640" cy="548640"/>
          </a:xfrm>
          <a:prstGeom prst="rect">
            <a:avLst/>
          </a:prstGeom>
        </p:spPr>
      </p:pic>
      <p:sp>
        <p:nvSpPr>
          <p:cNvPr id="5" name="Text 2"/>
          <p:cNvSpPr/>
          <p:nvPr/>
        </p:nvSpPr>
        <p:spPr>
          <a:xfrm>
            <a:off x="457200" y="1058418"/>
            <a:ext cx="822960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总结</a:t>
            </a:r>
            <a:endParaRPr lang="en-US" sz="3600" dirty="0"/>
          </a:p>
        </p:txBody>
      </p:sp>
      <p:sp>
        <p:nvSpPr>
          <p:cNvPr id="6" name="Shape 3"/>
          <p:cNvSpPr/>
          <p:nvPr/>
        </p:nvSpPr>
        <p:spPr>
          <a:xfrm>
            <a:off x="1405536" y="1888236"/>
            <a:ext cx="320040" cy="320040"/>
          </a:xfrm>
          <a:prstGeom prst="ellipse">
            <a:avLst/>
          </a:prstGeom>
          <a:solidFill>
            <a:srgbClr val="22A699"/>
          </a:solidFill>
          <a:ln/>
        </p:spPr>
        <p:txBody>
          <a:bodyPr/>
          <a:lstStyle/>
          <a:p>
            <a:endParaRPr lang="zh-CN" altLang="en-US" sz="1400"/>
          </a:p>
        </p:txBody>
      </p:sp>
      <p:sp>
        <p:nvSpPr>
          <p:cNvPr id="7" name="Text 4"/>
          <p:cNvSpPr/>
          <p:nvPr/>
        </p:nvSpPr>
        <p:spPr>
          <a:xfrm>
            <a:off x="1405536" y="188823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5"/>
          <p:cNvSpPr/>
          <p:nvPr/>
        </p:nvSpPr>
        <p:spPr>
          <a:xfrm>
            <a:off x="1908456" y="1869948"/>
            <a:ext cx="6858000" cy="365760"/>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本体建模平台 = 业务语义中台，连接大模型智能与企业业务数据的核心基础设施</a:t>
            </a:r>
            <a:endParaRPr lang="en-US" sz="1100" dirty="0"/>
          </a:p>
        </p:txBody>
      </p:sp>
      <p:sp>
        <p:nvSpPr>
          <p:cNvPr id="9" name="Shape 6"/>
          <p:cNvSpPr/>
          <p:nvPr/>
        </p:nvSpPr>
        <p:spPr>
          <a:xfrm>
            <a:off x="1405536" y="2327148"/>
            <a:ext cx="320040" cy="320040"/>
          </a:xfrm>
          <a:prstGeom prst="ellipse">
            <a:avLst/>
          </a:prstGeom>
          <a:solidFill>
            <a:srgbClr val="22A699"/>
          </a:solidFill>
          <a:ln/>
        </p:spPr>
        <p:txBody>
          <a:bodyPr/>
          <a:lstStyle/>
          <a:p>
            <a:endParaRPr lang="zh-CN" altLang="en-US" sz="1400"/>
          </a:p>
        </p:txBody>
      </p:sp>
      <p:sp>
        <p:nvSpPr>
          <p:cNvPr id="10" name="Text 7"/>
          <p:cNvSpPr/>
          <p:nvPr/>
        </p:nvSpPr>
        <p:spPr>
          <a:xfrm>
            <a:off x="1405536" y="232714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1" name="Text 8"/>
          <p:cNvSpPr/>
          <p:nvPr/>
        </p:nvSpPr>
        <p:spPr>
          <a:xfrm>
            <a:off x="1908456" y="2308860"/>
            <a:ext cx="6858000" cy="365760"/>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本体位于 Agent 与应用系统之间——Agent 通过 MCP 工具白名单操作业务，结构上不可绕过</a:t>
            </a:r>
            <a:endParaRPr lang="en-US" sz="1100" dirty="0"/>
          </a:p>
        </p:txBody>
      </p:sp>
      <p:sp>
        <p:nvSpPr>
          <p:cNvPr id="12" name="Shape 9"/>
          <p:cNvSpPr/>
          <p:nvPr/>
        </p:nvSpPr>
        <p:spPr>
          <a:xfrm>
            <a:off x="1405536" y="2766060"/>
            <a:ext cx="320040" cy="320040"/>
          </a:xfrm>
          <a:prstGeom prst="ellipse">
            <a:avLst/>
          </a:prstGeom>
          <a:solidFill>
            <a:srgbClr val="22A699"/>
          </a:solidFill>
          <a:ln/>
        </p:spPr>
        <p:txBody>
          <a:bodyPr/>
          <a:lstStyle/>
          <a:p>
            <a:endParaRPr lang="zh-CN" altLang="en-US" sz="1400"/>
          </a:p>
        </p:txBody>
      </p:sp>
      <p:sp>
        <p:nvSpPr>
          <p:cNvPr id="13" name="Text 10"/>
          <p:cNvSpPr/>
          <p:nvPr/>
        </p:nvSpPr>
        <p:spPr>
          <a:xfrm>
            <a:off x="1405536" y="276606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4" name="Text 11"/>
          <p:cNvSpPr/>
          <p:nvPr/>
        </p:nvSpPr>
        <p:spPr>
          <a:xfrm>
            <a:off x="1908456" y="2747772"/>
            <a:ext cx="6858000" cy="365760"/>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MCP 分发优于 Skill——MCP 提供 100% 结构保证的工具白名单，Skill 仅是提示词约束</a:t>
            </a:r>
            <a:endParaRPr lang="en-US" sz="1100" dirty="0"/>
          </a:p>
        </p:txBody>
      </p:sp>
      <p:sp>
        <p:nvSpPr>
          <p:cNvPr id="15" name="Shape 12"/>
          <p:cNvSpPr/>
          <p:nvPr/>
        </p:nvSpPr>
        <p:spPr>
          <a:xfrm>
            <a:off x="1405536" y="3204972"/>
            <a:ext cx="320040" cy="320040"/>
          </a:xfrm>
          <a:prstGeom prst="ellipse">
            <a:avLst/>
          </a:prstGeom>
          <a:solidFill>
            <a:srgbClr val="22A699"/>
          </a:solidFill>
          <a:ln/>
        </p:spPr>
        <p:txBody>
          <a:bodyPr/>
          <a:lstStyle/>
          <a:p>
            <a:endParaRPr lang="zh-CN" altLang="en-US" sz="1400"/>
          </a:p>
        </p:txBody>
      </p:sp>
      <p:sp>
        <p:nvSpPr>
          <p:cNvPr id="16" name="Text 13"/>
          <p:cNvSpPr/>
          <p:nvPr/>
        </p:nvSpPr>
        <p:spPr>
          <a:xfrm>
            <a:off x="1405536" y="320497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7" name="Text 14"/>
          <p:cNvSpPr/>
          <p:nvPr/>
        </p:nvSpPr>
        <p:spPr>
          <a:xfrm>
            <a:off x="1908456" y="3186684"/>
            <a:ext cx="6858000" cy="365760"/>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四层架构（语义层·动力层·事件层·治理层）覆盖业务模型全生命周期</a:t>
            </a:r>
            <a:endParaRPr lang="en-US" sz="1100" dirty="0"/>
          </a:p>
        </p:txBody>
      </p:sp>
      <p:sp>
        <p:nvSpPr>
          <p:cNvPr id="18" name="Shape 15"/>
          <p:cNvSpPr/>
          <p:nvPr/>
        </p:nvSpPr>
        <p:spPr>
          <a:xfrm>
            <a:off x="1405536" y="3643884"/>
            <a:ext cx="320040" cy="320040"/>
          </a:xfrm>
          <a:prstGeom prst="ellipse">
            <a:avLst/>
          </a:prstGeom>
          <a:solidFill>
            <a:srgbClr val="22A699"/>
          </a:solidFill>
          <a:ln/>
        </p:spPr>
        <p:txBody>
          <a:bodyPr/>
          <a:lstStyle/>
          <a:p>
            <a:endParaRPr lang="zh-CN" altLang="en-US" sz="1400"/>
          </a:p>
        </p:txBody>
      </p:sp>
      <p:sp>
        <p:nvSpPr>
          <p:cNvPr id="19" name="Text 16"/>
          <p:cNvSpPr/>
          <p:nvPr/>
        </p:nvSpPr>
        <p:spPr>
          <a:xfrm>
            <a:off x="1405536" y="36438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0" name="Text 17"/>
          <p:cNvSpPr/>
          <p:nvPr/>
        </p:nvSpPr>
        <p:spPr>
          <a:xfrm>
            <a:off x="1908456" y="3625596"/>
            <a:ext cx="6858000" cy="365760"/>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本体编译为 Agent Manifest 版本化发布，三通道纵深防御确保 Agent 100% 合规</a:t>
            </a:r>
            <a:endParaRPr lang="en-US" sz="1100" dirty="0"/>
          </a:p>
        </p:txBody>
      </p:sp>
      <p:sp>
        <p:nvSpPr>
          <p:cNvPr id="21" name="Shape 18"/>
          <p:cNvSpPr/>
          <p:nvPr/>
        </p:nvSpPr>
        <p:spPr>
          <a:xfrm>
            <a:off x="1405536" y="4082796"/>
            <a:ext cx="320040" cy="320040"/>
          </a:xfrm>
          <a:prstGeom prst="ellipse">
            <a:avLst/>
          </a:prstGeom>
          <a:solidFill>
            <a:srgbClr val="22A699"/>
          </a:solidFill>
          <a:ln/>
        </p:spPr>
        <p:txBody>
          <a:bodyPr/>
          <a:lstStyle/>
          <a:p>
            <a:endParaRPr lang="zh-CN" altLang="en-US" sz="1400"/>
          </a:p>
        </p:txBody>
      </p:sp>
      <p:sp>
        <p:nvSpPr>
          <p:cNvPr id="22" name="Text 19"/>
          <p:cNvSpPr/>
          <p:nvPr/>
        </p:nvSpPr>
        <p:spPr>
          <a:xfrm>
            <a:off x="731520" y="4407408"/>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3" name="Text 20"/>
          <p:cNvSpPr/>
          <p:nvPr/>
        </p:nvSpPr>
        <p:spPr>
          <a:xfrm>
            <a:off x="1908456" y="4064508"/>
            <a:ext cx="6858000" cy="365760"/>
          </a:xfrm>
          <a:prstGeom prst="rect">
            <a:avLst/>
          </a:prstGeom>
          <a:noFill/>
          <a:ln/>
        </p:spPr>
        <p:txBody>
          <a:bodyPr wrap="square" lIns="0" tIns="0" rIns="0" bIns="0" rtlCol="0" anchor="ctr"/>
          <a:lstStyle/>
          <a:p>
            <a:pPr marL="0" indent="0">
              <a:buNone/>
            </a:pPr>
            <a:r>
              <a:rPr lang="en-US" sz="1100" dirty="0">
                <a:solidFill>
                  <a:srgbClr val="CBD5E1"/>
                </a:solidFill>
                <a:latin typeface="Arial" pitchFamily="34" charset="0"/>
                <a:ea typeface="Arial" pitchFamily="34" charset="-122"/>
                <a:cs typeface="Arial" pitchFamily="34" charset="-120"/>
              </a:rPr>
              <a:t>通过上下文映射、多数据源、行业模板、多租户实现快速适配不同企业系统</a:t>
            </a:r>
            <a:endParaRPr lang="en-US" sz="1100" dirty="0"/>
          </a:p>
        </p:txBody>
      </p:sp>
      <p:sp>
        <p:nvSpPr>
          <p:cNvPr id="24" name="Text 21"/>
          <p:cNvSpPr/>
          <p:nvPr/>
        </p:nvSpPr>
        <p:spPr>
          <a:xfrm>
            <a:off x="457200" y="4572000"/>
            <a:ext cx="8229600" cy="365760"/>
          </a:xfrm>
          <a:prstGeom prst="rect">
            <a:avLst/>
          </a:prstGeom>
          <a:noFill/>
          <a:ln/>
        </p:spPr>
        <p:txBody>
          <a:bodyPr wrap="square" lIns="0" tIns="0" rIns="0" bIns="0" rtlCol="0" anchor="ctr"/>
          <a:lstStyle/>
          <a:p>
            <a:pPr marL="0" indent="0" algn="ctr">
              <a:buNone/>
            </a:pPr>
            <a:r>
              <a:rPr lang="en-US" sz="1600" i="1" dirty="0">
                <a:solidFill>
                  <a:srgbClr val="22A699"/>
                </a:solidFill>
                <a:latin typeface="Arial" pitchFamily="34" charset="0"/>
                <a:ea typeface="Arial" pitchFamily="34" charset="-122"/>
                <a:cs typeface="Arial" pitchFamily="34" charset="-120"/>
              </a:rPr>
              <a:t>让 AI 真正理解业务，而不仅仅是生成文字。</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TotalTime>
  <Words>1943</Words>
  <Application>Microsoft Office PowerPoint</Application>
  <PresentationFormat>全屏显示(16:9)</PresentationFormat>
  <Paragraphs>399</Paragraphs>
  <Slides>21</Slides>
  <Notes>19</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微软雅黑</vt:lpstr>
      <vt:lpstr>Arial</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本体建模平台 — 企业Agentic AI时代的业务语义中台</dc:title>
  <dc:subject>PptxGenJS Presentation</dc:subject>
  <dc:creator>本体建模平台产品团队</dc:creator>
  <cp:lastModifiedBy>Frank Zhao</cp:lastModifiedBy>
  <cp:revision>7</cp:revision>
  <dcterms:created xsi:type="dcterms:W3CDTF">2026-06-04T01:19:57Z</dcterms:created>
  <dcterms:modified xsi:type="dcterms:W3CDTF">2026-06-04T07:33:48Z</dcterms:modified>
</cp:coreProperties>
</file>