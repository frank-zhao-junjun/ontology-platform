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Lst>
  <p:notesMasterIdLst>
    <p:notesMasterId r:id="rId43"/>
  </p:notesMasterIdLst>
  <p:sldIdLst>
    <p:sldId id="256" r:id="rId3"/>
    <p:sldId id="257" r:id="rId4"/>
    <p:sldId id="258" r:id="rId5"/>
    <p:sldId id="259" r:id="rId6"/>
    <p:sldId id="260" r:id="rId7"/>
    <p:sldId id="261" r:id="rId8"/>
    <p:sldId id="262" r:id="rId9"/>
    <p:sldId id="273" r:id="rId10"/>
    <p:sldId id="295" r:id="rId11"/>
    <p:sldId id="275" r:id="rId12"/>
    <p:sldId id="276" r:id="rId13"/>
    <p:sldId id="286" r:id="rId14"/>
    <p:sldId id="285" r:id="rId15"/>
    <p:sldId id="284" r:id="rId16"/>
    <p:sldId id="283" r:id="rId17"/>
    <p:sldId id="282" r:id="rId18"/>
    <p:sldId id="281" r:id="rId19"/>
    <p:sldId id="280" r:id="rId20"/>
    <p:sldId id="279" r:id="rId21"/>
    <p:sldId id="278" r:id="rId22"/>
    <p:sldId id="277" r:id="rId23"/>
    <p:sldId id="274" r:id="rId24"/>
    <p:sldId id="263" r:id="rId25"/>
    <p:sldId id="287" r:id="rId26"/>
    <p:sldId id="288" r:id="rId27"/>
    <p:sldId id="290" r:id="rId28"/>
    <p:sldId id="291" r:id="rId29"/>
    <p:sldId id="292" r:id="rId30"/>
    <p:sldId id="293" r:id="rId31"/>
    <p:sldId id="294" r:id="rId32"/>
    <p:sldId id="289" r:id="rId33"/>
    <p:sldId id="265" r:id="rId34"/>
    <p:sldId id="266" r:id="rId35"/>
    <p:sldId id="272" r:id="rId36"/>
    <p:sldId id="267" r:id="rId37"/>
    <p:sldId id="268" r:id="rId38"/>
    <p:sldId id="269" r:id="rId39"/>
    <p:sldId id="270" r:id="rId40"/>
    <p:sldId id="264" r:id="rId41"/>
    <p:sldId id="271" r:id="rId4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2A6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518" autoAdjust="0"/>
    <p:restoredTop sz="95090" autoAdjust="0"/>
  </p:normalViewPr>
  <p:slideViewPr>
    <p:cSldViewPr snapToGrid="0" snapToObjects="1">
      <p:cViewPr varScale="1">
        <p:scale>
          <a:sx n="125" d="100"/>
          <a:sy n="125" d="100"/>
        </p:scale>
        <p:origin x="134" y="7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168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rPr lang="en-US" dirty="0"/>
              <a:t>LLM</a:t>
            </a:r>
            <a:r>
              <a:rPr lang="zh-CN" altLang="en-US" dirty="0"/>
              <a:t>擅长</a:t>
            </a:r>
            <a:r>
              <a:rPr lang="zh-CN" altLang="zh-CN" sz="1200" b="0" i="0" kern="1200" dirty="0">
                <a:solidFill>
                  <a:schemeClr val="tx1"/>
                </a:solidFill>
                <a:effectLst/>
                <a:latin typeface="+mn-lt"/>
                <a:ea typeface="+mn-ea"/>
                <a:cs typeface="+mn-cs"/>
              </a:rPr>
              <a:t>理解模糊自然语言意图</a:t>
            </a:r>
            <a:r>
              <a:rPr lang="zh-CN" altLang="en-US" sz="1200" b="0" i="0" kern="1200" dirty="0">
                <a:solidFill>
                  <a:schemeClr val="tx1"/>
                </a:solidFill>
                <a:effectLst/>
                <a:latin typeface="+mn-lt"/>
                <a:ea typeface="+mn-ea"/>
                <a:cs typeface="+mn-cs"/>
              </a:rPr>
              <a:t>，不擅长</a:t>
            </a:r>
            <a:r>
              <a:rPr lang="zh-CN" altLang="zh-CN" sz="1200" b="0" i="0" kern="1200" dirty="0">
                <a:solidFill>
                  <a:schemeClr val="tx1"/>
                </a:solidFill>
                <a:effectLst/>
                <a:latin typeface="+mn-lt"/>
                <a:ea typeface="+mn-ea"/>
                <a:cs typeface="+mn-cs"/>
              </a:rPr>
              <a:t>精确记忆大量结构化领域知识</a:t>
            </a:r>
            <a:br>
              <a:rPr lang="en-US" altLang="zh-CN" sz="1200" b="0" i="0" kern="1200" dirty="0">
                <a:solidFill>
                  <a:schemeClr val="tx1"/>
                </a:solidFill>
                <a:effectLst/>
                <a:latin typeface="+mn-lt"/>
                <a:ea typeface="+mn-ea"/>
                <a:cs typeface="+mn-cs"/>
              </a:rPr>
            </a:br>
            <a:r>
              <a:rPr lang="en-US" altLang="zh-CN" sz="1200" b="0" i="0" kern="1200" dirty="0">
                <a:solidFill>
                  <a:schemeClr val="tx1"/>
                </a:solidFill>
                <a:effectLst/>
                <a:latin typeface="+mn-lt"/>
                <a:ea typeface="+mn-ea"/>
                <a:cs typeface="+mn-cs"/>
              </a:rPr>
              <a:t>LLM</a:t>
            </a:r>
            <a:r>
              <a:rPr lang="zh-CN" altLang="en-US" sz="1200" b="0" i="0" kern="1200" dirty="0">
                <a:solidFill>
                  <a:schemeClr val="tx1"/>
                </a:solidFill>
                <a:effectLst/>
                <a:latin typeface="+mn-lt"/>
                <a:ea typeface="+mn-ea"/>
                <a:cs typeface="+mn-cs"/>
              </a:rPr>
              <a:t>擅长</a:t>
            </a:r>
            <a:r>
              <a:rPr lang="zh-CN" altLang="zh-CN" sz="1200" b="0" i="0" kern="1200" dirty="0">
                <a:solidFill>
                  <a:schemeClr val="tx1"/>
                </a:solidFill>
                <a:effectLst/>
                <a:latin typeface="+mn-lt"/>
                <a:ea typeface="+mn-ea"/>
                <a:cs typeface="+mn-cs"/>
              </a:rPr>
              <a:t>跨领域联想与常识推理</a:t>
            </a:r>
            <a:r>
              <a:rPr lang="zh-CN" altLang="en-US" sz="1200" b="0" i="0" kern="1200" dirty="0">
                <a:solidFill>
                  <a:schemeClr val="tx1"/>
                </a:solidFill>
                <a:effectLst/>
                <a:latin typeface="+mn-lt"/>
                <a:ea typeface="+mn-ea"/>
                <a:cs typeface="+mn-cs"/>
              </a:rPr>
              <a:t>，不擅长</a:t>
            </a:r>
            <a:r>
              <a:rPr lang="zh-CN" altLang="zh-CN" sz="1200" b="0" i="0" kern="1200" dirty="0">
                <a:solidFill>
                  <a:schemeClr val="tx1"/>
                </a:solidFill>
                <a:effectLst/>
                <a:latin typeface="+mn-lt"/>
                <a:ea typeface="+mn-ea"/>
                <a:cs typeface="+mn-cs"/>
              </a:rPr>
              <a:t>保证推理一致性与可复现性</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LLM</a:t>
            </a:r>
            <a:r>
              <a:rPr lang="zh-CN" altLang="en-US" sz="1200" b="0" i="0" kern="1200" dirty="0">
                <a:solidFill>
                  <a:schemeClr val="tx1"/>
                </a:solidFill>
                <a:effectLst/>
                <a:latin typeface="+mn-lt"/>
                <a:ea typeface="+mn-ea"/>
                <a:cs typeface="+mn-cs"/>
              </a:rPr>
              <a:t>擅长</a:t>
            </a:r>
            <a:r>
              <a:rPr lang="zh-CN" altLang="zh-CN" sz="1200" b="0" i="0" kern="1200" dirty="0">
                <a:solidFill>
                  <a:schemeClr val="tx1"/>
                </a:solidFill>
                <a:effectLst/>
                <a:latin typeface="+mn-lt"/>
                <a:ea typeface="+mn-ea"/>
                <a:cs typeface="+mn-cs"/>
              </a:rPr>
              <a:t>自然语言生成与解释</a:t>
            </a:r>
            <a:r>
              <a:rPr lang="zh-CN" altLang="en-US" sz="1200" b="0" i="0" kern="1200" dirty="0">
                <a:solidFill>
                  <a:schemeClr val="tx1"/>
                </a:solidFill>
                <a:effectLst/>
                <a:latin typeface="+mn-lt"/>
                <a:ea typeface="+mn-ea"/>
                <a:cs typeface="+mn-cs"/>
              </a:rPr>
              <a:t>，不擅长</a:t>
            </a:r>
            <a:r>
              <a:rPr lang="zh-CN" altLang="zh-CN" sz="1200" b="0" i="0" kern="1200" dirty="0">
                <a:solidFill>
                  <a:schemeClr val="tx1"/>
                </a:solidFill>
                <a:effectLst/>
                <a:latin typeface="+mn-lt"/>
                <a:ea typeface="+mn-ea"/>
                <a:cs typeface="+mn-cs"/>
              </a:rPr>
              <a:t>处理复杂业务规则与约束</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LLM</a:t>
            </a:r>
            <a:r>
              <a:rPr lang="zh-CN" altLang="en-US" sz="1200" b="0" i="0" kern="1200" dirty="0">
                <a:solidFill>
                  <a:schemeClr val="tx1"/>
                </a:solidFill>
                <a:effectLst/>
                <a:latin typeface="+mn-lt"/>
                <a:ea typeface="+mn-ea"/>
                <a:cs typeface="+mn-cs"/>
              </a:rPr>
              <a:t>擅长</a:t>
            </a:r>
            <a:r>
              <a:rPr lang="zh-CN" altLang="zh-CN" sz="1200" b="0" i="0" kern="1200" dirty="0">
                <a:solidFill>
                  <a:schemeClr val="tx1"/>
                </a:solidFill>
                <a:effectLst/>
                <a:latin typeface="+mn-lt"/>
                <a:ea typeface="+mn-ea"/>
                <a:cs typeface="+mn-cs"/>
              </a:rPr>
              <a:t>处理非结构化信息</a:t>
            </a:r>
            <a:r>
              <a:rPr lang="zh-CN" altLang="en-US" sz="1200" b="0" i="0" kern="1200" dirty="0">
                <a:solidFill>
                  <a:schemeClr val="tx1"/>
                </a:solidFill>
                <a:effectLst/>
                <a:latin typeface="+mn-lt"/>
                <a:ea typeface="+mn-ea"/>
                <a:cs typeface="+mn-cs"/>
              </a:rPr>
              <a:t>，不擅长</a:t>
            </a:r>
            <a:r>
              <a:rPr lang="zh-CN" altLang="zh-CN" sz="1200" b="0" i="0" kern="1200" dirty="0">
                <a:solidFill>
                  <a:schemeClr val="tx1"/>
                </a:solidFill>
                <a:effectLst/>
                <a:latin typeface="+mn-lt"/>
                <a:ea typeface="+mn-ea"/>
                <a:cs typeface="+mn-cs"/>
              </a:rPr>
              <a:t>精确数值计算与逻辑推导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55349-879C-B7E2-52D6-0DD461EE68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AE67F0-2021-C8A1-EA4C-87FDAF87D5D0}"/>
              </a:ext>
            </a:extLst>
          </p:cNvPr>
          <p:cNvSpPr>
            <a:spLocks noGrp="1" noRot="1" noChangeAspect="1"/>
          </p:cNvSpPr>
          <p:nvPr>
            <p:ph type="sldImg"/>
          </p:nvPr>
        </p:nvSpPr>
        <p:spPr/>
        <p:txBody>
          <a:bodyPr/>
          <a:lstStyle/>
          <a:p>
            <a:endParaRPr lang="zh-CN" altLang="en-US"/>
          </a:p>
        </p:txBody>
      </p:sp>
      <p:sp>
        <p:nvSpPr>
          <p:cNvPr id="3" name="Notes Placeholder 2">
            <a:extLst>
              <a:ext uri="{FF2B5EF4-FFF2-40B4-BE49-F238E27FC236}">
                <a16:creationId xmlns:a16="http://schemas.microsoft.com/office/drawing/2014/main" id="{39347479-BC91-2F5C-23F5-73414CE5B5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E3C9D0-238E-B477-3EFA-18F06602C21D}"/>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1432483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DA75D-A0A9-6CD7-3AD8-0F33B376F3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9E2FAE-F966-F3C8-47D1-30F23656837C}"/>
              </a:ext>
            </a:extLst>
          </p:cNvPr>
          <p:cNvSpPr>
            <a:spLocks noGrp="1" noRot="1" noChangeAspect="1"/>
          </p:cNvSpPr>
          <p:nvPr>
            <p:ph type="sldImg"/>
          </p:nvPr>
        </p:nvSpPr>
        <p:spPr/>
        <p:txBody>
          <a:bodyPr/>
          <a:lstStyle/>
          <a:p>
            <a:endParaRPr lang="zh-CN" altLang="en-US"/>
          </a:p>
        </p:txBody>
      </p:sp>
      <p:sp>
        <p:nvSpPr>
          <p:cNvPr id="3" name="Notes Placeholder 2">
            <a:extLst>
              <a:ext uri="{FF2B5EF4-FFF2-40B4-BE49-F238E27FC236}">
                <a16:creationId xmlns:a16="http://schemas.microsoft.com/office/drawing/2014/main" id="{193D280E-92DC-D442-6E39-A8BC2F93D7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B078C55-DDC9-512F-ACFE-DF0A6C978C34}"/>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a:t>
            </a:fld>
            <a:endParaRPr kumimoji="0" lang="en-US" sz="18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3400945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34</a:t>
            </a:fld>
            <a:endParaRPr kumimoji="0" lang="en-US" sz="18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2461214"/>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2384453"/>
      </p:ext>
    </p:extLst>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5.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9.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png"/><Relationship Id="rId4" Type="http://schemas.openxmlformats.org/officeDocument/2006/relationships/image" Target="../media/image9.png"/></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2A699"/>
          </a:solidFill>
          <a:ln/>
        </p:spPr>
        <p:txBody>
          <a:bodyPr/>
          <a:lstStyle/>
          <a:p>
            <a:endParaRPr lang="zh-CN" altLang="en-US"/>
          </a:p>
        </p:txBody>
      </p:sp>
      <p:sp>
        <p:nvSpPr>
          <p:cNvPr id="3" name="Text 1"/>
          <p:cNvSpPr/>
          <p:nvPr/>
        </p:nvSpPr>
        <p:spPr>
          <a:xfrm>
            <a:off x="731520" y="1280160"/>
            <a:ext cx="7680960" cy="914400"/>
          </a:xfrm>
          <a:prstGeom prst="rect">
            <a:avLst/>
          </a:prstGeom>
          <a:noFill/>
          <a:ln/>
        </p:spPr>
        <p:txBody>
          <a:bodyPr wrap="square" lIns="0" tIns="0" rIns="0" bIns="0" rtlCol="0" anchor="ctr"/>
          <a:lstStyle/>
          <a:p>
            <a:pPr marL="0" indent="0">
              <a:buNone/>
            </a:pPr>
            <a:r>
              <a:rPr lang="en-US" sz="4400" b="1" dirty="0">
                <a:solidFill>
                  <a:srgbClr val="FFFFFF"/>
                </a:solidFill>
                <a:latin typeface="Arial" pitchFamily="34" charset="0"/>
                <a:ea typeface="Arial" pitchFamily="34" charset="-122"/>
                <a:cs typeface="Arial" pitchFamily="34" charset="-120"/>
              </a:rPr>
              <a:t>本体建模平台</a:t>
            </a:r>
            <a:endParaRPr lang="en-US" sz="4400" dirty="0"/>
          </a:p>
        </p:txBody>
      </p:sp>
      <p:sp>
        <p:nvSpPr>
          <p:cNvPr id="4" name="Text 2"/>
          <p:cNvSpPr/>
          <p:nvPr/>
        </p:nvSpPr>
        <p:spPr>
          <a:xfrm>
            <a:off x="731520" y="2286000"/>
            <a:ext cx="7680960" cy="548640"/>
          </a:xfrm>
          <a:prstGeom prst="rect">
            <a:avLst/>
          </a:prstGeom>
          <a:noFill/>
          <a:ln/>
        </p:spPr>
        <p:txBody>
          <a:bodyPr wrap="square" lIns="0" tIns="0" rIns="0" bIns="0" rtlCol="0" anchor="ctr"/>
          <a:lstStyle/>
          <a:p>
            <a:pPr marL="0" indent="0">
              <a:buNone/>
            </a:pPr>
            <a:r>
              <a:rPr lang="en-US" sz="2200" dirty="0">
                <a:solidFill>
                  <a:srgbClr val="22A699"/>
                </a:solidFill>
                <a:latin typeface="Arial" pitchFamily="34" charset="0"/>
                <a:ea typeface="Arial" pitchFamily="34" charset="-122"/>
                <a:cs typeface="Arial" pitchFamily="34" charset="-120"/>
              </a:rPr>
              <a:t>企业 Agentic AI 时代的业务语义中台</a:t>
            </a:r>
            <a:endParaRPr lang="en-US" sz="2200" dirty="0"/>
          </a:p>
        </p:txBody>
      </p:sp>
      <p:sp>
        <p:nvSpPr>
          <p:cNvPr id="5" name="Text 3"/>
          <p:cNvSpPr/>
          <p:nvPr/>
        </p:nvSpPr>
        <p:spPr>
          <a:xfrm>
            <a:off x="731520" y="3017520"/>
            <a:ext cx="7680960" cy="457200"/>
          </a:xfrm>
          <a:prstGeom prst="rect">
            <a:avLst/>
          </a:prstGeom>
          <a:noFill/>
          <a:ln/>
        </p:spPr>
        <p:txBody>
          <a:bodyPr wrap="square" lIns="0" tIns="0" rIns="0" bIns="0" rtlCol="0" anchor="ctr"/>
          <a:lstStyle/>
          <a:p>
            <a:pPr marL="0" indent="0">
              <a:buNone/>
            </a:pPr>
            <a:r>
              <a:rPr lang="en-US" sz="1400" dirty="0">
                <a:solidFill>
                  <a:srgbClr val="94A3B8"/>
                </a:solidFill>
                <a:latin typeface="Arial" pitchFamily="34" charset="0"/>
                <a:ea typeface="Arial" pitchFamily="34" charset="-122"/>
                <a:cs typeface="Arial" pitchFamily="34" charset="-120"/>
              </a:rPr>
              <a:t>让 AI Agent 100% 理解并安全执行业务操作</a:t>
            </a:r>
            <a:endParaRPr lang="en-US" sz="1400" dirty="0"/>
          </a:p>
        </p:txBody>
      </p:sp>
      <p:pic>
        <p:nvPicPr>
          <p:cNvPr id="6" name="Image 0" descr="preencoded.png"/>
          <p:cNvPicPr>
            <a:picLocks noChangeAspect="1"/>
          </p:cNvPicPr>
          <p:nvPr/>
        </p:nvPicPr>
        <p:blipFill>
          <a:blip r:embed="rId3"/>
          <a:stretch>
            <a:fillRect/>
          </a:stretch>
        </p:blipFill>
        <p:spPr>
          <a:xfrm>
            <a:off x="731520" y="3840480"/>
            <a:ext cx="365760" cy="365760"/>
          </a:xfrm>
          <a:prstGeom prst="rect">
            <a:avLst/>
          </a:prstGeom>
        </p:spPr>
      </p:pic>
      <p:sp>
        <p:nvSpPr>
          <p:cNvPr id="7" name="Text 4"/>
          <p:cNvSpPr/>
          <p:nvPr/>
        </p:nvSpPr>
        <p:spPr>
          <a:xfrm>
            <a:off x="1188720" y="3858768"/>
            <a:ext cx="1097280" cy="329184"/>
          </a:xfrm>
          <a:prstGeom prst="rect">
            <a:avLst/>
          </a:prstGeom>
          <a:noFill/>
          <a:ln/>
        </p:spPr>
        <p:txBody>
          <a:bodyPr wrap="square" lIns="0" tIns="0" rIns="0" bIns="0" rtlCol="0" anchor="ctr"/>
          <a:lstStyle/>
          <a:p>
            <a:pPr marL="0" indent="0">
              <a:buNone/>
            </a:pPr>
            <a:r>
              <a:rPr lang="en-US" sz="1100" dirty="0">
                <a:solidFill>
                  <a:srgbClr val="94A3B8"/>
                </a:solidFill>
                <a:latin typeface="Arial" pitchFamily="34" charset="0"/>
                <a:ea typeface="Arial" pitchFamily="34" charset="-122"/>
                <a:cs typeface="Arial" pitchFamily="34" charset="-120"/>
              </a:rPr>
              <a:t>Agent 意图</a:t>
            </a:r>
            <a:endParaRPr lang="en-US" sz="1100" dirty="0"/>
          </a:p>
        </p:txBody>
      </p:sp>
      <p:pic>
        <p:nvPicPr>
          <p:cNvPr id="8" name="Image 1" descr="preencoded.png"/>
          <p:cNvPicPr>
            <a:picLocks noChangeAspect="1"/>
          </p:cNvPicPr>
          <p:nvPr/>
        </p:nvPicPr>
        <p:blipFill>
          <a:blip r:embed="rId4"/>
          <a:stretch>
            <a:fillRect/>
          </a:stretch>
        </p:blipFill>
        <p:spPr>
          <a:xfrm>
            <a:off x="2286000" y="3840480"/>
            <a:ext cx="365760" cy="365760"/>
          </a:xfrm>
          <a:prstGeom prst="rect">
            <a:avLst/>
          </a:prstGeom>
        </p:spPr>
      </p:pic>
      <p:sp>
        <p:nvSpPr>
          <p:cNvPr id="9" name="Text 5"/>
          <p:cNvSpPr/>
          <p:nvPr/>
        </p:nvSpPr>
        <p:spPr>
          <a:xfrm>
            <a:off x="2743200" y="3858768"/>
            <a:ext cx="1097280" cy="329184"/>
          </a:xfrm>
          <a:prstGeom prst="rect">
            <a:avLst/>
          </a:prstGeom>
          <a:noFill/>
          <a:ln/>
        </p:spPr>
        <p:txBody>
          <a:bodyPr wrap="square" lIns="0" tIns="0" rIns="0" bIns="0" rtlCol="0" anchor="ctr"/>
          <a:lstStyle/>
          <a:p>
            <a:pPr marL="0" indent="0">
              <a:buNone/>
            </a:pPr>
            <a:r>
              <a:rPr lang="en-US" sz="1100" dirty="0">
                <a:solidFill>
                  <a:srgbClr val="94A3B8"/>
                </a:solidFill>
                <a:latin typeface="Arial" pitchFamily="34" charset="0"/>
                <a:ea typeface="Arial" pitchFamily="34" charset="-122"/>
                <a:cs typeface="Arial" pitchFamily="34" charset="-120"/>
              </a:rPr>
              <a:t>本体模型</a:t>
            </a:r>
            <a:endParaRPr lang="en-US" sz="1100" dirty="0"/>
          </a:p>
        </p:txBody>
      </p:sp>
      <p:pic>
        <p:nvPicPr>
          <p:cNvPr id="10" name="Image 2" descr="preencoded.png"/>
          <p:cNvPicPr>
            <a:picLocks noChangeAspect="1"/>
          </p:cNvPicPr>
          <p:nvPr/>
        </p:nvPicPr>
        <p:blipFill>
          <a:blip r:embed="rId5"/>
          <a:stretch>
            <a:fillRect/>
          </a:stretch>
        </p:blipFill>
        <p:spPr>
          <a:xfrm>
            <a:off x="3840480" y="3840480"/>
            <a:ext cx="365760" cy="365760"/>
          </a:xfrm>
          <a:prstGeom prst="rect">
            <a:avLst/>
          </a:prstGeom>
        </p:spPr>
      </p:pic>
      <p:sp>
        <p:nvSpPr>
          <p:cNvPr id="11" name="Text 6"/>
          <p:cNvSpPr/>
          <p:nvPr/>
        </p:nvSpPr>
        <p:spPr>
          <a:xfrm>
            <a:off x="4297680" y="3858768"/>
            <a:ext cx="1097280" cy="329184"/>
          </a:xfrm>
          <a:prstGeom prst="rect">
            <a:avLst/>
          </a:prstGeom>
          <a:noFill/>
          <a:ln/>
        </p:spPr>
        <p:txBody>
          <a:bodyPr wrap="square" lIns="0" tIns="0" rIns="0" bIns="0" rtlCol="0" anchor="ctr"/>
          <a:lstStyle/>
          <a:p>
            <a:pPr marL="0" indent="0">
              <a:buNone/>
            </a:pPr>
            <a:r>
              <a:rPr lang="en-US" sz="1100" dirty="0">
                <a:solidFill>
                  <a:srgbClr val="94A3B8"/>
                </a:solidFill>
                <a:latin typeface="Arial" pitchFamily="34" charset="0"/>
                <a:ea typeface="Arial" pitchFamily="34" charset="-122"/>
                <a:cs typeface="Arial" pitchFamily="34" charset="-120"/>
              </a:rPr>
              <a:t>安全合规</a:t>
            </a:r>
            <a:endParaRPr lang="en-US" sz="1100" dirty="0"/>
          </a:p>
        </p:txBody>
      </p:sp>
      <p:pic>
        <p:nvPicPr>
          <p:cNvPr id="12" name="Image 3" descr="preencoded.png"/>
          <p:cNvPicPr>
            <a:picLocks noChangeAspect="1"/>
          </p:cNvPicPr>
          <p:nvPr/>
        </p:nvPicPr>
        <p:blipFill>
          <a:blip r:embed="rId6"/>
          <a:stretch>
            <a:fillRect/>
          </a:stretch>
        </p:blipFill>
        <p:spPr>
          <a:xfrm>
            <a:off x="5394960" y="3840480"/>
            <a:ext cx="365760" cy="365760"/>
          </a:xfrm>
          <a:prstGeom prst="rect">
            <a:avLst/>
          </a:prstGeom>
        </p:spPr>
      </p:pic>
      <p:sp>
        <p:nvSpPr>
          <p:cNvPr id="13" name="Text 7"/>
          <p:cNvSpPr/>
          <p:nvPr/>
        </p:nvSpPr>
        <p:spPr>
          <a:xfrm>
            <a:off x="5852160" y="3858768"/>
            <a:ext cx="1097280" cy="329184"/>
          </a:xfrm>
          <a:prstGeom prst="rect">
            <a:avLst/>
          </a:prstGeom>
          <a:noFill/>
          <a:ln/>
        </p:spPr>
        <p:txBody>
          <a:bodyPr wrap="square" lIns="0" tIns="0" rIns="0" bIns="0" rtlCol="0" anchor="ctr"/>
          <a:lstStyle/>
          <a:p>
            <a:pPr marL="0" indent="0">
              <a:buNone/>
            </a:pPr>
            <a:r>
              <a:rPr lang="en-US" sz="1100" dirty="0">
                <a:solidFill>
                  <a:srgbClr val="94A3B8"/>
                </a:solidFill>
                <a:latin typeface="Arial" pitchFamily="34" charset="0"/>
                <a:ea typeface="Arial" pitchFamily="34" charset="-122"/>
                <a:cs typeface="Arial" pitchFamily="34" charset="-120"/>
              </a:rPr>
              <a:t>MCP 分发</a:t>
            </a:r>
            <a:endParaRPr lang="en-US" sz="1100" dirty="0"/>
          </a:p>
        </p:txBody>
      </p:sp>
      <p:pic>
        <p:nvPicPr>
          <p:cNvPr id="14" name="Image 4" descr="preencoded.png"/>
          <p:cNvPicPr>
            <a:picLocks noChangeAspect="1"/>
          </p:cNvPicPr>
          <p:nvPr/>
        </p:nvPicPr>
        <p:blipFill>
          <a:blip r:embed="rId7"/>
          <a:stretch>
            <a:fillRect/>
          </a:stretch>
        </p:blipFill>
        <p:spPr>
          <a:xfrm>
            <a:off x="6949440" y="3840480"/>
            <a:ext cx="365760" cy="365760"/>
          </a:xfrm>
          <a:prstGeom prst="rect">
            <a:avLst/>
          </a:prstGeom>
        </p:spPr>
      </p:pic>
      <p:sp>
        <p:nvSpPr>
          <p:cNvPr id="15" name="Text 8"/>
          <p:cNvSpPr/>
          <p:nvPr/>
        </p:nvSpPr>
        <p:spPr>
          <a:xfrm>
            <a:off x="7406640" y="3858768"/>
            <a:ext cx="1097280" cy="329184"/>
          </a:xfrm>
          <a:prstGeom prst="rect">
            <a:avLst/>
          </a:prstGeom>
          <a:noFill/>
          <a:ln/>
        </p:spPr>
        <p:txBody>
          <a:bodyPr wrap="square" lIns="0" tIns="0" rIns="0" bIns="0" rtlCol="0" anchor="ctr"/>
          <a:lstStyle/>
          <a:p>
            <a:pPr marL="0" indent="0">
              <a:buNone/>
            </a:pPr>
            <a:r>
              <a:rPr lang="en-US" sz="1100" dirty="0">
                <a:solidFill>
                  <a:srgbClr val="94A3B8"/>
                </a:solidFill>
                <a:latin typeface="Arial" pitchFamily="34" charset="0"/>
                <a:ea typeface="Arial" pitchFamily="34" charset="-122"/>
                <a:cs typeface="Arial" pitchFamily="34" charset="-120"/>
              </a:rPr>
              <a:t>系统集成</a:t>
            </a:r>
            <a:endParaRPr lang="en-US" sz="1100" dirty="0"/>
          </a:p>
        </p:txBody>
      </p:sp>
      <p:sp>
        <p:nvSpPr>
          <p:cNvPr id="16" name="Shape 9"/>
          <p:cNvSpPr/>
          <p:nvPr/>
        </p:nvSpPr>
        <p:spPr>
          <a:xfrm>
            <a:off x="0" y="4754880"/>
            <a:ext cx="9144000" cy="18288"/>
          </a:xfrm>
          <a:prstGeom prst="rect">
            <a:avLst/>
          </a:prstGeom>
          <a:solidFill>
            <a:srgbClr val="22A699"/>
          </a:solidFill>
          <a:ln/>
        </p:spPr>
        <p:txBody>
          <a:bodyPr/>
          <a:lstStyle/>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2A699"/>
          </a:solidFill>
          <a:ln/>
        </p:spPr>
        <p:txBody>
          <a:bodyPr/>
          <a:lstStyle/>
          <a:p>
            <a:endParaRPr lang="zh-CN" altLang="en-US"/>
          </a:p>
        </p:txBody>
      </p:sp>
      <p:sp>
        <p:nvSpPr>
          <p:cNvPr id="3" name="Text 1"/>
          <p:cNvSpPr/>
          <p:nvPr/>
        </p:nvSpPr>
        <p:spPr>
          <a:xfrm>
            <a:off x="548640" y="274320"/>
            <a:ext cx="3657600" cy="548640"/>
          </a:xfrm>
          <a:prstGeom prst="rect">
            <a:avLst/>
          </a:prstGeom>
          <a:noFill/>
          <a:ln/>
        </p:spPr>
        <p:txBody>
          <a:bodyPr wrap="square" lIns="0" tIns="0" rIns="0" bIns="0" rtlCol="0" anchor="ctr"/>
          <a:lstStyle/>
          <a:p>
            <a:pPr marL="0" indent="0">
              <a:buNone/>
            </a:pPr>
            <a:r>
              <a:rPr lang="en-US" sz="3200" b="1" dirty="0">
                <a:solidFill>
                  <a:srgbClr val="1E293B"/>
                </a:solidFill>
                <a:latin typeface="Arial" pitchFamily="34" charset="0"/>
                <a:ea typeface="Arial" pitchFamily="34" charset="-122"/>
                <a:cs typeface="Arial" pitchFamily="34" charset="-120"/>
              </a:rPr>
              <a:t>目录</a:t>
            </a:r>
            <a:endParaRPr lang="en-US" sz="3200" dirty="0"/>
          </a:p>
        </p:txBody>
      </p:sp>
      <p:sp>
        <p:nvSpPr>
          <p:cNvPr id="4" name="Shape 2"/>
          <p:cNvSpPr/>
          <p:nvPr/>
        </p:nvSpPr>
        <p:spPr>
          <a:xfrm>
            <a:off x="548640" y="1097280"/>
            <a:ext cx="3840480" cy="1051560"/>
          </a:xfrm>
          <a:prstGeom prst="rect">
            <a:avLst/>
          </a:prstGeom>
          <a:solidFill>
            <a:srgbClr val="F1F5F9"/>
          </a:solidFill>
          <a:ln/>
        </p:spPr>
        <p:txBody>
          <a:bodyPr/>
          <a:lstStyle/>
          <a:p>
            <a:endParaRPr lang="zh-CN" altLang="en-US"/>
          </a:p>
        </p:txBody>
      </p:sp>
      <p:sp>
        <p:nvSpPr>
          <p:cNvPr id="5" name="Shape 3"/>
          <p:cNvSpPr/>
          <p:nvPr/>
        </p:nvSpPr>
        <p:spPr>
          <a:xfrm>
            <a:off x="548640" y="1097280"/>
            <a:ext cx="54864" cy="1051560"/>
          </a:xfrm>
          <a:prstGeom prst="rect">
            <a:avLst/>
          </a:prstGeom>
          <a:solidFill>
            <a:srgbClr val="22A699"/>
          </a:solidFill>
          <a:ln/>
        </p:spPr>
        <p:txBody>
          <a:bodyPr/>
          <a:lstStyle/>
          <a:p>
            <a:endParaRPr lang="zh-CN" altLang="en-US"/>
          </a:p>
        </p:txBody>
      </p:sp>
      <p:sp>
        <p:nvSpPr>
          <p:cNvPr id="6" name="Text 4"/>
          <p:cNvSpPr/>
          <p:nvPr/>
        </p:nvSpPr>
        <p:spPr>
          <a:xfrm>
            <a:off x="731520" y="1188720"/>
            <a:ext cx="731520" cy="457200"/>
          </a:xfrm>
          <a:prstGeom prst="rect">
            <a:avLst/>
          </a:prstGeom>
          <a:noFill/>
          <a:ln/>
        </p:spPr>
        <p:txBody>
          <a:bodyPr wrap="square" lIns="0" tIns="0" rIns="0" bIns="0" rtlCol="0" anchor="ctr"/>
          <a:lstStyle/>
          <a:p>
            <a:pPr marL="0" indent="0">
              <a:buNone/>
            </a:pPr>
            <a:r>
              <a:rPr lang="en-US" sz="2200" b="1" dirty="0">
                <a:solidFill>
                  <a:srgbClr val="22A699"/>
                </a:solidFill>
                <a:latin typeface="Arial" pitchFamily="34" charset="0"/>
                <a:ea typeface="Arial" pitchFamily="34" charset="-122"/>
                <a:cs typeface="Arial" pitchFamily="34" charset="-120"/>
              </a:rPr>
              <a:t>01</a:t>
            </a:r>
            <a:endParaRPr lang="en-US" sz="2200" dirty="0"/>
          </a:p>
        </p:txBody>
      </p:sp>
      <p:pic>
        <p:nvPicPr>
          <p:cNvPr id="7" name="Image 0" descr="preencoded.png"/>
          <p:cNvPicPr>
            <a:picLocks noChangeAspect="1"/>
          </p:cNvPicPr>
          <p:nvPr/>
        </p:nvPicPr>
        <p:blipFill>
          <a:blip r:embed="rId3"/>
          <a:stretch>
            <a:fillRect/>
          </a:stretch>
        </p:blipFill>
        <p:spPr>
          <a:xfrm>
            <a:off x="1371600" y="1234440"/>
            <a:ext cx="320040" cy="320040"/>
          </a:xfrm>
          <a:prstGeom prst="rect">
            <a:avLst/>
          </a:prstGeom>
        </p:spPr>
      </p:pic>
      <p:sp>
        <p:nvSpPr>
          <p:cNvPr id="8" name="Text 5"/>
          <p:cNvSpPr/>
          <p:nvPr/>
        </p:nvSpPr>
        <p:spPr>
          <a:xfrm>
            <a:off x="1783080" y="1188720"/>
            <a:ext cx="2468880" cy="365760"/>
          </a:xfrm>
          <a:prstGeom prst="rect">
            <a:avLst/>
          </a:prstGeom>
          <a:noFill/>
          <a:ln/>
        </p:spPr>
        <p:txBody>
          <a:bodyPr wrap="square" lIns="0" tIns="0" rIns="0" bIns="0" rtlCol="0" anchor="ctr"/>
          <a:lstStyle/>
          <a:p>
            <a:pPr marL="0" indent="0">
              <a:buNone/>
            </a:pPr>
            <a:r>
              <a:rPr lang="en-US" sz="1500" b="1" dirty="0">
                <a:solidFill>
                  <a:srgbClr val="1E293B"/>
                </a:solidFill>
                <a:latin typeface="Arial" pitchFamily="34" charset="0"/>
                <a:ea typeface="Arial" pitchFamily="34" charset="-122"/>
                <a:cs typeface="Arial" pitchFamily="34" charset="-120"/>
              </a:rPr>
              <a:t>企业 Agentic AI 时代</a:t>
            </a:r>
            <a:endParaRPr lang="en-US" sz="1500" dirty="0"/>
          </a:p>
        </p:txBody>
      </p:sp>
      <p:sp>
        <p:nvSpPr>
          <p:cNvPr id="9" name="Text 6"/>
          <p:cNvSpPr/>
          <p:nvPr/>
        </p:nvSpPr>
        <p:spPr>
          <a:xfrm>
            <a:off x="1783080" y="1600200"/>
            <a:ext cx="2468880" cy="365760"/>
          </a:xfrm>
          <a:prstGeom prst="rect">
            <a:avLst/>
          </a:prstGeom>
          <a:noFill/>
          <a:ln/>
        </p:spPr>
        <p:txBody>
          <a:bodyPr wrap="square" lIns="0" tIns="0" rIns="0" bIns="0" rtlCol="0" anchor="t"/>
          <a:lstStyle/>
          <a:p>
            <a:pPr marL="0" indent="0">
              <a:buNone/>
            </a:pPr>
            <a:r>
              <a:rPr lang="en-US" sz="1200" dirty="0">
                <a:solidFill>
                  <a:srgbClr val="64748B"/>
                </a:solidFill>
                <a:latin typeface="Arial" pitchFamily="34" charset="0"/>
                <a:ea typeface="Arial" pitchFamily="34" charset="-122"/>
                <a:cs typeface="Arial" pitchFamily="34" charset="-120"/>
              </a:rPr>
              <a:t>为什么需要本体建模</a:t>
            </a:r>
            <a:endParaRPr lang="en-US" sz="1200" dirty="0"/>
          </a:p>
        </p:txBody>
      </p:sp>
      <p:sp>
        <p:nvSpPr>
          <p:cNvPr id="10" name="Shape 7"/>
          <p:cNvSpPr/>
          <p:nvPr/>
        </p:nvSpPr>
        <p:spPr>
          <a:xfrm>
            <a:off x="4754880" y="1097280"/>
            <a:ext cx="3840480" cy="1051560"/>
          </a:xfrm>
          <a:prstGeom prst="rect">
            <a:avLst/>
          </a:prstGeom>
          <a:solidFill>
            <a:srgbClr val="F1F5F9"/>
          </a:solidFill>
          <a:ln/>
        </p:spPr>
        <p:txBody>
          <a:bodyPr/>
          <a:lstStyle/>
          <a:p>
            <a:endParaRPr lang="zh-CN" altLang="en-US"/>
          </a:p>
        </p:txBody>
      </p:sp>
      <p:sp>
        <p:nvSpPr>
          <p:cNvPr id="11" name="Shape 8"/>
          <p:cNvSpPr/>
          <p:nvPr/>
        </p:nvSpPr>
        <p:spPr>
          <a:xfrm>
            <a:off x="4754880" y="1097280"/>
            <a:ext cx="54864" cy="1051560"/>
          </a:xfrm>
          <a:prstGeom prst="rect">
            <a:avLst/>
          </a:prstGeom>
          <a:solidFill>
            <a:srgbClr val="22A699"/>
          </a:solidFill>
          <a:ln/>
        </p:spPr>
        <p:txBody>
          <a:bodyPr/>
          <a:lstStyle/>
          <a:p>
            <a:endParaRPr lang="zh-CN" altLang="en-US"/>
          </a:p>
        </p:txBody>
      </p:sp>
      <p:sp>
        <p:nvSpPr>
          <p:cNvPr id="12" name="Text 9"/>
          <p:cNvSpPr/>
          <p:nvPr/>
        </p:nvSpPr>
        <p:spPr>
          <a:xfrm>
            <a:off x="4937760" y="1188720"/>
            <a:ext cx="731520" cy="457200"/>
          </a:xfrm>
          <a:prstGeom prst="rect">
            <a:avLst/>
          </a:prstGeom>
          <a:noFill/>
          <a:ln/>
        </p:spPr>
        <p:txBody>
          <a:bodyPr wrap="square" lIns="0" tIns="0" rIns="0" bIns="0" rtlCol="0" anchor="ctr"/>
          <a:lstStyle/>
          <a:p>
            <a:pPr marL="0" indent="0">
              <a:buNone/>
            </a:pPr>
            <a:r>
              <a:rPr lang="en-US" sz="2200" b="1" dirty="0">
                <a:solidFill>
                  <a:srgbClr val="22A699"/>
                </a:solidFill>
                <a:latin typeface="Arial" pitchFamily="34" charset="0"/>
                <a:ea typeface="Arial" pitchFamily="34" charset="-122"/>
                <a:cs typeface="Arial" pitchFamily="34" charset="-120"/>
              </a:rPr>
              <a:t>02</a:t>
            </a:r>
            <a:endParaRPr lang="en-US" sz="2200" dirty="0"/>
          </a:p>
        </p:txBody>
      </p:sp>
      <p:pic>
        <p:nvPicPr>
          <p:cNvPr id="13" name="Image 1" descr="preencoded.png"/>
          <p:cNvPicPr>
            <a:picLocks noChangeAspect="1"/>
          </p:cNvPicPr>
          <p:nvPr/>
        </p:nvPicPr>
        <p:blipFill>
          <a:blip r:embed="rId4"/>
          <a:stretch>
            <a:fillRect/>
          </a:stretch>
        </p:blipFill>
        <p:spPr>
          <a:xfrm>
            <a:off x="5577840" y="1234440"/>
            <a:ext cx="320040" cy="320040"/>
          </a:xfrm>
          <a:prstGeom prst="rect">
            <a:avLst/>
          </a:prstGeom>
        </p:spPr>
      </p:pic>
      <p:sp>
        <p:nvSpPr>
          <p:cNvPr id="14" name="Text 10"/>
          <p:cNvSpPr/>
          <p:nvPr/>
        </p:nvSpPr>
        <p:spPr>
          <a:xfrm>
            <a:off x="5989320" y="1188720"/>
            <a:ext cx="2468880" cy="365760"/>
          </a:xfrm>
          <a:prstGeom prst="rect">
            <a:avLst/>
          </a:prstGeom>
          <a:noFill/>
          <a:ln/>
        </p:spPr>
        <p:txBody>
          <a:bodyPr wrap="square" lIns="0" tIns="0" rIns="0" bIns="0" rtlCol="0" anchor="ctr"/>
          <a:lstStyle/>
          <a:p>
            <a:pPr marL="0" indent="0">
              <a:buNone/>
            </a:pPr>
            <a:r>
              <a:rPr lang="en-US" sz="1500" b="1" dirty="0">
                <a:solidFill>
                  <a:srgbClr val="1E293B"/>
                </a:solidFill>
                <a:latin typeface="Arial" pitchFamily="34" charset="0"/>
                <a:ea typeface="Arial" pitchFamily="34" charset="-122"/>
                <a:cs typeface="Arial" pitchFamily="34" charset="-120"/>
              </a:rPr>
              <a:t>本体模型的角色定位</a:t>
            </a:r>
            <a:endParaRPr lang="en-US" sz="1500" dirty="0"/>
          </a:p>
        </p:txBody>
      </p:sp>
      <p:sp>
        <p:nvSpPr>
          <p:cNvPr id="15" name="Text 11"/>
          <p:cNvSpPr/>
          <p:nvPr/>
        </p:nvSpPr>
        <p:spPr>
          <a:xfrm>
            <a:off x="5989320" y="1600200"/>
            <a:ext cx="2468880" cy="365760"/>
          </a:xfrm>
          <a:prstGeom prst="rect">
            <a:avLst/>
          </a:prstGeom>
          <a:noFill/>
          <a:ln/>
        </p:spPr>
        <p:txBody>
          <a:bodyPr wrap="square" lIns="0" tIns="0" rIns="0" bIns="0" rtlCol="0" anchor="t"/>
          <a:lstStyle/>
          <a:p>
            <a:pPr marL="0" indent="0">
              <a:buNone/>
            </a:pPr>
            <a:r>
              <a:rPr lang="en-US" sz="1200" dirty="0">
                <a:solidFill>
                  <a:srgbClr val="64748B"/>
                </a:solidFill>
                <a:latin typeface="Arial" pitchFamily="34" charset="0"/>
                <a:ea typeface="Arial" pitchFamily="34" charset="-122"/>
                <a:cs typeface="Arial" pitchFamily="34" charset="-120"/>
              </a:rPr>
              <a:t>Agent 与系统间的语义桥梁</a:t>
            </a:r>
            <a:endParaRPr lang="en-US" sz="1200" dirty="0"/>
          </a:p>
        </p:txBody>
      </p:sp>
      <p:sp>
        <p:nvSpPr>
          <p:cNvPr id="16" name="Shape 12"/>
          <p:cNvSpPr/>
          <p:nvPr/>
        </p:nvSpPr>
        <p:spPr>
          <a:xfrm>
            <a:off x="548640" y="2331720"/>
            <a:ext cx="3840480" cy="1051560"/>
          </a:xfrm>
          <a:prstGeom prst="rect">
            <a:avLst/>
          </a:prstGeom>
          <a:solidFill>
            <a:srgbClr val="F1F5F9"/>
          </a:solidFill>
          <a:ln/>
        </p:spPr>
        <p:txBody>
          <a:bodyPr/>
          <a:lstStyle/>
          <a:p>
            <a:endParaRPr lang="zh-CN" altLang="en-US"/>
          </a:p>
        </p:txBody>
      </p:sp>
      <p:sp>
        <p:nvSpPr>
          <p:cNvPr id="17" name="Shape 13"/>
          <p:cNvSpPr/>
          <p:nvPr/>
        </p:nvSpPr>
        <p:spPr>
          <a:xfrm>
            <a:off x="548640" y="2331720"/>
            <a:ext cx="54864" cy="1051560"/>
          </a:xfrm>
          <a:prstGeom prst="rect">
            <a:avLst/>
          </a:prstGeom>
          <a:solidFill>
            <a:srgbClr val="22A699"/>
          </a:solidFill>
          <a:ln/>
        </p:spPr>
        <p:txBody>
          <a:bodyPr/>
          <a:lstStyle/>
          <a:p>
            <a:endParaRPr lang="zh-CN" altLang="en-US"/>
          </a:p>
        </p:txBody>
      </p:sp>
      <p:sp>
        <p:nvSpPr>
          <p:cNvPr id="18" name="Text 14"/>
          <p:cNvSpPr/>
          <p:nvPr/>
        </p:nvSpPr>
        <p:spPr>
          <a:xfrm>
            <a:off x="731520" y="2423160"/>
            <a:ext cx="731520" cy="457200"/>
          </a:xfrm>
          <a:prstGeom prst="rect">
            <a:avLst/>
          </a:prstGeom>
          <a:noFill/>
          <a:ln/>
        </p:spPr>
        <p:txBody>
          <a:bodyPr wrap="square" lIns="0" tIns="0" rIns="0" bIns="0" rtlCol="0" anchor="ctr"/>
          <a:lstStyle/>
          <a:p>
            <a:pPr marL="0" indent="0">
              <a:buNone/>
            </a:pPr>
            <a:r>
              <a:rPr lang="en-US" sz="2200" b="1" dirty="0">
                <a:solidFill>
                  <a:srgbClr val="22A699"/>
                </a:solidFill>
                <a:latin typeface="Arial" pitchFamily="34" charset="0"/>
                <a:ea typeface="Arial" pitchFamily="34" charset="-122"/>
                <a:cs typeface="Arial" pitchFamily="34" charset="-120"/>
              </a:rPr>
              <a:t>03</a:t>
            </a:r>
            <a:endParaRPr lang="en-US" sz="2200" dirty="0"/>
          </a:p>
        </p:txBody>
      </p:sp>
      <p:pic>
        <p:nvPicPr>
          <p:cNvPr id="19" name="Image 2" descr="preencoded.png"/>
          <p:cNvPicPr>
            <a:picLocks noChangeAspect="1"/>
          </p:cNvPicPr>
          <p:nvPr/>
        </p:nvPicPr>
        <p:blipFill>
          <a:blip r:embed="rId5"/>
          <a:stretch>
            <a:fillRect/>
          </a:stretch>
        </p:blipFill>
        <p:spPr>
          <a:xfrm>
            <a:off x="1371600" y="2468880"/>
            <a:ext cx="320040" cy="320040"/>
          </a:xfrm>
          <a:prstGeom prst="rect">
            <a:avLst/>
          </a:prstGeom>
        </p:spPr>
      </p:pic>
      <p:sp>
        <p:nvSpPr>
          <p:cNvPr id="20" name="Text 15"/>
          <p:cNvSpPr/>
          <p:nvPr/>
        </p:nvSpPr>
        <p:spPr>
          <a:xfrm>
            <a:off x="1783080" y="2423160"/>
            <a:ext cx="2468880" cy="365760"/>
          </a:xfrm>
          <a:prstGeom prst="rect">
            <a:avLst/>
          </a:prstGeom>
          <a:noFill/>
          <a:ln/>
        </p:spPr>
        <p:txBody>
          <a:bodyPr wrap="square" lIns="0" tIns="0" rIns="0" bIns="0" rtlCol="0" anchor="ctr"/>
          <a:lstStyle/>
          <a:p>
            <a:pPr marL="0" indent="0">
              <a:buNone/>
            </a:pPr>
            <a:r>
              <a:rPr lang="en-US" sz="1500" b="1" dirty="0">
                <a:solidFill>
                  <a:srgbClr val="1E293B"/>
                </a:solidFill>
                <a:latin typeface="Arial" pitchFamily="34" charset="0"/>
                <a:ea typeface="Arial" pitchFamily="34" charset="-122"/>
                <a:cs typeface="Arial" pitchFamily="34" charset="-120"/>
              </a:rPr>
              <a:t>Agent 如何调用本体</a:t>
            </a:r>
            <a:endParaRPr lang="en-US" sz="1500" dirty="0"/>
          </a:p>
        </p:txBody>
      </p:sp>
      <p:sp>
        <p:nvSpPr>
          <p:cNvPr id="21" name="Text 16"/>
          <p:cNvSpPr/>
          <p:nvPr/>
        </p:nvSpPr>
        <p:spPr>
          <a:xfrm>
            <a:off x="1783080" y="2834640"/>
            <a:ext cx="2468880" cy="365760"/>
          </a:xfrm>
          <a:prstGeom prst="rect">
            <a:avLst/>
          </a:prstGeom>
          <a:noFill/>
          <a:ln/>
        </p:spPr>
        <p:txBody>
          <a:bodyPr wrap="square" lIns="0" tIns="0" rIns="0" bIns="0" rtlCol="0" anchor="t"/>
          <a:lstStyle/>
          <a:p>
            <a:pPr marL="0" indent="0">
              <a:buNone/>
            </a:pPr>
            <a:r>
              <a:rPr lang="en-US" sz="1200" dirty="0">
                <a:solidFill>
                  <a:srgbClr val="64748B"/>
                </a:solidFill>
                <a:latin typeface="Arial" pitchFamily="34" charset="0"/>
                <a:ea typeface="Arial" pitchFamily="34" charset="-122"/>
                <a:cs typeface="Arial" pitchFamily="34" charset="-120"/>
              </a:rPr>
              <a:t>MCP 分发 · 三通道合规</a:t>
            </a:r>
            <a:endParaRPr lang="en-US" sz="1200" dirty="0"/>
          </a:p>
        </p:txBody>
      </p:sp>
      <p:sp>
        <p:nvSpPr>
          <p:cNvPr id="22" name="Shape 17"/>
          <p:cNvSpPr/>
          <p:nvPr/>
        </p:nvSpPr>
        <p:spPr>
          <a:xfrm>
            <a:off x="4754880" y="2331720"/>
            <a:ext cx="3840480" cy="1051560"/>
          </a:xfrm>
          <a:prstGeom prst="rect">
            <a:avLst/>
          </a:prstGeom>
          <a:solidFill>
            <a:srgbClr val="F1F5F9"/>
          </a:solidFill>
          <a:ln/>
        </p:spPr>
        <p:txBody>
          <a:bodyPr/>
          <a:lstStyle/>
          <a:p>
            <a:endParaRPr lang="zh-CN" altLang="en-US"/>
          </a:p>
        </p:txBody>
      </p:sp>
      <p:sp>
        <p:nvSpPr>
          <p:cNvPr id="23" name="Shape 18"/>
          <p:cNvSpPr/>
          <p:nvPr/>
        </p:nvSpPr>
        <p:spPr>
          <a:xfrm>
            <a:off x="4754880" y="2331720"/>
            <a:ext cx="54864" cy="1051560"/>
          </a:xfrm>
          <a:prstGeom prst="rect">
            <a:avLst/>
          </a:prstGeom>
          <a:solidFill>
            <a:srgbClr val="22A699"/>
          </a:solidFill>
          <a:ln/>
        </p:spPr>
        <p:txBody>
          <a:bodyPr/>
          <a:lstStyle/>
          <a:p>
            <a:endParaRPr lang="zh-CN" altLang="en-US"/>
          </a:p>
        </p:txBody>
      </p:sp>
      <p:sp>
        <p:nvSpPr>
          <p:cNvPr id="24" name="Text 19"/>
          <p:cNvSpPr/>
          <p:nvPr/>
        </p:nvSpPr>
        <p:spPr>
          <a:xfrm>
            <a:off x="4937760" y="2423160"/>
            <a:ext cx="731520" cy="457200"/>
          </a:xfrm>
          <a:prstGeom prst="rect">
            <a:avLst/>
          </a:prstGeom>
          <a:noFill/>
          <a:ln/>
        </p:spPr>
        <p:txBody>
          <a:bodyPr wrap="square" lIns="0" tIns="0" rIns="0" bIns="0" rtlCol="0" anchor="ctr"/>
          <a:lstStyle/>
          <a:p>
            <a:pPr marL="0" indent="0">
              <a:buNone/>
            </a:pPr>
            <a:r>
              <a:rPr lang="en-US" sz="2200" b="1" dirty="0">
                <a:solidFill>
                  <a:srgbClr val="22A699"/>
                </a:solidFill>
                <a:latin typeface="Arial" pitchFamily="34" charset="0"/>
                <a:ea typeface="Arial" pitchFamily="34" charset="-122"/>
                <a:cs typeface="Arial" pitchFamily="34" charset="-120"/>
              </a:rPr>
              <a:t>04</a:t>
            </a:r>
            <a:endParaRPr lang="en-US" sz="2200" dirty="0"/>
          </a:p>
        </p:txBody>
      </p:sp>
      <p:pic>
        <p:nvPicPr>
          <p:cNvPr id="25" name="Image 3" descr="preencoded.png"/>
          <p:cNvPicPr>
            <a:picLocks noChangeAspect="1"/>
          </p:cNvPicPr>
          <p:nvPr/>
        </p:nvPicPr>
        <p:blipFill>
          <a:blip r:embed="rId6"/>
          <a:stretch>
            <a:fillRect/>
          </a:stretch>
        </p:blipFill>
        <p:spPr>
          <a:xfrm>
            <a:off x="5577840" y="2468880"/>
            <a:ext cx="320040" cy="320040"/>
          </a:xfrm>
          <a:prstGeom prst="rect">
            <a:avLst/>
          </a:prstGeom>
        </p:spPr>
      </p:pic>
      <p:sp>
        <p:nvSpPr>
          <p:cNvPr id="26" name="Text 20"/>
          <p:cNvSpPr/>
          <p:nvPr/>
        </p:nvSpPr>
        <p:spPr>
          <a:xfrm>
            <a:off x="5989320" y="2423160"/>
            <a:ext cx="2468880" cy="365760"/>
          </a:xfrm>
          <a:prstGeom prst="rect">
            <a:avLst/>
          </a:prstGeom>
          <a:noFill/>
          <a:ln/>
        </p:spPr>
        <p:txBody>
          <a:bodyPr wrap="square" lIns="0" tIns="0" rIns="0" bIns="0" rtlCol="0" anchor="ctr"/>
          <a:lstStyle/>
          <a:p>
            <a:pPr marL="0" indent="0">
              <a:buNone/>
            </a:pPr>
            <a:r>
              <a:rPr lang="en-US" sz="1500" b="1" dirty="0">
                <a:solidFill>
                  <a:srgbClr val="1E293B"/>
                </a:solidFill>
                <a:latin typeface="Arial" pitchFamily="34" charset="0"/>
                <a:ea typeface="Arial" pitchFamily="34" charset="-122"/>
                <a:cs typeface="Arial" pitchFamily="34" charset="-120"/>
              </a:rPr>
              <a:t>本体模型的构成</a:t>
            </a:r>
            <a:endParaRPr lang="en-US" sz="1500" dirty="0"/>
          </a:p>
        </p:txBody>
      </p:sp>
      <p:sp>
        <p:nvSpPr>
          <p:cNvPr id="27" name="Text 21"/>
          <p:cNvSpPr/>
          <p:nvPr/>
        </p:nvSpPr>
        <p:spPr>
          <a:xfrm>
            <a:off x="5989320" y="2834640"/>
            <a:ext cx="2468880" cy="365760"/>
          </a:xfrm>
          <a:prstGeom prst="rect">
            <a:avLst/>
          </a:prstGeom>
          <a:noFill/>
          <a:ln/>
        </p:spPr>
        <p:txBody>
          <a:bodyPr wrap="square" lIns="0" tIns="0" rIns="0" bIns="0" rtlCol="0" anchor="t"/>
          <a:lstStyle/>
          <a:p>
            <a:pPr marL="0" indent="0">
              <a:buNone/>
            </a:pPr>
            <a:r>
              <a:rPr lang="en-US" sz="1200" dirty="0">
                <a:solidFill>
                  <a:srgbClr val="64748B"/>
                </a:solidFill>
                <a:latin typeface="Arial" pitchFamily="34" charset="0"/>
                <a:ea typeface="Arial" pitchFamily="34" charset="-122"/>
                <a:cs typeface="Arial" pitchFamily="34" charset="-120"/>
              </a:rPr>
              <a:t>语义 · 动力 · 事件 · 治理</a:t>
            </a:r>
            <a:endParaRPr lang="en-US" sz="1200" dirty="0"/>
          </a:p>
        </p:txBody>
      </p:sp>
      <p:sp>
        <p:nvSpPr>
          <p:cNvPr id="28" name="Shape 22"/>
          <p:cNvSpPr/>
          <p:nvPr/>
        </p:nvSpPr>
        <p:spPr>
          <a:xfrm>
            <a:off x="548640" y="3566160"/>
            <a:ext cx="3840480" cy="1051560"/>
          </a:xfrm>
          <a:prstGeom prst="rect">
            <a:avLst/>
          </a:prstGeom>
          <a:solidFill>
            <a:srgbClr val="F1F5F9"/>
          </a:solidFill>
          <a:ln/>
        </p:spPr>
        <p:txBody>
          <a:bodyPr/>
          <a:lstStyle/>
          <a:p>
            <a:endParaRPr lang="zh-CN" altLang="en-US"/>
          </a:p>
        </p:txBody>
      </p:sp>
      <p:sp>
        <p:nvSpPr>
          <p:cNvPr id="29" name="Shape 23"/>
          <p:cNvSpPr/>
          <p:nvPr/>
        </p:nvSpPr>
        <p:spPr>
          <a:xfrm>
            <a:off x="548640" y="3566160"/>
            <a:ext cx="54864" cy="1051560"/>
          </a:xfrm>
          <a:prstGeom prst="rect">
            <a:avLst/>
          </a:prstGeom>
          <a:solidFill>
            <a:srgbClr val="22A699"/>
          </a:solidFill>
          <a:ln/>
        </p:spPr>
        <p:txBody>
          <a:bodyPr/>
          <a:lstStyle/>
          <a:p>
            <a:endParaRPr lang="zh-CN" altLang="en-US"/>
          </a:p>
        </p:txBody>
      </p:sp>
      <p:sp>
        <p:nvSpPr>
          <p:cNvPr id="30" name="Text 24"/>
          <p:cNvSpPr/>
          <p:nvPr/>
        </p:nvSpPr>
        <p:spPr>
          <a:xfrm>
            <a:off x="731520" y="3657600"/>
            <a:ext cx="731520" cy="457200"/>
          </a:xfrm>
          <a:prstGeom prst="rect">
            <a:avLst/>
          </a:prstGeom>
          <a:noFill/>
          <a:ln/>
        </p:spPr>
        <p:txBody>
          <a:bodyPr wrap="square" lIns="0" tIns="0" rIns="0" bIns="0" rtlCol="0" anchor="ctr"/>
          <a:lstStyle/>
          <a:p>
            <a:pPr marL="0" indent="0">
              <a:buNone/>
            </a:pPr>
            <a:r>
              <a:rPr lang="en-US" sz="2200" b="1" dirty="0">
                <a:solidFill>
                  <a:srgbClr val="22A699"/>
                </a:solidFill>
                <a:latin typeface="Arial" pitchFamily="34" charset="0"/>
                <a:ea typeface="Arial" pitchFamily="34" charset="-122"/>
                <a:cs typeface="Arial" pitchFamily="34" charset="-120"/>
              </a:rPr>
              <a:t>05</a:t>
            </a:r>
            <a:endParaRPr lang="en-US" sz="2200" dirty="0"/>
          </a:p>
        </p:txBody>
      </p:sp>
      <p:pic>
        <p:nvPicPr>
          <p:cNvPr id="31" name="Image 4" descr="preencoded.png"/>
          <p:cNvPicPr>
            <a:picLocks noChangeAspect="1"/>
          </p:cNvPicPr>
          <p:nvPr/>
        </p:nvPicPr>
        <p:blipFill>
          <a:blip r:embed="rId7"/>
          <a:stretch>
            <a:fillRect/>
          </a:stretch>
        </p:blipFill>
        <p:spPr>
          <a:xfrm>
            <a:off x="1371600" y="3703320"/>
            <a:ext cx="320040" cy="320040"/>
          </a:xfrm>
          <a:prstGeom prst="rect">
            <a:avLst/>
          </a:prstGeom>
        </p:spPr>
      </p:pic>
      <p:sp>
        <p:nvSpPr>
          <p:cNvPr id="32" name="Text 25"/>
          <p:cNvSpPr/>
          <p:nvPr/>
        </p:nvSpPr>
        <p:spPr>
          <a:xfrm>
            <a:off x="1783080" y="3657600"/>
            <a:ext cx="2468880" cy="365760"/>
          </a:xfrm>
          <a:prstGeom prst="rect">
            <a:avLst/>
          </a:prstGeom>
          <a:noFill/>
          <a:ln/>
        </p:spPr>
        <p:txBody>
          <a:bodyPr wrap="square" lIns="0" tIns="0" rIns="0" bIns="0" rtlCol="0" anchor="ctr"/>
          <a:lstStyle/>
          <a:p>
            <a:pPr marL="0" indent="0">
              <a:buNone/>
            </a:pPr>
            <a:r>
              <a:rPr lang="en-US" sz="1500" b="1" dirty="0">
                <a:solidFill>
                  <a:srgbClr val="1E293B"/>
                </a:solidFill>
                <a:latin typeface="Arial" pitchFamily="34" charset="0"/>
                <a:ea typeface="Arial" pitchFamily="34" charset="-122"/>
                <a:cs typeface="Arial" pitchFamily="34" charset="-120"/>
              </a:rPr>
              <a:t>本体模型的迭代适配</a:t>
            </a:r>
            <a:endParaRPr lang="en-US" sz="1500" dirty="0"/>
          </a:p>
        </p:txBody>
      </p:sp>
      <p:sp>
        <p:nvSpPr>
          <p:cNvPr id="33" name="Text 26"/>
          <p:cNvSpPr/>
          <p:nvPr/>
        </p:nvSpPr>
        <p:spPr>
          <a:xfrm>
            <a:off x="1783080" y="4069080"/>
            <a:ext cx="2468880" cy="365760"/>
          </a:xfrm>
          <a:prstGeom prst="rect">
            <a:avLst/>
          </a:prstGeom>
          <a:noFill/>
          <a:ln/>
        </p:spPr>
        <p:txBody>
          <a:bodyPr wrap="square" lIns="0" tIns="0" rIns="0" bIns="0" rtlCol="0" anchor="t"/>
          <a:lstStyle/>
          <a:p>
            <a:pPr marL="0" indent="0">
              <a:buNone/>
            </a:pPr>
            <a:r>
              <a:rPr lang="en-US" sz="1200" dirty="0">
                <a:solidFill>
                  <a:srgbClr val="64748B"/>
                </a:solidFill>
                <a:latin typeface="Arial" pitchFamily="34" charset="0"/>
                <a:ea typeface="Arial" pitchFamily="34" charset="-122"/>
                <a:cs typeface="Arial" pitchFamily="34" charset="-120"/>
              </a:rPr>
              <a:t>全生命周期演进策略</a:t>
            </a:r>
            <a:endParaRPr lang="en-US" sz="1200" dirty="0"/>
          </a:p>
        </p:txBody>
      </p:sp>
      <p:sp>
        <p:nvSpPr>
          <p:cNvPr id="34" name="Shape 27"/>
          <p:cNvSpPr/>
          <p:nvPr/>
        </p:nvSpPr>
        <p:spPr>
          <a:xfrm>
            <a:off x="4754880" y="3566160"/>
            <a:ext cx="3840480" cy="1051560"/>
          </a:xfrm>
          <a:prstGeom prst="rect">
            <a:avLst/>
          </a:prstGeom>
          <a:solidFill>
            <a:srgbClr val="F1F5F9"/>
          </a:solidFill>
          <a:ln/>
        </p:spPr>
        <p:txBody>
          <a:bodyPr/>
          <a:lstStyle/>
          <a:p>
            <a:endParaRPr lang="zh-CN" altLang="en-US"/>
          </a:p>
        </p:txBody>
      </p:sp>
      <p:sp>
        <p:nvSpPr>
          <p:cNvPr id="35" name="Shape 28"/>
          <p:cNvSpPr/>
          <p:nvPr/>
        </p:nvSpPr>
        <p:spPr>
          <a:xfrm>
            <a:off x="4754880" y="3566160"/>
            <a:ext cx="54864" cy="1051560"/>
          </a:xfrm>
          <a:prstGeom prst="rect">
            <a:avLst/>
          </a:prstGeom>
          <a:solidFill>
            <a:srgbClr val="22A699"/>
          </a:solidFill>
          <a:ln/>
        </p:spPr>
        <p:txBody>
          <a:bodyPr/>
          <a:lstStyle/>
          <a:p>
            <a:endParaRPr lang="zh-CN" altLang="en-US"/>
          </a:p>
        </p:txBody>
      </p:sp>
      <p:sp>
        <p:nvSpPr>
          <p:cNvPr id="36" name="Text 29"/>
          <p:cNvSpPr/>
          <p:nvPr/>
        </p:nvSpPr>
        <p:spPr>
          <a:xfrm>
            <a:off x="4937760" y="3657600"/>
            <a:ext cx="731520" cy="457200"/>
          </a:xfrm>
          <a:prstGeom prst="rect">
            <a:avLst/>
          </a:prstGeom>
          <a:noFill/>
          <a:ln/>
        </p:spPr>
        <p:txBody>
          <a:bodyPr wrap="square" lIns="0" tIns="0" rIns="0" bIns="0" rtlCol="0" anchor="ctr"/>
          <a:lstStyle/>
          <a:p>
            <a:pPr marL="0" indent="0">
              <a:buNone/>
            </a:pPr>
            <a:r>
              <a:rPr lang="en-US" sz="2200" b="1" dirty="0">
                <a:solidFill>
                  <a:srgbClr val="22A699"/>
                </a:solidFill>
                <a:latin typeface="Arial" pitchFamily="34" charset="0"/>
                <a:ea typeface="Arial" pitchFamily="34" charset="-122"/>
                <a:cs typeface="Arial" pitchFamily="34" charset="-120"/>
              </a:rPr>
              <a:t>06</a:t>
            </a:r>
            <a:endParaRPr lang="en-US" sz="2200" dirty="0"/>
          </a:p>
        </p:txBody>
      </p:sp>
      <p:pic>
        <p:nvPicPr>
          <p:cNvPr id="37" name="Image 5" descr="preencoded.png"/>
          <p:cNvPicPr>
            <a:picLocks noChangeAspect="1"/>
          </p:cNvPicPr>
          <p:nvPr/>
        </p:nvPicPr>
        <p:blipFill>
          <a:blip r:embed="rId8"/>
          <a:stretch>
            <a:fillRect/>
          </a:stretch>
        </p:blipFill>
        <p:spPr>
          <a:xfrm>
            <a:off x="5577840" y="3703320"/>
            <a:ext cx="320040" cy="320040"/>
          </a:xfrm>
          <a:prstGeom prst="rect">
            <a:avLst/>
          </a:prstGeom>
        </p:spPr>
      </p:pic>
      <p:sp>
        <p:nvSpPr>
          <p:cNvPr id="38" name="Text 30"/>
          <p:cNvSpPr/>
          <p:nvPr/>
        </p:nvSpPr>
        <p:spPr>
          <a:xfrm>
            <a:off x="5989320" y="3657600"/>
            <a:ext cx="2468880" cy="365760"/>
          </a:xfrm>
          <a:prstGeom prst="rect">
            <a:avLst/>
          </a:prstGeom>
          <a:noFill/>
          <a:ln/>
        </p:spPr>
        <p:txBody>
          <a:bodyPr wrap="square" lIns="0" tIns="0" rIns="0" bIns="0" rtlCol="0" anchor="ctr"/>
          <a:lstStyle/>
          <a:p>
            <a:pPr marL="0" indent="0">
              <a:buNone/>
            </a:pPr>
            <a:r>
              <a:rPr lang="en-US" sz="1500" b="1" dirty="0">
                <a:solidFill>
                  <a:srgbClr val="1E293B"/>
                </a:solidFill>
                <a:latin typeface="Arial" pitchFamily="34" charset="0"/>
                <a:ea typeface="Arial" pitchFamily="34" charset="-122"/>
                <a:cs typeface="Arial" pitchFamily="34" charset="-120"/>
              </a:rPr>
              <a:t>企业运维体系</a:t>
            </a:r>
            <a:endParaRPr lang="en-US" sz="1500" dirty="0"/>
          </a:p>
        </p:txBody>
      </p:sp>
      <p:sp>
        <p:nvSpPr>
          <p:cNvPr id="39" name="Text 31"/>
          <p:cNvSpPr/>
          <p:nvPr/>
        </p:nvSpPr>
        <p:spPr>
          <a:xfrm>
            <a:off x="5989320" y="4069080"/>
            <a:ext cx="2468880" cy="365760"/>
          </a:xfrm>
          <a:prstGeom prst="rect">
            <a:avLst/>
          </a:prstGeom>
          <a:noFill/>
          <a:ln/>
        </p:spPr>
        <p:txBody>
          <a:bodyPr wrap="square" lIns="0" tIns="0" rIns="0" bIns="0" rtlCol="0" anchor="t"/>
          <a:lstStyle/>
          <a:p>
            <a:pPr marL="0" indent="0">
              <a:buNone/>
            </a:pPr>
            <a:r>
              <a:rPr lang="en-US" sz="1200" dirty="0">
                <a:solidFill>
                  <a:srgbClr val="64748B"/>
                </a:solidFill>
                <a:latin typeface="Arial" pitchFamily="34" charset="0"/>
                <a:ea typeface="Arial" pitchFamily="34" charset="-122"/>
                <a:cs typeface="Arial" pitchFamily="34" charset="-120"/>
              </a:rPr>
              <a:t>监控 · 多租户 · 国产化</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2A699"/>
          </a:solidFill>
          <a:ln/>
        </p:spPr>
        <p:txBody>
          <a:bodyPr/>
          <a:lstStyle/>
          <a:p>
            <a:endParaRPr lang="zh-CN" altLang="en-US"/>
          </a:p>
        </p:txBody>
      </p:sp>
      <p:sp>
        <p:nvSpPr>
          <p:cNvPr id="3" name="Shape 1"/>
          <p:cNvSpPr/>
          <p:nvPr/>
        </p:nvSpPr>
        <p:spPr>
          <a:xfrm>
            <a:off x="548640" y="274320"/>
            <a:ext cx="54864" cy="457200"/>
          </a:xfrm>
          <a:prstGeom prst="rect">
            <a:avLst/>
          </a:prstGeom>
          <a:solidFill>
            <a:srgbClr val="22A699"/>
          </a:solidFill>
          <a:ln/>
        </p:spPr>
        <p:txBody>
          <a:bodyPr/>
          <a:lstStyle/>
          <a:p>
            <a:endParaRPr lang="zh-CN" altLang="en-US"/>
          </a:p>
        </p:txBody>
      </p:sp>
      <p:sp>
        <p:nvSpPr>
          <p:cNvPr id="4" name="Text 2"/>
          <p:cNvSpPr/>
          <p:nvPr/>
        </p:nvSpPr>
        <p:spPr>
          <a:xfrm>
            <a:off x="731520" y="274320"/>
            <a:ext cx="731520" cy="457200"/>
          </a:xfrm>
          <a:prstGeom prst="rect">
            <a:avLst/>
          </a:prstGeom>
          <a:noFill/>
          <a:ln/>
        </p:spPr>
        <p:txBody>
          <a:bodyPr wrap="square" lIns="0" tIns="0" rIns="0" bIns="0" rtlCol="0" anchor="ctr"/>
          <a:lstStyle/>
          <a:p>
            <a:pPr marL="0" indent="0">
              <a:buNone/>
            </a:pPr>
            <a:r>
              <a:rPr lang="en-US" sz="2000" b="1" dirty="0">
                <a:solidFill>
                  <a:srgbClr val="22A699"/>
                </a:solidFill>
                <a:latin typeface="Arial" pitchFamily="34" charset="0"/>
                <a:ea typeface="Arial" pitchFamily="34" charset="-122"/>
                <a:cs typeface="Arial" pitchFamily="34" charset="-120"/>
              </a:rPr>
              <a:t>01</a:t>
            </a:r>
            <a:endParaRPr lang="en-US" sz="2000" dirty="0"/>
          </a:p>
        </p:txBody>
      </p:sp>
      <p:sp>
        <p:nvSpPr>
          <p:cNvPr id="5" name="Text 3"/>
          <p:cNvSpPr/>
          <p:nvPr/>
        </p:nvSpPr>
        <p:spPr>
          <a:xfrm>
            <a:off x="1554480" y="274320"/>
            <a:ext cx="4572000" cy="457200"/>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企业 Agentic AI 时代</a:t>
            </a:r>
            <a:endParaRPr lang="en-US" sz="2000" dirty="0"/>
          </a:p>
        </p:txBody>
      </p:sp>
      <p:sp>
        <p:nvSpPr>
          <p:cNvPr id="6" name="Shape 4"/>
          <p:cNvSpPr/>
          <p:nvPr/>
        </p:nvSpPr>
        <p:spPr>
          <a:xfrm>
            <a:off x="548640" y="1188720"/>
            <a:ext cx="2560320" cy="3200400"/>
          </a:xfrm>
          <a:prstGeom prst="rect">
            <a:avLst/>
          </a:prstGeom>
          <a:solidFill>
            <a:srgbClr val="1E293B"/>
          </a:solidFill>
          <a:ln/>
        </p:spPr>
        <p:txBody>
          <a:bodyPr/>
          <a:lstStyle/>
          <a:p>
            <a:endParaRPr lang="zh-CN" altLang="en-US"/>
          </a:p>
        </p:txBody>
      </p:sp>
      <p:sp>
        <p:nvSpPr>
          <p:cNvPr id="7" name="Shape 5"/>
          <p:cNvSpPr/>
          <p:nvPr/>
        </p:nvSpPr>
        <p:spPr>
          <a:xfrm>
            <a:off x="548640" y="1188720"/>
            <a:ext cx="2560320" cy="54864"/>
          </a:xfrm>
          <a:prstGeom prst="rect">
            <a:avLst/>
          </a:prstGeom>
          <a:solidFill>
            <a:srgbClr val="22A699"/>
          </a:solidFill>
          <a:ln/>
        </p:spPr>
        <p:txBody>
          <a:bodyPr/>
          <a:lstStyle/>
          <a:p>
            <a:endParaRPr lang="zh-CN" altLang="en-US"/>
          </a:p>
        </p:txBody>
      </p:sp>
      <p:pic>
        <p:nvPicPr>
          <p:cNvPr id="8" name="Image 0" descr="preencoded.png"/>
          <p:cNvPicPr>
            <a:picLocks noChangeAspect="1"/>
          </p:cNvPicPr>
          <p:nvPr/>
        </p:nvPicPr>
        <p:blipFill>
          <a:blip r:embed="rId3"/>
          <a:stretch>
            <a:fillRect/>
          </a:stretch>
        </p:blipFill>
        <p:spPr>
          <a:xfrm>
            <a:off x="1508760" y="1463040"/>
            <a:ext cx="548640" cy="548640"/>
          </a:xfrm>
          <a:prstGeom prst="rect">
            <a:avLst/>
          </a:prstGeom>
        </p:spPr>
      </p:pic>
      <p:sp>
        <p:nvSpPr>
          <p:cNvPr id="9" name="Text 6"/>
          <p:cNvSpPr/>
          <p:nvPr/>
        </p:nvSpPr>
        <p:spPr>
          <a:xfrm>
            <a:off x="548640" y="2194560"/>
            <a:ext cx="2560320" cy="731520"/>
          </a:xfrm>
          <a:prstGeom prst="rect">
            <a:avLst/>
          </a:prstGeom>
          <a:noFill/>
          <a:ln/>
        </p:spPr>
        <p:txBody>
          <a:bodyPr wrap="square" lIns="0" tIns="0" rIns="0" bIns="0" rtlCol="0" anchor="ctr"/>
          <a:lstStyle/>
          <a:p>
            <a:pPr marL="0" indent="0" algn="ctr">
              <a:buNone/>
            </a:pPr>
            <a:r>
              <a:rPr lang="en-US" sz="4000" b="1" dirty="0">
                <a:solidFill>
                  <a:srgbClr val="22A699"/>
                </a:solidFill>
                <a:latin typeface="Arial" pitchFamily="34" charset="0"/>
                <a:ea typeface="Arial" pitchFamily="34" charset="-122"/>
                <a:cs typeface="Arial" pitchFamily="34" charset="-120"/>
              </a:rPr>
              <a:t>85%</a:t>
            </a:r>
            <a:endParaRPr lang="en-US" sz="4000" dirty="0"/>
          </a:p>
        </p:txBody>
      </p:sp>
      <p:sp>
        <p:nvSpPr>
          <p:cNvPr id="10" name="Text 7"/>
          <p:cNvSpPr/>
          <p:nvPr/>
        </p:nvSpPr>
        <p:spPr>
          <a:xfrm>
            <a:off x="822960" y="3017520"/>
            <a:ext cx="2011680" cy="914400"/>
          </a:xfrm>
          <a:prstGeom prst="rect">
            <a:avLst/>
          </a:prstGeom>
          <a:noFill/>
          <a:ln/>
        </p:spPr>
        <p:txBody>
          <a:bodyPr wrap="square" lIns="0" tIns="0" rIns="0" bIns="0" rtlCol="0" anchor="ctr"/>
          <a:lstStyle/>
          <a:p>
            <a:pPr marL="0" indent="0" algn="ctr">
              <a:buNone/>
            </a:pPr>
            <a:r>
              <a:rPr lang="en-US" sz="1300" dirty="0">
                <a:solidFill>
                  <a:srgbClr val="94A3B8"/>
                </a:solidFill>
                <a:latin typeface="Arial" pitchFamily="34" charset="0"/>
                <a:ea typeface="Arial" pitchFamily="34" charset="-122"/>
                <a:cs typeface="Arial" pitchFamily="34" charset="-120"/>
              </a:rPr>
              <a:t>企业将在 2026 年</a:t>
            </a:r>
            <a:endParaRPr lang="en-US" sz="1300" dirty="0"/>
          </a:p>
          <a:p>
            <a:pPr marL="0" indent="0" algn="ctr">
              <a:buNone/>
            </a:pPr>
            <a:r>
              <a:rPr lang="en-US" sz="1300" dirty="0">
                <a:solidFill>
                  <a:srgbClr val="94A3B8"/>
                </a:solidFill>
                <a:latin typeface="Arial" pitchFamily="34" charset="0"/>
                <a:ea typeface="Arial" pitchFamily="34" charset="-122"/>
                <a:cs typeface="Arial" pitchFamily="34" charset="-120"/>
              </a:rPr>
              <a:t>部署 AI Agent</a:t>
            </a:r>
            <a:endParaRPr lang="en-US" sz="1300" dirty="0"/>
          </a:p>
        </p:txBody>
      </p:sp>
      <p:sp>
        <p:nvSpPr>
          <p:cNvPr id="11" name="Shape 8"/>
          <p:cNvSpPr/>
          <p:nvPr/>
        </p:nvSpPr>
        <p:spPr>
          <a:xfrm>
            <a:off x="3383280" y="1188720"/>
            <a:ext cx="2560320" cy="3200400"/>
          </a:xfrm>
          <a:prstGeom prst="rect">
            <a:avLst/>
          </a:prstGeom>
          <a:solidFill>
            <a:srgbClr val="1E293B"/>
          </a:solidFill>
          <a:ln/>
        </p:spPr>
        <p:txBody>
          <a:bodyPr/>
          <a:lstStyle/>
          <a:p>
            <a:endParaRPr lang="zh-CN" altLang="en-US"/>
          </a:p>
        </p:txBody>
      </p:sp>
      <p:sp>
        <p:nvSpPr>
          <p:cNvPr id="12" name="Shape 9"/>
          <p:cNvSpPr/>
          <p:nvPr/>
        </p:nvSpPr>
        <p:spPr>
          <a:xfrm>
            <a:off x="3383280" y="1188720"/>
            <a:ext cx="2560320" cy="54864"/>
          </a:xfrm>
          <a:prstGeom prst="rect">
            <a:avLst/>
          </a:prstGeom>
          <a:solidFill>
            <a:srgbClr val="E78C07"/>
          </a:solidFill>
          <a:ln/>
        </p:spPr>
        <p:txBody>
          <a:bodyPr/>
          <a:lstStyle/>
          <a:p>
            <a:endParaRPr lang="zh-CN" altLang="en-US"/>
          </a:p>
        </p:txBody>
      </p:sp>
      <p:pic>
        <p:nvPicPr>
          <p:cNvPr id="13" name="Image 1" descr="preencoded.png"/>
          <p:cNvPicPr>
            <a:picLocks noChangeAspect="1"/>
          </p:cNvPicPr>
          <p:nvPr/>
        </p:nvPicPr>
        <p:blipFill>
          <a:blip r:embed="rId4"/>
          <a:stretch>
            <a:fillRect/>
          </a:stretch>
        </p:blipFill>
        <p:spPr>
          <a:xfrm>
            <a:off x="4343400" y="1463040"/>
            <a:ext cx="548640" cy="548640"/>
          </a:xfrm>
          <a:prstGeom prst="rect">
            <a:avLst/>
          </a:prstGeom>
        </p:spPr>
      </p:pic>
      <p:sp>
        <p:nvSpPr>
          <p:cNvPr id="14" name="Text 10"/>
          <p:cNvSpPr/>
          <p:nvPr/>
        </p:nvSpPr>
        <p:spPr>
          <a:xfrm>
            <a:off x="3383280" y="2194560"/>
            <a:ext cx="2560320" cy="731520"/>
          </a:xfrm>
          <a:prstGeom prst="rect">
            <a:avLst/>
          </a:prstGeom>
          <a:noFill/>
          <a:ln/>
        </p:spPr>
        <p:txBody>
          <a:bodyPr wrap="square" lIns="0" tIns="0" rIns="0" bIns="0" rtlCol="0" anchor="ctr"/>
          <a:lstStyle/>
          <a:p>
            <a:pPr marL="0" indent="0" algn="ctr">
              <a:buNone/>
            </a:pPr>
            <a:r>
              <a:rPr lang="en-US" sz="4000" b="1" dirty="0">
                <a:solidFill>
                  <a:srgbClr val="E78C07"/>
                </a:solidFill>
                <a:latin typeface="Arial" pitchFamily="34" charset="0"/>
                <a:ea typeface="Arial" pitchFamily="34" charset="-122"/>
                <a:cs typeface="Arial" pitchFamily="34" charset="-120"/>
              </a:rPr>
              <a:t>60%</a:t>
            </a:r>
            <a:endParaRPr lang="en-US" sz="4000" dirty="0"/>
          </a:p>
        </p:txBody>
      </p:sp>
      <p:sp>
        <p:nvSpPr>
          <p:cNvPr id="15" name="Text 11"/>
          <p:cNvSpPr/>
          <p:nvPr/>
        </p:nvSpPr>
        <p:spPr>
          <a:xfrm>
            <a:off x="3657600" y="3017520"/>
            <a:ext cx="2011680" cy="914400"/>
          </a:xfrm>
          <a:prstGeom prst="rect">
            <a:avLst/>
          </a:prstGeom>
          <a:noFill/>
          <a:ln/>
        </p:spPr>
        <p:txBody>
          <a:bodyPr wrap="square" lIns="0" tIns="0" rIns="0" bIns="0" rtlCol="0" anchor="ctr"/>
          <a:lstStyle/>
          <a:p>
            <a:pPr marL="0" indent="0" algn="ctr">
              <a:buNone/>
            </a:pPr>
            <a:r>
              <a:rPr lang="en-US" sz="1300" dirty="0">
                <a:solidFill>
                  <a:srgbClr val="94A3B8"/>
                </a:solidFill>
                <a:latin typeface="Arial" pitchFamily="34" charset="0"/>
                <a:ea typeface="Arial" pitchFamily="34" charset="-122"/>
                <a:cs typeface="Arial" pitchFamily="34" charset="-120"/>
              </a:rPr>
              <a:t>Agent </a:t>
            </a:r>
            <a:r>
              <a:rPr lang="zh-CN" altLang="en-US" sz="1300" dirty="0">
                <a:solidFill>
                  <a:srgbClr val="94A3B8"/>
                </a:solidFill>
                <a:latin typeface="Arial" pitchFamily="34" charset="0"/>
                <a:ea typeface="Arial" pitchFamily="34" charset="-122"/>
                <a:cs typeface="Arial" pitchFamily="34" charset="-120"/>
              </a:rPr>
              <a:t>项目</a:t>
            </a:r>
            <a:r>
              <a:rPr lang="en-US" sz="1300" dirty="0">
                <a:solidFill>
                  <a:srgbClr val="94A3B8"/>
                </a:solidFill>
                <a:latin typeface="Arial" pitchFamily="34" charset="0"/>
                <a:ea typeface="Arial" pitchFamily="34" charset="-122"/>
                <a:cs typeface="Arial" pitchFamily="34" charset="-120"/>
              </a:rPr>
              <a:t>因</a:t>
            </a:r>
            <a:r>
              <a:rPr lang="zh-CN" altLang="en-US" sz="1300" dirty="0">
                <a:solidFill>
                  <a:srgbClr val="94A3B8"/>
                </a:solidFill>
                <a:latin typeface="Arial" pitchFamily="34" charset="0"/>
                <a:ea typeface="Arial" pitchFamily="34" charset="-122"/>
                <a:cs typeface="Arial" pitchFamily="34" charset="-120"/>
              </a:rPr>
              <a:t>为</a:t>
            </a:r>
            <a:r>
              <a:rPr lang="en-US" sz="1300" dirty="0" err="1">
                <a:solidFill>
                  <a:srgbClr val="94A3B8"/>
                </a:solidFill>
                <a:latin typeface="Arial" pitchFamily="34" charset="0"/>
                <a:ea typeface="Arial" pitchFamily="34" charset="-122"/>
                <a:cs typeface="Arial" pitchFamily="34" charset="-120"/>
              </a:rPr>
              <a:t>语义</a:t>
            </a:r>
            <a:endParaRPr lang="en-US" sz="1300" dirty="0"/>
          </a:p>
          <a:p>
            <a:pPr marL="0" indent="0" algn="ctr">
              <a:buNone/>
            </a:pPr>
            <a:r>
              <a:rPr lang="en-US" sz="1300" dirty="0">
                <a:solidFill>
                  <a:srgbClr val="94A3B8"/>
                </a:solidFill>
                <a:latin typeface="Arial" pitchFamily="34" charset="0"/>
                <a:ea typeface="Arial" pitchFamily="34" charset="-122"/>
                <a:cs typeface="Arial" pitchFamily="34" charset="-120"/>
              </a:rPr>
              <a:t>理解错误而失败</a:t>
            </a:r>
            <a:endParaRPr lang="en-US" sz="1300" dirty="0"/>
          </a:p>
        </p:txBody>
      </p:sp>
      <p:sp>
        <p:nvSpPr>
          <p:cNvPr id="16" name="Shape 12"/>
          <p:cNvSpPr/>
          <p:nvPr/>
        </p:nvSpPr>
        <p:spPr>
          <a:xfrm>
            <a:off x="6217920" y="1188720"/>
            <a:ext cx="2560320" cy="3200400"/>
          </a:xfrm>
          <a:prstGeom prst="rect">
            <a:avLst/>
          </a:prstGeom>
          <a:solidFill>
            <a:srgbClr val="1E293B"/>
          </a:solidFill>
          <a:ln/>
        </p:spPr>
        <p:txBody>
          <a:bodyPr/>
          <a:lstStyle/>
          <a:p>
            <a:endParaRPr lang="zh-CN" altLang="en-US"/>
          </a:p>
        </p:txBody>
      </p:sp>
      <p:sp>
        <p:nvSpPr>
          <p:cNvPr id="17" name="Shape 13"/>
          <p:cNvSpPr/>
          <p:nvPr/>
        </p:nvSpPr>
        <p:spPr>
          <a:xfrm>
            <a:off x="6217920" y="1188720"/>
            <a:ext cx="2560320" cy="54864"/>
          </a:xfrm>
          <a:prstGeom prst="rect">
            <a:avLst/>
          </a:prstGeom>
          <a:solidFill>
            <a:srgbClr val="107E3E"/>
          </a:solidFill>
          <a:ln/>
        </p:spPr>
        <p:txBody>
          <a:bodyPr/>
          <a:lstStyle/>
          <a:p>
            <a:endParaRPr lang="zh-CN" altLang="en-US"/>
          </a:p>
        </p:txBody>
      </p:sp>
      <p:pic>
        <p:nvPicPr>
          <p:cNvPr id="18" name="Image 2" descr="preencoded.png"/>
          <p:cNvPicPr>
            <a:picLocks noChangeAspect="1"/>
          </p:cNvPicPr>
          <p:nvPr/>
        </p:nvPicPr>
        <p:blipFill>
          <a:blip r:embed="rId5"/>
          <a:stretch>
            <a:fillRect/>
          </a:stretch>
        </p:blipFill>
        <p:spPr>
          <a:xfrm>
            <a:off x="7178040" y="1463040"/>
            <a:ext cx="548640" cy="548640"/>
          </a:xfrm>
          <a:prstGeom prst="rect">
            <a:avLst/>
          </a:prstGeom>
        </p:spPr>
      </p:pic>
      <p:sp>
        <p:nvSpPr>
          <p:cNvPr id="19" name="Text 14"/>
          <p:cNvSpPr/>
          <p:nvPr/>
        </p:nvSpPr>
        <p:spPr>
          <a:xfrm>
            <a:off x="6217920" y="2194560"/>
            <a:ext cx="2560320" cy="731520"/>
          </a:xfrm>
          <a:prstGeom prst="rect">
            <a:avLst/>
          </a:prstGeom>
          <a:noFill/>
          <a:ln/>
        </p:spPr>
        <p:txBody>
          <a:bodyPr wrap="square" lIns="0" tIns="0" rIns="0" bIns="0" rtlCol="0" anchor="ctr"/>
          <a:lstStyle/>
          <a:p>
            <a:pPr marL="0" indent="0" algn="ctr">
              <a:buNone/>
            </a:pPr>
            <a:r>
              <a:rPr lang="en-US" sz="4000" b="1" dirty="0">
                <a:solidFill>
                  <a:srgbClr val="107E3E"/>
                </a:solidFill>
                <a:latin typeface="Arial" pitchFamily="34" charset="0"/>
                <a:ea typeface="Arial" pitchFamily="34" charset="-122"/>
                <a:cs typeface="Arial" pitchFamily="34" charset="-120"/>
              </a:rPr>
              <a:t>3x</a:t>
            </a:r>
            <a:endParaRPr lang="en-US" sz="4000" dirty="0"/>
          </a:p>
        </p:txBody>
      </p:sp>
      <p:sp>
        <p:nvSpPr>
          <p:cNvPr id="20" name="Text 15"/>
          <p:cNvSpPr/>
          <p:nvPr/>
        </p:nvSpPr>
        <p:spPr>
          <a:xfrm>
            <a:off x="6492240" y="3017520"/>
            <a:ext cx="2011680" cy="914400"/>
          </a:xfrm>
          <a:prstGeom prst="rect">
            <a:avLst/>
          </a:prstGeom>
          <a:noFill/>
          <a:ln/>
        </p:spPr>
        <p:txBody>
          <a:bodyPr wrap="square" lIns="0" tIns="0" rIns="0" bIns="0" rtlCol="0" anchor="ctr"/>
          <a:lstStyle/>
          <a:p>
            <a:pPr marL="0" indent="0" algn="ctr">
              <a:buNone/>
            </a:pPr>
            <a:r>
              <a:rPr lang="en-US" sz="1300" dirty="0">
                <a:solidFill>
                  <a:srgbClr val="94A3B8"/>
                </a:solidFill>
                <a:latin typeface="Arial" pitchFamily="34" charset="0"/>
                <a:ea typeface="Arial" pitchFamily="34" charset="-122"/>
                <a:cs typeface="Arial" pitchFamily="34" charset="-120"/>
              </a:rPr>
              <a:t>有本体约束的 Agent</a:t>
            </a:r>
            <a:endParaRPr lang="en-US" sz="1300" dirty="0"/>
          </a:p>
          <a:p>
            <a:pPr marL="0" indent="0" algn="ctr">
              <a:buNone/>
            </a:pPr>
            <a:r>
              <a:rPr lang="en-US" sz="1300" dirty="0">
                <a:solidFill>
                  <a:srgbClr val="94A3B8"/>
                </a:solidFill>
                <a:latin typeface="Arial" pitchFamily="34" charset="0"/>
                <a:ea typeface="Arial" pitchFamily="34" charset="-122"/>
                <a:cs typeface="Arial" pitchFamily="34" charset="-120"/>
              </a:rPr>
              <a:t>执行成功率提升 3 倍</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2A699"/>
          </a:solidFill>
          <a:ln/>
        </p:spPr>
        <p:txBody>
          <a:bodyPr/>
          <a:lstStyle/>
          <a:p>
            <a:endParaRPr lang="zh-CN" altLang="en-US"/>
          </a:p>
        </p:txBody>
      </p:sp>
      <p:sp>
        <p:nvSpPr>
          <p:cNvPr id="3" name="Shape 1"/>
          <p:cNvSpPr/>
          <p:nvPr/>
        </p:nvSpPr>
        <p:spPr>
          <a:xfrm>
            <a:off x="548640" y="274320"/>
            <a:ext cx="54864" cy="457200"/>
          </a:xfrm>
          <a:prstGeom prst="rect">
            <a:avLst/>
          </a:prstGeom>
          <a:solidFill>
            <a:srgbClr val="22A699"/>
          </a:solidFill>
          <a:ln/>
        </p:spPr>
        <p:txBody>
          <a:bodyPr/>
          <a:lstStyle/>
          <a:p>
            <a:endParaRPr lang="zh-CN" altLang="en-US"/>
          </a:p>
        </p:txBody>
      </p:sp>
      <p:sp>
        <p:nvSpPr>
          <p:cNvPr id="4" name="Text 2"/>
          <p:cNvSpPr/>
          <p:nvPr/>
        </p:nvSpPr>
        <p:spPr>
          <a:xfrm>
            <a:off x="731520" y="274320"/>
            <a:ext cx="731520" cy="457200"/>
          </a:xfrm>
          <a:prstGeom prst="rect">
            <a:avLst/>
          </a:prstGeom>
          <a:noFill/>
          <a:ln/>
        </p:spPr>
        <p:txBody>
          <a:bodyPr wrap="square" lIns="0" tIns="0" rIns="0" bIns="0" rtlCol="0" anchor="ctr"/>
          <a:lstStyle/>
          <a:p>
            <a:pPr marL="0" indent="0">
              <a:buNone/>
            </a:pPr>
            <a:r>
              <a:rPr lang="en-US" sz="1800" b="1" dirty="0">
                <a:solidFill>
                  <a:srgbClr val="22A699"/>
                </a:solidFill>
                <a:latin typeface="Arial" pitchFamily="34" charset="0"/>
                <a:ea typeface="Arial" pitchFamily="34" charset="-122"/>
                <a:cs typeface="Arial" pitchFamily="34" charset="-120"/>
              </a:rPr>
              <a:t>01</a:t>
            </a:r>
            <a:endParaRPr lang="en-US" sz="1800" dirty="0"/>
          </a:p>
        </p:txBody>
      </p:sp>
      <p:sp>
        <p:nvSpPr>
          <p:cNvPr id="5" name="Text 3"/>
          <p:cNvSpPr/>
          <p:nvPr/>
        </p:nvSpPr>
        <p:spPr>
          <a:xfrm>
            <a:off x="548640" y="822960"/>
            <a:ext cx="8046720" cy="457200"/>
          </a:xfrm>
          <a:prstGeom prst="rect">
            <a:avLst/>
          </a:prstGeom>
          <a:noFill/>
          <a:ln/>
        </p:spPr>
        <p:txBody>
          <a:bodyPr wrap="square" lIns="0" tIns="0" rIns="0" bIns="0" rtlCol="0" anchor="ctr"/>
          <a:lstStyle/>
          <a:p>
            <a:pPr marL="0" indent="0">
              <a:buNone/>
            </a:pPr>
            <a:r>
              <a:rPr lang="en-US" sz="2600" b="1" dirty="0">
                <a:solidFill>
                  <a:srgbClr val="1E293B"/>
                </a:solidFill>
                <a:latin typeface="Arial" pitchFamily="34" charset="0"/>
                <a:ea typeface="Arial" pitchFamily="34" charset="-122"/>
                <a:cs typeface="Arial" pitchFamily="34" charset="-120"/>
              </a:rPr>
              <a:t>企业 AI 落地的四大根本挑战</a:t>
            </a:r>
            <a:endParaRPr lang="en-US" sz="2600" dirty="0"/>
          </a:p>
        </p:txBody>
      </p:sp>
      <p:sp>
        <p:nvSpPr>
          <p:cNvPr id="6" name="Shape 4"/>
          <p:cNvSpPr/>
          <p:nvPr/>
        </p:nvSpPr>
        <p:spPr>
          <a:xfrm>
            <a:off x="548640" y="1554480"/>
            <a:ext cx="1920240" cy="2606040"/>
          </a:xfrm>
          <a:prstGeom prst="rect">
            <a:avLst/>
          </a:prstGeom>
          <a:solidFill>
            <a:srgbClr val="E8F4F8"/>
          </a:solidFill>
          <a:ln/>
        </p:spPr>
        <p:txBody>
          <a:bodyPr/>
          <a:lstStyle/>
          <a:p>
            <a:endParaRPr lang="zh-CN" altLang="en-US"/>
          </a:p>
        </p:txBody>
      </p:sp>
      <p:sp>
        <p:nvSpPr>
          <p:cNvPr id="7" name="Shape 5"/>
          <p:cNvSpPr/>
          <p:nvPr/>
        </p:nvSpPr>
        <p:spPr>
          <a:xfrm>
            <a:off x="1143000" y="1783080"/>
            <a:ext cx="640080" cy="640080"/>
          </a:xfrm>
          <a:prstGeom prst="ellipse">
            <a:avLst/>
          </a:prstGeom>
          <a:solidFill>
            <a:srgbClr val="065A82"/>
          </a:solidFill>
          <a:ln/>
        </p:spPr>
        <p:txBody>
          <a:bodyPr/>
          <a:lstStyle/>
          <a:p>
            <a:endParaRPr lang="zh-CN" altLang="en-US"/>
          </a:p>
        </p:txBody>
      </p:sp>
      <p:pic>
        <p:nvPicPr>
          <p:cNvPr id="8" name="Image 0" descr="preencoded.png"/>
          <p:cNvPicPr>
            <a:picLocks noChangeAspect="1"/>
          </p:cNvPicPr>
          <p:nvPr/>
        </p:nvPicPr>
        <p:blipFill>
          <a:blip r:embed="rId3"/>
          <a:stretch>
            <a:fillRect/>
          </a:stretch>
        </p:blipFill>
        <p:spPr>
          <a:xfrm>
            <a:off x="1271016" y="1920240"/>
            <a:ext cx="384048" cy="384048"/>
          </a:xfrm>
          <a:prstGeom prst="rect">
            <a:avLst/>
          </a:prstGeom>
        </p:spPr>
      </p:pic>
      <p:sp>
        <p:nvSpPr>
          <p:cNvPr id="9" name="Text 6"/>
          <p:cNvSpPr/>
          <p:nvPr/>
        </p:nvSpPr>
        <p:spPr>
          <a:xfrm>
            <a:off x="548640" y="2606040"/>
            <a:ext cx="1920240" cy="365760"/>
          </a:xfrm>
          <a:prstGeom prst="rect">
            <a:avLst/>
          </a:prstGeom>
          <a:noFill/>
          <a:ln/>
        </p:spPr>
        <p:txBody>
          <a:bodyPr wrap="square" lIns="0" tIns="0" rIns="0" bIns="0" rtlCol="0" anchor="ctr"/>
          <a:lstStyle/>
          <a:p>
            <a:pPr marL="0" indent="0" algn="ctr">
              <a:buNone/>
            </a:pPr>
            <a:r>
              <a:rPr lang="en-US" sz="1600" b="1" dirty="0">
                <a:solidFill>
                  <a:srgbClr val="065A82"/>
                </a:solidFill>
                <a:latin typeface="Arial" pitchFamily="34" charset="0"/>
                <a:ea typeface="Arial" pitchFamily="34" charset="-122"/>
                <a:cs typeface="Arial" pitchFamily="34" charset="-120"/>
              </a:rPr>
              <a:t>语义鸿沟</a:t>
            </a:r>
            <a:endParaRPr lang="en-US" sz="1600" dirty="0"/>
          </a:p>
        </p:txBody>
      </p:sp>
      <p:sp>
        <p:nvSpPr>
          <p:cNvPr id="10" name="Text 7"/>
          <p:cNvSpPr/>
          <p:nvPr/>
        </p:nvSpPr>
        <p:spPr>
          <a:xfrm>
            <a:off x="685800" y="3063240"/>
            <a:ext cx="1645920" cy="1097280"/>
          </a:xfrm>
          <a:prstGeom prst="rect">
            <a:avLst/>
          </a:prstGeom>
          <a:noFill/>
          <a:ln/>
        </p:spPr>
        <p:txBody>
          <a:bodyPr wrap="square" lIns="36000" tIns="0" rIns="36000" bIns="0" rtlCol="0" anchor="ctr"/>
          <a:lstStyle/>
          <a:p>
            <a:pPr marL="0" indent="0" algn="ctr">
              <a:buNone/>
            </a:pPr>
            <a:r>
              <a:rPr lang="en-US" sz="1200" dirty="0">
                <a:solidFill>
                  <a:srgbClr val="64748B"/>
                </a:solidFill>
                <a:latin typeface="Arial" pitchFamily="34" charset="0"/>
                <a:ea typeface="Arial" pitchFamily="34" charset="-122"/>
                <a:cs typeface="Arial" pitchFamily="34" charset="-120"/>
              </a:rPr>
              <a:t>大模型不理解 ERP </a:t>
            </a:r>
            <a:r>
              <a:rPr lang="en-US" sz="1200" dirty="0" err="1">
                <a:solidFill>
                  <a:srgbClr val="64748B"/>
                </a:solidFill>
                <a:latin typeface="Arial" pitchFamily="34" charset="0"/>
                <a:ea typeface="Arial" pitchFamily="34" charset="-122"/>
                <a:cs typeface="Arial" pitchFamily="34" charset="-120"/>
              </a:rPr>
              <a:t>里的「客户」和</a:t>
            </a:r>
            <a:r>
              <a:rPr lang="en-US" sz="1200" dirty="0">
                <a:solidFill>
                  <a:srgbClr val="64748B"/>
                </a:solidFill>
                <a:latin typeface="Arial" pitchFamily="34" charset="0"/>
                <a:ea typeface="Arial" pitchFamily="34" charset="-122"/>
                <a:cs typeface="Arial" pitchFamily="34" charset="-120"/>
              </a:rPr>
              <a:t> CRM </a:t>
            </a:r>
            <a:r>
              <a:rPr lang="en-US" sz="1200" dirty="0" err="1">
                <a:solidFill>
                  <a:srgbClr val="64748B"/>
                </a:solidFill>
                <a:latin typeface="Arial" pitchFamily="34" charset="0"/>
                <a:ea typeface="Arial" pitchFamily="34" charset="-122"/>
                <a:cs typeface="Arial" pitchFamily="34" charset="-120"/>
              </a:rPr>
              <a:t>里的「客户」是同一概念</a:t>
            </a:r>
            <a:endParaRPr lang="en-US" sz="1200" dirty="0"/>
          </a:p>
        </p:txBody>
      </p:sp>
      <p:sp>
        <p:nvSpPr>
          <p:cNvPr id="11" name="Shape 8"/>
          <p:cNvSpPr/>
          <p:nvPr/>
        </p:nvSpPr>
        <p:spPr>
          <a:xfrm>
            <a:off x="2651760" y="1554480"/>
            <a:ext cx="1920240" cy="2606040"/>
          </a:xfrm>
          <a:prstGeom prst="rect">
            <a:avLst/>
          </a:prstGeom>
          <a:solidFill>
            <a:srgbClr val="FEF2F2"/>
          </a:solidFill>
          <a:ln/>
        </p:spPr>
        <p:txBody>
          <a:bodyPr/>
          <a:lstStyle/>
          <a:p>
            <a:endParaRPr lang="zh-CN" altLang="en-US"/>
          </a:p>
        </p:txBody>
      </p:sp>
      <p:sp>
        <p:nvSpPr>
          <p:cNvPr id="12" name="Shape 9"/>
          <p:cNvSpPr/>
          <p:nvPr/>
        </p:nvSpPr>
        <p:spPr>
          <a:xfrm>
            <a:off x="3246120" y="1783080"/>
            <a:ext cx="640080" cy="640080"/>
          </a:xfrm>
          <a:prstGeom prst="ellipse">
            <a:avLst/>
          </a:prstGeom>
          <a:solidFill>
            <a:srgbClr val="BB0000"/>
          </a:solidFill>
          <a:ln/>
        </p:spPr>
        <p:txBody>
          <a:bodyPr/>
          <a:lstStyle/>
          <a:p>
            <a:endParaRPr lang="zh-CN" altLang="en-US"/>
          </a:p>
        </p:txBody>
      </p:sp>
      <p:pic>
        <p:nvPicPr>
          <p:cNvPr id="13" name="Image 1" descr="preencoded.png"/>
          <p:cNvPicPr>
            <a:picLocks noChangeAspect="1"/>
          </p:cNvPicPr>
          <p:nvPr/>
        </p:nvPicPr>
        <p:blipFill>
          <a:blip r:embed="rId4"/>
          <a:stretch>
            <a:fillRect/>
          </a:stretch>
        </p:blipFill>
        <p:spPr>
          <a:xfrm>
            <a:off x="3374136" y="1920240"/>
            <a:ext cx="384048" cy="384048"/>
          </a:xfrm>
          <a:prstGeom prst="rect">
            <a:avLst/>
          </a:prstGeom>
        </p:spPr>
      </p:pic>
      <p:sp>
        <p:nvSpPr>
          <p:cNvPr id="14" name="Text 10"/>
          <p:cNvSpPr/>
          <p:nvPr/>
        </p:nvSpPr>
        <p:spPr>
          <a:xfrm>
            <a:off x="2651760" y="2606040"/>
            <a:ext cx="1920240" cy="365760"/>
          </a:xfrm>
          <a:prstGeom prst="rect">
            <a:avLst/>
          </a:prstGeom>
          <a:noFill/>
          <a:ln/>
        </p:spPr>
        <p:txBody>
          <a:bodyPr wrap="square" lIns="0" tIns="0" rIns="0" bIns="0" rtlCol="0" anchor="ctr"/>
          <a:lstStyle/>
          <a:p>
            <a:pPr marL="0" indent="0" algn="ctr">
              <a:buNone/>
            </a:pPr>
            <a:r>
              <a:rPr lang="en-US" sz="1600" b="1" dirty="0">
                <a:solidFill>
                  <a:srgbClr val="BB0000"/>
                </a:solidFill>
                <a:latin typeface="Arial" pitchFamily="34" charset="0"/>
                <a:ea typeface="Arial" pitchFamily="34" charset="-122"/>
                <a:cs typeface="Arial" pitchFamily="34" charset="-120"/>
              </a:rPr>
              <a:t>幻觉失控</a:t>
            </a:r>
            <a:endParaRPr lang="en-US" sz="1600" dirty="0"/>
          </a:p>
        </p:txBody>
      </p:sp>
      <p:sp>
        <p:nvSpPr>
          <p:cNvPr id="15" name="Text 11"/>
          <p:cNvSpPr/>
          <p:nvPr/>
        </p:nvSpPr>
        <p:spPr>
          <a:xfrm>
            <a:off x="2788920" y="3063240"/>
            <a:ext cx="1645920" cy="1097280"/>
          </a:xfrm>
          <a:prstGeom prst="rect">
            <a:avLst/>
          </a:prstGeom>
          <a:noFill/>
          <a:ln/>
        </p:spPr>
        <p:txBody>
          <a:bodyPr wrap="square" lIns="72000" tIns="0" rIns="72000" bIns="0" rtlCol="0" anchor="ctr"/>
          <a:lstStyle/>
          <a:p>
            <a:pPr marL="0" indent="0" algn="ctr">
              <a:buNone/>
            </a:pPr>
            <a:r>
              <a:rPr lang="en-US" sz="1200" dirty="0">
                <a:solidFill>
                  <a:srgbClr val="64748B"/>
                </a:solidFill>
                <a:latin typeface="Arial" pitchFamily="34" charset="0"/>
                <a:ea typeface="Arial" pitchFamily="34" charset="-122"/>
                <a:cs typeface="Arial" pitchFamily="34" charset="-120"/>
              </a:rPr>
              <a:t>Agent 自由调用 API，</a:t>
            </a:r>
            <a:endParaRPr lang="en-US" sz="1200" dirty="0"/>
          </a:p>
          <a:p>
            <a:pPr marL="0" indent="0" algn="ctr">
              <a:buNone/>
            </a:pPr>
            <a:r>
              <a:rPr lang="en-US" sz="1200" dirty="0">
                <a:solidFill>
                  <a:srgbClr val="64748B"/>
                </a:solidFill>
                <a:latin typeface="Arial" pitchFamily="34" charset="0"/>
                <a:ea typeface="Arial" pitchFamily="34" charset="-122"/>
                <a:cs typeface="Arial" pitchFamily="34" charset="-120"/>
              </a:rPr>
              <a:t>缺少结构化约束，</a:t>
            </a:r>
            <a:endParaRPr lang="en-US" sz="1200" dirty="0"/>
          </a:p>
          <a:p>
            <a:pPr marL="0" indent="0" algn="ctr">
              <a:buNone/>
            </a:pPr>
            <a:r>
              <a:rPr lang="en-US" sz="1200" dirty="0">
                <a:solidFill>
                  <a:srgbClr val="64748B"/>
                </a:solidFill>
                <a:latin typeface="Arial" pitchFamily="34" charset="0"/>
                <a:ea typeface="Arial" pitchFamily="34" charset="-122"/>
                <a:cs typeface="Arial" pitchFamily="34" charset="-120"/>
              </a:rPr>
              <a:t>产生不可预测行为</a:t>
            </a:r>
            <a:endParaRPr lang="en-US" sz="1200" dirty="0"/>
          </a:p>
        </p:txBody>
      </p:sp>
      <p:sp>
        <p:nvSpPr>
          <p:cNvPr id="16" name="Shape 12"/>
          <p:cNvSpPr/>
          <p:nvPr/>
        </p:nvSpPr>
        <p:spPr>
          <a:xfrm>
            <a:off x="4754880" y="1554480"/>
            <a:ext cx="1920240" cy="2606040"/>
          </a:xfrm>
          <a:prstGeom prst="rect">
            <a:avLst/>
          </a:prstGeom>
          <a:solidFill>
            <a:srgbClr val="FEF3E6"/>
          </a:solidFill>
          <a:ln/>
        </p:spPr>
        <p:txBody>
          <a:bodyPr/>
          <a:lstStyle/>
          <a:p>
            <a:endParaRPr lang="zh-CN" altLang="en-US"/>
          </a:p>
        </p:txBody>
      </p:sp>
      <p:sp>
        <p:nvSpPr>
          <p:cNvPr id="17" name="Shape 13"/>
          <p:cNvSpPr/>
          <p:nvPr/>
        </p:nvSpPr>
        <p:spPr>
          <a:xfrm>
            <a:off x="5349240" y="1783080"/>
            <a:ext cx="640080" cy="640080"/>
          </a:xfrm>
          <a:prstGeom prst="ellipse">
            <a:avLst/>
          </a:prstGeom>
          <a:solidFill>
            <a:srgbClr val="E78C07"/>
          </a:solidFill>
          <a:ln/>
        </p:spPr>
        <p:txBody>
          <a:bodyPr/>
          <a:lstStyle/>
          <a:p>
            <a:endParaRPr lang="zh-CN" altLang="en-US"/>
          </a:p>
        </p:txBody>
      </p:sp>
      <p:pic>
        <p:nvPicPr>
          <p:cNvPr id="18" name="Image 2" descr="preencoded.png"/>
          <p:cNvPicPr>
            <a:picLocks noChangeAspect="1"/>
          </p:cNvPicPr>
          <p:nvPr/>
        </p:nvPicPr>
        <p:blipFill>
          <a:blip r:embed="rId5"/>
          <a:stretch>
            <a:fillRect/>
          </a:stretch>
        </p:blipFill>
        <p:spPr>
          <a:xfrm>
            <a:off x="5477256" y="1920240"/>
            <a:ext cx="384048" cy="384048"/>
          </a:xfrm>
          <a:prstGeom prst="rect">
            <a:avLst/>
          </a:prstGeom>
        </p:spPr>
      </p:pic>
      <p:sp>
        <p:nvSpPr>
          <p:cNvPr id="19" name="Text 14"/>
          <p:cNvSpPr/>
          <p:nvPr/>
        </p:nvSpPr>
        <p:spPr>
          <a:xfrm>
            <a:off x="4754880" y="2606040"/>
            <a:ext cx="1920240" cy="365760"/>
          </a:xfrm>
          <a:prstGeom prst="rect">
            <a:avLst/>
          </a:prstGeom>
          <a:noFill/>
          <a:ln/>
        </p:spPr>
        <p:txBody>
          <a:bodyPr wrap="square" lIns="0" tIns="0" rIns="0" bIns="0" rtlCol="0" anchor="ctr"/>
          <a:lstStyle/>
          <a:p>
            <a:pPr marL="0" indent="0" algn="ctr">
              <a:buNone/>
            </a:pPr>
            <a:r>
              <a:rPr lang="en-US" sz="1600" b="1" dirty="0">
                <a:solidFill>
                  <a:srgbClr val="E78C07"/>
                </a:solidFill>
                <a:latin typeface="Arial" pitchFamily="34" charset="0"/>
                <a:ea typeface="Arial" pitchFamily="34" charset="-122"/>
                <a:cs typeface="Arial" pitchFamily="34" charset="-120"/>
              </a:rPr>
              <a:t>执行闭环缺失</a:t>
            </a:r>
            <a:endParaRPr lang="en-US" sz="1600" dirty="0"/>
          </a:p>
        </p:txBody>
      </p:sp>
      <p:sp>
        <p:nvSpPr>
          <p:cNvPr id="20" name="Text 15"/>
          <p:cNvSpPr/>
          <p:nvPr/>
        </p:nvSpPr>
        <p:spPr>
          <a:xfrm>
            <a:off x="4892040" y="3063240"/>
            <a:ext cx="1645920" cy="1097280"/>
          </a:xfrm>
          <a:prstGeom prst="rect">
            <a:avLst/>
          </a:prstGeom>
          <a:noFill/>
          <a:ln/>
        </p:spPr>
        <p:txBody>
          <a:bodyPr wrap="square" lIns="72000" tIns="0" rIns="72000" bIns="0" rtlCol="0" anchor="ctr"/>
          <a:lstStyle/>
          <a:p>
            <a:pPr marL="0" indent="0" algn="ctr">
              <a:buNone/>
            </a:pPr>
            <a:r>
              <a:rPr lang="en-US" sz="1200" dirty="0">
                <a:solidFill>
                  <a:srgbClr val="64748B"/>
                </a:solidFill>
                <a:latin typeface="Arial" pitchFamily="34" charset="0"/>
                <a:ea typeface="Arial" pitchFamily="34" charset="-122"/>
                <a:cs typeface="Arial" pitchFamily="34" charset="-120"/>
              </a:rPr>
              <a:t>Agent </a:t>
            </a:r>
            <a:r>
              <a:rPr lang="en-US" sz="1200" dirty="0" err="1">
                <a:solidFill>
                  <a:srgbClr val="64748B"/>
                </a:solidFill>
                <a:latin typeface="Arial" pitchFamily="34" charset="0"/>
                <a:ea typeface="Arial" pitchFamily="34" charset="-122"/>
                <a:cs typeface="Arial" pitchFamily="34" charset="-120"/>
              </a:rPr>
              <a:t>只能「读」不能「写</a:t>
            </a:r>
            <a:r>
              <a:rPr lang="en-US" sz="1200" dirty="0">
                <a:solidFill>
                  <a:srgbClr val="64748B"/>
                </a:solidFill>
                <a:latin typeface="Arial" pitchFamily="34" charset="0"/>
                <a:ea typeface="Arial" pitchFamily="34" charset="-122"/>
                <a:cs typeface="Arial" pitchFamily="34" charset="-120"/>
              </a:rPr>
              <a:t>」，</a:t>
            </a:r>
            <a:r>
              <a:rPr lang="en-US" sz="1200" dirty="0" err="1">
                <a:solidFill>
                  <a:srgbClr val="64748B"/>
                </a:solidFill>
                <a:latin typeface="Arial" pitchFamily="34" charset="0"/>
                <a:ea typeface="Arial" pitchFamily="34" charset="-122"/>
                <a:cs typeface="Arial" pitchFamily="34" charset="-120"/>
              </a:rPr>
              <a:t>无法完成完整业务流程</a:t>
            </a:r>
            <a:endParaRPr lang="en-US" sz="1200" dirty="0"/>
          </a:p>
        </p:txBody>
      </p:sp>
      <p:sp>
        <p:nvSpPr>
          <p:cNvPr id="21" name="Shape 16"/>
          <p:cNvSpPr/>
          <p:nvPr/>
        </p:nvSpPr>
        <p:spPr>
          <a:xfrm>
            <a:off x="6858000" y="1554480"/>
            <a:ext cx="1920240" cy="2606040"/>
          </a:xfrm>
          <a:prstGeom prst="rect">
            <a:avLst/>
          </a:prstGeom>
          <a:solidFill>
            <a:srgbClr val="E8F4F8"/>
          </a:solidFill>
          <a:ln/>
        </p:spPr>
        <p:txBody>
          <a:bodyPr/>
          <a:lstStyle/>
          <a:p>
            <a:endParaRPr lang="zh-CN" altLang="en-US"/>
          </a:p>
        </p:txBody>
      </p:sp>
      <p:sp>
        <p:nvSpPr>
          <p:cNvPr id="22" name="Shape 17"/>
          <p:cNvSpPr/>
          <p:nvPr/>
        </p:nvSpPr>
        <p:spPr>
          <a:xfrm>
            <a:off x="7452360" y="1783080"/>
            <a:ext cx="640080" cy="640080"/>
          </a:xfrm>
          <a:prstGeom prst="ellipse">
            <a:avLst/>
          </a:prstGeom>
          <a:solidFill>
            <a:srgbClr val="065A82"/>
          </a:solidFill>
          <a:ln/>
        </p:spPr>
        <p:txBody>
          <a:bodyPr/>
          <a:lstStyle/>
          <a:p>
            <a:endParaRPr lang="zh-CN" altLang="en-US"/>
          </a:p>
        </p:txBody>
      </p:sp>
      <p:pic>
        <p:nvPicPr>
          <p:cNvPr id="23" name="Image 3" descr="preencoded.png"/>
          <p:cNvPicPr>
            <a:picLocks noChangeAspect="1"/>
          </p:cNvPicPr>
          <p:nvPr/>
        </p:nvPicPr>
        <p:blipFill>
          <a:blip r:embed="rId6"/>
          <a:stretch>
            <a:fillRect/>
          </a:stretch>
        </p:blipFill>
        <p:spPr>
          <a:xfrm>
            <a:off x="7580376" y="1920240"/>
            <a:ext cx="384048" cy="384048"/>
          </a:xfrm>
          <a:prstGeom prst="rect">
            <a:avLst/>
          </a:prstGeom>
        </p:spPr>
      </p:pic>
      <p:sp>
        <p:nvSpPr>
          <p:cNvPr id="24" name="Text 18"/>
          <p:cNvSpPr/>
          <p:nvPr/>
        </p:nvSpPr>
        <p:spPr>
          <a:xfrm>
            <a:off x="6858000" y="2606040"/>
            <a:ext cx="1920240" cy="365760"/>
          </a:xfrm>
          <a:prstGeom prst="rect">
            <a:avLst/>
          </a:prstGeom>
          <a:noFill/>
          <a:ln/>
        </p:spPr>
        <p:txBody>
          <a:bodyPr wrap="square" lIns="0" tIns="0" rIns="0" bIns="0" rtlCol="0" anchor="ctr"/>
          <a:lstStyle/>
          <a:p>
            <a:pPr marL="0" indent="0" algn="ctr">
              <a:buNone/>
            </a:pPr>
            <a:r>
              <a:rPr lang="en-US" sz="1600" b="1" dirty="0">
                <a:solidFill>
                  <a:srgbClr val="065A82"/>
                </a:solidFill>
                <a:latin typeface="Arial" pitchFamily="34" charset="0"/>
                <a:ea typeface="Arial" pitchFamily="34" charset="-122"/>
                <a:cs typeface="Arial" pitchFamily="34" charset="-120"/>
              </a:rPr>
              <a:t>知识流失</a:t>
            </a:r>
            <a:endParaRPr lang="en-US" sz="1600" dirty="0"/>
          </a:p>
        </p:txBody>
      </p:sp>
      <p:sp>
        <p:nvSpPr>
          <p:cNvPr id="25" name="Text 19"/>
          <p:cNvSpPr/>
          <p:nvPr/>
        </p:nvSpPr>
        <p:spPr>
          <a:xfrm>
            <a:off x="6995160" y="3063240"/>
            <a:ext cx="1645920" cy="1097280"/>
          </a:xfrm>
          <a:prstGeom prst="rect">
            <a:avLst/>
          </a:prstGeom>
          <a:noFill/>
          <a:ln/>
        </p:spPr>
        <p:txBody>
          <a:bodyPr wrap="square" lIns="72000" tIns="0" rIns="72000" bIns="0" rtlCol="0" anchor="ctr"/>
          <a:lstStyle/>
          <a:p>
            <a:pPr marL="0" indent="0" algn="ctr">
              <a:buNone/>
            </a:pPr>
            <a:r>
              <a:rPr lang="en-US" sz="1200" dirty="0" err="1">
                <a:solidFill>
                  <a:srgbClr val="64748B"/>
                </a:solidFill>
                <a:latin typeface="Arial" pitchFamily="34" charset="0"/>
                <a:ea typeface="Arial" pitchFamily="34" charset="-122"/>
                <a:cs typeface="Arial" pitchFamily="34" charset="-120"/>
              </a:rPr>
              <a:t>业务规则散落在</a:t>
            </a:r>
            <a:r>
              <a:rPr lang="zh-CN" altLang="en-US" sz="1200" dirty="0">
                <a:solidFill>
                  <a:srgbClr val="64748B"/>
                </a:solidFill>
                <a:latin typeface="Arial" pitchFamily="34" charset="0"/>
                <a:ea typeface="Arial" pitchFamily="34" charset="-122"/>
                <a:cs typeface="Arial" pitchFamily="34" charset="-120"/>
              </a:rPr>
              <a:t>企业的各个部门</a:t>
            </a:r>
            <a:r>
              <a:rPr lang="en-US" altLang="zh-CN" sz="1200" dirty="0">
                <a:solidFill>
                  <a:srgbClr val="64748B"/>
                </a:solidFill>
                <a:latin typeface="Arial" pitchFamily="34" charset="0"/>
                <a:ea typeface="Arial" pitchFamily="34" charset="-122"/>
                <a:cs typeface="Arial" pitchFamily="34" charset="-120"/>
              </a:rPr>
              <a:t>/</a:t>
            </a:r>
            <a:r>
              <a:rPr lang="zh-CN" altLang="en-US" sz="1200" dirty="0">
                <a:solidFill>
                  <a:srgbClr val="64748B"/>
                </a:solidFill>
                <a:latin typeface="Arial" pitchFamily="34" charset="0"/>
                <a:ea typeface="Arial" pitchFamily="34" charset="-122"/>
                <a:cs typeface="Arial" pitchFamily="34" charset="-120"/>
              </a:rPr>
              <a:t>岗位和</a:t>
            </a:r>
            <a:r>
              <a:rPr lang="en-US" altLang="zh-CN" sz="1200" dirty="0">
                <a:solidFill>
                  <a:srgbClr val="64748B"/>
                </a:solidFill>
                <a:latin typeface="Arial" pitchFamily="34" charset="0"/>
                <a:ea typeface="Arial" pitchFamily="34" charset="-122"/>
                <a:cs typeface="Arial" pitchFamily="34" charset="-120"/>
              </a:rPr>
              <a:t>IT</a:t>
            </a:r>
            <a:r>
              <a:rPr lang="zh-CN" altLang="en-US" sz="1200" dirty="0">
                <a:solidFill>
                  <a:srgbClr val="64748B"/>
                </a:solidFill>
                <a:latin typeface="Arial" pitchFamily="34" charset="0"/>
                <a:ea typeface="Arial" pitchFamily="34" charset="-122"/>
                <a:cs typeface="Arial" pitchFamily="34" charset="-120"/>
              </a:rPr>
              <a:t>系统</a:t>
            </a:r>
            <a:r>
              <a:rPr lang="en-US" sz="1200" dirty="0">
                <a:solidFill>
                  <a:srgbClr val="64748B"/>
                </a:solidFill>
                <a:latin typeface="Arial" pitchFamily="34" charset="0"/>
                <a:ea typeface="Arial" pitchFamily="34" charset="-122"/>
                <a:cs typeface="Arial" pitchFamily="34" charset="-120"/>
              </a:rPr>
              <a:t>，</a:t>
            </a:r>
            <a:r>
              <a:rPr lang="en-US" sz="1200" dirty="0" err="1">
                <a:solidFill>
                  <a:srgbClr val="64748B"/>
                </a:solidFill>
                <a:latin typeface="Arial" pitchFamily="34" charset="0"/>
                <a:ea typeface="Arial" pitchFamily="34" charset="-122"/>
                <a:cs typeface="Arial" pitchFamily="34" charset="-120"/>
              </a:rPr>
              <a:t>无统一</a:t>
            </a:r>
            <a:r>
              <a:rPr lang="zh-CN" altLang="en-US" sz="1200" dirty="0">
                <a:solidFill>
                  <a:srgbClr val="64748B"/>
                </a:solidFill>
                <a:latin typeface="Arial" pitchFamily="34" charset="0"/>
                <a:ea typeface="Arial" pitchFamily="34" charset="-122"/>
                <a:cs typeface="Arial" pitchFamily="34" charset="-120"/>
              </a:rPr>
              <a:t>的</a:t>
            </a:r>
            <a:r>
              <a:rPr lang="en-US" sz="1200" dirty="0" err="1">
                <a:solidFill>
                  <a:srgbClr val="64748B"/>
                </a:solidFill>
                <a:latin typeface="Arial" pitchFamily="34" charset="0"/>
                <a:ea typeface="Arial" pitchFamily="34" charset="-122"/>
                <a:cs typeface="Arial" pitchFamily="34" charset="-120"/>
              </a:rPr>
              <a:t>结构化表达</a:t>
            </a:r>
            <a:endParaRPr lang="en-US" sz="1200" dirty="0"/>
          </a:p>
        </p:txBody>
      </p:sp>
      <p:sp>
        <p:nvSpPr>
          <p:cNvPr id="27" name="文本框 26">
            <a:extLst>
              <a:ext uri="{FF2B5EF4-FFF2-40B4-BE49-F238E27FC236}">
                <a16:creationId xmlns:a16="http://schemas.microsoft.com/office/drawing/2014/main" id="{C38AB412-701E-49C3-7048-FA3AA82EFCDF}"/>
              </a:ext>
            </a:extLst>
          </p:cNvPr>
          <p:cNvSpPr txBox="1"/>
          <p:nvPr/>
        </p:nvSpPr>
        <p:spPr>
          <a:xfrm>
            <a:off x="502920" y="4251960"/>
            <a:ext cx="4572000" cy="738664"/>
          </a:xfrm>
          <a:prstGeom prst="rect">
            <a:avLst/>
          </a:prstGeom>
          <a:noFill/>
        </p:spPr>
        <p:txBody>
          <a:bodyPr wrap="square">
            <a:spAutoFit/>
          </a:bodyPr>
          <a:lstStyle/>
          <a:p>
            <a:pPr marL="171450" indent="-171450">
              <a:buFont typeface="Arial" panose="020B0604020202020204" pitchFamily="34" charset="0"/>
              <a:buChar char="•"/>
            </a:pPr>
            <a:r>
              <a:rPr lang="en-US" altLang="zh-CN" sz="1050" dirty="0"/>
              <a:t>LLM</a:t>
            </a:r>
            <a:r>
              <a:rPr lang="zh-CN" altLang="en-US" sz="1050" dirty="0"/>
              <a:t>擅长理解模糊自然语言意图，不擅长精确记忆大量结构化领域知识</a:t>
            </a:r>
            <a:br>
              <a:rPr lang="zh-CN" altLang="en-US" sz="1050" dirty="0"/>
            </a:br>
            <a:r>
              <a:rPr lang="en-US" altLang="zh-CN" sz="1050" dirty="0"/>
              <a:t>LLM</a:t>
            </a:r>
            <a:r>
              <a:rPr lang="zh-CN" altLang="en-US" sz="1050" dirty="0"/>
              <a:t>擅长跨领域联想与常识推理，不能保证推理一致性与可复现性</a:t>
            </a:r>
          </a:p>
          <a:p>
            <a:pPr marL="171450" indent="-171450">
              <a:buFont typeface="Arial" panose="020B0604020202020204" pitchFamily="34" charset="0"/>
              <a:buChar char="•"/>
            </a:pPr>
            <a:r>
              <a:rPr lang="en-US" altLang="zh-CN" sz="1050" dirty="0"/>
              <a:t>LLM</a:t>
            </a:r>
            <a:r>
              <a:rPr lang="zh-CN" altLang="en-US" sz="1050" dirty="0"/>
              <a:t>擅长自然语言生成与解释，不擅长处理复杂业务规则与约束</a:t>
            </a:r>
          </a:p>
          <a:p>
            <a:pPr marL="171450" indent="-171450">
              <a:buFont typeface="Arial" panose="020B0604020202020204" pitchFamily="34" charset="0"/>
              <a:buChar char="•"/>
            </a:pPr>
            <a:r>
              <a:rPr lang="en-US" altLang="zh-CN" sz="1050" dirty="0"/>
              <a:t>LLM</a:t>
            </a:r>
            <a:r>
              <a:rPr lang="zh-CN" altLang="en-US" sz="1050" dirty="0"/>
              <a:t>擅长处理非结构化信息，不擅长精确数值计算与逻辑推导</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2" name="Shape 28">
            <a:extLst>
              <a:ext uri="{FF2B5EF4-FFF2-40B4-BE49-F238E27FC236}">
                <a16:creationId xmlns:a16="http://schemas.microsoft.com/office/drawing/2014/main" id="{805ABE85-37AF-EA77-68C0-0395FE66F592}"/>
              </a:ext>
            </a:extLst>
          </p:cNvPr>
          <p:cNvSpPr/>
          <p:nvPr/>
        </p:nvSpPr>
        <p:spPr>
          <a:xfrm>
            <a:off x="548640" y="4023360"/>
            <a:ext cx="8046720" cy="998344"/>
          </a:xfrm>
          <a:prstGeom prst="rect">
            <a:avLst/>
          </a:prstGeom>
          <a:solidFill>
            <a:srgbClr val="E6F7F5"/>
          </a:solidFill>
          <a:ln/>
        </p:spPr>
        <p:txBody>
          <a:bodyPr/>
          <a:lstStyle/>
          <a:p>
            <a:endParaRPr lang="zh-CN" altLang="en-US"/>
          </a:p>
        </p:txBody>
      </p:sp>
      <p:sp>
        <p:nvSpPr>
          <p:cNvPr id="2" name="Shape 0"/>
          <p:cNvSpPr/>
          <p:nvPr/>
        </p:nvSpPr>
        <p:spPr>
          <a:xfrm>
            <a:off x="0" y="0"/>
            <a:ext cx="9144000" cy="54864"/>
          </a:xfrm>
          <a:prstGeom prst="rect">
            <a:avLst/>
          </a:prstGeom>
          <a:solidFill>
            <a:srgbClr val="22A699"/>
          </a:solidFill>
          <a:ln/>
        </p:spPr>
        <p:txBody>
          <a:bodyPr/>
          <a:lstStyle/>
          <a:p>
            <a:endParaRPr lang="zh-CN" altLang="en-US"/>
          </a:p>
        </p:txBody>
      </p:sp>
      <p:sp>
        <p:nvSpPr>
          <p:cNvPr id="3" name="Shape 1"/>
          <p:cNvSpPr/>
          <p:nvPr/>
        </p:nvSpPr>
        <p:spPr>
          <a:xfrm>
            <a:off x="548640" y="274320"/>
            <a:ext cx="54864" cy="457200"/>
          </a:xfrm>
          <a:prstGeom prst="rect">
            <a:avLst/>
          </a:prstGeom>
          <a:solidFill>
            <a:srgbClr val="22A699"/>
          </a:solidFill>
          <a:ln/>
        </p:spPr>
        <p:txBody>
          <a:bodyPr/>
          <a:lstStyle/>
          <a:p>
            <a:endParaRPr lang="zh-CN" altLang="en-US"/>
          </a:p>
        </p:txBody>
      </p:sp>
      <p:sp>
        <p:nvSpPr>
          <p:cNvPr id="4" name="Text 2"/>
          <p:cNvSpPr/>
          <p:nvPr/>
        </p:nvSpPr>
        <p:spPr>
          <a:xfrm>
            <a:off x="731520" y="274320"/>
            <a:ext cx="731520" cy="457200"/>
          </a:xfrm>
          <a:prstGeom prst="rect">
            <a:avLst/>
          </a:prstGeom>
          <a:noFill/>
          <a:ln/>
        </p:spPr>
        <p:txBody>
          <a:bodyPr wrap="square" lIns="0" tIns="0" rIns="0" bIns="0" rtlCol="0" anchor="ctr"/>
          <a:lstStyle/>
          <a:p>
            <a:pPr marL="0" indent="0">
              <a:buNone/>
            </a:pPr>
            <a:r>
              <a:rPr lang="en-US" sz="1800" b="1" dirty="0">
                <a:solidFill>
                  <a:srgbClr val="22A699"/>
                </a:solidFill>
                <a:latin typeface="Arial" pitchFamily="34" charset="0"/>
                <a:ea typeface="Arial" pitchFamily="34" charset="-122"/>
                <a:cs typeface="Arial" pitchFamily="34" charset="-120"/>
              </a:rPr>
              <a:t>01</a:t>
            </a:r>
            <a:endParaRPr lang="en-US" sz="1800" dirty="0"/>
          </a:p>
        </p:txBody>
      </p:sp>
      <p:sp>
        <p:nvSpPr>
          <p:cNvPr id="5" name="Text 3"/>
          <p:cNvSpPr/>
          <p:nvPr/>
        </p:nvSpPr>
        <p:spPr>
          <a:xfrm>
            <a:off x="548640" y="822960"/>
            <a:ext cx="8046720" cy="457200"/>
          </a:xfrm>
          <a:prstGeom prst="rect">
            <a:avLst/>
          </a:prstGeom>
          <a:noFill/>
          <a:ln/>
        </p:spPr>
        <p:txBody>
          <a:bodyPr wrap="square" lIns="0" tIns="0" rIns="0" bIns="0" rtlCol="0" anchor="ctr"/>
          <a:lstStyle/>
          <a:p>
            <a:pPr marL="0" indent="0">
              <a:buNone/>
            </a:pPr>
            <a:r>
              <a:rPr lang="en-US" sz="2400" b="1" dirty="0">
                <a:solidFill>
                  <a:srgbClr val="1E293B"/>
                </a:solidFill>
                <a:latin typeface="Arial" pitchFamily="34" charset="0"/>
                <a:ea typeface="Arial" pitchFamily="34" charset="-122"/>
                <a:cs typeface="Arial" pitchFamily="34" charset="-120"/>
              </a:rPr>
              <a:t>核心价值：填补语义鸿沟</a:t>
            </a:r>
            <a:endParaRPr lang="en-US" sz="2400" dirty="0"/>
          </a:p>
        </p:txBody>
      </p:sp>
      <p:sp>
        <p:nvSpPr>
          <p:cNvPr id="6" name="Shape 4"/>
          <p:cNvSpPr/>
          <p:nvPr/>
        </p:nvSpPr>
        <p:spPr>
          <a:xfrm>
            <a:off x="548640" y="1554480"/>
            <a:ext cx="2286000" cy="2286000"/>
          </a:xfrm>
          <a:prstGeom prst="rect">
            <a:avLst/>
          </a:prstGeom>
          <a:solidFill>
            <a:srgbClr val="E8F4F8"/>
          </a:solidFill>
          <a:ln/>
        </p:spPr>
        <p:txBody>
          <a:bodyPr/>
          <a:lstStyle/>
          <a:p>
            <a:endParaRPr lang="zh-CN" altLang="en-US"/>
          </a:p>
        </p:txBody>
      </p:sp>
      <p:sp>
        <p:nvSpPr>
          <p:cNvPr id="7" name="Text 5"/>
          <p:cNvSpPr/>
          <p:nvPr/>
        </p:nvSpPr>
        <p:spPr>
          <a:xfrm>
            <a:off x="548640" y="1691640"/>
            <a:ext cx="2286000" cy="365760"/>
          </a:xfrm>
          <a:prstGeom prst="rect">
            <a:avLst/>
          </a:prstGeom>
          <a:noFill/>
          <a:ln/>
        </p:spPr>
        <p:txBody>
          <a:bodyPr wrap="square" lIns="0" tIns="0" rIns="0" bIns="0" rtlCol="0" anchor="ctr"/>
          <a:lstStyle/>
          <a:p>
            <a:pPr marL="0" indent="0" algn="ctr">
              <a:buNone/>
            </a:pPr>
            <a:r>
              <a:rPr lang="en-US" sz="1600" b="1" dirty="0">
                <a:solidFill>
                  <a:srgbClr val="065A82"/>
                </a:solidFill>
                <a:latin typeface="Arial" pitchFamily="34" charset="0"/>
                <a:ea typeface="Arial" pitchFamily="34" charset="-122"/>
                <a:cs typeface="Arial" pitchFamily="34" charset="-120"/>
              </a:rPr>
              <a:t>大模型</a:t>
            </a:r>
            <a:endParaRPr lang="en-US" sz="1600" dirty="0"/>
          </a:p>
        </p:txBody>
      </p:sp>
      <p:pic>
        <p:nvPicPr>
          <p:cNvPr id="8" name="Image 0" descr="preencoded.png"/>
          <p:cNvPicPr>
            <a:picLocks noChangeAspect="1"/>
          </p:cNvPicPr>
          <p:nvPr/>
        </p:nvPicPr>
        <p:blipFill>
          <a:blip r:embed="rId3"/>
          <a:stretch>
            <a:fillRect/>
          </a:stretch>
        </p:blipFill>
        <p:spPr>
          <a:xfrm>
            <a:off x="1188720" y="2194560"/>
            <a:ext cx="731520" cy="731520"/>
          </a:xfrm>
          <a:prstGeom prst="rect">
            <a:avLst/>
          </a:prstGeom>
        </p:spPr>
      </p:pic>
      <p:sp>
        <p:nvSpPr>
          <p:cNvPr id="9" name="Text 6"/>
          <p:cNvSpPr/>
          <p:nvPr/>
        </p:nvSpPr>
        <p:spPr>
          <a:xfrm>
            <a:off x="548640" y="3017520"/>
            <a:ext cx="2286000" cy="548640"/>
          </a:xfrm>
          <a:prstGeom prst="rect">
            <a:avLst/>
          </a:prstGeom>
          <a:noFill/>
          <a:ln/>
        </p:spPr>
        <p:txBody>
          <a:bodyPr wrap="square" lIns="0" tIns="0" rIns="0" bIns="0" rtlCol="0" anchor="ctr"/>
          <a:lstStyle/>
          <a:p>
            <a:pPr marL="0" indent="0" algn="ctr">
              <a:buNone/>
            </a:pPr>
            <a:r>
              <a:rPr lang="en-US" sz="1200" dirty="0">
                <a:solidFill>
                  <a:srgbClr val="64748B"/>
                </a:solidFill>
                <a:latin typeface="Arial" pitchFamily="34" charset="0"/>
                <a:ea typeface="Arial" pitchFamily="34" charset="-122"/>
                <a:cs typeface="Arial" pitchFamily="34" charset="-120"/>
              </a:rPr>
              <a:t>理解自然语言</a:t>
            </a:r>
            <a:endParaRPr lang="en-US" sz="1200" dirty="0"/>
          </a:p>
          <a:p>
            <a:pPr marL="0" indent="0" algn="ctr">
              <a:buNone/>
            </a:pPr>
            <a:r>
              <a:rPr lang="en-US" sz="1200" dirty="0">
                <a:solidFill>
                  <a:srgbClr val="64748B"/>
                </a:solidFill>
                <a:latin typeface="Arial" pitchFamily="34" charset="0"/>
                <a:ea typeface="Arial" pitchFamily="34" charset="-122"/>
                <a:cs typeface="Arial" pitchFamily="34" charset="-120"/>
              </a:rPr>
              <a:t>但不懂业务规则</a:t>
            </a:r>
            <a:endParaRPr lang="en-US" sz="1200" dirty="0"/>
          </a:p>
        </p:txBody>
      </p:sp>
      <p:sp>
        <p:nvSpPr>
          <p:cNvPr id="10" name="Shape 7"/>
          <p:cNvSpPr/>
          <p:nvPr/>
        </p:nvSpPr>
        <p:spPr>
          <a:xfrm>
            <a:off x="3291840" y="1554480"/>
            <a:ext cx="2560320" cy="2286000"/>
          </a:xfrm>
          <a:prstGeom prst="rect">
            <a:avLst/>
          </a:prstGeom>
          <a:solidFill>
            <a:srgbClr val="E6F7F5"/>
          </a:solidFill>
          <a:ln/>
        </p:spPr>
        <p:txBody>
          <a:bodyPr/>
          <a:lstStyle/>
          <a:p>
            <a:endParaRPr lang="zh-CN" altLang="en-US"/>
          </a:p>
        </p:txBody>
      </p:sp>
      <p:sp>
        <p:nvSpPr>
          <p:cNvPr id="11" name="Shape 8"/>
          <p:cNvSpPr/>
          <p:nvPr/>
        </p:nvSpPr>
        <p:spPr>
          <a:xfrm>
            <a:off x="3291840" y="1554480"/>
            <a:ext cx="2560320" cy="54864"/>
          </a:xfrm>
          <a:prstGeom prst="rect">
            <a:avLst/>
          </a:prstGeom>
          <a:solidFill>
            <a:srgbClr val="22A699"/>
          </a:solidFill>
          <a:ln/>
        </p:spPr>
        <p:txBody>
          <a:bodyPr/>
          <a:lstStyle/>
          <a:p>
            <a:endParaRPr lang="zh-CN" altLang="en-US"/>
          </a:p>
        </p:txBody>
      </p:sp>
      <p:sp>
        <p:nvSpPr>
          <p:cNvPr id="12" name="Text 9"/>
          <p:cNvSpPr/>
          <p:nvPr/>
        </p:nvSpPr>
        <p:spPr>
          <a:xfrm>
            <a:off x="3291840" y="1691640"/>
            <a:ext cx="2560320" cy="365760"/>
          </a:xfrm>
          <a:prstGeom prst="rect">
            <a:avLst/>
          </a:prstGeom>
          <a:noFill/>
          <a:ln/>
        </p:spPr>
        <p:txBody>
          <a:bodyPr wrap="square" lIns="0" tIns="0" rIns="0" bIns="0" rtlCol="0" anchor="ctr"/>
          <a:lstStyle/>
          <a:p>
            <a:pPr marL="0" indent="0" algn="ctr">
              <a:buNone/>
            </a:pPr>
            <a:r>
              <a:rPr lang="en-US" sz="1600" b="1" dirty="0">
                <a:solidFill>
                  <a:srgbClr val="22A699"/>
                </a:solidFill>
                <a:latin typeface="Arial" pitchFamily="34" charset="0"/>
                <a:ea typeface="Arial" pitchFamily="34" charset="-122"/>
                <a:cs typeface="Arial" pitchFamily="34" charset="-120"/>
              </a:rPr>
              <a:t>本体建模平台</a:t>
            </a:r>
            <a:endParaRPr lang="en-US" sz="1600" dirty="0"/>
          </a:p>
        </p:txBody>
      </p:sp>
      <p:pic>
        <p:nvPicPr>
          <p:cNvPr id="13" name="Image 1" descr="preencoded.png"/>
          <p:cNvPicPr>
            <a:picLocks noChangeAspect="1"/>
          </p:cNvPicPr>
          <p:nvPr/>
        </p:nvPicPr>
        <p:blipFill>
          <a:blip r:embed="rId4"/>
          <a:stretch>
            <a:fillRect/>
          </a:stretch>
        </p:blipFill>
        <p:spPr>
          <a:xfrm>
            <a:off x="4114800" y="2194560"/>
            <a:ext cx="731520" cy="731520"/>
          </a:xfrm>
          <a:prstGeom prst="rect">
            <a:avLst/>
          </a:prstGeom>
        </p:spPr>
      </p:pic>
      <p:sp>
        <p:nvSpPr>
          <p:cNvPr id="14" name="Text 10"/>
          <p:cNvSpPr/>
          <p:nvPr/>
        </p:nvSpPr>
        <p:spPr>
          <a:xfrm>
            <a:off x="3291840" y="3017520"/>
            <a:ext cx="2560320" cy="548640"/>
          </a:xfrm>
          <a:prstGeom prst="rect">
            <a:avLst/>
          </a:prstGeom>
          <a:noFill/>
          <a:ln/>
        </p:spPr>
        <p:txBody>
          <a:bodyPr wrap="square" lIns="0" tIns="0" rIns="0" bIns="0" rtlCol="0" anchor="ctr"/>
          <a:lstStyle/>
          <a:p>
            <a:pPr marL="0" indent="0" algn="ctr">
              <a:buNone/>
            </a:pPr>
            <a:r>
              <a:rPr lang="en-US" sz="1200" dirty="0">
                <a:solidFill>
                  <a:srgbClr val="64748B"/>
                </a:solidFill>
                <a:latin typeface="Arial" pitchFamily="34" charset="0"/>
                <a:ea typeface="Arial" pitchFamily="34" charset="-122"/>
                <a:cs typeface="Arial" pitchFamily="34" charset="-120"/>
              </a:rPr>
              <a:t>业务语义中台</a:t>
            </a:r>
            <a:endParaRPr lang="en-US" sz="1200" dirty="0"/>
          </a:p>
          <a:p>
            <a:pPr marL="0" indent="0" algn="ctr">
              <a:buNone/>
            </a:pPr>
            <a:r>
              <a:rPr lang="en-US" sz="1200" dirty="0">
                <a:solidFill>
                  <a:srgbClr val="64748B"/>
                </a:solidFill>
                <a:latin typeface="Arial" pitchFamily="34" charset="0"/>
                <a:ea typeface="Arial" pitchFamily="34" charset="-122"/>
                <a:cs typeface="Arial" pitchFamily="34" charset="-120"/>
              </a:rPr>
              <a:t>翻译 · 约束 · 护航</a:t>
            </a:r>
            <a:endParaRPr lang="en-US" sz="1200" dirty="0"/>
          </a:p>
        </p:txBody>
      </p:sp>
      <p:sp>
        <p:nvSpPr>
          <p:cNvPr id="15" name="Shape 11"/>
          <p:cNvSpPr/>
          <p:nvPr/>
        </p:nvSpPr>
        <p:spPr>
          <a:xfrm>
            <a:off x="6309360" y="1554480"/>
            <a:ext cx="2286000" cy="2286000"/>
          </a:xfrm>
          <a:prstGeom prst="rect">
            <a:avLst/>
          </a:prstGeom>
          <a:solidFill>
            <a:srgbClr val="FEF3E6"/>
          </a:solidFill>
          <a:ln/>
        </p:spPr>
        <p:txBody>
          <a:bodyPr/>
          <a:lstStyle/>
          <a:p>
            <a:endParaRPr lang="zh-CN" altLang="en-US"/>
          </a:p>
        </p:txBody>
      </p:sp>
      <p:sp>
        <p:nvSpPr>
          <p:cNvPr id="16" name="Text 12"/>
          <p:cNvSpPr/>
          <p:nvPr/>
        </p:nvSpPr>
        <p:spPr>
          <a:xfrm>
            <a:off x="6309360" y="1691640"/>
            <a:ext cx="2286000" cy="365760"/>
          </a:xfrm>
          <a:prstGeom prst="rect">
            <a:avLst/>
          </a:prstGeom>
          <a:noFill/>
          <a:ln/>
        </p:spPr>
        <p:txBody>
          <a:bodyPr wrap="square" lIns="0" tIns="0" rIns="0" bIns="0" rtlCol="0" anchor="ctr"/>
          <a:lstStyle/>
          <a:p>
            <a:pPr marL="0" indent="0" algn="ctr">
              <a:buNone/>
            </a:pPr>
            <a:r>
              <a:rPr lang="en-US" sz="1600" b="1" dirty="0">
                <a:solidFill>
                  <a:srgbClr val="E78C07"/>
                </a:solidFill>
                <a:latin typeface="Arial" pitchFamily="34" charset="0"/>
                <a:ea typeface="Arial" pitchFamily="34" charset="-122"/>
                <a:cs typeface="Arial" pitchFamily="34" charset="-120"/>
              </a:rPr>
              <a:t>业务系统</a:t>
            </a:r>
            <a:endParaRPr lang="en-US" sz="1600" dirty="0"/>
          </a:p>
        </p:txBody>
      </p:sp>
      <p:pic>
        <p:nvPicPr>
          <p:cNvPr id="17" name="Image 2" descr="preencoded.png"/>
          <p:cNvPicPr>
            <a:picLocks noChangeAspect="1"/>
          </p:cNvPicPr>
          <p:nvPr/>
        </p:nvPicPr>
        <p:blipFill>
          <a:blip r:embed="rId5"/>
          <a:stretch>
            <a:fillRect/>
          </a:stretch>
        </p:blipFill>
        <p:spPr>
          <a:xfrm>
            <a:off x="6949440" y="2194560"/>
            <a:ext cx="731520" cy="731520"/>
          </a:xfrm>
          <a:prstGeom prst="rect">
            <a:avLst/>
          </a:prstGeom>
        </p:spPr>
      </p:pic>
      <p:sp>
        <p:nvSpPr>
          <p:cNvPr id="18" name="Text 13"/>
          <p:cNvSpPr/>
          <p:nvPr/>
        </p:nvSpPr>
        <p:spPr>
          <a:xfrm>
            <a:off x="6309360" y="3017520"/>
            <a:ext cx="2286000" cy="548640"/>
          </a:xfrm>
          <a:prstGeom prst="rect">
            <a:avLst/>
          </a:prstGeom>
          <a:noFill/>
          <a:ln/>
        </p:spPr>
        <p:txBody>
          <a:bodyPr wrap="square" lIns="0" tIns="0" rIns="0" bIns="0" rtlCol="0" anchor="ctr"/>
          <a:lstStyle/>
          <a:p>
            <a:pPr marL="0" indent="0" algn="ctr">
              <a:buNone/>
            </a:pPr>
            <a:r>
              <a:rPr lang="en-US" sz="1200" dirty="0">
                <a:solidFill>
                  <a:srgbClr val="64748B"/>
                </a:solidFill>
                <a:latin typeface="Arial" pitchFamily="34" charset="0"/>
                <a:ea typeface="Arial" pitchFamily="34" charset="-122"/>
                <a:cs typeface="Arial" pitchFamily="34" charset="-120"/>
              </a:rPr>
              <a:t>ERP / CRM / SCM</a:t>
            </a:r>
            <a:endParaRPr lang="en-US" sz="1200" dirty="0"/>
          </a:p>
          <a:p>
            <a:pPr marL="0" indent="0" algn="ctr">
              <a:buNone/>
            </a:pPr>
            <a:r>
              <a:rPr lang="en-US" sz="1200" dirty="0">
                <a:solidFill>
                  <a:srgbClr val="64748B"/>
                </a:solidFill>
                <a:latin typeface="Arial" pitchFamily="34" charset="0"/>
                <a:ea typeface="Arial" pitchFamily="34" charset="-122"/>
                <a:cs typeface="Arial" pitchFamily="34" charset="-120"/>
              </a:rPr>
              <a:t>精确但语义封闭</a:t>
            </a:r>
            <a:endParaRPr lang="en-US" sz="1200" dirty="0"/>
          </a:p>
        </p:txBody>
      </p:sp>
      <p:sp>
        <p:nvSpPr>
          <p:cNvPr id="19" name="Shape 14"/>
          <p:cNvSpPr/>
          <p:nvPr/>
        </p:nvSpPr>
        <p:spPr>
          <a:xfrm>
            <a:off x="2834640" y="2651760"/>
            <a:ext cx="457200" cy="0"/>
          </a:xfrm>
          <a:prstGeom prst="line">
            <a:avLst/>
          </a:prstGeom>
          <a:noFill/>
          <a:ln w="25400">
            <a:solidFill>
              <a:srgbClr val="22A699"/>
            </a:solidFill>
            <a:prstDash val="solid"/>
          </a:ln>
        </p:spPr>
        <p:txBody>
          <a:bodyPr/>
          <a:lstStyle/>
          <a:p>
            <a:endParaRPr lang="zh-CN" altLang="en-US"/>
          </a:p>
        </p:txBody>
      </p:sp>
      <p:sp>
        <p:nvSpPr>
          <p:cNvPr id="20" name="Shape 15"/>
          <p:cNvSpPr/>
          <p:nvPr/>
        </p:nvSpPr>
        <p:spPr>
          <a:xfrm>
            <a:off x="5852160" y="2651760"/>
            <a:ext cx="457200" cy="0"/>
          </a:xfrm>
          <a:prstGeom prst="line">
            <a:avLst/>
          </a:prstGeom>
          <a:noFill/>
          <a:ln w="25400">
            <a:solidFill>
              <a:srgbClr val="22A699"/>
            </a:solidFill>
            <a:prstDash val="solid"/>
          </a:ln>
        </p:spPr>
        <p:txBody>
          <a:bodyPr/>
          <a:lstStyle/>
          <a:p>
            <a:endParaRPr lang="zh-CN" altLang="en-US"/>
          </a:p>
        </p:txBody>
      </p:sp>
      <p:sp>
        <p:nvSpPr>
          <p:cNvPr id="21" name="Text 16"/>
          <p:cNvSpPr/>
          <p:nvPr/>
        </p:nvSpPr>
        <p:spPr>
          <a:xfrm>
            <a:off x="548640" y="4024858"/>
            <a:ext cx="8046720" cy="457200"/>
          </a:xfrm>
          <a:prstGeom prst="rect">
            <a:avLst/>
          </a:prstGeom>
          <a:noFill/>
          <a:ln/>
        </p:spPr>
        <p:txBody>
          <a:bodyPr wrap="square" lIns="0" tIns="0" rIns="0" bIns="0" rtlCol="0" anchor="t"/>
          <a:lstStyle/>
          <a:p>
            <a:pPr marL="0" indent="0" algn="ctr">
              <a:lnSpc>
                <a:spcPct val="150000"/>
              </a:lnSpc>
              <a:buNone/>
            </a:pPr>
            <a:r>
              <a:rPr lang="en-US" sz="1400" b="1" dirty="0">
                <a:solidFill>
                  <a:srgbClr val="22A699"/>
                </a:solidFill>
                <a:latin typeface="Arial" pitchFamily="34" charset="0"/>
                <a:ea typeface="Arial" pitchFamily="34" charset="-122"/>
                <a:cs typeface="Arial" pitchFamily="34" charset="-120"/>
              </a:rPr>
              <a:t>本体 = 大模型与业务系统之间的「翻译器 + </a:t>
            </a:r>
            <a:r>
              <a:rPr lang="en-US" sz="1400" b="1" dirty="0" err="1">
                <a:solidFill>
                  <a:srgbClr val="22A699"/>
                </a:solidFill>
                <a:latin typeface="Arial" pitchFamily="34" charset="0"/>
                <a:ea typeface="Arial" pitchFamily="34" charset="-122"/>
                <a:cs typeface="Arial" pitchFamily="34" charset="-120"/>
              </a:rPr>
              <a:t>安全员</a:t>
            </a:r>
            <a:r>
              <a:rPr lang="en-US" sz="1400" b="1" dirty="0">
                <a:solidFill>
                  <a:srgbClr val="22A699"/>
                </a:solidFill>
                <a:latin typeface="Arial" pitchFamily="34" charset="0"/>
                <a:ea typeface="Arial" pitchFamily="34" charset="-122"/>
                <a:cs typeface="Arial" pitchFamily="34" charset="-120"/>
              </a:rPr>
              <a:t>」</a:t>
            </a:r>
          </a:p>
          <a:p>
            <a:pPr marL="171450" indent="-171450">
              <a:spcAft>
                <a:spcPts val="400"/>
              </a:spcAft>
              <a:buFont typeface="Arial" panose="020B0604020202020204" pitchFamily="34" charset="0"/>
              <a:buChar char="•"/>
              <a:defRPr sz="1000">
                <a:solidFill>
                  <a:srgbClr val="64748B"/>
                </a:solidFill>
                <a:latin typeface="Arial"/>
              </a:defRPr>
            </a:pPr>
            <a:r>
              <a:rPr lang="en-US" altLang="zh-CN" sz="1050" dirty="0">
                <a:solidFill>
                  <a:srgbClr val="64748B"/>
                </a:solidFill>
                <a:latin typeface="Arial"/>
              </a:rPr>
              <a:t>操作手册之于新员工 —— </a:t>
            </a:r>
            <a:r>
              <a:rPr lang="en-US" altLang="zh-CN" sz="1050" dirty="0" err="1">
                <a:solidFill>
                  <a:srgbClr val="64748B"/>
                </a:solidFill>
                <a:latin typeface="Arial"/>
              </a:rPr>
              <a:t>告诉你系统怎么运作、规则是什么</a:t>
            </a:r>
            <a:endParaRPr lang="en-US" altLang="zh-CN" sz="1050" dirty="0">
              <a:solidFill>
                <a:srgbClr val="64748B"/>
              </a:solidFill>
              <a:latin typeface="Arial"/>
            </a:endParaRPr>
          </a:p>
          <a:p>
            <a:pPr marL="171450" indent="-171450">
              <a:spcAft>
                <a:spcPts val="400"/>
              </a:spcAft>
              <a:buFont typeface="Arial" panose="020B0604020202020204" pitchFamily="34" charset="0"/>
              <a:buChar char="•"/>
              <a:defRPr sz="1000">
                <a:solidFill>
                  <a:srgbClr val="64748B"/>
                </a:solidFill>
                <a:latin typeface="Arial"/>
              </a:defRPr>
            </a:pPr>
            <a:r>
              <a:rPr lang="zh-CN" altLang="en-US" sz="1050" dirty="0">
                <a:solidFill>
                  <a:srgbClr val="64748B"/>
                </a:solidFill>
                <a:latin typeface="Arial"/>
              </a:rPr>
              <a:t>建筑蓝图之于施工队 </a:t>
            </a:r>
            <a:r>
              <a:rPr lang="en-US" altLang="zh-CN" sz="1050" dirty="0">
                <a:solidFill>
                  <a:srgbClr val="64748B"/>
                </a:solidFill>
                <a:latin typeface="Arial"/>
              </a:rPr>
              <a:t>—— </a:t>
            </a:r>
            <a:r>
              <a:rPr lang="zh-CN" altLang="en-US" sz="1050" dirty="0">
                <a:solidFill>
                  <a:srgbClr val="64748B"/>
                </a:solidFill>
                <a:latin typeface="Arial"/>
              </a:rPr>
              <a:t>规定结构和边界</a:t>
            </a:r>
          </a:p>
          <a:p>
            <a:pPr marL="171450" indent="-171450">
              <a:spcAft>
                <a:spcPts val="400"/>
              </a:spcAft>
              <a:buFont typeface="Arial" panose="020B0604020202020204" pitchFamily="34" charset="0"/>
              <a:buChar char="•"/>
              <a:defRPr sz="1000">
                <a:solidFill>
                  <a:srgbClr val="64748B"/>
                </a:solidFill>
                <a:latin typeface="Arial"/>
              </a:defRPr>
            </a:pPr>
            <a:r>
              <a:rPr lang="zh-CN" altLang="en-US" sz="1050" dirty="0">
                <a:solidFill>
                  <a:srgbClr val="64748B"/>
                </a:solidFill>
                <a:latin typeface="Arial"/>
              </a:rPr>
              <a:t>高精地图之于自动驾驶 </a:t>
            </a:r>
            <a:r>
              <a:rPr lang="en-US" altLang="zh-CN" sz="1050" dirty="0">
                <a:solidFill>
                  <a:srgbClr val="64748B"/>
                </a:solidFill>
                <a:latin typeface="Arial"/>
              </a:rPr>
              <a:t>—— </a:t>
            </a:r>
            <a:r>
              <a:rPr lang="zh-CN" altLang="en-US" sz="1050" dirty="0">
                <a:solidFill>
                  <a:srgbClr val="64748B"/>
                </a:solidFill>
                <a:latin typeface="Arial"/>
              </a:rPr>
              <a:t>提供可依赖的</a:t>
            </a:r>
            <a:r>
              <a:rPr lang="zh-CN" altLang="en-US" sz="1050" dirty="0"/>
              <a:t>环境模型</a:t>
            </a:r>
            <a:endParaRPr lang="en-US" altLang="zh-CN" sz="1050" dirty="0"/>
          </a:p>
          <a:p>
            <a:pPr marL="0" indent="0" algn="ctr">
              <a:buNone/>
            </a:pP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2A699"/>
          </a:solidFill>
          <a:ln/>
        </p:spPr>
        <p:txBody>
          <a:bodyPr/>
          <a:lstStyle/>
          <a:p>
            <a:endParaRPr lang="zh-CN" altLang="en-US"/>
          </a:p>
        </p:txBody>
      </p:sp>
      <p:sp>
        <p:nvSpPr>
          <p:cNvPr id="3" name="Shape 1"/>
          <p:cNvSpPr/>
          <p:nvPr/>
        </p:nvSpPr>
        <p:spPr>
          <a:xfrm>
            <a:off x="548640" y="274320"/>
            <a:ext cx="54864" cy="457200"/>
          </a:xfrm>
          <a:prstGeom prst="rect">
            <a:avLst/>
          </a:prstGeom>
          <a:solidFill>
            <a:srgbClr val="22A699"/>
          </a:solidFill>
          <a:ln/>
        </p:spPr>
        <p:txBody>
          <a:bodyPr/>
          <a:lstStyle/>
          <a:p>
            <a:endParaRPr lang="zh-CN" altLang="en-US"/>
          </a:p>
        </p:txBody>
      </p:sp>
      <p:sp>
        <p:nvSpPr>
          <p:cNvPr id="4" name="Text 2"/>
          <p:cNvSpPr/>
          <p:nvPr/>
        </p:nvSpPr>
        <p:spPr>
          <a:xfrm>
            <a:off x="731520" y="274320"/>
            <a:ext cx="731520" cy="457200"/>
          </a:xfrm>
          <a:prstGeom prst="rect">
            <a:avLst/>
          </a:prstGeom>
          <a:noFill/>
          <a:ln/>
        </p:spPr>
        <p:txBody>
          <a:bodyPr wrap="square" lIns="0" tIns="0" rIns="0" bIns="0" rtlCol="0" anchor="ctr"/>
          <a:lstStyle/>
          <a:p>
            <a:pPr marL="0" indent="0">
              <a:buNone/>
            </a:pPr>
            <a:r>
              <a:rPr lang="en-US" sz="1800" b="1" dirty="0">
                <a:solidFill>
                  <a:srgbClr val="22A699"/>
                </a:solidFill>
                <a:latin typeface="Arial" pitchFamily="34" charset="0"/>
                <a:ea typeface="Arial" pitchFamily="34" charset="-122"/>
                <a:cs typeface="Arial" pitchFamily="34" charset="-120"/>
              </a:rPr>
              <a:t>01</a:t>
            </a:r>
            <a:endParaRPr lang="en-US" sz="1800" dirty="0"/>
          </a:p>
        </p:txBody>
      </p:sp>
      <p:sp>
        <p:nvSpPr>
          <p:cNvPr id="5" name="Text 3"/>
          <p:cNvSpPr/>
          <p:nvPr/>
        </p:nvSpPr>
        <p:spPr>
          <a:xfrm>
            <a:off x="548640" y="822960"/>
            <a:ext cx="8046720" cy="457200"/>
          </a:xfrm>
          <a:prstGeom prst="rect">
            <a:avLst/>
          </a:prstGeom>
          <a:noFill/>
          <a:ln/>
        </p:spPr>
        <p:txBody>
          <a:bodyPr wrap="square" lIns="0" tIns="0" rIns="0" bIns="0" rtlCol="0" anchor="ctr"/>
          <a:lstStyle/>
          <a:p>
            <a:pPr marL="0" indent="0">
              <a:buNone/>
            </a:pPr>
            <a:r>
              <a:rPr lang="en-US" sz="2400" b="1" dirty="0">
                <a:solidFill>
                  <a:srgbClr val="1E293B"/>
                </a:solidFill>
                <a:latin typeface="Arial" pitchFamily="34" charset="0"/>
                <a:ea typeface="Arial" pitchFamily="34" charset="-122"/>
                <a:cs typeface="Arial" pitchFamily="34" charset="-120"/>
              </a:rPr>
              <a:t>什么是本体（Ontology）</a:t>
            </a:r>
            <a:endParaRPr lang="en-US" sz="2400" dirty="0"/>
          </a:p>
        </p:txBody>
      </p:sp>
      <p:sp>
        <p:nvSpPr>
          <p:cNvPr id="6" name="Shape 4"/>
          <p:cNvSpPr/>
          <p:nvPr/>
        </p:nvSpPr>
        <p:spPr>
          <a:xfrm>
            <a:off x="548640" y="1463040"/>
            <a:ext cx="3840480" cy="11887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zh-CN" altLang="en-US"/>
          </a:p>
        </p:txBody>
      </p:sp>
      <p:sp>
        <p:nvSpPr>
          <p:cNvPr id="7" name="Shape 5"/>
          <p:cNvSpPr/>
          <p:nvPr/>
        </p:nvSpPr>
        <p:spPr>
          <a:xfrm>
            <a:off x="548640" y="1463040"/>
            <a:ext cx="54864" cy="1188720"/>
          </a:xfrm>
          <a:prstGeom prst="rect">
            <a:avLst/>
          </a:prstGeom>
          <a:solidFill>
            <a:srgbClr val="065A82"/>
          </a:solidFill>
          <a:ln/>
        </p:spPr>
        <p:txBody>
          <a:bodyPr/>
          <a:lstStyle/>
          <a:p>
            <a:endParaRPr lang="zh-CN" altLang="en-US"/>
          </a:p>
        </p:txBody>
      </p:sp>
      <p:sp>
        <p:nvSpPr>
          <p:cNvPr id="8" name="Text 6"/>
          <p:cNvSpPr/>
          <p:nvPr/>
        </p:nvSpPr>
        <p:spPr>
          <a:xfrm>
            <a:off x="731520" y="1554480"/>
            <a:ext cx="3566160" cy="1005840"/>
          </a:xfrm>
          <a:prstGeom prst="rect">
            <a:avLst/>
          </a:prstGeom>
          <a:noFill/>
          <a:ln/>
        </p:spPr>
        <p:txBody>
          <a:bodyPr wrap="square" lIns="0" tIns="0" rIns="0" bIns="0" rtlCol="0" anchor="t"/>
          <a:lstStyle/>
          <a:p>
            <a:pPr marL="0" indent="0">
              <a:spcAft>
                <a:spcPts val="400"/>
              </a:spcAft>
              <a:buNone/>
            </a:pPr>
            <a:r>
              <a:rPr lang="en-US" sz="1400" b="1" dirty="0">
                <a:solidFill>
                  <a:srgbClr val="065A82"/>
                </a:solidFill>
              </a:rPr>
              <a:t>本体是什么</a:t>
            </a:r>
            <a:endParaRPr lang="en-US" sz="1400" dirty="0"/>
          </a:p>
          <a:p>
            <a:pPr marL="0" indent="0">
              <a:spcAft>
                <a:spcPts val="400"/>
              </a:spcAft>
              <a:buNone/>
            </a:pPr>
            <a:r>
              <a:rPr lang="en-US" sz="1200" dirty="0">
                <a:solidFill>
                  <a:srgbClr val="64748B"/>
                </a:solidFill>
              </a:rPr>
              <a:t>源自哲学：研究「存在」的学问</a:t>
            </a:r>
            <a:endParaRPr lang="en-US" sz="1400" dirty="0"/>
          </a:p>
          <a:p>
            <a:pPr marL="0" indent="0">
              <a:spcAft>
                <a:spcPts val="400"/>
              </a:spcAft>
              <a:buNone/>
            </a:pPr>
            <a:r>
              <a:rPr lang="en-US" sz="1200" dirty="0">
                <a:solidFill>
                  <a:srgbClr val="64748B"/>
                </a:solidFill>
              </a:rPr>
              <a:t>在计算机科学中：对特定领域概念、属性、关系的形式化描述</a:t>
            </a:r>
            <a:endParaRPr lang="en-US" sz="1400" dirty="0"/>
          </a:p>
        </p:txBody>
      </p:sp>
      <p:sp>
        <p:nvSpPr>
          <p:cNvPr id="9" name="Shape 7"/>
          <p:cNvSpPr/>
          <p:nvPr/>
        </p:nvSpPr>
        <p:spPr>
          <a:xfrm>
            <a:off x="4754880" y="1463040"/>
            <a:ext cx="3840480" cy="11887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zh-CN" altLang="en-US"/>
          </a:p>
        </p:txBody>
      </p:sp>
      <p:sp>
        <p:nvSpPr>
          <p:cNvPr id="10" name="Shape 8"/>
          <p:cNvSpPr/>
          <p:nvPr/>
        </p:nvSpPr>
        <p:spPr>
          <a:xfrm>
            <a:off x="4754880" y="1463040"/>
            <a:ext cx="54864" cy="1188720"/>
          </a:xfrm>
          <a:prstGeom prst="rect">
            <a:avLst/>
          </a:prstGeom>
          <a:solidFill>
            <a:srgbClr val="E78C07"/>
          </a:solidFill>
          <a:ln/>
        </p:spPr>
        <p:txBody>
          <a:bodyPr/>
          <a:lstStyle/>
          <a:p>
            <a:endParaRPr lang="zh-CN" altLang="en-US"/>
          </a:p>
        </p:txBody>
      </p:sp>
      <p:sp>
        <p:nvSpPr>
          <p:cNvPr id="11" name="Text 9"/>
          <p:cNvSpPr/>
          <p:nvPr/>
        </p:nvSpPr>
        <p:spPr>
          <a:xfrm>
            <a:off x="4937760" y="1554480"/>
            <a:ext cx="3566160" cy="1005840"/>
          </a:xfrm>
          <a:prstGeom prst="rect">
            <a:avLst/>
          </a:prstGeom>
          <a:noFill/>
          <a:ln/>
        </p:spPr>
        <p:txBody>
          <a:bodyPr wrap="square" lIns="0" tIns="0" rIns="0" bIns="0" rtlCol="0" anchor="t"/>
          <a:lstStyle/>
          <a:p>
            <a:pPr marL="0" indent="0">
              <a:spcAft>
                <a:spcPts val="400"/>
              </a:spcAft>
              <a:buNone/>
            </a:pPr>
            <a:r>
              <a:rPr lang="en-US" sz="1400" b="1" dirty="0">
                <a:solidFill>
                  <a:srgbClr val="E78C07"/>
                </a:solidFill>
              </a:rPr>
              <a:t>为什么需要本体</a:t>
            </a:r>
            <a:endParaRPr lang="en-US" sz="1400" dirty="0"/>
          </a:p>
          <a:p>
            <a:pPr marL="0" indent="0">
              <a:spcAft>
                <a:spcPts val="400"/>
              </a:spcAft>
              <a:buNone/>
            </a:pPr>
            <a:r>
              <a:rPr lang="en-US" sz="1200" dirty="0" err="1">
                <a:solidFill>
                  <a:srgbClr val="64748B"/>
                </a:solidFill>
              </a:rPr>
              <a:t>让AI「理解」业务而非仅「匹配」关键词</a:t>
            </a:r>
            <a:endParaRPr lang="en-US" sz="1400" dirty="0"/>
          </a:p>
          <a:p>
            <a:pPr marL="0" indent="0">
              <a:spcAft>
                <a:spcPts val="400"/>
              </a:spcAft>
              <a:buNone/>
            </a:pPr>
            <a:r>
              <a:rPr lang="en-US" sz="1200" dirty="0">
                <a:solidFill>
                  <a:srgbClr val="64748B"/>
                </a:solidFill>
              </a:rPr>
              <a:t>统一不同系统间的业务语义</a:t>
            </a:r>
            <a:endParaRPr lang="en-US" sz="1400" dirty="0"/>
          </a:p>
        </p:txBody>
      </p:sp>
      <p:sp>
        <p:nvSpPr>
          <p:cNvPr id="12" name="Shape 10"/>
          <p:cNvSpPr/>
          <p:nvPr/>
        </p:nvSpPr>
        <p:spPr>
          <a:xfrm>
            <a:off x="548640" y="2880360"/>
            <a:ext cx="2560320" cy="11887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zh-CN" altLang="en-US"/>
          </a:p>
        </p:txBody>
      </p:sp>
      <p:sp>
        <p:nvSpPr>
          <p:cNvPr id="13" name="Shape 11"/>
          <p:cNvSpPr/>
          <p:nvPr/>
        </p:nvSpPr>
        <p:spPr>
          <a:xfrm>
            <a:off x="548640" y="2880360"/>
            <a:ext cx="54864" cy="1188720"/>
          </a:xfrm>
          <a:prstGeom prst="rect">
            <a:avLst/>
          </a:prstGeom>
          <a:solidFill>
            <a:srgbClr val="065A82"/>
          </a:solidFill>
          <a:ln/>
        </p:spPr>
        <p:txBody>
          <a:bodyPr/>
          <a:lstStyle/>
          <a:p>
            <a:endParaRPr lang="zh-CN" altLang="en-US"/>
          </a:p>
        </p:txBody>
      </p:sp>
      <p:sp>
        <p:nvSpPr>
          <p:cNvPr id="14" name="Shape 12"/>
          <p:cNvSpPr/>
          <p:nvPr/>
        </p:nvSpPr>
        <p:spPr>
          <a:xfrm>
            <a:off x="731520" y="3017520"/>
            <a:ext cx="320040" cy="320040"/>
          </a:xfrm>
          <a:prstGeom prst="ellipse">
            <a:avLst/>
          </a:prstGeom>
          <a:solidFill>
            <a:srgbClr val="065A82"/>
          </a:solidFill>
          <a:ln/>
        </p:spPr>
        <p:txBody>
          <a:bodyPr/>
          <a:lstStyle/>
          <a:p>
            <a:endParaRPr lang="zh-CN" altLang="en-US"/>
          </a:p>
        </p:txBody>
      </p:sp>
      <p:sp>
        <p:nvSpPr>
          <p:cNvPr id="15" name="Text 13"/>
          <p:cNvSpPr/>
          <p:nvPr/>
        </p:nvSpPr>
        <p:spPr>
          <a:xfrm>
            <a:off x="731520" y="3017520"/>
            <a:ext cx="32004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6" name="Text 14"/>
          <p:cNvSpPr/>
          <p:nvPr/>
        </p:nvSpPr>
        <p:spPr>
          <a:xfrm>
            <a:off x="1188720" y="3017520"/>
            <a:ext cx="1737360" cy="320040"/>
          </a:xfrm>
          <a:prstGeom prst="rect">
            <a:avLst/>
          </a:prstGeom>
          <a:noFill/>
          <a:ln/>
        </p:spPr>
        <p:txBody>
          <a:bodyPr wrap="square" lIns="0" tIns="0" rIns="0" bIns="0" rtlCol="0" anchor="ctr"/>
          <a:lstStyle/>
          <a:p>
            <a:pPr marL="0" indent="0">
              <a:buNone/>
            </a:pPr>
            <a:r>
              <a:rPr lang="en-US" sz="1400" b="1" dirty="0" err="1">
                <a:solidFill>
                  <a:srgbClr val="065A82"/>
                </a:solidFill>
                <a:latin typeface="Arial" pitchFamily="34" charset="0"/>
                <a:ea typeface="Arial" pitchFamily="34" charset="-122"/>
                <a:cs typeface="Arial" pitchFamily="34" charset="-120"/>
              </a:rPr>
              <a:t>概念</a:t>
            </a:r>
            <a:r>
              <a:rPr lang="zh-CN" altLang="en-US" sz="1400" b="1" dirty="0">
                <a:solidFill>
                  <a:srgbClr val="065A82"/>
                </a:solidFill>
                <a:latin typeface="Arial" pitchFamily="34" charset="0"/>
                <a:ea typeface="Arial" pitchFamily="34" charset="-122"/>
                <a:cs typeface="Arial" pitchFamily="34" charset="-120"/>
              </a:rPr>
              <a:t>与语义</a:t>
            </a:r>
            <a:endParaRPr lang="en-US" sz="1400" dirty="0"/>
          </a:p>
        </p:txBody>
      </p:sp>
      <p:sp>
        <p:nvSpPr>
          <p:cNvPr id="17" name="Text 15"/>
          <p:cNvSpPr/>
          <p:nvPr/>
        </p:nvSpPr>
        <p:spPr>
          <a:xfrm>
            <a:off x="731520" y="3429000"/>
            <a:ext cx="2651760" cy="548640"/>
          </a:xfrm>
          <a:prstGeom prst="rect">
            <a:avLst/>
          </a:prstGeom>
          <a:noFill/>
          <a:ln/>
        </p:spPr>
        <p:txBody>
          <a:bodyPr wrap="square" lIns="0" tIns="0" rIns="0" bIns="0" rtlCol="0" anchor="ctr"/>
          <a:lstStyle/>
          <a:p>
            <a:pPr marL="0" indent="0">
              <a:buNone/>
            </a:pPr>
            <a:r>
              <a:rPr lang="zh-CN" altLang="en-US" sz="900" dirty="0">
                <a:solidFill>
                  <a:srgbClr val="64748B"/>
                </a:solidFill>
                <a:latin typeface="Arial" pitchFamily="34" charset="0"/>
                <a:ea typeface="Arial" pitchFamily="34" charset="-122"/>
                <a:cs typeface="Arial" pitchFamily="34" charset="-120"/>
              </a:rPr>
              <a:t>企业已有 </a:t>
            </a:r>
            <a:r>
              <a:rPr lang="en-US" altLang="zh-CN" sz="900" dirty="0">
                <a:solidFill>
                  <a:srgbClr val="64748B"/>
                </a:solidFill>
                <a:latin typeface="Arial" pitchFamily="34" charset="0"/>
                <a:ea typeface="Arial" pitchFamily="34" charset="-122"/>
                <a:cs typeface="Arial" pitchFamily="34" charset="-120"/>
              </a:rPr>
              <a:t>ERP</a:t>
            </a:r>
            <a:r>
              <a:rPr lang="zh-CN" altLang="en-US" sz="900" dirty="0">
                <a:solidFill>
                  <a:srgbClr val="64748B"/>
                </a:solidFill>
                <a:latin typeface="Arial" pitchFamily="34" charset="0"/>
                <a:ea typeface="Arial" pitchFamily="34" charset="-122"/>
                <a:cs typeface="Arial" pitchFamily="34" charset="-120"/>
              </a:rPr>
              <a:t>、</a:t>
            </a:r>
            <a:r>
              <a:rPr lang="en-US" altLang="zh-CN" sz="900" dirty="0">
                <a:solidFill>
                  <a:srgbClr val="64748B"/>
                </a:solidFill>
                <a:latin typeface="Arial" pitchFamily="34" charset="0"/>
                <a:ea typeface="Arial" pitchFamily="34" charset="-122"/>
                <a:cs typeface="Arial" pitchFamily="34" charset="-120"/>
              </a:rPr>
              <a:t>MES</a:t>
            </a:r>
            <a:r>
              <a:rPr lang="zh-CN" altLang="en-US" sz="900" dirty="0">
                <a:solidFill>
                  <a:srgbClr val="64748B"/>
                </a:solidFill>
                <a:latin typeface="Arial" pitchFamily="34" charset="0"/>
                <a:ea typeface="Arial" pitchFamily="34" charset="-122"/>
                <a:cs typeface="Arial" pitchFamily="34" charset="-120"/>
              </a:rPr>
              <a:t>、</a:t>
            </a:r>
            <a:r>
              <a:rPr lang="en-US" altLang="zh-CN" sz="900" dirty="0">
                <a:solidFill>
                  <a:srgbClr val="64748B"/>
                </a:solidFill>
                <a:latin typeface="Arial" pitchFamily="34" charset="0"/>
                <a:ea typeface="Arial" pitchFamily="34" charset="-122"/>
                <a:cs typeface="Arial" pitchFamily="34" charset="-120"/>
              </a:rPr>
              <a:t>WMS</a:t>
            </a:r>
            <a:r>
              <a:rPr lang="zh-CN" altLang="en-US" sz="900" dirty="0">
                <a:solidFill>
                  <a:srgbClr val="64748B"/>
                </a:solidFill>
                <a:latin typeface="Arial" pitchFamily="34" charset="0"/>
                <a:ea typeface="Arial" pitchFamily="34" charset="-122"/>
                <a:cs typeface="Arial" pitchFamily="34" charset="-120"/>
              </a:rPr>
              <a:t>、</a:t>
            </a:r>
            <a:r>
              <a:rPr lang="en-US" altLang="zh-CN" sz="900" dirty="0">
                <a:solidFill>
                  <a:srgbClr val="64748B"/>
                </a:solidFill>
                <a:latin typeface="Arial" pitchFamily="34" charset="0"/>
                <a:ea typeface="Arial" pitchFamily="34" charset="-122"/>
                <a:cs typeface="Arial" pitchFamily="34" charset="-120"/>
              </a:rPr>
              <a:t>QMS</a:t>
            </a:r>
            <a:r>
              <a:rPr lang="zh-CN" altLang="en-US" sz="900" dirty="0">
                <a:solidFill>
                  <a:srgbClr val="64748B"/>
                </a:solidFill>
                <a:latin typeface="Arial" pitchFamily="34" charset="0"/>
                <a:ea typeface="Arial" pitchFamily="34" charset="-122"/>
                <a:cs typeface="Arial" pitchFamily="34" charset="-120"/>
              </a:rPr>
              <a:t>、</a:t>
            </a:r>
            <a:r>
              <a:rPr lang="en-US" altLang="zh-CN" sz="900" dirty="0">
                <a:solidFill>
                  <a:srgbClr val="64748B"/>
                </a:solidFill>
                <a:latin typeface="Arial" pitchFamily="34" charset="0"/>
                <a:ea typeface="Arial" pitchFamily="34" charset="-122"/>
                <a:cs typeface="Arial" pitchFamily="34" charset="-120"/>
              </a:rPr>
              <a:t>CRM </a:t>
            </a:r>
            <a:r>
              <a:rPr lang="zh-CN" altLang="en-US" sz="900" dirty="0">
                <a:solidFill>
                  <a:srgbClr val="64748B"/>
                </a:solidFill>
                <a:latin typeface="Arial" pitchFamily="34" charset="0"/>
                <a:ea typeface="Arial" pitchFamily="34" charset="-122"/>
                <a:cs typeface="Arial" pitchFamily="34" charset="-120"/>
              </a:rPr>
              <a:t>等系统，但这些系统中的业务含义通常隐藏在字段、枚举、流程和人员经验里。</a:t>
            </a:r>
            <a:r>
              <a:rPr lang="en-US" altLang="zh-CN" sz="900" dirty="0">
                <a:solidFill>
                  <a:srgbClr val="64748B"/>
                </a:solidFill>
                <a:latin typeface="Arial" pitchFamily="34" charset="0"/>
                <a:ea typeface="Arial" pitchFamily="34" charset="-122"/>
                <a:cs typeface="Arial" pitchFamily="34" charset="-120"/>
              </a:rPr>
              <a:t>LLM </a:t>
            </a:r>
            <a:r>
              <a:rPr lang="zh-CN" altLang="en-US" sz="900" dirty="0">
                <a:solidFill>
                  <a:srgbClr val="64748B"/>
                </a:solidFill>
                <a:latin typeface="Arial" pitchFamily="34" charset="0"/>
                <a:ea typeface="Arial" pitchFamily="34" charset="-122"/>
                <a:cs typeface="Arial" pitchFamily="34" charset="-120"/>
              </a:rPr>
              <a:t>可以理解自然语言，却不知道企业内部“生产订单下达”“物料齐套”“技术关闭”“准时完工率”等概念的准确含义、规则边界和数据来源。</a:t>
            </a:r>
            <a:endParaRPr lang="en-US" sz="900" dirty="0"/>
          </a:p>
        </p:txBody>
      </p:sp>
      <p:sp>
        <p:nvSpPr>
          <p:cNvPr id="18" name="Shape 16"/>
          <p:cNvSpPr/>
          <p:nvPr/>
        </p:nvSpPr>
        <p:spPr>
          <a:xfrm>
            <a:off x="3383280" y="2880360"/>
            <a:ext cx="2560320" cy="11887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zh-CN" altLang="en-US"/>
          </a:p>
        </p:txBody>
      </p:sp>
      <p:sp>
        <p:nvSpPr>
          <p:cNvPr id="19" name="Shape 17"/>
          <p:cNvSpPr/>
          <p:nvPr/>
        </p:nvSpPr>
        <p:spPr>
          <a:xfrm>
            <a:off x="3383280" y="2880360"/>
            <a:ext cx="54864" cy="1188720"/>
          </a:xfrm>
          <a:prstGeom prst="rect">
            <a:avLst/>
          </a:prstGeom>
          <a:solidFill>
            <a:srgbClr val="E78C07"/>
          </a:solidFill>
          <a:ln/>
        </p:spPr>
        <p:txBody>
          <a:bodyPr/>
          <a:lstStyle/>
          <a:p>
            <a:endParaRPr lang="zh-CN" altLang="en-US"/>
          </a:p>
        </p:txBody>
      </p:sp>
      <p:sp>
        <p:nvSpPr>
          <p:cNvPr id="20" name="Shape 18"/>
          <p:cNvSpPr/>
          <p:nvPr/>
        </p:nvSpPr>
        <p:spPr>
          <a:xfrm>
            <a:off x="3566160" y="3017520"/>
            <a:ext cx="320040" cy="320040"/>
          </a:xfrm>
          <a:prstGeom prst="ellipse">
            <a:avLst/>
          </a:prstGeom>
          <a:solidFill>
            <a:srgbClr val="E78C07"/>
          </a:solidFill>
          <a:ln/>
        </p:spPr>
        <p:txBody>
          <a:bodyPr/>
          <a:lstStyle/>
          <a:p>
            <a:endParaRPr lang="zh-CN" altLang="en-US"/>
          </a:p>
        </p:txBody>
      </p:sp>
      <p:sp>
        <p:nvSpPr>
          <p:cNvPr id="21" name="Text 19"/>
          <p:cNvSpPr/>
          <p:nvPr/>
        </p:nvSpPr>
        <p:spPr>
          <a:xfrm>
            <a:off x="3566160" y="3017520"/>
            <a:ext cx="32004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22" name="Text 20"/>
          <p:cNvSpPr/>
          <p:nvPr/>
        </p:nvSpPr>
        <p:spPr>
          <a:xfrm>
            <a:off x="4023360" y="3017520"/>
            <a:ext cx="1737360" cy="320040"/>
          </a:xfrm>
          <a:prstGeom prst="rect">
            <a:avLst/>
          </a:prstGeom>
          <a:noFill/>
          <a:ln/>
        </p:spPr>
        <p:txBody>
          <a:bodyPr wrap="square" lIns="0" tIns="0" rIns="0" bIns="0" rtlCol="0" anchor="ctr"/>
          <a:lstStyle/>
          <a:p>
            <a:pPr marL="0" indent="0">
              <a:buNone/>
            </a:pPr>
            <a:r>
              <a:rPr lang="zh-CN" altLang="en-US" sz="1400" b="1" dirty="0">
                <a:solidFill>
                  <a:srgbClr val="E78C07"/>
                </a:solidFill>
                <a:latin typeface="Arial" pitchFamily="34" charset="0"/>
                <a:ea typeface="Arial" pitchFamily="34" charset="-122"/>
                <a:cs typeface="Arial" pitchFamily="34" charset="-120"/>
              </a:rPr>
              <a:t>行为与</a:t>
            </a:r>
            <a:r>
              <a:rPr lang="en-US" sz="1400" b="1" dirty="0" err="1">
                <a:solidFill>
                  <a:srgbClr val="E78C07"/>
                </a:solidFill>
                <a:latin typeface="Arial" pitchFamily="34" charset="0"/>
                <a:ea typeface="Arial" pitchFamily="34" charset="-122"/>
                <a:cs typeface="Arial" pitchFamily="34" charset="-120"/>
              </a:rPr>
              <a:t>约束</a:t>
            </a:r>
            <a:endParaRPr lang="en-US" sz="1400" dirty="0"/>
          </a:p>
        </p:txBody>
      </p:sp>
      <p:sp>
        <p:nvSpPr>
          <p:cNvPr id="24" name="Shape 22"/>
          <p:cNvSpPr/>
          <p:nvPr/>
        </p:nvSpPr>
        <p:spPr>
          <a:xfrm>
            <a:off x="6217920" y="2880360"/>
            <a:ext cx="2560320" cy="11887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zh-CN" altLang="en-US" dirty="0"/>
          </a:p>
        </p:txBody>
      </p:sp>
      <p:sp>
        <p:nvSpPr>
          <p:cNvPr id="25" name="Shape 23"/>
          <p:cNvSpPr/>
          <p:nvPr/>
        </p:nvSpPr>
        <p:spPr>
          <a:xfrm>
            <a:off x="6217920" y="2880360"/>
            <a:ext cx="54864" cy="1188720"/>
          </a:xfrm>
          <a:prstGeom prst="rect">
            <a:avLst/>
          </a:prstGeom>
          <a:solidFill>
            <a:srgbClr val="22A699"/>
          </a:solidFill>
          <a:ln/>
        </p:spPr>
        <p:txBody>
          <a:bodyPr/>
          <a:lstStyle/>
          <a:p>
            <a:endParaRPr lang="zh-CN" altLang="en-US"/>
          </a:p>
        </p:txBody>
      </p:sp>
      <p:sp>
        <p:nvSpPr>
          <p:cNvPr id="26" name="Shape 24"/>
          <p:cNvSpPr/>
          <p:nvPr/>
        </p:nvSpPr>
        <p:spPr>
          <a:xfrm>
            <a:off x="6400800" y="3017520"/>
            <a:ext cx="320040" cy="320040"/>
          </a:xfrm>
          <a:prstGeom prst="ellipse">
            <a:avLst/>
          </a:prstGeom>
          <a:solidFill>
            <a:srgbClr val="22A699"/>
          </a:solidFill>
          <a:ln/>
        </p:spPr>
        <p:txBody>
          <a:bodyPr/>
          <a:lstStyle/>
          <a:p>
            <a:endParaRPr lang="zh-CN" altLang="en-US"/>
          </a:p>
        </p:txBody>
      </p:sp>
      <p:sp>
        <p:nvSpPr>
          <p:cNvPr id="27" name="Text 25"/>
          <p:cNvSpPr/>
          <p:nvPr/>
        </p:nvSpPr>
        <p:spPr>
          <a:xfrm>
            <a:off x="6400800" y="3017520"/>
            <a:ext cx="32004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8" name="Text 26"/>
          <p:cNvSpPr/>
          <p:nvPr/>
        </p:nvSpPr>
        <p:spPr>
          <a:xfrm>
            <a:off x="6858000" y="3017520"/>
            <a:ext cx="1737360" cy="320040"/>
          </a:xfrm>
          <a:prstGeom prst="rect">
            <a:avLst/>
          </a:prstGeom>
          <a:noFill/>
          <a:ln/>
        </p:spPr>
        <p:txBody>
          <a:bodyPr wrap="square" lIns="0" tIns="0" rIns="0" bIns="0" rtlCol="0" anchor="ctr"/>
          <a:lstStyle/>
          <a:p>
            <a:pPr marL="0" indent="0">
              <a:buNone/>
            </a:pPr>
            <a:r>
              <a:rPr lang="zh-CN" altLang="en-US" sz="1400" b="1" dirty="0">
                <a:solidFill>
                  <a:srgbClr val="22A699"/>
                </a:solidFill>
                <a:latin typeface="Arial" pitchFamily="34" charset="0"/>
                <a:ea typeface="Arial" pitchFamily="34" charset="-122"/>
                <a:cs typeface="Arial" pitchFamily="34" charset="-120"/>
              </a:rPr>
              <a:t>事件</a:t>
            </a:r>
            <a:endParaRPr lang="en-US" sz="1400" dirty="0"/>
          </a:p>
        </p:txBody>
      </p:sp>
      <p:sp>
        <p:nvSpPr>
          <p:cNvPr id="29" name="Text 27"/>
          <p:cNvSpPr/>
          <p:nvPr/>
        </p:nvSpPr>
        <p:spPr>
          <a:xfrm>
            <a:off x="3593592" y="3446469"/>
            <a:ext cx="2496312" cy="548640"/>
          </a:xfrm>
          <a:prstGeom prst="rect">
            <a:avLst/>
          </a:prstGeom>
          <a:noFill/>
          <a:ln/>
        </p:spPr>
        <p:txBody>
          <a:bodyPr wrap="square" lIns="0" tIns="0" rIns="0" bIns="0" rtlCol="0" anchor="ctr"/>
          <a:lstStyle/>
          <a:p>
            <a:pPr marL="0" indent="0">
              <a:buNone/>
            </a:pPr>
            <a:r>
              <a:rPr lang="zh-CN" altLang="en-US" sz="900" dirty="0">
                <a:solidFill>
                  <a:srgbClr val="64748B"/>
                </a:solidFill>
                <a:latin typeface="Arial" panose="020B0604020202020204" pitchFamily="34" charset="0"/>
                <a:ea typeface="Arial" pitchFamily="34" charset="-122"/>
                <a:cs typeface="Arial" panose="020B0604020202020204" pitchFamily="34" charset="0"/>
              </a:rPr>
              <a:t>行为</a:t>
            </a:r>
            <a:r>
              <a:rPr lang="en-US" sz="900" dirty="0" err="1">
                <a:solidFill>
                  <a:srgbClr val="64748B"/>
                </a:solidFill>
                <a:latin typeface="Arial" panose="020B0604020202020204" pitchFamily="34" charset="0"/>
                <a:ea typeface="Arial" pitchFamily="34" charset="-122"/>
                <a:cs typeface="Arial" panose="020B0604020202020204" pitchFamily="34" charset="0"/>
              </a:rPr>
              <a:t>定义「谁可以做什么操作</a:t>
            </a:r>
            <a:r>
              <a:rPr lang="en-US" sz="900" dirty="0">
                <a:solidFill>
                  <a:srgbClr val="64748B"/>
                </a:solidFill>
                <a:latin typeface="Arial" panose="020B0604020202020204" pitchFamily="34" charset="0"/>
                <a:ea typeface="Arial" pitchFamily="34" charset="-122"/>
                <a:cs typeface="Arial" panose="020B0604020202020204" pitchFamily="34" charset="0"/>
              </a:rPr>
              <a:t>」</a:t>
            </a:r>
            <a:r>
              <a:rPr lang="zh-CN" altLang="en-US" sz="900" dirty="0">
                <a:solidFill>
                  <a:srgbClr val="64748B"/>
                </a:solidFill>
                <a:latin typeface="Arial" panose="020B0604020202020204" pitchFamily="34" charset="0"/>
                <a:ea typeface="Arial" pitchFamily="34" charset="-122"/>
                <a:cs typeface="Arial" panose="020B0604020202020204" pitchFamily="34" charset="0"/>
              </a:rPr>
              <a:t>业务能做什么，包括业务动作、前置校验、行为边界、执行权限。</a:t>
            </a:r>
            <a:endParaRPr lang="en-US" altLang="zh-CN" sz="900" dirty="0">
              <a:solidFill>
                <a:srgbClr val="64748B"/>
              </a:solidFill>
              <a:latin typeface="Arial" panose="020B0604020202020204" pitchFamily="34" charset="0"/>
              <a:ea typeface="Arial" pitchFamily="34" charset="-122"/>
              <a:cs typeface="Arial" panose="020B0604020202020204" pitchFamily="34" charset="0"/>
            </a:endParaRPr>
          </a:p>
          <a:p>
            <a:r>
              <a:rPr lang="zh-CN" altLang="en-US" sz="900" dirty="0">
                <a:solidFill>
                  <a:srgbClr val="64748B"/>
                </a:solidFill>
                <a:latin typeface="Arial" panose="020B0604020202020204" pitchFamily="34" charset="0"/>
                <a:ea typeface="Arial" pitchFamily="34" charset="-122"/>
                <a:cs typeface="Arial" panose="020B0604020202020204" pitchFamily="34" charset="0"/>
              </a:rPr>
              <a:t>指标定义：指标公式、数据来源和维度分散</a:t>
            </a:r>
            <a:endParaRPr lang="en-US" altLang="zh-CN" sz="900" dirty="0">
              <a:solidFill>
                <a:srgbClr val="64748B"/>
              </a:solidFill>
              <a:latin typeface="Arial" panose="020B0604020202020204" pitchFamily="34" charset="0"/>
              <a:ea typeface="Arial" pitchFamily="34" charset="-122"/>
              <a:cs typeface="Arial" panose="020B0604020202020204" pitchFamily="34" charset="0"/>
            </a:endParaRPr>
          </a:p>
          <a:p>
            <a:r>
              <a:rPr lang="zh-CN" altLang="en-US" sz="900" dirty="0">
                <a:solidFill>
                  <a:srgbClr val="64748B"/>
                </a:solidFill>
                <a:latin typeface="Arial" panose="020B0604020202020204" pitchFamily="34" charset="0"/>
                <a:cs typeface="Arial" panose="020B0604020202020204" pitchFamily="34" charset="0"/>
              </a:rPr>
              <a:t>规则与约束：</a:t>
            </a:r>
            <a:r>
              <a:rPr lang="en-US" altLang="zh-CN" sz="900" dirty="0" err="1">
                <a:solidFill>
                  <a:srgbClr val="64748B"/>
                </a:solidFill>
                <a:latin typeface="Arial" panose="020B0604020202020204" pitchFamily="34" charset="0"/>
                <a:cs typeface="Arial" panose="020B0604020202020204" pitchFamily="34" charset="0"/>
              </a:rPr>
              <a:t>定义「下单前必须校验库存</a:t>
            </a:r>
            <a:r>
              <a:rPr lang="en-US" altLang="zh-CN" sz="900" dirty="0">
                <a:solidFill>
                  <a:srgbClr val="64748B"/>
                </a:solidFill>
                <a:latin typeface="Arial" panose="020B0604020202020204" pitchFamily="34" charset="0"/>
                <a:cs typeface="Arial" panose="020B0604020202020204" pitchFamily="34" charset="0"/>
              </a:rPr>
              <a:t>」</a:t>
            </a:r>
          </a:p>
          <a:p>
            <a:r>
              <a:rPr lang="en-US" altLang="zh-CN" sz="900" dirty="0">
                <a:solidFill>
                  <a:srgbClr val="64748B"/>
                </a:solidFill>
                <a:latin typeface="Arial" panose="020B0604020202020204" pitchFamily="34" charset="0"/>
                <a:cs typeface="Arial" panose="020B0604020202020204" pitchFamily="34" charset="0"/>
              </a:rPr>
              <a:t>「</a:t>
            </a:r>
            <a:r>
              <a:rPr lang="en-US" altLang="zh-CN" sz="900" dirty="0" err="1">
                <a:solidFill>
                  <a:srgbClr val="64748B"/>
                </a:solidFill>
                <a:latin typeface="Arial" panose="020B0604020202020204" pitchFamily="34" charset="0"/>
                <a:cs typeface="Arial" panose="020B0604020202020204" pitchFamily="34" charset="0"/>
              </a:rPr>
              <a:t>已发货订单不可取消</a:t>
            </a:r>
            <a:r>
              <a:rPr lang="en-US" altLang="zh-CN" sz="900" dirty="0">
                <a:solidFill>
                  <a:srgbClr val="64748B"/>
                </a:solidFill>
                <a:latin typeface="Arial" panose="020B0604020202020204" pitchFamily="34" charset="0"/>
                <a:cs typeface="Arial" panose="020B0604020202020204" pitchFamily="34" charset="0"/>
              </a:rPr>
              <a:t>」</a:t>
            </a:r>
          </a:p>
        </p:txBody>
      </p:sp>
      <p:sp>
        <p:nvSpPr>
          <p:cNvPr id="30" name="Shape 28"/>
          <p:cNvSpPr/>
          <p:nvPr/>
        </p:nvSpPr>
        <p:spPr>
          <a:xfrm>
            <a:off x="548640" y="4257646"/>
            <a:ext cx="8046720" cy="725393"/>
          </a:xfrm>
          <a:prstGeom prst="rect">
            <a:avLst/>
          </a:prstGeom>
          <a:solidFill>
            <a:srgbClr val="E6F7F5"/>
          </a:solidFill>
          <a:ln/>
        </p:spPr>
        <p:txBody>
          <a:bodyPr/>
          <a:lstStyle/>
          <a:p>
            <a:endParaRPr lang="zh-CN" altLang="en-US"/>
          </a:p>
        </p:txBody>
      </p:sp>
      <p:sp>
        <p:nvSpPr>
          <p:cNvPr id="31" name="Text 29"/>
          <p:cNvSpPr/>
          <p:nvPr/>
        </p:nvSpPr>
        <p:spPr>
          <a:xfrm>
            <a:off x="665533" y="4266399"/>
            <a:ext cx="7680960" cy="707886"/>
          </a:xfrm>
          <a:prstGeom prst="rect">
            <a:avLst/>
          </a:prstGeom>
          <a:noFill/>
          <a:ln/>
        </p:spPr>
        <p:txBody>
          <a:bodyPr wrap="square" lIns="0" tIns="0" rIns="0" bIns="0" rtlCol="0" anchor="ctr">
            <a:spAutoFit/>
          </a:bodyPr>
          <a:lstStyle/>
          <a:p>
            <a:pPr marL="171450" indent="-171450">
              <a:spcAft>
                <a:spcPts val="400"/>
              </a:spcAft>
              <a:buFont typeface="Arial" panose="020B0604020202020204" pitchFamily="34" charset="0"/>
              <a:buChar char="•"/>
              <a:defRPr sz="1000">
                <a:solidFill>
                  <a:srgbClr val="64748B"/>
                </a:solidFill>
                <a:latin typeface="Arial"/>
              </a:defRPr>
            </a:pPr>
            <a:r>
              <a:rPr lang="zh-CN" altLang="en-US" sz="900" dirty="0">
                <a:solidFill>
                  <a:srgbClr val="64748B"/>
                </a:solidFill>
                <a:latin typeface="Arial"/>
              </a:rPr>
              <a:t>概念定义：精确描述领域概念（如供应商风险包含哪些维度）</a:t>
            </a:r>
          </a:p>
          <a:p>
            <a:pPr marL="171450" indent="-171450">
              <a:spcAft>
                <a:spcPts val="400"/>
              </a:spcAft>
              <a:buFont typeface="Arial" panose="020B0604020202020204" pitchFamily="34" charset="0"/>
              <a:buChar char="•"/>
              <a:defRPr sz="1000">
                <a:solidFill>
                  <a:srgbClr val="64748B"/>
                </a:solidFill>
                <a:latin typeface="Arial"/>
              </a:defRPr>
            </a:pPr>
            <a:r>
              <a:rPr lang="zh-CN" altLang="en-US" sz="900" dirty="0">
                <a:solidFill>
                  <a:srgbClr val="64748B"/>
                </a:solidFill>
                <a:latin typeface="Arial"/>
              </a:rPr>
              <a:t>关系建模：显式表达概念间的继承、关联、约束关系</a:t>
            </a:r>
          </a:p>
          <a:p>
            <a:pPr marL="171450" indent="-171450">
              <a:spcAft>
                <a:spcPts val="400"/>
              </a:spcAft>
              <a:buFont typeface="Arial" panose="020B0604020202020204" pitchFamily="34" charset="0"/>
              <a:buChar char="•"/>
              <a:defRPr sz="1000">
                <a:solidFill>
                  <a:srgbClr val="64748B"/>
                </a:solidFill>
                <a:latin typeface="Arial"/>
              </a:defRPr>
            </a:pPr>
            <a:r>
              <a:rPr lang="zh-CN" altLang="en-US" sz="900" dirty="0">
                <a:solidFill>
                  <a:srgbClr val="64748B"/>
                </a:solidFill>
                <a:latin typeface="Arial"/>
              </a:rPr>
              <a:t>规则引擎：执行业务规则，保证推理一致性</a:t>
            </a:r>
          </a:p>
          <a:p>
            <a:pPr marL="171450" indent="-171450">
              <a:spcAft>
                <a:spcPts val="400"/>
              </a:spcAft>
              <a:buFont typeface="Arial" panose="020B0604020202020204" pitchFamily="34" charset="0"/>
              <a:buChar char="•"/>
              <a:defRPr sz="1000">
                <a:solidFill>
                  <a:srgbClr val="64748B"/>
                </a:solidFill>
                <a:latin typeface="Arial"/>
              </a:defRPr>
            </a:pPr>
            <a:r>
              <a:rPr lang="zh-CN" altLang="en-US" sz="900" dirty="0">
                <a:solidFill>
                  <a:srgbClr val="64748B"/>
                </a:solidFill>
                <a:latin typeface="Arial"/>
              </a:rPr>
              <a:t>可解释性：提供推理路径追溯，满足审计合规要求</a:t>
            </a:r>
            <a:endParaRPr lang="en-US" sz="1050" dirty="0"/>
          </a:p>
        </p:txBody>
      </p:sp>
      <p:sp>
        <p:nvSpPr>
          <p:cNvPr id="33" name="文本框 32">
            <a:extLst>
              <a:ext uri="{FF2B5EF4-FFF2-40B4-BE49-F238E27FC236}">
                <a16:creationId xmlns:a16="http://schemas.microsoft.com/office/drawing/2014/main" id="{D5E75B27-27E6-3937-547C-0C693709B76C}"/>
              </a:ext>
            </a:extLst>
          </p:cNvPr>
          <p:cNvSpPr txBox="1"/>
          <p:nvPr/>
        </p:nvSpPr>
        <p:spPr>
          <a:xfrm>
            <a:off x="6245352" y="3386734"/>
            <a:ext cx="2258568" cy="507831"/>
          </a:xfrm>
          <a:prstGeom prst="rect">
            <a:avLst/>
          </a:prstGeom>
          <a:noFill/>
        </p:spPr>
        <p:txBody>
          <a:bodyPr wrap="square">
            <a:spAutoFit/>
          </a:bodyPr>
          <a:lstStyle/>
          <a:p>
            <a:r>
              <a:rPr lang="zh-CN" altLang="en-US" sz="900" dirty="0">
                <a:solidFill>
                  <a:srgbClr val="64748B"/>
                </a:solidFill>
                <a:latin typeface="Arial" panose="020B0604020202020204" pitchFamily="34" charset="0"/>
                <a:cs typeface="Arial" panose="020B0604020202020204" pitchFamily="34" charset="0"/>
              </a:rPr>
              <a:t>「操作后触发什么事件」</a:t>
            </a:r>
            <a:endParaRPr lang="en-US" altLang="zh-CN" sz="900" dirty="0">
              <a:solidFill>
                <a:srgbClr val="64748B"/>
              </a:solidFill>
              <a:latin typeface="Arial" panose="020B0604020202020204" pitchFamily="34" charset="0"/>
              <a:cs typeface="Arial" panose="020B0604020202020204" pitchFamily="34" charset="0"/>
            </a:endParaRPr>
          </a:p>
          <a:p>
            <a:r>
              <a:rPr lang="zh-CN" altLang="en-US" sz="900" dirty="0">
                <a:solidFill>
                  <a:srgbClr val="64748B"/>
                </a:solidFill>
                <a:latin typeface="Arial" panose="020B0604020202020204" pitchFamily="34" charset="0"/>
                <a:cs typeface="Arial" panose="020B0604020202020204" pitchFamily="34" charset="0"/>
              </a:rPr>
              <a:t>行为完成后，往往缺少标准事件记录和推导链，导致结果难审计，经验难沉淀</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2A699"/>
          </a:solidFill>
          <a:ln/>
        </p:spPr>
        <p:txBody>
          <a:bodyPr/>
          <a:lstStyle/>
          <a:p>
            <a:endParaRPr lang="zh-CN" altLang="en-US"/>
          </a:p>
        </p:txBody>
      </p:sp>
      <p:sp>
        <p:nvSpPr>
          <p:cNvPr id="3" name="Shape 1"/>
          <p:cNvSpPr/>
          <p:nvPr/>
        </p:nvSpPr>
        <p:spPr>
          <a:xfrm>
            <a:off x="548640" y="274320"/>
            <a:ext cx="54864" cy="457200"/>
          </a:xfrm>
          <a:prstGeom prst="rect">
            <a:avLst/>
          </a:prstGeom>
          <a:solidFill>
            <a:srgbClr val="22A699"/>
          </a:solidFill>
          <a:ln/>
        </p:spPr>
        <p:txBody>
          <a:bodyPr/>
          <a:lstStyle/>
          <a:p>
            <a:endParaRPr lang="zh-CN" altLang="en-US"/>
          </a:p>
        </p:txBody>
      </p:sp>
      <p:sp>
        <p:nvSpPr>
          <p:cNvPr id="4" name="Text 2"/>
          <p:cNvSpPr/>
          <p:nvPr/>
        </p:nvSpPr>
        <p:spPr>
          <a:xfrm>
            <a:off x="731520" y="274320"/>
            <a:ext cx="731520" cy="457200"/>
          </a:xfrm>
          <a:prstGeom prst="rect">
            <a:avLst/>
          </a:prstGeom>
          <a:noFill/>
          <a:ln/>
        </p:spPr>
        <p:txBody>
          <a:bodyPr wrap="square" lIns="0" tIns="0" rIns="0" bIns="0" rtlCol="0" anchor="ctr"/>
          <a:lstStyle/>
          <a:p>
            <a:pPr marL="0" indent="0">
              <a:buNone/>
            </a:pPr>
            <a:r>
              <a:rPr lang="en-US" sz="2000" b="1" dirty="0">
                <a:solidFill>
                  <a:srgbClr val="22A699"/>
                </a:solidFill>
                <a:latin typeface="Arial" pitchFamily="34" charset="0"/>
                <a:ea typeface="Arial" pitchFamily="34" charset="-122"/>
                <a:cs typeface="Arial" pitchFamily="34" charset="-120"/>
              </a:rPr>
              <a:t>02</a:t>
            </a:r>
            <a:endParaRPr lang="en-US" sz="2000" dirty="0"/>
          </a:p>
        </p:txBody>
      </p:sp>
      <p:sp>
        <p:nvSpPr>
          <p:cNvPr id="5" name="Text 3"/>
          <p:cNvSpPr/>
          <p:nvPr/>
        </p:nvSpPr>
        <p:spPr>
          <a:xfrm>
            <a:off x="1554480" y="274320"/>
            <a:ext cx="4572000" cy="457200"/>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本体模型的角色定位</a:t>
            </a:r>
            <a:endParaRPr lang="en-US" sz="2000" dirty="0"/>
          </a:p>
        </p:txBody>
      </p:sp>
      <p:sp>
        <p:nvSpPr>
          <p:cNvPr id="6" name="Shape 4"/>
          <p:cNvSpPr/>
          <p:nvPr/>
        </p:nvSpPr>
        <p:spPr>
          <a:xfrm>
            <a:off x="548640" y="1097280"/>
            <a:ext cx="2560320" cy="3291840"/>
          </a:xfrm>
          <a:prstGeom prst="rect">
            <a:avLst/>
          </a:prstGeom>
          <a:solidFill>
            <a:srgbClr val="1E293B"/>
          </a:solidFill>
          <a:ln/>
        </p:spPr>
        <p:txBody>
          <a:bodyPr/>
          <a:lstStyle/>
          <a:p>
            <a:endParaRPr lang="zh-CN" altLang="en-US"/>
          </a:p>
        </p:txBody>
      </p:sp>
      <p:sp>
        <p:nvSpPr>
          <p:cNvPr id="7" name="Shape 5"/>
          <p:cNvSpPr/>
          <p:nvPr/>
        </p:nvSpPr>
        <p:spPr>
          <a:xfrm>
            <a:off x="548640" y="1097280"/>
            <a:ext cx="2560320" cy="54864"/>
          </a:xfrm>
          <a:prstGeom prst="rect">
            <a:avLst/>
          </a:prstGeom>
          <a:solidFill>
            <a:srgbClr val="22A699"/>
          </a:solidFill>
          <a:ln/>
        </p:spPr>
        <p:txBody>
          <a:bodyPr/>
          <a:lstStyle/>
          <a:p>
            <a:endParaRPr lang="zh-CN" altLang="en-US"/>
          </a:p>
        </p:txBody>
      </p:sp>
      <p:pic>
        <p:nvPicPr>
          <p:cNvPr id="8" name="Image 0" descr="preencoded.png"/>
          <p:cNvPicPr>
            <a:picLocks noChangeAspect="1"/>
          </p:cNvPicPr>
          <p:nvPr/>
        </p:nvPicPr>
        <p:blipFill>
          <a:blip r:embed="rId3"/>
          <a:stretch>
            <a:fillRect/>
          </a:stretch>
        </p:blipFill>
        <p:spPr>
          <a:xfrm>
            <a:off x="1463040" y="1371600"/>
            <a:ext cx="640080" cy="640080"/>
          </a:xfrm>
          <a:prstGeom prst="rect">
            <a:avLst/>
          </a:prstGeom>
        </p:spPr>
      </p:pic>
      <p:sp>
        <p:nvSpPr>
          <p:cNvPr id="9" name="Text 6"/>
          <p:cNvSpPr/>
          <p:nvPr/>
        </p:nvSpPr>
        <p:spPr>
          <a:xfrm>
            <a:off x="548640" y="2148840"/>
            <a:ext cx="2560320" cy="36576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AI Agent</a:t>
            </a:r>
            <a:endParaRPr lang="en-US" sz="1800" dirty="0"/>
          </a:p>
        </p:txBody>
      </p:sp>
      <p:sp>
        <p:nvSpPr>
          <p:cNvPr id="10" name="Text 7"/>
          <p:cNvSpPr/>
          <p:nvPr/>
        </p:nvSpPr>
        <p:spPr>
          <a:xfrm>
            <a:off x="548640" y="2514600"/>
            <a:ext cx="2560320" cy="274320"/>
          </a:xfrm>
          <a:prstGeom prst="rect">
            <a:avLst/>
          </a:prstGeom>
          <a:noFill/>
          <a:ln/>
        </p:spPr>
        <p:txBody>
          <a:bodyPr wrap="square" lIns="0" tIns="0" rIns="0" bIns="0" rtlCol="0" anchor="ctr"/>
          <a:lstStyle/>
          <a:p>
            <a:pPr marL="0" indent="0" algn="ctr">
              <a:buNone/>
            </a:pPr>
            <a:r>
              <a:rPr lang="en-US" sz="1300" dirty="0">
                <a:solidFill>
                  <a:srgbClr val="22A699"/>
                </a:solidFill>
                <a:latin typeface="Arial" pitchFamily="34" charset="0"/>
                <a:ea typeface="Arial" pitchFamily="34" charset="-122"/>
                <a:cs typeface="Arial" pitchFamily="34" charset="-120"/>
              </a:rPr>
              <a:t>意图驱动</a:t>
            </a:r>
            <a:endParaRPr lang="en-US" sz="1300" dirty="0"/>
          </a:p>
        </p:txBody>
      </p:sp>
      <p:sp>
        <p:nvSpPr>
          <p:cNvPr id="11" name="Text 8"/>
          <p:cNvSpPr/>
          <p:nvPr/>
        </p:nvSpPr>
        <p:spPr>
          <a:xfrm>
            <a:off x="822960" y="2971800"/>
            <a:ext cx="2011680" cy="320040"/>
          </a:xfrm>
          <a:prstGeom prst="rect">
            <a:avLst/>
          </a:prstGeom>
          <a:noFill/>
          <a:ln/>
        </p:spPr>
        <p:txBody>
          <a:bodyPr wrap="square" lIns="0" tIns="0" rIns="0" bIns="0" rtlCol="0" anchor="ctr"/>
          <a:lstStyle/>
          <a:p>
            <a:pPr marL="0" indent="0">
              <a:buNone/>
            </a:pPr>
            <a:r>
              <a:rPr lang="en-US" sz="1200" dirty="0">
                <a:solidFill>
                  <a:srgbClr val="94A3B8"/>
                </a:solidFill>
                <a:latin typeface="Arial" pitchFamily="34" charset="0"/>
                <a:ea typeface="Arial" pitchFamily="34" charset="-122"/>
                <a:cs typeface="Arial" pitchFamily="34" charset="-120"/>
              </a:rPr>
              <a:t>理解自然语言</a:t>
            </a:r>
            <a:endParaRPr lang="en-US" sz="1200" dirty="0"/>
          </a:p>
        </p:txBody>
      </p:sp>
      <p:sp>
        <p:nvSpPr>
          <p:cNvPr id="12" name="Shape 9"/>
          <p:cNvSpPr/>
          <p:nvPr/>
        </p:nvSpPr>
        <p:spPr>
          <a:xfrm>
            <a:off x="685800" y="3090672"/>
            <a:ext cx="73152" cy="73152"/>
          </a:xfrm>
          <a:prstGeom prst="rect">
            <a:avLst/>
          </a:prstGeom>
          <a:solidFill>
            <a:srgbClr val="22A699"/>
          </a:solidFill>
          <a:ln/>
        </p:spPr>
        <p:txBody>
          <a:bodyPr/>
          <a:lstStyle/>
          <a:p>
            <a:endParaRPr lang="zh-CN" altLang="en-US"/>
          </a:p>
        </p:txBody>
      </p:sp>
      <p:sp>
        <p:nvSpPr>
          <p:cNvPr id="13" name="Text 10"/>
          <p:cNvSpPr/>
          <p:nvPr/>
        </p:nvSpPr>
        <p:spPr>
          <a:xfrm>
            <a:off x="822960" y="3337560"/>
            <a:ext cx="2011680" cy="320040"/>
          </a:xfrm>
          <a:prstGeom prst="rect">
            <a:avLst/>
          </a:prstGeom>
          <a:noFill/>
          <a:ln/>
        </p:spPr>
        <p:txBody>
          <a:bodyPr wrap="square" lIns="0" tIns="0" rIns="0" bIns="0" rtlCol="0" anchor="ctr"/>
          <a:lstStyle/>
          <a:p>
            <a:pPr marL="0" indent="0">
              <a:buNone/>
            </a:pPr>
            <a:r>
              <a:rPr lang="en-US" sz="1200" dirty="0">
                <a:solidFill>
                  <a:srgbClr val="94A3B8"/>
                </a:solidFill>
                <a:latin typeface="Arial" pitchFamily="34" charset="0"/>
                <a:ea typeface="Arial" pitchFamily="34" charset="-122"/>
                <a:cs typeface="Arial" pitchFamily="34" charset="-120"/>
              </a:rPr>
              <a:t>生成执行计划</a:t>
            </a:r>
            <a:endParaRPr lang="en-US" sz="1200" dirty="0"/>
          </a:p>
        </p:txBody>
      </p:sp>
      <p:sp>
        <p:nvSpPr>
          <p:cNvPr id="14" name="Shape 11"/>
          <p:cNvSpPr/>
          <p:nvPr/>
        </p:nvSpPr>
        <p:spPr>
          <a:xfrm>
            <a:off x="685800" y="3456432"/>
            <a:ext cx="73152" cy="73152"/>
          </a:xfrm>
          <a:prstGeom prst="rect">
            <a:avLst/>
          </a:prstGeom>
          <a:solidFill>
            <a:srgbClr val="22A699"/>
          </a:solidFill>
          <a:ln/>
        </p:spPr>
        <p:txBody>
          <a:bodyPr/>
          <a:lstStyle/>
          <a:p>
            <a:endParaRPr lang="zh-CN" altLang="en-US"/>
          </a:p>
        </p:txBody>
      </p:sp>
      <p:sp>
        <p:nvSpPr>
          <p:cNvPr id="15" name="Text 12"/>
          <p:cNvSpPr/>
          <p:nvPr/>
        </p:nvSpPr>
        <p:spPr>
          <a:xfrm>
            <a:off x="822960" y="3703320"/>
            <a:ext cx="2011680" cy="320040"/>
          </a:xfrm>
          <a:prstGeom prst="rect">
            <a:avLst/>
          </a:prstGeom>
          <a:noFill/>
          <a:ln/>
        </p:spPr>
        <p:txBody>
          <a:bodyPr wrap="square" lIns="0" tIns="0" rIns="0" bIns="0" rtlCol="0" anchor="ctr"/>
          <a:lstStyle/>
          <a:p>
            <a:pPr marL="0" indent="0">
              <a:buNone/>
            </a:pPr>
            <a:r>
              <a:rPr lang="en-US" sz="1200" dirty="0">
                <a:solidFill>
                  <a:srgbClr val="94A3B8"/>
                </a:solidFill>
                <a:latin typeface="Arial" pitchFamily="34" charset="0"/>
                <a:ea typeface="Arial" pitchFamily="34" charset="-122"/>
                <a:cs typeface="Arial" pitchFamily="34" charset="-120"/>
              </a:rPr>
              <a:t>调用工具完成任务</a:t>
            </a:r>
            <a:endParaRPr lang="en-US" sz="1200" dirty="0"/>
          </a:p>
        </p:txBody>
      </p:sp>
      <p:sp>
        <p:nvSpPr>
          <p:cNvPr id="16" name="Shape 13"/>
          <p:cNvSpPr/>
          <p:nvPr/>
        </p:nvSpPr>
        <p:spPr>
          <a:xfrm>
            <a:off x="685800" y="3822192"/>
            <a:ext cx="73152" cy="73152"/>
          </a:xfrm>
          <a:prstGeom prst="rect">
            <a:avLst/>
          </a:prstGeom>
          <a:solidFill>
            <a:srgbClr val="22A699"/>
          </a:solidFill>
          <a:ln/>
        </p:spPr>
        <p:txBody>
          <a:bodyPr/>
          <a:lstStyle/>
          <a:p>
            <a:endParaRPr lang="zh-CN" altLang="en-US"/>
          </a:p>
        </p:txBody>
      </p:sp>
      <p:sp>
        <p:nvSpPr>
          <p:cNvPr id="17" name="Shape 14"/>
          <p:cNvSpPr/>
          <p:nvPr/>
        </p:nvSpPr>
        <p:spPr>
          <a:xfrm>
            <a:off x="3383280" y="1097280"/>
            <a:ext cx="2560320" cy="3291840"/>
          </a:xfrm>
          <a:prstGeom prst="rect">
            <a:avLst/>
          </a:prstGeom>
          <a:solidFill>
            <a:srgbClr val="1E293B"/>
          </a:solidFill>
          <a:ln/>
        </p:spPr>
        <p:txBody>
          <a:bodyPr/>
          <a:lstStyle/>
          <a:p>
            <a:endParaRPr lang="zh-CN" altLang="en-US"/>
          </a:p>
        </p:txBody>
      </p:sp>
      <p:sp>
        <p:nvSpPr>
          <p:cNvPr id="18" name="Shape 15"/>
          <p:cNvSpPr/>
          <p:nvPr/>
        </p:nvSpPr>
        <p:spPr>
          <a:xfrm>
            <a:off x="3383280" y="1097280"/>
            <a:ext cx="2560320" cy="54864"/>
          </a:xfrm>
          <a:prstGeom prst="rect">
            <a:avLst/>
          </a:prstGeom>
          <a:solidFill>
            <a:srgbClr val="E78C07"/>
          </a:solidFill>
          <a:ln/>
        </p:spPr>
        <p:txBody>
          <a:bodyPr/>
          <a:lstStyle/>
          <a:p>
            <a:endParaRPr lang="zh-CN" altLang="en-US"/>
          </a:p>
        </p:txBody>
      </p:sp>
      <p:pic>
        <p:nvPicPr>
          <p:cNvPr id="19" name="Image 1" descr="preencoded.png"/>
          <p:cNvPicPr>
            <a:picLocks noChangeAspect="1"/>
          </p:cNvPicPr>
          <p:nvPr/>
        </p:nvPicPr>
        <p:blipFill>
          <a:blip r:embed="rId4"/>
          <a:stretch>
            <a:fillRect/>
          </a:stretch>
        </p:blipFill>
        <p:spPr>
          <a:xfrm>
            <a:off x="4297680" y="1371600"/>
            <a:ext cx="640080" cy="640080"/>
          </a:xfrm>
          <a:prstGeom prst="rect">
            <a:avLst/>
          </a:prstGeom>
        </p:spPr>
      </p:pic>
      <p:sp>
        <p:nvSpPr>
          <p:cNvPr id="20" name="Text 16"/>
          <p:cNvSpPr/>
          <p:nvPr/>
        </p:nvSpPr>
        <p:spPr>
          <a:xfrm>
            <a:off x="3383280" y="2148840"/>
            <a:ext cx="2560320" cy="36576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本体模型</a:t>
            </a:r>
            <a:endParaRPr lang="en-US" sz="1800" dirty="0"/>
          </a:p>
        </p:txBody>
      </p:sp>
      <p:sp>
        <p:nvSpPr>
          <p:cNvPr id="21" name="Text 17"/>
          <p:cNvSpPr/>
          <p:nvPr/>
        </p:nvSpPr>
        <p:spPr>
          <a:xfrm>
            <a:off x="3383280" y="2514600"/>
            <a:ext cx="2560320" cy="274320"/>
          </a:xfrm>
          <a:prstGeom prst="rect">
            <a:avLst/>
          </a:prstGeom>
          <a:noFill/>
          <a:ln/>
        </p:spPr>
        <p:txBody>
          <a:bodyPr wrap="square" lIns="0" tIns="0" rIns="0" bIns="0" rtlCol="0" anchor="ctr"/>
          <a:lstStyle/>
          <a:p>
            <a:pPr marL="0" indent="0" algn="ctr">
              <a:buNone/>
            </a:pPr>
            <a:r>
              <a:rPr lang="en-US" sz="1300" dirty="0">
                <a:solidFill>
                  <a:srgbClr val="E78C07"/>
                </a:solidFill>
                <a:latin typeface="Arial" pitchFamily="34" charset="0"/>
                <a:ea typeface="Arial" pitchFamily="34" charset="-122"/>
                <a:cs typeface="Arial" pitchFamily="34" charset="-120"/>
              </a:rPr>
              <a:t>语义桥梁</a:t>
            </a:r>
            <a:endParaRPr lang="en-US" sz="1300" dirty="0"/>
          </a:p>
        </p:txBody>
      </p:sp>
      <p:sp>
        <p:nvSpPr>
          <p:cNvPr id="22" name="Text 18"/>
          <p:cNvSpPr/>
          <p:nvPr/>
        </p:nvSpPr>
        <p:spPr>
          <a:xfrm>
            <a:off x="3657600" y="2971800"/>
            <a:ext cx="2011680" cy="320040"/>
          </a:xfrm>
          <a:prstGeom prst="rect">
            <a:avLst/>
          </a:prstGeom>
          <a:noFill/>
          <a:ln/>
        </p:spPr>
        <p:txBody>
          <a:bodyPr wrap="square" lIns="0" tIns="0" rIns="0" bIns="0" rtlCol="0" anchor="ctr"/>
          <a:lstStyle/>
          <a:p>
            <a:pPr marL="0" indent="0">
              <a:buNone/>
            </a:pPr>
            <a:r>
              <a:rPr lang="en-US" sz="1200" dirty="0">
                <a:solidFill>
                  <a:srgbClr val="94A3B8"/>
                </a:solidFill>
                <a:latin typeface="Arial" pitchFamily="34" charset="0"/>
                <a:ea typeface="Arial" pitchFamily="34" charset="-122"/>
                <a:cs typeface="Arial" pitchFamily="34" charset="-120"/>
              </a:rPr>
              <a:t>定义业务概念与关系</a:t>
            </a:r>
            <a:endParaRPr lang="en-US" sz="1200" dirty="0"/>
          </a:p>
        </p:txBody>
      </p:sp>
      <p:sp>
        <p:nvSpPr>
          <p:cNvPr id="23" name="Shape 19"/>
          <p:cNvSpPr/>
          <p:nvPr/>
        </p:nvSpPr>
        <p:spPr>
          <a:xfrm>
            <a:off x="3520440" y="3090672"/>
            <a:ext cx="73152" cy="73152"/>
          </a:xfrm>
          <a:prstGeom prst="rect">
            <a:avLst/>
          </a:prstGeom>
          <a:solidFill>
            <a:srgbClr val="E78C07"/>
          </a:solidFill>
          <a:ln/>
        </p:spPr>
        <p:txBody>
          <a:bodyPr/>
          <a:lstStyle/>
          <a:p>
            <a:endParaRPr lang="zh-CN" altLang="en-US"/>
          </a:p>
        </p:txBody>
      </p:sp>
      <p:sp>
        <p:nvSpPr>
          <p:cNvPr id="24" name="Text 20"/>
          <p:cNvSpPr/>
          <p:nvPr/>
        </p:nvSpPr>
        <p:spPr>
          <a:xfrm>
            <a:off x="3657600" y="3337560"/>
            <a:ext cx="2011680" cy="320040"/>
          </a:xfrm>
          <a:prstGeom prst="rect">
            <a:avLst/>
          </a:prstGeom>
          <a:noFill/>
          <a:ln/>
        </p:spPr>
        <p:txBody>
          <a:bodyPr wrap="square" lIns="0" tIns="0" rIns="0" bIns="0" rtlCol="0" anchor="ctr"/>
          <a:lstStyle/>
          <a:p>
            <a:pPr marL="0" indent="0">
              <a:buNone/>
            </a:pPr>
            <a:r>
              <a:rPr lang="en-US" sz="1200" dirty="0">
                <a:solidFill>
                  <a:srgbClr val="94A3B8"/>
                </a:solidFill>
                <a:latin typeface="Arial" pitchFamily="34" charset="0"/>
                <a:ea typeface="Arial" pitchFamily="34" charset="-122"/>
                <a:cs typeface="Arial" pitchFamily="34" charset="-120"/>
              </a:rPr>
              <a:t>约束行为边界</a:t>
            </a:r>
            <a:endParaRPr lang="en-US" sz="1200" dirty="0"/>
          </a:p>
        </p:txBody>
      </p:sp>
      <p:sp>
        <p:nvSpPr>
          <p:cNvPr id="25" name="Shape 21"/>
          <p:cNvSpPr/>
          <p:nvPr/>
        </p:nvSpPr>
        <p:spPr>
          <a:xfrm>
            <a:off x="3520440" y="3456432"/>
            <a:ext cx="73152" cy="73152"/>
          </a:xfrm>
          <a:prstGeom prst="rect">
            <a:avLst/>
          </a:prstGeom>
          <a:solidFill>
            <a:srgbClr val="E78C07"/>
          </a:solidFill>
          <a:ln/>
        </p:spPr>
        <p:txBody>
          <a:bodyPr/>
          <a:lstStyle/>
          <a:p>
            <a:endParaRPr lang="zh-CN" altLang="en-US"/>
          </a:p>
        </p:txBody>
      </p:sp>
      <p:sp>
        <p:nvSpPr>
          <p:cNvPr id="26" name="Text 22"/>
          <p:cNvSpPr/>
          <p:nvPr/>
        </p:nvSpPr>
        <p:spPr>
          <a:xfrm>
            <a:off x="3657600" y="3703320"/>
            <a:ext cx="2011680" cy="320040"/>
          </a:xfrm>
          <a:prstGeom prst="rect">
            <a:avLst/>
          </a:prstGeom>
          <a:noFill/>
          <a:ln/>
        </p:spPr>
        <p:txBody>
          <a:bodyPr wrap="square" lIns="0" tIns="0" rIns="0" bIns="0" rtlCol="0" anchor="ctr"/>
          <a:lstStyle/>
          <a:p>
            <a:pPr marL="0" indent="0">
              <a:buNone/>
            </a:pPr>
            <a:r>
              <a:rPr lang="en-US" sz="1200" dirty="0">
                <a:solidFill>
                  <a:srgbClr val="94A3B8"/>
                </a:solidFill>
                <a:latin typeface="Arial" pitchFamily="34" charset="0"/>
                <a:ea typeface="Arial" pitchFamily="34" charset="-122"/>
                <a:cs typeface="Arial" pitchFamily="34" charset="-120"/>
              </a:rPr>
              <a:t>发布安全工具清单</a:t>
            </a:r>
            <a:endParaRPr lang="en-US" sz="1200" dirty="0"/>
          </a:p>
        </p:txBody>
      </p:sp>
      <p:sp>
        <p:nvSpPr>
          <p:cNvPr id="27" name="Shape 23"/>
          <p:cNvSpPr/>
          <p:nvPr/>
        </p:nvSpPr>
        <p:spPr>
          <a:xfrm>
            <a:off x="3520440" y="3822192"/>
            <a:ext cx="73152" cy="73152"/>
          </a:xfrm>
          <a:prstGeom prst="rect">
            <a:avLst/>
          </a:prstGeom>
          <a:solidFill>
            <a:srgbClr val="E78C07"/>
          </a:solidFill>
          <a:ln/>
        </p:spPr>
        <p:txBody>
          <a:bodyPr/>
          <a:lstStyle/>
          <a:p>
            <a:endParaRPr lang="zh-CN" altLang="en-US"/>
          </a:p>
        </p:txBody>
      </p:sp>
      <p:sp>
        <p:nvSpPr>
          <p:cNvPr id="28" name="Shape 24"/>
          <p:cNvSpPr/>
          <p:nvPr/>
        </p:nvSpPr>
        <p:spPr>
          <a:xfrm>
            <a:off x="6217920" y="1097280"/>
            <a:ext cx="2560320" cy="3291840"/>
          </a:xfrm>
          <a:prstGeom prst="rect">
            <a:avLst/>
          </a:prstGeom>
          <a:solidFill>
            <a:srgbClr val="1E293B"/>
          </a:solidFill>
          <a:ln/>
        </p:spPr>
        <p:txBody>
          <a:bodyPr/>
          <a:lstStyle/>
          <a:p>
            <a:endParaRPr lang="zh-CN" altLang="en-US"/>
          </a:p>
        </p:txBody>
      </p:sp>
      <p:sp>
        <p:nvSpPr>
          <p:cNvPr id="29" name="Shape 25"/>
          <p:cNvSpPr/>
          <p:nvPr/>
        </p:nvSpPr>
        <p:spPr>
          <a:xfrm>
            <a:off x="6217920" y="1097280"/>
            <a:ext cx="2560320" cy="54864"/>
          </a:xfrm>
          <a:prstGeom prst="rect">
            <a:avLst/>
          </a:prstGeom>
          <a:solidFill>
            <a:srgbClr val="107E3E"/>
          </a:solidFill>
          <a:ln/>
        </p:spPr>
        <p:txBody>
          <a:bodyPr/>
          <a:lstStyle/>
          <a:p>
            <a:endParaRPr lang="zh-CN" altLang="en-US"/>
          </a:p>
        </p:txBody>
      </p:sp>
      <p:pic>
        <p:nvPicPr>
          <p:cNvPr id="30" name="Image 2" descr="preencoded.png"/>
          <p:cNvPicPr>
            <a:picLocks noChangeAspect="1"/>
          </p:cNvPicPr>
          <p:nvPr/>
        </p:nvPicPr>
        <p:blipFill>
          <a:blip r:embed="rId5"/>
          <a:stretch>
            <a:fillRect/>
          </a:stretch>
        </p:blipFill>
        <p:spPr>
          <a:xfrm>
            <a:off x="7132320" y="1371600"/>
            <a:ext cx="640080" cy="640080"/>
          </a:xfrm>
          <a:prstGeom prst="rect">
            <a:avLst/>
          </a:prstGeom>
        </p:spPr>
      </p:pic>
      <p:sp>
        <p:nvSpPr>
          <p:cNvPr id="31" name="Text 26"/>
          <p:cNvSpPr/>
          <p:nvPr/>
        </p:nvSpPr>
        <p:spPr>
          <a:xfrm>
            <a:off x="6217920" y="2148840"/>
            <a:ext cx="2560320" cy="36576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业务系统</a:t>
            </a:r>
            <a:endParaRPr lang="en-US" sz="1800" dirty="0"/>
          </a:p>
        </p:txBody>
      </p:sp>
      <p:sp>
        <p:nvSpPr>
          <p:cNvPr id="32" name="Text 27"/>
          <p:cNvSpPr/>
          <p:nvPr/>
        </p:nvSpPr>
        <p:spPr>
          <a:xfrm>
            <a:off x="6217920" y="2514600"/>
            <a:ext cx="2560320" cy="274320"/>
          </a:xfrm>
          <a:prstGeom prst="rect">
            <a:avLst/>
          </a:prstGeom>
          <a:noFill/>
          <a:ln/>
        </p:spPr>
        <p:txBody>
          <a:bodyPr wrap="square" lIns="0" tIns="0" rIns="0" bIns="0" rtlCol="0" anchor="ctr"/>
          <a:lstStyle/>
          <a:p>
            <a:pPr marL="0" indent="0" algn="ctr">
              <a:buNone/>
            </a:pPr>
            <a:r>
              <a:rPr lang="en-US" sz="1300" dirty="0">
                <a:solidFill>
                  <a:srgbClr val="107E3E"/>
                </a:solidFill>
                <a:latin typeface="Arial" pitchFamily="34" charset="0"/>
                <a:ea typeface="Arial" pitchFamily="34" charset="-122"/>
                <a:cs typeface="Arial" pitchFamily="34" charset="-120"/>
              </a:rPr>
              <a:t>数据执行</a:t>
            </a:r>
            <a:endParaRPr lang="en-US" sz="1300" dirty="0"/>
          </a:p>
        </p:txBody>
      </p:sp>
      <p:sp>
        <p:nvSpPr>
          <p:cNvPr id="33" name="Text 28"/>
          <p:cNvSpPr/>
          <p:nvPr/>
        </p:nvSpPr>
        <p:spPr>
          <a:xfrm>
            <a:off x="6492240" y="2971800"/>
            <a:ext cx="2011680" cy="320040"/>
          </a:xfrm>
          <a:prstGeom prst="rect">
            <a:avLst/>
          </a:prstGeom>
          <a:noFill/>
          <a:ln/>
        </p:spPr>
        <p:txBody>
          <a:bodyPr wrap="square" lIns="0" tIns="0" rIns="0" bIns="0" rtlCol="0" anchor="ctr"/>
          <a:lstStyle/>
          <a:p>
            <a:pPr marL="0" indent="0">
              <a:buNone/>
            </a:pPr>
            <a:r>
              <a:rPr lang="en-US" sz="1200" dirty="0">
                <a:solidFill>
                  <a:srgbClr val="94A3B8"/>
                </a:solidFill>
                <a:latin typeface="Arial" pitchFamily="34" charset="0"/>
                <a:ea typeface="Arial" pitchFamily="34" charset="-122"/>
                <a:cs typeface="Arial" pitchFamily="34" charset="-120"/>
              </a:rPr>
              <a:t>ERP / CRM / SCM</a:t>
            </a:r>
            <a:endParaRPr lang="en-US" sz="1200" dirty="0"/>
          </a:p>
        </p:txBody>
      </p:sp>
      <p:sp>
        <p:nvSpPr>
          <p:cNvPr id="34" name="Shape 29"/>
          <p:cNvSpPr/>
          <p:nvPr/>
        </p:nvSpPr>
        <p:spPr>
          <a:xfrm>
            <a:off x="6355080" y="3090672"/>
            <a:ext cx="73152" cy="73152"/>
          </a:xfrm>
          <a:prstGeom prst="rect">
            <a:avLst/>
          </a:prstGeom>
          <a:solidFill>
            <a:srgbClr val="107E3E"/>
          </a:solidFill>
          <a:ln/>
        </p:spPr>
        <p:txBody>
          <a:bodyPr/>
          <a:lstStyle/>
          <a:p>
            <a:endParaRPr lang="zh-CN" altLang="en-US"/>
          </a:p>
        </p:txBody>
      </p:sp>
      <p:sp>
        <p:nvSpPr>
          <p:cNvPr id="35" name="Text 30"/>
          <p:cNvSpPr/>
          <p:nvPr/>
        </p:nvSpPr>
        <p:spPr>
          <a:xfrm>
            <a:off x="6492240" y="3337560"/>
            <a:ext cx="2011680" cy="320040"/>
          </a:xfrm>
          <a:prstGeom prst="rect">
            <a:avLst/>
          </a:prstGeom>
          <a:noFill/>
          <a:ln/>
        </p:spPr>
        <p:txBody>
          <a:bodyPr wrap="square" lIns="0" tIns="0" rIns="0" bIns="0" rtlCol="0" anchor="ctr"/>
          <a:lstStyle/>
          <a:p>
            <a:pPr marL="0" indent="0">
              <a:buNone/>
            </a:pPr>
            <a:r>
              <a:rPr lang="en-US" sz="1200" dirty="0">
                <a:solidFill>
                  <a:srgbClr val="94A3B8"/>
                </a:solidFill>
                <a:latin typeface="Arial" pitchFamily="34" charset="0"/>
                <a:ea typeface="Arial" pitchFamily="34" charset="-122"/>
                <a:cs typeface="Arial" pitchFamily="34" charset="-120"/>
              </a:rPr>
              <a:t>数据库 / API</a:t>
            </a:r>
            <a:endParaRPr lang="en-US" sz="1200" dirty="0"/>
          </a:p>
        </p:txBody>
      </p:sp>
      <p:sp>
        <p:nvSpPr>
          <p:cNvPr id="36" name="Shape 31"/>
          <p:cNvSpPr/>
          <p:nvPr/>
        </p:nvSpPr>
        <p:spPr>
          <a:xfrm>
            <a:off x="6355080" y="3456432"/>
            <a:ext cx="73152" cy="73152"/>
          </a:xfrm>
          <a:prstGeom prst="rect">
            <a:avLst/>
          </a:prstGeom>
          <a:solidFill>
            <a:srgbClr val="107E3E"/>
          </a:solidFill>
          <a:ln/>
        </p:spPr>
        <p:txBody>
          <a:bodyPr/>
          <a:lstStyle/>
          <a:p>
            <a:endParaRPr lang="zh-CN" altLang="en-US"/>
          </a:p>
        </p:txBody>
      </p:sp>
      <p:sp>
        <p:nvSpPr>
          <p:cNvPr id="37" name="Text 32"/>
          <p:cNvSpPr/>
          <p:nvPr/>
        </p:nvSpPr>
        <p:spPr>
          <a:xfrm>
            <a:off x="6492240" y="3703320"/>
            <a:ext cx="2011680" cy="320040"/>
          </a:xfrm>
          <a:prstGeom prst="rect">
            <a:avLst/>
          </a:prstGeom>
          <a:noFill/>
          <a:ln/>
        </p:spPr>
        <p:txBody>
          <a:bodyPr wrap="square" lIns="0" tIns="0" rIns="0" bIns="0" rtlCol="0" anchor="ctr"/>
          <a:lstStyle/>
          <a:p>
            <a:pPr marL="0" indent="0">
              <a:buNone/>
            </a:pPr>
            <a:r>
              <a:rPr lang="en-US" sz="1200" dirty="0">
                <a:solidFill>
                  <a:srgbClr val="94A3B8"/>
                </a:solidFill>
                <a:latin typeface="Arial" pitchFamily="34" charset="0"/>
                <a:ea typeface="Arial" pitchFamily="34" charset="-122"/>
                <a:cs typeface="Arial" pitchFamily="34" charset="-120"/>
              </a:rPr>
              <a:t>实际业务操作</a:t>
            </a:r>
            <a:endParaRPr lang="en-US" sz="1200" dirty="0"/>
          </a:p>
        </p:txBody>
      </p:sp>
      <p:sp>
        <p:nvSpPr>
          <p:cNvPr id="38" name="Shape 33"/>
          <p:cNvSpPr/>
          <p:nvPr/>
        </p:nvSpPr>
        <p:spPr>
          <a:xfrm>
            <a:off x="6355080" y="3822192"/>
            <a:ext cx="73152" cy="73152"/>
          </a:xfrm>
          <a:prstGeom prst="rect">
            <a:avLst/>
          </a:prstGeom>
          <a:solidFill>
            <a:srgbClr val="107E3E"/>
          </a:solidFill>
          <a:ln/>
        </p:spPr>
        <p:txBody>
          <a:bodyPr/>
          <a:lstStyle/>
          <a:p>
            <a:endParaRPr lang="zh-CN" altLang="en-US"/>
          </a:p>
        </p:txBody>
      </p:sp>
      <p:sp>
        <p:nvSpPr>
          <p:cNvPr id="39" name="Shape 34"/>
          <p:cNvSpPr/>
          <p:nvPr/>
        </p:nvSpPr>
        <p:spPr>
          <a:xfrm>
            <a:off x="3108960" y="2743200"/>
            <a:ext cx="274320" cy="0"/>
          </a:xfrm>
          <a:prstGeom prst="line">
            <a:avLst/>
          </a:prstGeom>
          <a:noFill/>
          <a:ln w="25400">
            <a:solidFill>
              <a:srgbClr val="22A699"/>
            </a:solidFill>
            <a:prstDash val="solid"/>
          </a:ln>
        </p:spPr>
        <p:txBody>
          <a:bodyPr/>
          <a:lstStyle/>
          <a:p>
            <a:endParaRPr lang="zh-CN" altLang="en-US"/>
          </a:p>
        </p:txBody>
      </p:sp>
      <p:sp>
        <p:nvSpPr>
          <p:cNvPr id="40" name="Shape 35"/>
          <p:cNvSpPr/>
          <p:nvPr/>
        </p:nvSpPr>
        <p:spPr>
          <a:xfrm>
            <a:off x="5943600" y="2743200"/>
            <a:ext cx="274320" cy="0"/>
          </a:xfrm>
          <a:prstGeom prst="line">
            <a:avLst/>
          </a:prstGeom>
          <a:noFill/>
          <a:ln w="25400">
            <a:solidFill>
              <a:srgbClr val="22A699"/>
            </a:solidFill>
            <a:prstDash val="solid"/>
          </a:ln>
        </p:spPr>
        <p:txBody>
          <a:bodyPr/>
          <a:lstStyle/>
          <a:p>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84313850-2A95-87BB-22EB-19855ED4D651}"/>
              </a:ext>
            </a:extLst>
          </p:cNvPr>
          <p:cNvSpPr txBox="1"/>
          <p:nvPr/>
        </p:nvSpPr>
        <p:spPr>
          <a:xfrm>
            <a:off x="4970261" y="937736"/>
            <a:ext cx="4106281" cy="1923604"/>
          </a:xfrm>
          <a:prstGeom prst="rect">
            <a:avLst/>
          </a:prstGeom>
          <a:noFill/>
          <a:ln>
            <a:solidFill>
              <a:schemeClr val="accent1"/>
            </a:solidFill>
          </a:ln>
        </p:spPr>
        <p:txBody>
          <a:bodyPr wrap="square">
            <a:spAutoFit/>
          </a:bodyPr>
          <a:lstStyle/>
          <a:p>
            <a:r>
              <a:rPr lang="en-US" altLang="zh-CN" sz="1200" b="1" dirty="0"/>
              <a:t>Phase 1: </a:t>
            </a:r>
            <a:r>
              <a:rPr lang="zh-CN" altLang="en-US" sz="1200" b="1" dirty="0"/>
              <a:t>意图理解</a:t>
            </a:r>
          </a:p>
          <a:p>
            <a:r>
              <a:rPr lang="zh-CN" altLang="en-US" sz="1200" dirty="0"/>
              <a:t>用户：帮我看看供应商 </a:t>
            </a:r>
            <a:r>
              <a:rPr lang="en-US" altLang="zh-CN" sz="1200" dirty="0"/>
              <a:t>ABC </a:t>
            </a:r>
            <a:r>
              <a:rPr lang="zh-CN" altLang="en-US" sz="1200" dirty="0"/>
              <a:t>的风险</a:t>
            </a:r>
          </a:p>
          <a:p>
            <a:r>
              <a:rPr lang="en-US" altLang="zh-CN" sz="1200" dirty="0"/>
              <a:t>|</a:t>
            </a:r>
          </a:p>
          <a:p>
            <a:r>
              <a:rPr lang="en-US" altLang="zh-CN" sz="1100" dirty="0"/>
              <a:t>LLM </a:t>
            </a:r>
            <a:r>
              <a:rPr lang="zh-CN" altLang="en-US" sz="1100" dirty="0"/>
              <a:t>思考：用户关心供应商风险，但风险很模糊，需要结构化</a:t>
            </a:r>
          </a:p>
          <a:p>
            <a:r>
              <a:rPr lang="en-US" altLang="zh-CN" sz="1200" dirty="0"/>
              <a:t>|</a:t>
            </a:r>
          </a:p>
          <a:p>
            <a:r>
              <a:rPr lang="en-US" altLang="zh-CN" sz="1200" dirty="0"/>
              <a:t>LLM -&gt; </a:t>
            </a:r>
            <a:r>
              <a:rPr lang="zh-CN" altLang="en-US" sz="1200" dirty="0"/>
              <a:t>本体</a:t>
            </a:r>
            <a:r>
              <a:rPr lang="en-US" altLang="zh-CN" sz="1200" dirty="0"/>
              <a:t>: </a:t>
            </a:r>
            <a:r>
              <a:rPr lang="en-US" altLang="zh-CN" sz="1200" dirty="0" err="1"/>
              <a:t>ontology_intent_parse</a:t>
            </a:r>
            <a:r>
              <a:rPr lang="en-US" altLang="zh-CN" sz="1200" dirty="0"/>
              <a:t>(query="</a:t>
            </a:r>
            <a:r>
              <a:rPr lang="zh-CN" altLang="en-US" sz="1200" dirty="0"/>
              <a:t>供应商 </a:t>
            </a:r>
            <a:r>
              <a:rPr lang="en-US" altLang="zh-CN" sz="1200" dirty="0"/>
              <a:t>ABC </a:t>
            </a:r>
            <a:r>
              <a:rPr lang="zh-CN" altLang="en-US" sz="1200" dirty="0"/>
              <a:t>风险</a:t>
            </a:r>
            <a:r>
              <a:rPr lang="en-US" altLang="zh-CN" sz="1200" dirty="0"/>
              <a:t>")</a:t>
            </a:r>
          </a:p>
          <a:p>
            <a:r>
              <a:rPr lang="en-US" altLang="zh-CN" sz="1200" dirty="0"/>
              <a:t>|</a:t>
            </a:r>
          </a:p>
          <a:p>
            <a:r>
              <a:rPr lang="zh-CN" altLang="en-US" sz="1200" dirty="0"/>
              <a:t>本体返回：核心概念</a:t>
            </a:r>
            <a:r>
              <a:rPr lang="en-US" altLang="zh-CN" sz="1200" dirty="0"/>
              <a:t>=</a:t>
            </a:r>
            <a:r>
              <a:rPr lang="en-US" altLang="zh-CN" sz="1200" dirty="0" err="1"/>
              <a:t>SupplierRisk</a:t>
            </a:r>
            <a:endParaRPr lang="en-US" altLang="zh-CN" sz="1200" dirty="0"/>
          </a:p>
          <a:p>
            <a:r>
              <a:rPr lang="en-US" altLang="zh-CN" sz="1200" dirty="0"/>
              <a:t>|                    </a:t>
            </a:r>
            <a:r>
              <a:rPr lang="zh-CN" altLang="en-US" sz="1200" dirty="0"/>
              <a:t>维度</a:t>
            </a:r>
            <a:r>
              <a:rPr lang="en-US" altLang="zh-CN" sz="1200" dirty="0"/>
              <a:t>=[</a:t>
            </a:r>
            <a:r>
              <a:rPr lang="zh-CN" altLang="en-US" sz="1200" dirty="0"/>
              <a:t>财务</a:t>
            </a:r>
            <a:r>
              <a:rPr lang="en-US" altLang="zh-CN" sz="1200" dirty="0"/>
              <a:t>,</a:t>
            </a:r>
            <a:r>
              <a:rPr lang="zh-CN" altLang="en-US" sz="1200" dirty="0"/>
              <a:t>履约</a:t>
            </a:r>
            <a:r>
              <a:rPr lang="en-US" altLang="zh-CN" sz="1200" dirty="0"/>
              <a:t>,</a:t>
            </a:r>
            <a:r>
              <a:rPr lang="zh-CN" altLang="en-US" sz="1200" dirty="0"/>
              <a:t>合规</a:t>
            </a:r>
            <a:r>
              <a:rPr lang="en-US" altLang="zh-CN" sz="1200" dirty="0"/>
              <a:t>,ESG]</a:t>
            </a:r>
          </a:p>
          <a:p>
            <a:r>
              <a:rPr lang="en-US" altLang="zh-CN" sz="1200" dirty="0"/>
              <a:t>LLM </a:t>
            </a:r>
            <a:r>
              <a:rPr lang="zh-CN" altLang="en-US" sz="1200" dirty="0"/>
              <a:t>理解：需要聚合多维度做风险推理</a:t>
            </a:r>
          </a:p>
        </p:txBody>
      </p:sp>
      <p:sp>
        <p:nvSpPr>
          <p:cNvPr id="7" name="文本框 6">
            <a:extLst>
              <a:ext uri="{FF2B5EF4-FFF2-40B4-BE49-F238E27FC236}">
                <a16:creationId xmlns:a16="http://schemas.microsoft.com/office/drawing/2014/main" id="{A19A5B0D-730C-F3E6-8BD8-5187E5A25C80}"/>
              </a:ext>
            </a:extLst>
          </p:cNvPr>
          <p:cNvSpPr txBox="1"/>
          <p:nvPr/>
        </p:nvSpPr>
        <p:spPr>
          <a:xfrm>
            <a:off x="209862" y="145259"/>
            <a:ext cx="4572000" cy="461665"/>
          </a:xfrm>
          <a:prstGeom prst="rect">
            <a:avLst/>
          </a:prstGeom>
          <a:noFill/>
        </p:spPr>
        <p:txBody>
          <a:bodyPr wrap="square">
            <a:spAutoFit/>
          </a:bodyPr>
          <a:lstStyle>
            <a:lvl1pPr>
              <a:defRPr sz="2200" b="1">
                <a:solidFill>
                  <a:srgbClr val="1E293B"/>
                </a:solidFill>
                <a:latin typeface="微软雅黑" panose="020B0503020204020204" pitchFamily="34" charset="-122"/>
                <a:ea typeface="微软雅黑" panose="020B0503020204020204" pitchFamily="34" charset="-122"/>
                <a:cs typeface="Arial" pitchFamily="34" charset="-120"/>
              </a:defRPr>
            </a:lvl1pPr>
          </a:lstStyle>
          <a:p>
            <a:r>
              <a:rPr lang="en-US" altLang="zh-CN" sz="2400" dirty="0">
                <a:latin typeface="Arial" pitchFamily="34" charset="0"/>
              </a:rPr>
              <a:t>| </a:t>
            </a:r>
            <a:r>
              <a:rPr lang="zh-CN" altLang="en-US" sz="2400" dirty="0">
                <a:latin typeface="Arial" pitchFamily="34" charset="0"/>
              </a:rPr>
              <a:t>如何互动？</a:t>
            </a:r>
          </a:p>
        </p:txBody>
      </p:sp>
      <p:sp>
        <p:nvSpPr>
          <p:cNvPr id="8" name="矩形 7">
            <a:extLst>
              <a:ext uri="{FF2B5EF4-FFF2-40B4-BE49-F238E27FC236}">
                <a16:creationId xmlns:a16="http://schemas.microsoft.com/office/drawing/2014/main" id="{0E4FB73B-0913-ECBD-0F32-3CEF8E69C8A1}"/>
              </a:ext>
            </a:extLst>
          </p:cNvPr>
          <p:cNvSpPr/>
          <p:nvPr/>
        </p:nvSpPr>
        <p:spPr>
          <a:xfrm>
            <a:off x="365759" y="1419062"/>
            <a:ext cx="2276166" cy="491837"/>
          </a:xfrm>
          <a:prstGeom prst="rect">
            <a:avLst/>
          </a:prstGeom>
          <a:solidFill>
            <a:srgbClr val="29484D">
              <a:lumMod val="20000"/>
              <a:lumOff val="8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400" b="0" i="0" u="none" strike="noStrike" kern="0" cap="none" spc="0" normalizeH="0" baseline="0" noProof="0" dirty="0">
                <a:ln>
                  <a:noFill/>
                </a:ln>
                <a:solidFill>
                  <a:srgbClr val="4472C4"/>
                </a:solidFill>
                <a:effectLst/>
                <a:uLnTx/>
                <a:uFillTx/>
                <a:latin typeface="Microsoft YaHei" panose="020B0503020204020204" pitchFamily="34" charset="-122"/>
                <a:ea typeface="Microsoft YaHei" panose="020B0503020204020204" pitchFamily="34" charset="-122"/>
              </a:rPr>
              <a:t>自然语言</a:t>
            </a:r>
          </a:p>
        </p:txBody>
      </p:sp>
      <p:sp>
        <p:nvSpPr>
          <p:cNvPr id="9" name="矩形 8">
            <a:extLst>
              <a:ext uri="{FF2B5EF4-FFF2-40B4-BE49-F238E27FC236}">
                <a16:creationId xmlns:a16="http://schemas.microsoft.com/office/drawing/2014/main" id="{C28073F0-5352-FDFA-6616-203474E74FDD}"/>
              </a:ext>
            </a:extLst>
          </p:cNvPr>
          <p:cNvSpPr/>
          <p:nvPr/>
        </p:nvSpPr>
        <p:spPr>
          <a:xfrm>
            <a:off x="365759" y="2201321"/>
            <a:ext cx="2276166" cy="491837"/>
          </a:xfrm>
          <a:prstGeom prst="rect">
            <a:avLst/>
          </a:prstGeom>
          <a:solidFill>
            <a:srgbClr val="29484D">
              <a:lumMod val="20000"/>
              <a:lumOff val="8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000" b="0" i="0" u="none" strike="noStrike" kern="0" cap="none" spc="0" normalizeH="0" baseline="0" noProof="0" dirty="0">
                <a:ln>
                  <a:noFill/>
                </a:ln>
                <a:solidFill>
                  <a:srgbClr val="4472C4"/>
                </a:solidFill>
                <a:effectLst/>
                <a:uLnTx/>
                <a:uFillTx/>
                <a:latin typeface="Microsoft YaHei" panose="020B0503020204020204" pitchFamily="34" charset="-122"/>
                <a:ea typeface="Microsoft YaHei" panose="020B0503020204020204" pitchFamily="34" charset="-122"/>
              </a:rPr>
              <a:t>大模型</a:t>
            </a:r>
            <a:endParaRPr kumimoji="1" lang="en-US" altLang="zh-CN" sz="1000" b="0" i="0" u="none" strike="noStrike" kern="0" cap="none" spc="0" normalizeH="0" baseline="0" noProof="0" dirty="0">
              <a:ln>
                <a:noFill/>
              </a:ln>
              <a:solidFill>
                <a:srgbClr val="4472C4"/>
              </a:solidFill>
              <a:effectLst/>
              <a:uLnTx/>
              <a:uFillTx/>
              <a:latin typeface="Microsoft YaHei" panose="020B0503020204020204" pitchFamily="34" charset="-122"/>
              <a:ea typeface="Microsoft YaHei"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400" b="0" i="0" u="none" strike="noStrike" kern="0" cap="none" spc="0" normalizeH="0" baseline="0" noProof="0" dirty="0">
                <a:ln>
                  <a:noFill/>
                </a:ln>
                <a:solidFill>
                  <a:srgbClr val="4472C4"/>
                </a:solidFill>
                <a:effectLst/>
                <a:uLnTx/>
                <a:uFillTx/>
                <a:latin typeface="Microsoft YaHei" panose="020B0503020204020204" pitchFamily="34" charset="-122"/>
                <a:ea typeface="Microsoft YaHei" panose="020B0503020204020204" pitchFamily="34" charset="-122"/>
              </a:rPr>
              <a:t>意图识别</a:t>
            </a:r>
          </a:p>
        </p:txBody>
      </p:sp>
      <p:sp>
        <p:nvSpPr>
          <p:cNvPr id="10" name="矩形 9">
            <a:extLst>
              <a:ext uri="{FF2B5EF4-FFF2-40B4-BE49-F238E27FC236}">
                <a16:creationId xmlns:a16="http://schemas.microsoft.com/office/drawing/2014/main" id="{F43817F0-DE5B-D83E-C171-F516C9E8306B}"/>
              </a:ext>
            </a:extLst>
          </p:cNvPr>
          <p:cNvSpPr/>
          <p:nvPr/>
        </p:nvSpPr>
        <p:spPr>
          <a:xfrm>
            <a:off x="365759" y="3765839"/>
            <a:ext cx="2276166" cy="491837"/>
          </a:xfrm>
          <a:prstGeom prst="rect">
            <a:avLst/>
          </a:prstGeom>
          <a:solidFill>
            <a:srgbClr val="29484D">
              <a:lumMod val="20000"/>
              <a:lumOff val="8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400" b="0" i="0" u="none" strike="noStrike" kern="0" cap="none" spc="0" normalizeH="0" baseline="0" noProof="0" dirty="0">
                <a:ln>
                  <a:noFill/>
                </a:ln>
                <a:solidFill>
                  <a:srgbClr val="4472C4"/>
                </a:solidFill>
                <a:effectLst/>
                <a:uLnTx/>
                <a:uFillTx/>
                <a:latin typeface="Microsoft YaHei" panose="020B0503020204020204" pitchFamily="34" charset="-122"/>
                <a:ea typeface="Microsoft YaHei" panose="020B0503020204020204" pitchFamily="34" charset="-122"/>
              </a:rPr>
              <a:t>调用工作流</a:t>
            </a:r>
          </a:p>
        </p:txBody>
      </p:sp>
      <p:cxnSp>
        <p:nvCxnSpPr>
          <p:cNvPr id="11" name="直线箭头连接符 34">
            <a:extLst>
              <a:ext uri="{FF2B5EF4-FFF2-40B4-BE49-F238E27FC236}">
                <a16:creationId xmlns:a16="http://schemas.microsoft.com/office/drawing/2014/main" id="{BB47C649-06FE-869E-ED7E-0F93422828F7}"/>
              </a:ext>
            </a:extLst>
          </p:cNvPr>
          <p:cNvCxnSpPr>
            <a:cxnSpLocks/>
            <a:stCxn id="8" idx="2"/>
            <a:endCxn id="9" idx="0"/>
          </p:cNvCxnSpPr>
          <p:nvPr/>
        </p:nvCxnSpPr>
        <p:spPr>
          <a:xfrm>
            <a:off x="1503842" y="1910899"/>
            <a:ext cx="0" cy="290422"/>
          </a:xfrm>
          <a:prstGeom prst="straightConnector1">
            <a:avLst/>
          </a:prstGeom>
          <a:noFill/>
          <a:ln w="12700" cap="flat" cmpd="sng" algn="ctr">
            <a:solidFill>
              <a:srgbClr val="29484D"/>
            </a:solidFill>
            <a:prstDash val="solid"/>
            <a:tailEnd type="triangle"/>
          </a:ln>
          <a:effectLst/>
        </p:spPr>
      </p:cxnSp>
      <p:sp>
        <p:nvSpPr>
          <p:cNvPr id="12" name="矩形 11">
            <a:extLst>
              <a:ext uri="{FF2B5EF4-FFF2-40B4-BE49-F238E27FC236}">
                <a16:creationId xmlns:a16="http://schemas.microsoft.com/office/drawing/2014/main" id="{9672CAAB-E937-CECA-F715-3C7F2E238B25}"/>
              </a:ext>
            </a:extLst>
          </p:cNvPr>
          <p:cNvSpPr/>
          <p:nvPr/>
        </p:nvSpPr>
        <p:spPr>
          <a:xfrm>
            <a:off x="365759" y="4548098"/>
            <a:ext cx="2276166" cy="491837"/>
          </a:xfrm>
          <a:prstGeom prst="rect">
            <a:avLst/>
          </a:prstGeom>
          <a:solidFill>
            <a:srgbClr val="29484D">
              <a:lumMod val="20000"/>
              <a:lumOff val="8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0" i="0" u="none" strike="noStrike" kern="0" cap="none" spc="0" normalizeH="0" baseline="0" noProof="0" dirty="0">
                <a:ln>
                  <a:noFill/>
                </a:ln>
                <a:solidFill>
                  <a:srgbClr val="4472C4"/>
                </a:solidFill>
                <a:effectLst/>
                <a:uLnTx/>
                <a:uFillTx/>
                <a:latin typeface="Microsoft YaHei" panose="020B0503020204020204" pitchFamily="34" charset="-122"/>
                <a:ea typeface="Microsoft YaHei" panose="020B0503020204020204" pitchFamily="34" charset="-122"/>
              </a:rPr>
              <a:t>执行结果</a:t>
            </a:r>
            <a:endParaRPr kumimoji="1" lang="en-US" altLang="zh-CN" sz="1200" b="0" i="0" u="none" strike="noStrike" kern="0" cap="none" spc="0" normalizeH="0" baseline="0" noProof="0" dirty="0">
              <a:ln>
                <a:noFill/>
              </a:ln>
              <a:solidFill>
                <a:srgbClr val="4472C4"/>
              </a:solidFill>
              <a:effectLst/>
              <a:uLnTx/>
              <a:uFillTx/>
              <a:latin typeface="Microsoft YaHei" panose="020B0503020204020204" pitchFamily="34" charset="-122"/>
              <a:ea typeface="Microsoft YaHei"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0" i="0" u="none" strike="noStrike" kern="0" cap="none" spc="0" normalizeH="0" baseline="0" noProof="0" dirty="0">
                <a:ln>
                  <a:noFill/>
                </a:ln>
                <a:solidFill>
                  <a:srgbClr val="4472C4"/>
                </a:solidFill>
                <a:effectLst/>
                <a:uLnTx/>
                <a:uFillTx/>
                <a:latin typeface="Microsoft YaHei" panose="020B0503020204020204" pitchFamily="34" charset="-122"/>
                <a:ea typeface="Microsoft YaHei" panose="020B0503020204020204" pitchFamily="34" charset="-122"/>
              </a:rPr>
              <a:t>返回给用户</a:t>
            </a:r>
          </a:p>
        </p:txBody>
      </p:sp>
      <p:cxnSp>
        <p:nvCxnSpPr>
          <p:cNvPr id="13" name="肘形连接符 107">
            <a:extLst>
              <a:ext uri="{FF2B5EF4-FFF2-40B4-BE49-F238E27FC236}">
                <a16:creationId xmlns:a16="http://schemas.microsoft.com/office/drawing/2014/main" id="{0EEC2982-D36E-F73E-221B-DEB589D2FC1A}"/>
              </a:ext>
            </a:extLst>
          </p:cNvPr>
          <p:cNvCxnSpPr>
            <a:cxnSpLocks/>
            <a:stCxn id="28" idx="2"/>
            <a:endCxn id="10" idx="0"/>
          </p:cNvCxnSpPr>
          <p:nvPr/>
        </p:nvCxnSpPr>
        <p:spPr>
          <a:xfrm flipH="1">
            <a:off x="1503842" y="3475417"/>
            <a:ext cx="1" cy="290422"/>
          </a:xfrm>
          <a:prstGeom prst="straightConnector1">
            <a:avLst/>
          </a:prstGeom>
          <a:noFill/>
          <a:ln w="12700" cap="flat" cmpd="sng" algn="ctr">
            <a:solidFill>
              <a:srgbClr val="29484D"/>
            </a:solidFill>
            <a:prstDash val="solid"/>
            <a:tailEnd type="triangle"/>
          </a:ln>
          <a:effectLst/>
        </p:spPr>
      </p:cxnSp>
      <p:cxnSp>
        <p:nvCxnSpPr>
          <p:cNvPr id="15" name="直线箭头连接符 34">
            <a:extLst>
              <a:ext uri="{FF2B5EF4-FFF2-40B4-BE49-F238E27FC236}">
                <a16:creationId xmlns:a16="http://schemas.microsoft.com/office/drawing/2014/main" id="{268F221F-0BA2-2190-8448-317E79537599}"/>
              </a:ext>
            </a:extLst>
          </p:cNvPr>
          <p:cNvCxnSpPr>
            <a:cxnSpLocks/>
            <a:stCxn id="9" idx="1"/>
            <a:endCxn id="8" idx="1"/>
          </p:cNvCxnSpPr>
          <p:nvPr/>
        </p:nvCxnSpPr>
        <p:spPr>
          <a:xfrm rot="10800000">
            <a:off x="365759" y="1664982"/>
            <a:ext cx="12700" cy="782259"/>
          </a:xfrm>
          <a:prstGeom prst="bentConnector3">
            <a:avLst>
              <a:gd name="adj1" fmla="val 1800000"/>
            </a:avLst>
          </a:prstGeom>
          <a:noFill/>
          <a:ln w="9525" cap="flat" cmpd="sng" algn="ctr">
            <a:solidFill>
              <a:srgbClr val="EE8F62"/>
            </a:solidFill>
            <a:prstDash val="solid"/>
            <a:tailEnd type="triangle"/>
          </a:ln>
          <a:effectLst/>
        </p:spPr>
      </p:cxnSp>
      <p:sp>
        <p:nvSpPr>
          <p:cNvPr id="16" name="文本框 15">
            <a:extLst>
              <a:ext uri="{FF2B5EF4-FFF2-40B4-BE49-F238E27FC236}">
                <a16:creationId xmlns:a16="http://schemas.microsoft.com/office/drawing/2014/main" id="{34C9277C-84DE-2019-BCFE-6C5DF2A20581}"/>
              </a:ext>
            </a:extLst>
          </p:cNvPr>
          <p:cNvSpPr txBox="1"/>
          <p:nvPr/>
        </p:nvSpPr>
        <p:spPr>
          <a:xfrm>
            <a:off x="1046642" y="852837"/>
            <a:ext cx="914400" cy="275803"/>
          </a:xfrm>
          <a:prstGeom prst="rect">
            <a:avLst/>
          </a:prstGeom>
          <a:ln w="6350">
            <a:noFill/>
            <a:miter lim="800000"/>
          </a:ln>
        </p:spPr>
        <p:txBody>
          <a:bodyPr vert="horz" wrap="none" lIns="0" tIns="0" rIns="0" bIns="0" rtlCol="0">
            <a:noAutofit/>
          </a:bodyPr>
          <a:lstStyle/>
          <a:p>
            <a:pPr algn="ctr">
              <a:spcBef>
                <a:spcPts val="300"/>
              </a:spcBef>
              <a:spcAft>
                <a:spcPts val="300"/>
              </a:spcAft>
            </a:pPr>
            <a:r>
              <a:rPr lang="zh-CN" altLang="en-US" sz="1600" dirty="0">
                <a:solidFill>
                  <a:srgbClr val="000000"/>
                </a:solidFill>
                <a:latin typeface="华文楷体"/>
                <a:ea typeface="华文楷体"/>
              </a:rPr>
              <a:t>用户</a:t>
            </a:r>
          </a:p>
        </p:txBody>
      </p:sp>
      <p:sp>
        <p:nvSpPr>
          <p:cNvPr id="17" name="文本框 16">
            <a:extLst>
              <a:ext uri="{FF2B5EF4-FFF2-40B4-BE49-F238E27FC236}">
                <a16:creationId xmlns:a16="http://schemas.microsoft.com/office/drawing/2014/main" id="{5D547C49-E187-93E4-8290-0D4944356A9A}"/>
              </a:ext>
            </a:extLst>
          </p:cNvPr>
          <p:cNvSpPr txBox="1"/>
          <p:nvPr/>
        </p:nvSpPr>
        <p:spPr>
          <a:xfrm>
            <a:off x="3249516" y="852837"/>
            <a:ext cx="914400" cy="275803"/>
          </a:xfrm>
          <a:prstGeom prst="rect">
            <a:avLst/>
          </a:prstGeom>
          <a:ln w="6350">
            <a:solidFill>
              <a:srgbClr val="29484D"/>
            </a:solidFill>
            <a:miter lim="800000"/>
          </a:ln>
        </p:spPr>
        <p:txBody>
          <a:bodyPr vert="horz" wrap="none" lIns="0" tIns="0" rIns="0" bIns="0" rtlCol="0" anchor="ctr">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华文楷体"/>
                <a:ea typeface="华文楷体"/>
              </a:rPr>
              <a:t>用户登录</a:t>
            </a:r>
          </a:p>
        </p:txBody>
      </p:sp>
      <p:cxnSp>
        <p:nvCxnSpPr>
          <p:cNvPr id="18" name="直接箭头连接符 17">
            <a:extLst>
              <a:ext uri="{FF2B5EF4-FFF2-40B4-BE49-F238E27FC236}">
                <a16:creationId xmlns:a16="http://schemas.microsoft.com/office/drawing/2014/main" id="{E779CF6B-800B-6970-B4A6-960BF4B475DA}"/>
              </a:ext>
            </a:extLst>
          </p:cNvPr>
          <p:cNvCxnSpPr>
            <a:cxnSpLocks/>
            <a:stCxn id="16" idx="3"/>
            <a:endCxn id="17" idx="1"/>
          </p:cNvCxnSpPr>
          <p:nvPr/>
        </p:nvCxnSpPr>
        <p:spPr>
          <a:xfrm>
            <a:off x="1961042" y="990739"/>
            <a:ext cx="1288474" cy="0"/>
          </a:xfrm>
          <a:prstGeom prst="straightConnector1">
            <a:avLst/>
          </a:prstGeom>
          <a:noFill/>
          <a:ln w="10795" cap="flat" cmpd="sng" algn="ctr">
            <a:solidFill>
              <a:srgbClr val="35C3F7"/>
            </a:solidFill>
            <a:prstDash val="solid"/>
            <a:tailEnd type="triangle"/>
          </a:ln>
          <a:effectLst/>
        </p:spPr>
      </p:cxnSp>
      <p:sp>
        <p:nvSpPr>
          <p:cNvPr id="19" name="文本框 18">
            <a:extLst>
              <a:ext uri="{FF2B5EF4-FFF2-40B4-BE49-F238E27FC236}">
                <a16:creationId xmlns:a16="http://schemas.microsoft.com/office/drawing/2014/main" id="{18DC55F4-723E-045A-6777-97BCFE072681}"/>
              </a:ext>
            </a:extLst>
          </p:cNvPr>
          <p:cNvSpPr txBox="1"/>
          <p:nvPr/>
        </p:nvSpPr>
        <p:spPr>
          <a:xfrm>
            <a:off x="3249516" y="1618913"/>
            <a:ext cx="914400" cy="275803"/>
          </a:xfrm>
          <a:prstGeom prst="rect">
            <a:avLst/>
          </a:prstGeom>
          <a:ln w="6350">
            <a:solidFill>
              <a:srgbClr val="29484D"/>
            </a:solidFill>
            <a:miter lim="800000"/>
          </a:ln>
        </p:spPr>
        <p:txBody>
          <a:bodyPr vert="horz" wrap="none" lIns="0" tIns="0" rIns="0" bIns="0" rtlCol="0" anchor="ctr">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华文楷体"/>
                <a:ea typeface="华文楷体"/>
              </a:rPr>
              <a:t>权限识别</a:t>
            </a:r>
          </a:p>
        </p:txBody>
      </p:sp>
      <p:cxnSp>
        <p:nvCxnSpPr>
          <p:cNvPr id="20" name="直线箭头连接符 34">
            <a:extLst>
              <a:ext uri="{FF2B5EF4-FFF2-40B4-BE49-F238E27FC236}">
                <a16:creationId xmlns:a16="http://schemas.microsoft.com/office/drawing/2014/main" id="{3C03737C-C9AB-8485-45FC-80D102BCBFEB}"/>
              </a:ext>
            </a:extLst>
          </p:cNvPr>
          <p:cNvCxnSpPr>
            <a:cxnSpLocks/>
            <a:stCxn id="17" idx="2"/>
            <a:endCxn id="19" idx="0"/>
          </p:cNvCxnSpPr>
          <p:nvPr/>
        </p:nvCxnSpPr>
        <p:spPr>
          <a:xfrm>
            <a:off x="3706716" y="1128640"/>
            <a:ext cx="0" cy="490273"/>
          </a:xfrm>
          <a:prstGeom prst="straightConnector1">
            <a:avLst/>
          </a:prstGeom>
          <a:noFill/>
          <a:ln w="10795" cap="flat" cmpd="sng" algn="ctr">
            <a:solidFill>
              <a:srgbClr val="35C3F7"/>
            </a:solidFill>
            <a:prstDash val="solid"/>
            <a:tailEnd type="triangle"/>
          </a:ln>
          <a:effectLst/>
        </p:spPr>
      </p:cxnSp>
      <p:cxnSp>
        <p:nvCxnSpPr>
          <p:cNvPr id="21" name="直线箭头连接符 34">
            <a:extLst>
              <a:ext uri="{FF2B5EF4-FFF2-40B4-BE49-F238E27FC236}">
                <a16:creationId xmlns:a16="http://schemas.microsoft.com/office/drawing/2014/main" id="{23C9FDBE-1423-A5C0-8E68-A6CC6431DBC5}"/>
              </a:ext>
            </a:extLst>
          </p:cNvPr>
          <p:cNvCxnSpPr>
            <a:cxnSpLocks/>
          </p:cNvCxnSpPr>
          <p:nvPr/>
        </p:nvCxnSpPr>
        <p:spPr>
          <a:xfrm flipH="1">
            <a:off x="2641926" y="1739760"/>
            <a:ext cx="607590" cy="0"/>
          </a:xfrm>
          <a:prstGeom prst="straightConnector1">
            <a:avLst/>
          </a:prstGeom>
          <a:noFill/>
          <a:ln w="10795" cap="flat" cmpd="sng" algn="ctr">
            <a:solidFill>
              <a:srgbClr val="35C3F7"/>
            </a:solidFill>
            <a:prstDash val="solid"/>
            <a:tailEnd type="triangle"/>
          </a:ln>
          <a:effectLst/>
        </p:spPr>
      </p:cxnSp>
      <p:cxnSp>
        <p:nvCxnSpPr>
          <p:cNvPr id="22" name="直线箭头连接符 34">
            <a:extLst>
              <a:ext uri="{FF2B5EF4-FFF2-40B4-BE49-F238E27FC236}">
                <a16:creationId xmlns:a16="http://schemas.microsoft.com/office/drawing/2014/main" id="{480F88F3-43DE-2669-B2BC-00F317EA67DB}"/>
              </a:ext>
            </a:extLst>
          </p:cNvPr>
          <p:cNvCxnSpPr>
            <a:cxnSpLocks/>
            <a:stCxn id="16" idx="2"/>
            <a:endCxn id="8" idx="0"/>
          </p:cNvCxnSpPr>
          <p:nvPr/>
        </p:nvCxnSpPr>
        <p:spPr>
          <a:xfrm>
            <a:off x="1503842" y="1128640"/>
            <a:ext cx="0" cy="290422"/>
          </a:xfrm>
          <a:prstGeom prst="straightConnector1">
            <a:avLst/>
          </a:prstGeom>
          <a:noFill/>
          <a:ln w="12700" cap="flat" cmpd="sng" algn="ctr">
            <a:solidFill>
              <a:srgbClr val="29484D"/>
            </a:solidFill>
            <a:prstDash val="solid"/>
            <a:tailEnd type="triangle"/>
          </a:ln>
          <a:effectLst/>
        </p:spPr>
      </p:cxnSp>
      <p:sp>
        <p:nvSpPr>
          <p:cNvPr id="25" name="圆柱体 24">
            <a:extLst>
              <a:ext uri="{FF2B5EF4-FFF2-40B4-BE49-F238E27FC236}">
                <a16:creationId xmlns:a16="http://schemas.microsoft.com/office/drawing/2014/main" id="{F57B58D2-FE85-09F3-21DD-A5151E9502FD}"/>
              </a:ext>
            </a:extLst>
          </p:cNvPr>
          <p:cNvSpPr/>
          <p:nvPr/>
        </p:nvSpPr>
        <p:spPr>
          <a:xfrm>
            <a:off x="3226400" y="2074843"/>
            <a:ext cx="914400" cy="756250"/>
          </a:xfrm>
          <a:prstGeom prst="can">
            <a:avLst/>
          </a:prstGeom>
          <a:noFill/>
          <a:ln w="6350" cap="sq" cmpd="sng" algn="ctr">
            <a:solidFill>
              <a:srgbClr val="29484D"/>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zh-CN" altLang="en-US" sz="1600" b="0" i="0" u="none" strike="noStrike" kern="0" cap="none" spc="0" normalizeH="0" baseline="0" noProof="0" dirty="0" err="1">
              <a:ln>
                <a:noFill/>
              </a:ln>
              <a:solidFill>
                <a:srgbClr val="FFFFFF"/>
              </a:solidFill>
              <a:effectLst/>
              <a:uLnTx/>
              <a:uFillTx/>
              <a:latin typeface="华文楷体"/>
              <a:ea typeface="华文楷体"/>
              <a:cs typeface="+mn-cs"/>
            </a:endParaRPr>
          </a:p>
        </p:txBody>
      </p:sp>
      <p:cxnSp>
        <p:nvCxnSpPr>
          <p:cNvPr id="26" name="直线箭头连接符 34">
            <a:extLst>
              <a:ext uri="{FF2B5EF4-FFF2-40B4-BE49-F238E27FC236}">
                <a16:creationId xmlns:a16="http://schemas.microsoft.com/office/drawing/2014/main" id="{C8D1C4B3-56F5-B86E-F501-D56166C49B00}"/>
              </a:ext>
            </a:extLst>
          </p:cNvPr>
          <p:cNvCxnSpPr>
            <a:cxnSpLocks/>
            <a:stCxn id="25" idx="2"/>
            <a:endCxn id="9" idx="3"/>
          </p:cNvCxnSpPr>
          <p:nvPr/>
        </p:nvCxnSpPr>
        <p:spPr>
          <a:xfrm flipH="1" flipV="1">
            <a:off x="2641925" y="2447240"/>
            <a:ext cx="584475" cy="5728"/>
          </a:xfrm>
          <a:prstGeom prst="straightConnector1">
            <a:avLst/>
          </a:prstGeom>
          <a:noFill/>
          <a:ln w="10795" cap="flat" cmpd="sng" algn="ctr">
            <a:solidFill>
              <a:srgbClr val="35C3F7"/>
            </a:solidFill>
            <a:prstDash val="solid"/>
            <a:tailEnd type="triangle"/>
          </a:ln>
          <a:effectLst/>
        </p:spPr>
      </p:cxnSp>
      <p:sp>
        <p:nvSpPr>
          <p:cNvPr id="27" name="文本框 26">
            <a:extLst>
              <a:ext uri="{FF2B5EF4-FFF2-40B4-BE49-F238E27FC236}">
                <a16:creationId xmlns:a16="http://schemas.microsoft.com/office/drawing/2014/main" id="{37217EA3-B1C8-0F75-D742-5E3120FAEE9A}"/>
              </a:ext>
            </a:extLst>
          </p:cNvPr>
          <p:cNvSpPr txBox="1"/>
          <p:nvPr/>
        </p:nvSpPr>
        <p:spPr>
          <a:xfrm>
            <a:off x="3190741" y="2348041"/>
            <a:ext cx="914400" cy="301718"/>
          </a:xfrm>
          <a:prstGeom prst="rect">
            <a:avLst/>
          </a:prstGeom>
          <a:ln w="6350">
            <a:noFill/>
            <a:miter lim="800000"/>
          </a:ln>
        </p:spPr>
        <p:txBody>
          <a:bodyPr vert="horz" wrap="none" lIns="0" tIns="0" rIns="0" bIns="0" rtlCol="0" anchor="ctr">
            <a:noAutofit/>
          </a:bodyPr>
          <a:lstStyle/>
          <a:p>
            <a:pPr algn="ctr"/>
            <a:r>
              <a:rPr lang="en-US" altLang="zh-CN" sz="1400" dirty="0">
                <a:solidFill>
                  <a:srgbClr val="000000"/>
                </a:solidFill>
                <a:latin typeface="华文楷体"/>
                <a:ea typeface="华文楷体"/>
              </a:rPr>
              <a:t>Prompt</a:t>
            </a:r>
          </a:p>
          <a:p>
            <a:pPr algn="ctr"/>
            <a:r>
              <a:rPr lang="en-US" altLang="zh-CN" sz="1400" dirty="0">
                <a:solidFill>
                  <a:srgbClr val="000000"/>
                </a:solidFill>
                <a:latin typeface="华文楷体"/>
                <a:ea typeface="华文楷体"/>
              </a:rPr>
              <a:t>SKILL</a:t>
            </a:r>
            <a:endParaRPr lang="zh-CN" altLang="en-US" sz="1400" dirty="0">
              <a:solidFill>
                <a:srgbClr val="000000"/>
              </a:solidFill>
              <a:latin typeface="华文楷体"/>
              <a:ea typeface="华文楷体"/>
            </a:endParaRPr>
          </a:p>
        </p:txBody>
      </p:sp>
      <p:sp>
        <p:nvSpPr>
          <p:cNvPr id="28" name="矩形 27">
            <a:extLst>
              <a:ext uri="{FF2B5EF4-FFF2-40B4-BE49-F238E27FC236}">
                <a16:creationId xmlns:a16="http://schemas.microsoft.com/office/drawing/2014/main" id="{66B2E40B-C682-0FC2-CF63-E19F8F9D1E99}"/>
              </a:ext>
            </a:extLst>
          </p:cNvPr>
          <p:cNvSpPr/>
          <p:nvPr/>
        </p:nvSpPr>
        <p:spPr>
          <a:xfrm>
            <a:off x="365760" y="2983580"/>
            <a:ext cx="2276165" cy="491837"/>
          </a:xfrm>
          <a:prstGeom prst="rect">
            <a:avLst/>
          </a:prstGeom>
          <a:solidFill>
            <a:srgbClr val="29484D">
              <a:lumMod val="20000"/>
              <a:lumOff val="80000"/>
            </a:srgbClr>
          </a:solidFill>
          <a:ln w="12700" cap="flat" cmpd="sng" algn="ctr">
            <a:noFill/>
            <a:prstDash val="solid"/>
            <a:miter lim="800000"/>
          </a:ln>
          <a:effectLst/>
        </p:spPr>
        <p:txBody>
          <a:bodyPr rtlCol="0" anchor="ctr"/>
          <a:lstStyle/>
          <a:p>
            <a:pPr algn="ctr">
              <a:defRPr/>
            </a:pPr>
            <a:r>
              <a:rPr kumimoji="1" lang="zh-CN" altLang="en-US" sz="1000" kern="0" dirty="0">
                <a:solidFill>
                  <a:srgbClr val="4472C4"/>
                </a:solidFill>
                <a:latin typeface="Microsoft YaHei" panose="020B0503020204020204" pitchFamily="34" charset="-122"/>
                <a:ea typeface="Microsoft YaHei" panose="020B0503020204020204" pitchFamily="34" charset="-122"/>
              </a:rPr>
              <a:t>调用本地</a:t>
            </a:r>
            <a:r>
              <a:rPr kumimoji="1" lang="en-US" altLang="zh-CN" sz="1000" kern="0" dirty="0">
                <a:solidFill>
                  <a:srgbClr val="4472C4"/>
                </a:solidFill>
                <a:latin typeface="Microsoft YaHei" panose="020B0503020204020204" pitchFamily="34" charset="-122"/>
                <a:ea typeface="Microsoft YaHei" panose="020B0503020204020204" pitchFamily="34" charset="-122"/>
              </a:rPr>
              <a:t>MCP</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400" kern="0" dirty="0">
                <a:solidFill>
                  <a:srgbClr val="4472C4"/>
                </a:solidFill>
                <a:latin typeface="Microsoft YaHei" panose="020B0503020204020204" pitchFamily="34" charset="-122"/>
                <a:ea typeface="Microsoft YaHei" panose="020B0503020204020204" pitchFamily="34" charset="-122"/>
              </a:rPr>
              <a:t>精确识别</a:t>
            </a:r>
            <a:r>
              <a:rPr kumimoji="1" lang="zh-CN" altLang="en-US" sz="1400" b="0" i="0" u="none" strike="noStrike" kern="0" cap="none" spc="0" normalizeH="0" baseline="0" noProof="0" dirty="0">
                <a:ln>
                  <a:noFill/>
                </a:ln>
                <a:solidFill>
                  <a:srgbClr val="4472C4"/>
                </a:solidFill>
                <a:effectLst/>
                <a:uLnTx/>
                <a:uFillTx/>
                <a:latin typeface="Microsoft YaHei" panose="020B0503020204020204" pitchFamily="34" charset="-122"/>
                <a:ea typeface="Microsoft YaHei" panose="020B0503020204020204" pitchFamily="34" charset="-122"/>
              </a:rPr>
              <a:t>工作任务</a:t>
            </a:r>
          </a:p>
        </p:txBody>
      </p:sp>
      <p:cxnSp>
        <p:nvCxnSpPr>
          <p:cNvPr id="32" name="连接符: 肘形 31">
            <a:extLst>
              <a:ext uri="{FF2B5EF4-FFF2-40B4-BE49-F238E27FC236}">
                <a16:creationId xmlns:a16="http://schemas.microsoft.com/office/drawing/2014/main" id="{411F6272-2E3A-1B6B-B5DE-A2E736113581}"/>
              </a:ext>
            </a:extLst>
          </p:cNvPr>
          <p:cNvCxnSpPr>
            <a:cxnSpLocks/>
            <a:stCxn id="10" idx="3"/>
            <a:endCxn id="2" idx="1"/>
          </p:cNvCxnSpPr>
          <p:nvPr/>
        </p:nvCxnSpPr>
        <p:spPr>
          <a:xfrm>
            <a:off x="2641925" y="4011758"/>
            <a:ext cx="605779" cy="34689"/>
          </a:xfrm>
          <a:prstGeom prst="bentConnector3">
            <a:avLst/>
          </a:prstGeom>
          <a:noFill/>
          <a:ln w="6350" cap="flat" cmpd="sng" algn="ctr">
            <a:solidFill>
              <a:srgbClr val="35C3F7"/>
            </a:solidFill>
            <a:prstDash val="solid"/>
            <a:miter lim="800000"/>
            <a:tailEnd type="triangle"/>
          </a:ln>
          <a:effectLst/>
        </p:spPr>
      </p:cxnSp>
      <p:cxnSp>
        <p:nvCxnSpPr>
          <p:cNvPr id="33" name="连接符: 肘形 32">
            <a:extLst>
              <a:ext uri="{FF2B5EF4-FFF2-40B4-BE49-F238E27FC236}">
                <a16:creationId xmlns:a16="http://schemas.microsoft.com/office/drawing/2014/main" id="{93DEB8E6-8F50-239C-D709-5E8EC6046127}"/>
              </a:ext>
            </a:extLst>
          </p:cNvPr>
          <p:cNvCxnSpPr>
            <a:cxnSpLocks/>
            <a:stCxn id="10" idx="3"/>
            <a:endCxn id="4" idx="1"/>
          </p:cNvCxnSpPr>
          <p:nvPr/>
        </p:nvCxnSpPr>
        <p:spPr>
          <a:xfrm>
            <a:off x="2641925" y="4011758"/>
            <a:ext cx="605779" cy="635467"/>
          </a:xfrm>
          <a:prstGeom prst="bentConnector3">
            <a:avLst/>
          </a:prstGeom>
          <a:noFill/>
          <a:ln w="6350" cap="flat" cmpd="sng" algn="ctr">
            <a:solidFill>
              <a:srgbClr val="35C3F7"/>
            </a:solidFill>
            <a:prstDash val="solid"/>
            <a:miter lim="800000"/>
            <a:tailEnd type="triangle"/>
          </a:ln>
          <a:effectLst/>
        </p:spPr>
      </p:cxnSp>
      <p:cxnSp>
        <p:nvCxnSpPr>
          <p:cNvPr id="34" name="直线箭头连接符 34">
            <a:extLst>
              <a:ext uri="{FF2B5EF4-FFF2-40B4-BE49-F238E27FC236}">
                <a16:creationId xmlns:a16="http://schemas.microsoft.com/office/drawing/2014/main" id="{474092B0-E2AC-9CC9-5B40-7F422E37FF66}"/>
              </a:ext>
            </a:extLst>
          </p:cNvPr>
          <p:cNvCxnSpPr>
            <a:cxnSpLocks/>
            <a:stCxn id="10" idx="2"/>
            <a:endCxn id="12" idx="0"/>
          </p:cNvCxnSpPr>
          <p:nvPr/>
        </p:nvCxnSpPr>
        <p:spPr>
          <a:xfrm>
            <a:off x="1503842" y="4257676"/>
            <a:ext cx="0" cy="290422"/>
          </a:xfrm>
          <a:prstGeom prst="straightConnector1">
            <a:avLst/>
          </a:prstGeom>
          <a:noFill/>
          <a:ln w="10795" cap="flat" cmpd="sng" algn="ctr">
            <a:solidFill>
              <a:srgbClr val="35C3F7"/>
            </a:solidFill>
            <a:prstDash val="solid"/>
            <a:tailEnd type="triangle"/>
          </a:ln>
          <a:effectLst/>
        </p:spPr>
      </p:cxnSp>
      <p:sp>
        <p:nvSpPr>
          <p:cNvPr id="38" name="矩形: 圆角 37">
            <a:extLst>
              <a:ext uri="{FF2B5EF4-FFF2-40B4-BE49-F238E27FC236}">
                <a16:creationId xmlns:a16="http://schemas.microsoft.com/office/drawing/2014/main" id="{21928885-8F3B-DEF9-5A43-D2285E987173}"/>
              </a:ext>
            </a:extLst>
          </p:cNvPr>
          <p:cNvSpPr/>
          <p:nvPr/>
        </p:nvSpPr>
        <p:spPr>
          <a:xfrm>
            <a:off x="3247704" y="3053612"/>
            <a:ext cx="1461027" cy="351559"/>
          </a:xfrm>
          <a:prstGeom prst="roundRect">
            <a:avLst/>
          </a:prstGeom>
          <a:noFill/>
          <a:ln w="6350" cap="sq" cmpd="sng" algn="ctr">
            <a:solidFill>
              <a:srgbClr val="29484D"/>
            </a:solidFill>
            <a:prstDash val="solid"/>
            <a:miter lim="800000"/>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800" b="0" i="0" u="none" strike="noStrike" kern="0" cap="none" spc="0" normalizeH="0" baseline="0" noProof="0" dirty="0">
                <a:ln>
                  <a:noFill/>
                </a:ln>
                <a:solidFill>
                  <a:srgbClr val="000000"/>
                </a:solidFill>
                <a:effectLst/>
                <a:uLnTx/>
                <a:uFillTx/>
                <a:latin typeface="华文楷体"/>
                <a:ea typeface="华文楷体"/>
                <a:cs typeface="+mn-cs"/>
              </a:rPr>
              <a:t>本体模型（专业外脑）</a:t>
            </a:r>
            <a:endParaRPr kumimoji="0" lang="en-US" altLang="zh-CN" sz="800" b="0" i="0" u="none" strike="noStrike" kern="0" cap="none" spc="0" normalizeH="0" baseline="0" noProof="0" dirty="0">
              <a:ln>
                <a:noFill/>
              </a:ln>
              <a:solidFill>
                <a:srgbClr val="000000"/>
              </a:solidFill>
              <a:effectLst/>
              <a:uLnTx/>
              <a:uFillTx/>
              <a:latin typeface="华文楷体"/>
              <a:ea typeface="华文楷体"/>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800" b="0" i="0" u="none" strike="noStrike" kern="0" cap="none" spc="0" normalizeH="0" baseline="0" noProof="0" dirty="0">
                <a:ln>
                  <a:noFill/>
                </a:ln>
                <a:solidFill>
                  <a:srgbClr val="000000"/>
                </a:solidFill>
                <a:effectLst/>
                <a:uLnTx/>
                <a:uFillTx/>
                <a:latin typeface="华文楷体"/>
                <a:ea typeface="华文楷体"/>
                <a:cs typeface="+mn-cs"/>
              </a:rPr>
              <a:t>获取本体定义的合法操作</a:t>
            </a:r>
          </a:p>
        </p:txBody>
      </p:sp>
      <p:cxnSp>
        <p:nvCxnSpPr>
          <p:cNvPr id="41" name="直线箭头连接符 34">
            <a:extLst>
              <a:ext uri="{FF2B5EF4-FFF2-40B4-BE49-F238E27FC236}">
                <a16:creationId xmlns:a16="http://schemas.microsoft.com/office/drawing/2014/main" id="{B8332B02-0989-802E-B9C9-664F8EB2C313}"/>
              </a:ext>
            </a:extLst>
          </p:cNvPr>
          <p:cNvCxnSpPr>
            <a:cxnSpLocks/>
            <a:stCxn id="12" idx="1"/>
            <a:endCxn id="8" idx="1"/>
          </p:cNvCxnSpPr>
          <p:nvPr/>
        </p:nvCxnSpPr>
        <p:spPr>
          <a:xfrm rot="10800000">
            <a:off x="365759" y="1664981"/>
            <a:ext cx="12700" cy="3129036"/>
          </a:xfrm>
          <a:prstGeom prst="bentConnector3">
            <a:avLst>
              <a:gd name="adj1" fmla="val 1800000"/>
            </a:avLst>
          </a:prstGeom>
          <a:noFill/>
          <a:ln w="9525" cap="flat" cmpd="sng" algn="ctr">
            <a:solidFill>
              <a:srgbClr val="EE8F62"/>
            </a:solidFill>
            <a:prstDash val="solid"/>
            <a:tailEnd type="triangle"/>
          </a:ln>
          <a:effectLst/>
        </p:spPr>
      </p:cxnSp>
      <p:cxnSp>
        <p:nvCxnSpPr>
          <p:cNvPr id="76" name="直线箭头连接符 34">
            <a:extLst>
              <a:ext uri="{FF2B5EF4-FFF2-40B4-BE49-F238E27FC236}">
                <a16:creationId xmlns:a16="http://schemas.microsoft.com/office/drawing/2014/main" id="{5EA95CEE-11EA-D616-CF8A-789830BFA5B3}"/>
              </a:ext>
            </a:extLst>
          </p:cNvPr>
          <p:cNvCxnSpPr>
            <a:cxnSpLocks/>
            <a:stCxn id="38" idx="1"/>
            <a:endCxn id="28" idx="3"/>
          </p:cNvCxnSpPr>
          <p:nvPr/>
        </p:nvCxnSpPr>
        <p:spPr>
          <a:xfrm flipH="1">
            <a:off x="2641925" y="3229392"/>
            <a:ext cx="605779" cy="107"/>
          </a:xfrm>
          <a:prstGeom prst="straightConnector1">
            <a:avLst/>
          </a:prstGeom>
          <a:noFill/>
          <a:ln w="10795" cap="flat" cmpd="sng" algn="ctr">
            <a:solidFill>
              <a:srgbClr val="35C3F7"/>
            </a:solidFill>
            <a:prstDash val="solid"/>
            <a:tailEnd type="triangle"/>
          </a:ln>
          <a:effectLst/>
        </p:spPr>
      </p:cxnSp>
      <p:cxnSp>
        <p:nvCxnSpPr>
          <p:cNvPr id="88" name="肘形连接符 107">
            <a:extLst>
              <a:ext uri="{FF2B5EF4-FFF2-40B4-BE49-F238E27FC236}">
                <a16:creationId xmlns:a16="http://schemas.microsoft.com/office/drawing/2014/main" id="{F2AC3A42-2B60-BE02-3ACD-B4EAF98961C9}"/>
              </a:ext>
            </a:extLst>
          </p:cNvPr>
          <p:cNvCxnSpPr>
            <a:cxnSpLocks/>
            <a:stCxn id="9" idx="2"/>
            <a:endCxn id="28" idx="0"/>
          </p:cNvCxnSpPr>
          <p:nvPr/>
        </p:nvCxnSpPr>
        <p:spPr>
          <a:xfrm>
            <a:off x="1503842" y="2693158"/>
            <a:ext cx="1" cy="290422"/>
          </a:xfrm>
          <a:prstGeom prst="straightConnector1">
            <a:avLst/>
          </a:prstGeom>
          <a:noFill/>
          <a:ln w="12700" cap="flat" cmpd="sng" algn="ctr">
            <a:solidFill>
              <a:srgbClr val="29484D"/>
            </a:solidFill>
            <a:prstDash val="solid"/>
            <a:tailEnd type="triangle"/>
          </a:ln>
          <a:effectLst/>
        </p:spPr>
      </p:cxnSp>
      <p:cxnSp>
        <p:nvCxnSpPr>
          <p:cNvPr id="93" name="连接符: 肘形 92">
            <a:extLst>
              <a:ext uri="{FF2B5EF4-FFF2-40B4-BE49-F238E27FC236}">
                <a16:creationId xmlns:a16="http://schemas.microsoft.com/office/drawing/2014/main" id="{F64DEB83-6BD3-CFD7-EA1D-63B72DCFD084}"/>
              </a:ext>
            </a:extLst>
          </p:cNvPr>
          <p:cNvCxnSpPr>
            <a:cxnSpLocks/>
            <a:stCxn id="10" idx="3"/>
            <a:endCxn id="3" idx="1"/>
          </p:cNvCxnSpPr>
          <p:nvPr/>
        </p:nvCxnSpPr>
        <p:spPr>
          <a:xfrm>
            <a:off x="2641925" y="4011758"/>
            <a:ext cx="605779" cy="335078"/>
          </a:xfrm>
          <a:prstGeom prst="bentConnector3">
            <a:avLst>
              <a:gd name="adj1" fmla="val 50000"/>
            </a:avLst>
          </a:prstGeom>
          <a:noFill/>
          <a:ln w="6350" cap="flat" cmpd="sng" algn="ctr">
            <a:solidFill>
              <a:srgbClr val="35C3F7"/>
            </a:solidFill>
            <a:prstDash val="solid"/>
            <a:miter lim="800000"/>
            <a:tailEnd type="triangle"/>
          </a:ln>
          <a:effectLst/>
        </p:spPr>
      </p:cxnSp>
      <p:cxnSp>
        <p:nvCxnSpPr>
          <p:cNvPr id="96" name="连接符: 肘形 95">
            <a:extLst>
              <a:ext uri="{FF2B5EF4-FFF2-40B4-BE49-F238E27FC236}">
                <a16:creationId xmlns:a16="http://schemas.microsoft.com/office/drawing/2014/main" id="{52C96882-D97A-826B-0CCA-1924A791F586}"/>
              </a:ext>
            </a:extLst>
          </p:cNvPr>
          <p:cNvCxnSpPr>
            <a:cxnSpLocks/>
            <a:stCxn id="10" idx="3"/>
            <a:endCxn id="6" idx="1"/>
          </p:cNvCxnSpPr>
          <p:nvPr/>
        </p:nvCxnSpPr>
        <p:spPr>
          <a:xfrm flipV="1">
            <a:off x="2641925" y="3746058"/>
            <a:ext cx="605779" cy="265700"/>
          </a:xfrm>
          <a:prstGeom prst="bentConnector3">
            <a:avLst>
              <a:gd name="adj1" fmla="val 50000"/>
            </a:avLst>
          </a:prstGeom>
          <a:noFill/>
          <a:ln w="6350" cap="flat" cmpd="sng" algn="ctr">
            <a:solidFill>
              <a:srgbClr val="35C3F7"/>
            </a:solidFill>
            <a:prstDash val="solid"/>
            <a:miter lim="800000"/>
            <a:tailEnd type="triangle"/>
          </a:ln>
          <a:effectLst/>
        </p:spPr>
      </p:cxnSp>
      <p:sp>
        <p:nvSpPr>
          <p:cNvPr id="100" name="文本框 99">
            <a:extLst>
              <a:ext uri="{FF2B5EF4-FFF2-40B4-BE49-F238E27FC236}">
                <a16:creationId xmlns:a16="http://schemas.microsoft.com/office/drawing/2014/main" id="{783FD9D4-4556-5324-0A9E-09F61CB50839}"/>
              </a:ext>
            </a:extLst>
          </p:cNvPr>
          <p:cNvSpPr txBox="1"/>
          <p:nvPr/>
        </p:nvSpPr>
        <p:spPr>
          <a:xfrm>
            <a:off x="4970260" y="3032210"/>
            <a:ext cx="4106281" cy="2097754"/>
          </a:xfrm>
          <a:prstGeom prst="rect">
            <a:avLst/>
          </a:prstGeom>
          <a:noFill/>
          <a:ln>
            <a:solidFill>
              <a:schemeClr val="accent1"/>
            </a:solidFill>
          </a:ln>
        </p:spPr>
        <p:txBody>
          <a:bodyPr wrap="square">
            <a:spAutoFit/>
          </a:bodyPr>
          <a:lstStyle/>
          <a:p>
            <a:pPr>
              <a:lnSpc>
                <a:spcPct val="150000"/>
              </a:lnSpc>
            </a:pPr>
            <a:r>
              <a:rPr lang="en-US" altLang="zh-CN" sz="1100" b="1" dirty="0"/>
              <a:t>Phase 2: </a:t>
            </a:r>
            <a:r>
              <a:rPr lang="zh-CN" altLang="en-US" sz="1100" b="1" dirty="0"/>
              <a:t>任务规划</a:t>
            </a:r>
          </a:p>
          <a:p>
            <a:pPr>
              <a:lnSpc>
                <a:spcPct val="150000"/>
              </a:lnSpc>
            </a:pPr>
            <a:r>
              <a:rPr lang="en-US" altLang="zh-CN" sz="1100" dirty="0"/>
              <a:t>LLM </a:t>
            </a:r>
            <a:r>
              <a:rPr lang="zh-CN" altLang="en-US" sz="1100" dirty="0"/>
              <a:t>生成初步计划 </a:t>
            </a:r>
            <a:r>
              <a:rPr lang="en-US" altLang="zh-CN" sz="1100" dirty="0"/>
              <a:t>-&gt; </a:t>
            </a:r>
            <a:r>
              <a:rPr lang="zh-CN" altLang="en-US" sz="1100" dirty="0"/>
              <a:t>本体验证 </a:t>
            </a:r>
            <a:r>
              <a:rPr lang="en-US" altLang="zh-CN" sz="1100" dirty="0"/>
              <a:t>-&gt; </a:t>
            </a:r>
            <a:r>
              <a:rPr lang="zh-CN" altLang="en-US" sz="1100" dirty="0"/>
              <a:t>修正计划</a:t>
            </a:r>
          </a:p>
          <a:p>
            <a:pPr>
              <a:lnSpc>
                <a:spcPct val="150000"/>
              </a:lnSpc>
            </a:pPr>
            <a:r>
              <a:rPr lang="en-US" altLang="zh-CN" sz="1100" b="1" dirty="0"/>
              <a:t>Phase 3: </a:t>
            </a:r>
            <a:r>
              <a:rPr lang="zh-CN" altLang="en-US" sz="1100" b="1" dirty="0"/>
              <a:t>数据获取</a:t>
            </a:r>
          </a:p>
          <a:p>
            <a:pPr>
              <a:lnSpc>
                <a:spcPct val="150000"/>
              </a:lnSpc>
            </a:pPr>
            <a:r>
              <a:rPr lang="en-US" altLang="zh-CN" sz="1100" dirty="0"/>
              <a:t>LLM </a:t>
            </a:r>
            <a:r>
              <a:rPr lang="zh-CN" altLang="en-US" sz="1100" dirty="0"/>
              <a:t>执行查询 </a:t>
            </a:r>
            <a:r>
              <a:rPr lang="en-US" altLang="zh-CN" sz="1100" dirty="0"/>
              <a:t>-&gt; </a:t>
            </a:r>
            <a:r>
              <a:rPr lang="zh-CN" altLang="en-US" sz="1100" dirty="0"/>
              <a:t>拿到原始数据 </a:t>
            </a:r>
            <a:r>
              <a:rPr lang="en-US" altLang="zh-CN" sz="1100" dirty="0"/>
              <a:t>-&gt; </a:t>
            </a:r>
            <a:r>
              <a:rPr lang="zh-CN" altLang="en-US" sz="1100" dirty="0"/>
              <a:t>问本体这数字什么意思</a:t>
            </a:r>
          </a:p>
          <a:p>
            <a:pPr>
              <a:lnSpc>
                <a:spcPct val="150000"/>
              </a:lnSpc>
            </a:pPr>
            <a:r>
              <a:rPr lang="en-US" altLang="zh-CN" sz="1100" b="1" dirty="0"/>
              <a:t>Phase 4: </a:t>
            </a:r>
            <a:r>
              <a:rPr lang="zh-CN" altLang="en-US" sz="1100" b="1" dirty="0"/>
              <a:t>综合推理</a:t>
            </a:r>
          </a:p>
          <a:p>
            <a:pPr>
              <a:lnSpc>
                <a:spcPct val="150000"/>
              </a:lnSpc>
            </a:pPr>
            <a:r>
              <a:rPr lang="en-US" altLang="zh-CN" sz="1100" dirty="0"/>
              <a:t>LLM </a:t>
            </a:r>
            <a:r>
              <a:rPr lang="zh-CN" altLang="en-US" sz="1100" dirty="0"/>
              <a:t>提交事实 </a:t>
            </a:r>
            <a:r>
              <a:rPr lang="en-US" altLang="zh-CN" sz="1100" dirty="0"/>
              <a:t>-&gt; </a:t>
            </a:r>
            <a:r>
              <a:rPr lang="zh-CN" altLang="en-US" sz="1100" dirty="0"/>
              <a:t>本体规则引擎计算 </a:t>
            </a:r>
            <a:r>
              <a:rPr lang="en-US" altLang="zh-CN" sz="1100" dirty="0"/>
              <a:t>-&gt; LLM </a:t>
            </a:r>
            <a:r>
              <a:rPr lang="zh-CN" altLang="en-US" sz="1100" dirty="0"/>
              <a:t>解释结论</a:t>
            </a:r>
          </a:p>
          <a:p>
            <a:pPr>
              <a:lnSpc>
                <a:spcPct val="150000"/>
              </a:lnSpc>
            </a:pPr>
            <a:r>
              <a:rPr lang="en-US" altLang="zh-CN" sz="1100" b="1" dirty="0"/>
              <a:t>Phase 5: </a:t>
            </a:r>
            <a:r>
              <a:rPr lang="zh-CN" altLang="en-US" sz="1100" b="1" dirty="0"/>
              <a:t>结果沉淀</a:t>
            </a:r>
          </a:p>
          <a:p>
            <a:pPr>
              <a:lnSpc>
                <a:spcPct val="150000"/>
              </a:lnSpc>
            </a:pPr>
            <a:r>
              <a:rPr lang="en-US" altLang="zh-CN" sz="1100" dirty="0"/>
              <a:t>LLM </a:t>
            </a:r>
            <a:r>
              <a:rPr lang="zh-CN" altLang="en-US" sz="1100" dirty="0"/>
              <a:t>总结案例 </a:t>
            </a:r>
            <a:r>
              <a:rPr lang="en-US" altLang="zh-CN" sz="1100" dirty="0"/>
              <a:t>-&gt; </a:t>
            </a:r>
            <a:r>
              <a:rPr lang="zh-CN" altLang="en-US" sz="1100" dirty="0"/>
              <a:t>本体存储并发现规则盲区</a:t>
            </a:r>
          </a:p>
        </p:txBody>
      </p:sp>
      <p:sp>
        <p:nvSpPr>
          <p:cNvPr id="2" name="矩形: 圆角 1">
            <a:extLst>
              <a:ext uri="{FF2B5EF4-FFF2-40B4-BE49-F238E27FC236}">
                <a16:creationId xmlns:a16="http://schemas.microsoft.com/office/drawing/2014/main" id="{1CAAD63A-4E64-35D6-60D1-6764D9663C1A}"/>
              </a:ext>
            </a:extLst>
          </p:cNvPr>
          <p:cNvSpPr/>
          <p:nvPr/>
        </p:nvSpPr>
        <p:spPr>
          <a:xfrm>
            <a:off x="3247704" y="3938447"/>
            <a:ext cx="1461027" cy="216000"/>
          </a:xfrm>
          <a:prstGeom prst="roundRect">
            <a:avLst/>
          </a:prstGeom>
          <a:noFill/>
          <a:ln w="6350" cap="sq" cmpd="sng" algn="ctr">
            <a:solidFill>
              <a:srgbClr val="29484D"/>
            </a:solidFill>
            <a:prstDash val="solid"/>
            <a:miter lim="800000"/>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zh-CN" altLang="en-US" sz="1100" b="0" i="0" u="none" strike="noStrike" kern="0" cap="none" spc="0" normalizeH="0" baseline="0" noProof="0" dirty="0">
                <a:ln>
                  <a:noFill/>
                </a:ln>
                <a:solidFill>
                  <a:srgbClr val="000000"/>
                </a:solidFill>
                <a:effectLst/>
                <a:uLnTx/>
                <a:uFillTx/>
                <a:latin typeface="华文楷体"/>
                <a:ea typeface="华文楷体"/>
                <a:cs typeface="+mn-cs"/>
              </a:rPr>
              <a:t>数据检查</a:t>
            </a:r>
          </a:p>
        </p:txBody>
      </p:sp>
      <p:sp>
        <p:nvSpPr>
          <p:cNvPr id="3" name="矩形: 圆角 2">
            <a:extLst>
              <a:ext uri="{FF2B5EF4-FFF2-40B4-BE49-F238E27FC236}">
                <a16:creationId xmlns:a16="http://schemas.microsoft.com/office/drawing/2014/main" id="{A8796969-B9C7-4796-4FBC-FC3ED8ECB42C}"/>
              </a:ext>
            </a:extLst>
          </p:cNvPr>
          <p:cNvSpPr/>
          <p:nvPr/>
        </p:nvSpPr>
        <p:spPr>
          <a:xfrm>
            <a:off x="3247704" y="4238836"/>
            <a:ext cx="1461027" cy="216000"/>
          </a:xfrm>
          <a:prstGeom prst="roundRect">
            <a:avLst/>
          </a:prstGeom>
          <a:noFill/>
          <a:ln w="6350" cap="sq" cmpd="sng" algn="ctr">
            <a:solidFill>
              <a:srgbClr val="29484D"/>
            </a:solidFill>
            <a:prstDash val="solid"/>
            <a:miter lim="800000"/>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zh-CN" altLang="en-US" sz="1100" b="0" i="0" u="none" strike="noStrike" kern="0" cap="none" spc="0" normalizeH="0" baseline="0" noProof="0" dirty="0">
                <a:ln>
                  <a:noFill/>
                </a:ln>
                <a:solidFill>
                  <a:srgbClr val="000000"/>
                </a:solidFill>
                <a:effectLst/>
                <a:uLnTx/>
                <a:uFillTx/>
                <a:latin typeface="华文楷体"/>
                <a:ea typeface="华文楷体"/>
                <a:cs typeface="+mn-cs"/>
              </a:rPr>
              <a:t>调用插件</a:t>
            </a:r>
          </a:p>
        </p:txBody>
      </p:sp>
      <p:sp>
        <p:nvSpPr>
          <p:cNvPr id="4" name="矩形: 圆角 3">
            <a:extLst>
              <a:ext uri="{FF2B5EF4-FFF2-40B4-BE49-F238E27FC236}">
                <a16:creationId xmlns:a16="http://schemas.microsoft.com/office/drawing/2014/main" id="{F1CB9E6E-117B-156D-D38E-2A022337945E}"/>
              </a:ext>
            </a:extLst>
          </p:cNvPr>
          <p:cNvSpPr/>
          <p:nvPr/>
        </p:nvSpPr>
        <p:spPr>
          <a:xfrm>
            <a:off x="3247704" y="4539225"/>
            <a:ext cx="1461027" cy="216000"/>
          </a:xfrm>
          <a:prstGeom prst="roundRect">
            <a:avLst/>
          </a:prstGeom>
          <a:noFill/>
          <a:ln w="6350" cap="sq" cmpd="sng" algn="ctr">
            <a:solidFill>
              <a:srgbClr val="29484D"/>
            </a:solidFill>
            <a:prstDash val="solid"/>
            <a:miter lim="800000"/>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zh-CN" altLang="en-US" sz="1100" b="0" i="0" u="none" strike="noStrike" kern="0" cap="none" spc="0" normalizeH="0" baseline="0" noProof="0" dirty="0">
                <a:ln>
                  <a:noFill/>
                </a:ln>
                <a:solidFill>
                  <a:srgbClr val="000000"/>
                </a:solidFill>
                <a:effectLst/>
                <a:uLnTx/>
                <a:uFillTx/>
                <a:latin typeface="华文楷体"/>
                <a:ea typeface="华文楷体"/>
                <a:cs typeface="+mn-cs"/>
              </a:rPr>
              <a:t>调用接口</a:t>
            </a:r>
          </a:p>
        </p:txBody>
      </p:sp>
      <p:sp>
        <p:nvSpPr>
          <p:cNvPr id="6" name="矩形: 圆角 5">
            <a:extLst>
              <a:ext uri="{FF2B5EF4-FFF2-40B4-BE49-F238E27FC236}">
                <a16:creationId xmlns:a16="http://schemas.microsoft.com/office/drawing/2014/main" id="{33C447D8-0465-D444-C028-719D104B996C}"/>
              </a:ext>
            </a:extLst>
          </p:cNvPr>
          <p:cNvSpPr/>
          <p:nvPr/>
        </p:nvSpPr>
        <p:spPr>
          <a:xfrm>
            <a:off x="3247704" y="3638058"/>
            <a:ext cx="1461027" cy="216000"/>
          </a:xfrm>
          <a:prstGeom prst="roundRect">
            <a:avLst/>
          </a:prstGeom>
          <a:noFill/>
          <a:ln w="6350" cap="sq" cmpd="sng" algn="ctr">
            <a:solidFill>
              <a:srgbClr val="29484D"/>
            </a:solidFill>
            <a:prstDash val="solid"/>
            <a:miter lim="800000"/>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100" b="0" i="0" u="none" strike="noStrike" kern="0" cap="none" spc="0" normalizeH="0" baseline="0" noProof="0" dirty="0">
                <a:ln>
                  <a:noFill/>
                </a:ln>
                <a:solidFill>
                  <a:srgbClr val="000000"/>
                </a:solidFill>
                <a:effectLst/>
                <a:uLnTx/>
                <a:uFillTx/>
                <a:latin typeface="华文楷体"/>
                <a:ea typeface="华文楷体"/>
                <a:cs typeface="+mn-cs"/>
              </a:rPr>
              <a:t>权限检查</a:t>
            </a:r>
            <a:endParaRPr kumimoji="0" lang="en-US" altLang="zh-CN" sz="1100" b="0" i="0" u="none" strike="noStrike" kern="0" cap="none" spc="0" normalizeH="0" baseline="0" noProof="0" dirty="0">
              <a:ln>
                <a:noFill/>
              </a:ln>
              <a:solidFill>
                <a:srgbClr val="000000"/>
              </a:solidFill>
              <a:effectLst/>
              <a:uLnTx/>
              <a:uFillTx/>
              <a:latin typeface="华文楷体"/>
              <a:ea typeface="华文楷体"/>
              <a:cs typeface="+mn-cs"/>
            </a:endParaRPr>
          </a:p>
        </p:txBody>
      </p:sp>
    </p:spTree>
    <p:extLst>
      <p:ext uri="{BB962C8B-B14F-4D97-AF65-F5344CB8AC3E}">
        <p14:creationId xmlns:p14="http://schemas.microsoft.com/office/powerpoint/2010/main" val="4176408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0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457D8-F854-8213-3F3A-F1AC307384FA}"/>
            </a:ext>
          </a:extLst>
        </p:cNvPr>
        <p:cNvGrpSpPr/>
        <p:nvPr/>
      </p:nvGrpSpPr>
      <p:grpSpPr>
        <a:xfrm>
          <a:off x="0" y="0"/>
          <a:ext cx="0" cy="0"/>
          <a:chOff x="0" y="0"/>
          <a:chExt cx="0" cy="0"/>
        </a:xfrm>
      </p:grpSpPr>
      <p:sp>
        <p:nvSpPr>
          <p:cNvPr id="7" name="文本框 6">
            <a:extLst>
              <a:ext uri="{FF2B5EF4-FFF2-40B4-BE49-F238E27FC236}">
                <a16:creationId xmlns:a16="http://schemas.microsoft.com/office/drawing/2014/main" id="{2FE1590B-BC9D-2030-D84C-1D80BDE243C4}"/>
              </a:ext>
            </a:extLst>
          </p:cNvPr>
          <p:cNvSpPr txBox="1"/>
          <p:nvPr/>
        </p:nvSpPr>
        <p:spPr>
          <a:xfrm>
            <a:off x="209862" y="145259"/>
            <a:ext cx="4572000" cy="461665"/>
          </a:xfrm>
          <a:prstGeom prst="rect">
            <a:avLst/>
          </a:prstGeom>
          <a:noFill/>
        </p:spPr>
        <p:txBody>
          <a:bodyPr wrap="square">
            <a:spAutoFit/>
          </a:bodyPr>
          <a:lstStyle>
            <a:lvl1pPr>
              <a:defRPr sz="2200" b="1">
                <a:solidFill>
                  <a:srgbClr val="1E293B"/>
                </a:solidFill>
                <a:latin typeface="微软雅黑" panose="020B0503020204020204" pitchFamily="34" charset="-122"/>
                <a:ea typeface="微软雅黑" panose="020B0503020204020204" pitchFamily="34" charset="-122"/>
                <a:cs typeface="Arial" pitchFamily="34" charset="-120"/>
              </a:defRPr>
            </a:lvl1pPr>
          </a:lstStyle>
          <a:p>
            <a:r>
              <a:rPr lang="en-US" altLang="zh-CN" sz="2400" dirty="0">
                <a:latin typeface="Arial" pitchFamily="34" charset="0"/>
              </a:rPr>
              <a:t>| </a:t>
            </a:r>
            <a:r>
              <a:rPr lang="zh-CN" altLang="en-US" sz="2400" dirty="0">
                <a:latin typeface="Arial" pitchFamily="34" charset="0"/>
              </a:rPr>
              <a:t>如何互动？举个例子</a:t>
            </a:r>
          </a:p>
        </p:txBody>
      </p:sp>
      <p:sp>
        <p:nvSpPr>
          <p:cNvPr id="8" name="矩形 7">
            <a:extLst>
              <a:ext uri="{FF2B5EF4-FFF2-40B4-BE49-F238E27FC236}">
                <a16:creationId xmlns:a16="http://schemas.microsoft.com/office/drawing/2014/main" id="{F8E76AA2-A958-F6C7-3A38-D1812C54F16D}"/>
              </a:ext>
            </a:extLst>
          </p:cNvPr>
          <p:cNvSpPr/>
          <p:nvPr/>
        </p:nvSpPr>
        <p:spPr>
          <a:xfrm>
            <a:off x="365759" y="1419062"/>
            <a:ext cx="2276166" cy="491837"/>
          </a:xfrm>
          <a:prstGeom prst="rect">
            <a:avLst/>
          </a:prstGeom>
          <a:solidFill>
            <a:srgbClr val="29484D">
              <a:lumMod val="20000"/>
              <a:lumOff val="8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400" b="0" i="0" u="none" strike="noStrike" kern="0" cap="none" spc="0" normalizeH="0" baseline="0" noProof="0" dirty="0">
                <a:ln>
                  <a:noFill/>
                </a:ln>
                <a:solidFill>
                  <a:srgbClr val="4472C4"/>
                </a:solidFill>
                <a:effectLst/>
                <a:uLnTx/>
                <a:uFillTx/>
                <a:latin typeface="Microsoft YaHei" panose="020B0503020204020204" pitchFamily="34" charset="-122"/>
                <a:ea typeface="Microsoft YaHei" panose="020B0503020204020204" pitchFamily="34" charset="-122"/>
              </a:rPr>
              <a:t>自然语言</a:t>
            </a:r>
          </a:p>
        </p:txBody>
      </p:sp>
      <p:sp>
        <p:nvSpPr>
          <p:cNvPr id="9" name="矩形 8">
            <a:extLst>
              <a:ext uri="{FF2B5EF4-FFF2-40B4-BE49-F238E27FC236}">
                <a16:creationId xmlns:a16="http://schemas.microsoft.com/office/drawing/2014/main" id="{C33E3F75-98CC-1DE8-6279-A9EF2ACBAF41}"/>
              </a:ext>
            </a:extLst>
          </p:cNvPr>
          <p:cNvSpPr/>
          <p:nvPr/>
        </p:nvSpPr>
        <p:spPr>
          <a:xfrm>
            <a:off x="365759" y="2201321"/>
            <a:ext cx="2276166" cy="491837"/>
          </a:xfrm>
          <a:prstGeom prst="rect">
            <a:avLst/>
          </a:prstGeom>
          <a:solidFill>
            <a:srgbClr val="29484D">
              <a:lumMod val="20000"/>
              <a:lumOff val="8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000" b="0" i="0" u="none" strike="noStrike" kern="0" cap="none" spc="0" normalizeH="0" baseline="0" noProof="0" dirty="0">
                <a:ln>
                  <a:noFill/>
                </a:ln>
                <a:solidFill>
                  <a:srgbClr val="4472C4"/>
                </a:solidFill>
                <a:effectLst/>
                <a:uLnTx/>
                <a:uFillTx/>
                <a:latin typeface="Microsoft YaHei" panose="020B0503020204020204" pitchFamily="34" charset="-122"/>
                <a:ea typeface="Microsoft YaHei" panose="020B0503020204020204" pitchFamily="34" charset="-122"/>
              </a:rPr>
              <a:t>大模型</a:t>
            </a:r>
            <a:endParaRPr kumimoji="1" lang="en-US" altLang="zh-CN" sz="1000" b="0" i="0" u="none" strike="noStrike" kern="0" cap="none" spc="0" normalizeH="0" baseline="0" noProof="0" dirty="0">
              <a:ln>
                <a:noFill/>
              </a:ln>
              <a:solidFill>
                <a:srgbClr val="4472C4"/>
              </a:solidFill>
              <a:effectLst/>
              <a:uLnTx/>
              <a:uFillTx/>
              <a:latin typeface="Microsoft YaHei" panose="020B0503020204020204" pitchFamily="34" charset="-122"/>
              <a:ea typeface="Microsoft YaHei"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400" b="0" i="0" u="none" strike="noStrike" kern="0" cap="none" spc="0" normalizeH="0" baseline="0" noProof="0" dirty="0">
                <a:ln>
                  <a:noFill/>
                </a:ln>
                <a:solidFill>
                  <a:srgbClr val="4472C4"/>
                </a:solidFill>
                <a:effectLst/>
                <a:uLnTx/>
                <a:uFillTx/>
                <a:latin typeface="Microsoft YaHei" panose="020B0503020204020204" pitchFamily="34" charset="-122"/>
                <a:ea typeface="Microsoft YaHei" panose="020B0503020204020204" pitchFamily="34" charset="-122"/>
              </a:rPr>
              <a:t>意图识别</a:t>
            </a:r>
          </a:p>
        </p:txBody>
      </p:sp>
      <p:sp>
        <p:nvSpPr>
          <p:cNvPr id="10" name="矩形 9">
            <a:extLst>
              <a:ext uri="{FF2B5EF4-FFF2-40B4-BE49-F238E27FC236}">
                <a16:creationId xmlns:a16="http://schemas.microsoft.com/office/drawing/2014/main" id="{5C20BB3F-E969-A63A-8185-4C8EF62FBC7D}"/>
              </a:ext>
            </a:extLst>
          </p:cNvPr>
          <p:cNvSpPr/>
          <p:nvPr/>
        </p:nvSpPr>
        <p:spPr>
          <a:xfrm>
            <a:off x="365759" y="3765839"/>
            <a:ext cx="2276166" cy="491837"/>
          </a:xfrm>
          <a:prstGeom prst="rect">
            <a:avLst/>
          </a:prstGeom>
          <a:solidFill>
            <a:srgbClr val="29484D">
              <a:lumMod val="20000"/>
              <a:lumOff val="8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400" b="0" i="0" u="none" strike="noStrike" kern="0" cap="none" spc="0" normalizeH="0" baseline="0" noProof="0" dirty="0">
                <a:ln>
                  <a:noFill/>
                </a:ln>
                <a:solidFill>
                  <a:srgbClr val="4472C4"/>
                </a:solidFill>
                <a:effectLst/>
                <a:uLnTx/>
                <a:uFillTx/>
                <a:latin typeface="Microsoft YaHei" panose="020B0503020204020204" pitchFamily="34" charset="-122"/>
                <a:ea typeface="Microsoft YaHei" panose="020B0503020204020204" pitchFamily="34" charset="-122"/>
              </a:rPr>
              <a:t>调用工作流</a:t>
            </a:r>
          </a:p>
        </p:txBody>
      </p:sp>
      <p:cxnSp>
        <p:nvCxnSpPr>
          <p:cNvPr id="11" name="直线箭头连接符 34">
            <a:extLst>
              <a:ext uri="{FF2B5EF4-FFF2-40B4-BE49-F238E27FC236}">
                <a16:creationId xmlns:a16="http://schemas.microsoft.com/office/drawing/2014/main" id="{622A440E-4544-499A-3716-B7F607CCB5A7}"/>
              </a:ext>
            </a:extLst>
          </p:cNvPr>
          <p:cNvCxnSpPr>
            <a:cxnSpLocks/>
            <a:stCxn id="8" idx="2"/>
            <a:endCxn id="9" idx="0"/>
          </p:cNvCxnSpPr>
          <p:nvPr/>
        </p:nvCxnSpPr>
        <p:spPr>
          <a:xfrm>
            <a:off x="1503842" y="1910899"/>
            <a:ext cx="0" cy="290422"/>
          </a:xfrm>
          <a:prstGeom prst="straightConnector1">
            <a:avLst/>
          </a:prstGeom>
          <a:noFill/>
          <a:ln w="12700" cap="flat" cmpd="sng" algn="ctr">
            <a:solidFill>
              <a:srgbClr val="29484D"/>
            </a:solidFill>
            <a:prstDash val="solid"/>
            <a:tailEnd type="triangle"/>
          </a:ln>
          <a:effectLst/>
        </p:spPr>
      </p:cxnSp>
      <p:sp>
        <p:nvSpPr>
          <p:cNvPr id="12" name="矩形 11">
            <a:extLst>
              <a:ext uri="{FF2B5EF4-FFF2-40B4-BE49-F238E27FC236}">
                <a16:creationId xmlns:a16="http://schemas.microsoft.com/office/drawing/2014/main" id="{7571A390-545D-37ED-F578-F0F9616323C0}"/>
              </a:ext>
            </a:extLst>
          </p:cNvPr>
          <p:cNvSpPr/>
          <p:nvPr/>
        </p:nvSpPr>
        <p:spPr>
          <a:xfrm>
            <a:off x="365759" y="4548098"/>
            <a:ext cx="2276166" cy="491837"/>
          </a:xfrm>
          <a:prstGeom prst="rect">
            <a:avLst/>
          </a:prstGeom>
          <a:solidFill>
            <a:srgbClr val="29484D">
              <a:lumMod val="20000"/>
              <a:lumOff val="8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0" i="0" u="none" strike="noStrike" kern="0" cap="none" spc="0" normalizeH="0" baseline="0" noProof="0" dirty="0">
                <a:ln>
                  <a:noFill/>
                </a:ln>
                <a:solidFill>
                  <a:srgbClr val="4472C4"/>
                </a:solidFill>
                <a:effectLst/>
                <a:uLnTx/>
                <a:uFillTx/>
                <a:latin typeface="Microsoft YaHei" panose="020B0503020204020204" pitchFamily="34" charset="-122"/>
                <a:ea typeface="Microsoft YaHei" panose="020B0503020204020204" pitchFamily="34" charset="-122"/>
              </a:rPr>
              <a:t>执行结果</a:t>
            </a:r>
            <a:endParaRPr kumimoji="1" lang="en-US" altLang="zh-CN" sz="1200" b="0" i="0" u="none" strike="noStrike" kern="0" cap="none" spc="0" normalizeH="0" baseline="0" noProof="0" dirty="0">
              <a:ln>
                <a:noFill/>
              </a:ln>
              <a:solidFill>
                <a:srgbClr val="4472C4"/>
              </a:solidFill>
              <a:effectLst/>
              <a:uLnTx/>
              <a:uFillTx/>
              <a:latin typeface="Microsoft YaHei" panose="020B0503020204020204" pitchFamily="34" charset="-122"/>
              <a:ea typeface="Microsoft YaHei"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0" i="0" u="none" strike="noStrike" kern="0" cap="none" spc="0" normalizeH="0" baseline="0" noProof="0" dirty="0">
                <a:ln>
                  <a:noFill/>
                </a:ln>
                <a:solidFill>
                  <a:srgbClr val="4472C4"/>
                </a:solidFill>
                <a:effectLst/>
                <a:uLnTx/>
                <a:uFillTx/>
                <a:latin typeface="Microsoft YaHei" panose="020B0503020204020204" pitchFamily="34" charset="-122"/>
                <a:ea typeface="Microsoft YaHei" panose="020B0503020204020204" pitchFamily="34" charset="-122"/>
              </a:rPr>
              <a:t>返回给用户</a:t>
            </a:r>
          </a:p>
        </p:txBody>
      </p:sp>
      <p:cxnSp>
        <p:nvCxnSpPr>
          <p:cNvPr id="13" name="肘形连接符 107">
            <a:extLst>
              <a:ext uri="{FF2B5EF4-FFF2-40B4-BE49-F238E27FC236}">
                <a16:creationId xmlns:a16="http://schemas.microsoft.com/office/drawing/2014/main" id="{86B55146-B0BD-4EFA-FBC7-CCEFFE8C6BDF}"/>
              </a:ext>
            </a:extLst>
          </p:cNvPr>
          <p:cNvCxnSpPr>
            <a:cxnSpLocks/>
            <a:stCxn id="28" idx="2"/>
            <a:endCxn id="10" idx="0"/>
          </p:cNvCxnSpPr>
          <p:nvPr/>
        </p:nvCxnSpPr>
        <p:spPr>
          <a:xfrm flipH="1">
            <a:off x="1503842" y="3475417"/>
            <a:ext cx="1" cy="290422"/>
          </a:xfrm>
          <a:prstGeom prst="straightConnector1">
            <a:avLst/>
          </a:prstGeom>
          <a:noFill/>
          <a:ln w="12700" cap="flat" cmpd="sng" algn="ctr">
            <a:solidFill>
              <a:srgbClr val="29484D"/>
            </a:solidFill>
            <a:prstDash val="solid"/>
            <a:tailEnd type="triangle"/>
          </a:ln>
          <a:effectLst/>
        </p:spPr>
      </p:cxnSp>
      <p:cxnSp>
        <p:nvCxnSpPr>
          <p:cNvPr id="15" name="直线箭头连接符 34">
            <a:extLst>
              <a:ext uri="{FF2B5EF4-FFF2-40B4-BE49-F238E27FC236}">
                <a16:creationId xmlns:a16="http://schemas.microsoft.com/office/drawing/2014/main" id="{D4253E10-A82A-7C7A-D819-F3D52C472965}"/>
              </a:ext>
            </a:extLst>
          </p:cNvPr>
          <p:cNvCxnSpPr>
            <a:cxnSpLocks/>
            <a:stCxn id="9" idx="1"/>
            <a:endCxn id="8" idx="1"/>
          </p:cNvCxnSpPr>
          <p:nvPr/>
        </p:nvCxnSpPr>
        <p:spPr>
          <a:xfrm rot="10800000">
            <a:off x="365759" y="1664982"/>
            <a:ext cx="12700" cy="782259"/>
          </a:xfrm>
          <a:prstGeom prst="bentConnector3">
            <a:avLst>
              <a:gd name="adj1" fmla="val 1800000"/>
            </a:avLst>
          </a:prstGeom>
          <a:noFill/>
          <a:ln w="9525" cap="flat" cmpd="sng" algn="ctr">
            <a:solidFill>
              <a:srgbClr val="EE8F62"/>
            </a:solidFill>
            <a:prstDash val="solid"/>
            <a:tailEnd type="triangle"/>
          </a:ln>
          <a:effectLst/>
        </p:spPr>
      </p:cxnSp>
      <p:sp>
        <p:nvSpPr>
          <p:cNvPr id="16" name="文本框 15">
            <a:extLst>
              <a:ext uri="{FF2B5EF4-FFF2-40B4-BE49-F238E27FC236}">
                <a16:creationId xmlns:a16="http://schemas.microsoft.com/office/drawing/2014/main" id="{9695466A-4CEF-ECBA-FEEC-FDF1C49E4112}"/>
              </a:ext>
            </a:extLst>
          </p:cNvPr>
          <p:cNvSpPr txBox="1"/>
          <p:nvPr/>
        </p:nvSpPr>
        <p:spPr>
          <a:xfrm>
            <a:off x="1046642" y="852837"/>
            <a:ext cx="914400" cy="275803"/>
          </a:xfrm>
          <a:prstGeom prst="rect">
            <a:avLst/>
          </a:prstGeom>
          <a:ln w="6350">
            <a:noFill/>
            <a:miter lim="800000"/>
          </a:ln>
        </p:spPr>
        <p:txBody>
          <a:bodyPr vert="horz" wrap="none" lIns="0" tIns="0" rIns="0" bIns="0" rtlCol="0">
            <a:noAutofit/>
          </a:bodyPr>
          <a:lstStyle/>
          <a:p>
            <a:pPr algn="ctr">
              <a:spcBef>
                <a:spcPts val="300"/>
              </a:spcBef>
              <a:spcAft>
                <a:spcPts val="300"/>
              </a:spcAft>
            </a:pPr>
            <a:r>
              <a:rPr lang="zh-CN" altLang="en-US" sz="1600" dirty="0">
                <a:solidFill>
                  <a:srgbClr val="000000"/>
                </a:solidFill>
                <a:latin typeface="华文楷体"/>
                <a:ea typeface="华文楷体"/>
              </a:rPr>
              <a:t>用户</a:t>
            </a:r>
          </a:p>
        </p:txBody>
      </p:sp>
      <p:sp>
        <p:nvSpPr>
          <p:cNvPr id="17" name="文本框 16">
            <a:extLst>
              <a:ext uri="{FF2B5EF4-FFF2-40B4-BE49-F238E27FC236}">
                <a16:creationId xmlns:a16="http://schemas.microsoft.com/office/drawing/2014/main" id="{63132E82-D1DC-42E3-62A9-98CDE911755C}"/>
              </a:ext>
            </a:extLst>
          </p:cNvPr>
          <p:cNvSpPr txBox="1"/>
          <p:nvPr/>
        </p:nvSpPr>
        <p:spPr>
          <a:xfrm>
            <a:off x="3249516" y="852837"/>
            <a:ext cx="914400" cy="275803"/>
          </a:xfrm>
          <a:prstGeom prst="rect">
            <a:avLst/>
          </a:prstGeom>
          <a:ln w="6350">
            <a:solidFill>
              <a:srgbClr val="29484D"/>
            </a:solidFill>
            <a:miter lim="800000"/>
          </a:ln>
        </p:spPr>
        <p:txBody>
          <a:bodyPr vert="horz" wrap="none" lIns="0" tIns="0" rIns="0" bIns="0" rtlCol="0" anchor="ctr">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华文楷体"/>
                <a:ea typeface="华文楷体"/>
              </a:rPr>
              <a:t>用户登录</a:t>
            </a:r>
          </a:p>
        </p:txBody>
      </p:sp>
      <p:cxnSp>
        <p:nvCxnSpPr>
          <p:cNvPr id="18" name="直接箭头连接符 17">
            <a:extLst>
              <a:ext uri="{FF2B5EF4-FFF2-40B4-BE49-F238E27FC236}">
                <a16:creationId xmlns:a16="http://schemas.microsoft.com/office/drawing/2014/main" id="{880FFF17-39E5-2CDF-AA40-371D048315A9}"/>
              </a:ext>
            </a:extLst>
          </p:cNvPr>
          <p:cNvCxnSpPr>
            <a:cxnSpLocks/>
            <a:stCxn id="16" idx="3"/>
            <a:endCxn id="17" idx="1"/>
          </p:cNvCxnSpPr>
          <p:nvPr/>
        </p:nvCxnSpPr>
        <p:spPr>
          <a:xfrm>
            <a:off x="1961042" y="990739"/>
            <a:ext cx="1288474" cy="0"/>
          </a:xfrm>
          <a:prstGeom prst="straightConnector1">
            <a:avLst/>
          </a:prstGeom>
          <a:noFill/>
          <a:ln w="10795" cap="flat" cmpd="sng" algn="ctr">
            <a:solidFill>
              <a:srgbClr val="35C3F7"/>
            </a:solidFill>
            <a:prstDash val="solid"/>
            <a:tailEnd type="triangle"/>
          </a:ln>
          <a:effectLst/>
        </p:spPr>
      </p:cxnSp>
      <p:sp>
        <p:nvSpPr>
          <p:cNvPr id="19" name="文本框 18">
            <a:extLst>
              <a:ext uri="{FF2B5EF4-FFF2-40B4-BE49-F238E27FC236}">
                <a16:creationId xmlns:a16="http://schemas.microsoft.com/office/drawing/2014/main" id="{FB253E43-AF75-648F-91C6-486EDA16F565}"/>
              </a:ext>
            </a:extLst>
          </p:cNvPr>
          <p:cNvSpPr txBox="1"/>
          <p:nvPr/>
        </p:nvSpPr>
        <p:spPr>
          <a:xfrm>
            <a:off x="3249516" y="1618913"/>
            <a:ext cx="914400" cy="275803"/>
          </a:xfrm>
          <a:prstGeom prst="rect">
            <a:avLst/>
          </a:prstGeom>
          <a:ln w="6350">
            <a:solidFill>
              <a:srgbClr val="29484D"/>
            </a:solidFill>
            <a:miter lim="800000"/>
          </a:ln>
        </p:spPr>
        <p:txBody>
          <a:bodyPr vert="horz" wrap="none" lIns="0" tIns="0" rIns="0" bIns="0" rtlCol="0" anchor="ctr">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华文楷体"/>
                <a:ea typeface="华文楷体"/>
              </a:rPr>
              <a:t>权限识别</a:t>
            </a:r>
          </a:p>
        </p:txBody>
      </p:sp>
      <p:cxnSp>
        <p:nvCxnSpPr>
          <p:cNvPr id="20" name="直线箭头连接符 34">
            <a:extLst>
              <a:ext uri="{FF2B5EF4-FFF2-40B4-BE49-F238E27FC236}">
                <a16:creationId xmlns:a16="http://schemas.microsoft.com/office/drawing/2014/main" id="{94E623A3-20A2-38E9-118D-1D8EE4AF23C1}"/>
              </a:ext>
            </a:extLst>
          </p:cNvPr>
          <p:cNvCxnSpPr>
            <a:cxnSpLocks/>
            <a:stCxn id="17" idx="2"/>
            <a:endCxn id="19" idx="0"/>
          </p:cNvCxnSpPr>
          <p:nvPr/>
        </p:nvCxnSpPr>
        <p:spPr>
          <a:xfrm>
            <a:off x="3706716" y="1128640"/>
            <a:ext cx="0" cy="490273"/>
          </a:xfrm>
          <a:prstGeom prst="straightConnector1">
            <a:avLst/>
          </a:prstGeom>
          <a:noFill/>
          <a:ln w="10795" cap="flat" cmpd="sng" algn="ctr">
            <a:solidFill>
              <a:srgbClr val="35C3F7"/>
            </a:solidFill>
            <a:prstDash val="solid"/>
            <a:tailEnd type="triangle"/>
          </a:ln>
          <a:effectLst/>
        </p:spPr>
      </p:cxnSp>
      <p:cxnSp>
        <p:nvCxnSpPr>
          <p:cNvPr id="21" name="直线箭头连接符 34">
            <a:extLst>
              <a:ext uri="{FF2B5EF4-FFF2-40B4-BE49-F238E27FC236}">
                <a16:creationId xmlns:a16="http://schemas.microsoft.com/office/drawing/2014/main" id="{5289070A-C48D-9BCF-251C-4321FA51AFBD}"/>
              </a:ext>
            </a:extLst>
          </p:cNvPr>
          <p:cNvCxnSpPr>
            <a:cxnSpLocks/>
          </p:cNvCxnSpPr>
          <p:nvPr/>
        </p:nvCxnSpPr>
        <p:spPr>
          <a:xfrm flipH="1">
            <a:off x="2641926" y="1739760"/>
            <a:ext cx="607590" cy="0"/>
          </a:xfrm>
          <a:prstGeom prst="straightConnector1">
            <a:avLst/>
          </a:prstGeom>
          <a:noFill/>
          <a:ln w="10795" cap="flat" cmpd="sng" algn="ctr">
            <a:solidFill>
              <a:srgbClr val="35C3F7"/>
            </a:solidFill>
            <a:prstDash val="solid"/>
            <a:tailEnd type="triangle"/>
          </a:ln>
          <a:effectLst/>
        </p:spPr>
      </p:cxnSp>
      <p:cxnSp>
        <p:nvCxnSpPr>
          <p:cNvPr id="22" name="直线箭头连接符 34">
            <a:extLst>
              <a:ext uri="{FF2B5EF4-FFF2-40B4-BE49-F238E27FC236}">
                <a16:creationId xmlns:a16="http://schemas.microsoft.com/office/drawing/2014/main" id="{C9C97E7E-D9B5-F781-AE21-BA403396BE9D}"/>
              </a:ext>
            </a:extLst>
          </p:cNvPr>
          <p:cNvCxnSpPr>
            <a:cxnSpLocks/>
            <a:stCxn id="16" idx="2"/>
            <a:endCxn id="8" idx="0"/>
          </p:cNvCxnSpPr>
          <p:nvPr/>
        </p:nvCxnSpPr>
        <p:spPr>
          <a:xfrm>
            <a:off x="1503842" y="1128640"/>
            <a:ext cx="0" cy="290422"/>
          </a:xfrm>
          <a:prstGeom prst="straightConnector1">
            <a:avLst/>
          </a:prstGeom>
          <a:noFill/>
          <a:ln w="12700" cap="flat" cmpd="sng" algn="ctr">
            <a:solidFill>
              <a:srgbClr val="29484D"/>
            </a:solidFill>
            <a:prstDash val="solid"/>
            <a:tailEnd type="triangle"/>
          </a:ln>
          <a:effectLst/>
        </p:spPr>
      </p:cxnSp>
      <p:sp>
        <p:nvSpPr>
          <p:cNvPr id="25" name="圆柱体 24">
            <a:extLst>
              <a:ext uri="{FF2B5EF4-FFF2-40B4-BE49-F238E27FC236}">
                <a16:creationId xmlns:a16="http://schemas.microsoft.com/office/drawing/2014/main" id="{72935A56-65F0-9534-A565-9CB6BFBE594D}"/>
              </a:ext>
            </a:extLst>
          </p:cNvPr>
          <p:cNvSpPr/>
          <p:nvPr/>
        </p:nvSpPr>
        <p:spPr>
          <a:xfrm>
            <a:off x="3226400" y="2074843"/>
            <a:ext cx="914400" cy="756250"/>
          </a:xfrm>
          <a:prstGeom prst="can">
            <a:avLst/>
          </a:prstGeom>
          <a:noFill/>
          <a:ln w="6350" cap="sq" cmpd="sng" algn="ctr">
            <a:solidFill>
              <a:srgbClr val="29484D"/>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zh-CN" altLang="en-US" sz="1600" b="0" i="0" u="none" strike="noStrike" kern="0" cap="none" spc="0" normalizeH="0" baseline="0" noProof="0" dirty="0" err="1">
              <a:ln>
                <a:noFill/>
              </a:ln>
              <a:solidFill>
                <a:srgbClr val="FFFFFF"/>
              </a:solidFill>
              <a:effectLst/>
              <a:uLnTx/>
              <a:uFillTx/>
              <a:latin typeface="华文楷体"/>
              <a:ea typeface="华文楷体"/>
              <a:cs typeface="+mn-cs"/>
            </a:endParaRPr>
          </a:p>
        </p:txBody>
      </p:sp>
      <p:cxnSp>
        <p:nvCxnSpPr>
          <p:cNvPr id="26" name="直线箭头连接符 34">
            <a:extLst>
              <a:ext uri="{FF2B5EF4-FFF2-40B4-BE49-F238E27FC236}">
                <a16:creationId xmlns:a16="http://schemas.microsoft.com/office/drawing/2014/main" id="{F7595C0E-DD57-7C9D-74F8-73BA1D2C1B82}"/>
              </a:ext>
            </a:extLst>
          </p:cNvPr>
          <p:cNvCxnSpPr>
            <a:cxnSpLocks/>
            <a:stCxn id="25" idx="2"/>
            <a:endCxn id="9" idx="3"/>
          </p:cNvCxnSpPr>
          <p:nvPr/>
        </p:nvCxnSpPr>
        <p:spPr>
          <a:xfrm flipH="1" flipV="1">
            <a:off x="2641925" y="2447240"/>
            <a:ext cx="584475" cy="5728"/>
          </a:xfrm>
          <a:prstGeom prst="straightConnector1">
            <a:avLst/>
          </a:prstGeom>
          <a:noFill/>
          <a:ln w="10795" cap="flat" cmpd="sng" algn="ctr">
            <a:solidFill>
              <a:srgbClr val="35C3F7"/>
            </a:solidFill>
            <a:prstDash val="solid"/>
            <a:tailEnd type="triangle"/>
          </a:ln>
          <a:effectLst/>
        </p:spPr>
      </p:cxnSp>
      <p:sp>
        <p:nvSpPr>
          <p:cNvPr id="27" name="文本框 26">
            <a:extLst>
              <a:ext uri="{FF2B5EF4-FFF2-40B4-BE49-F238E27FC236}">
                <a16:creationId xmlns:a16="http://schemas.microsoft.com/office/drawing/2014/main" id="{0B59F1F8-F120-E741-4144-95EFABB2A4D5}"/>
              </a:ext>
            </a:extLst>
          </p:cNvPr>
          <p:cNvSpPr txBox="1"/>
          <p:nvPr/>
        </p:nvSpPr>
        <p:spPr>
          <a:xfrm>
            <a:off x="3190741" y="2348041"/>
            <a:ext cx="914400" cy="301718"/>
          </a:xfrm>
          <a:prstGeom prst="rect">
            <a:avLst/>
          </a:prstGeom>
          <a:ln w="6350">
            <a:noFill/>
            <a:miter lim="800000"/>
          </a:ln>
        </p:spPr>
        <p:txBody>
          <a:bodyPr vert="horz" wrap="none" lIns="0" tIns="0" rIns="0" bIns="0" rtlCol="0" anchor="ctr">
            <a:noAutofit/>
          </a:bodyPr>
          <a:lstStyle/>
          <a:p>
            <a:pPr algn="ctr"/>
            <a:r>
              <a:rPr lang="en-US" altLang="zh-CN" sz="1400" dirty="0">
                <a:solidFill>
                  <a:srgbClr val="000000"/>
                </a:solidFill>
                <a:latin typeface="华文楷体"/>
                <a:ea typeface="华文楷体"/>
              </a:rPr>
              <a:t>Prompt</a:t>
            </a:r>
          </a:p>
          <a:p>
            <a:pPr algn="ctr"/>
            <a:r>
              <a:rPr lang="en-US" altLang="zh-CN" sz="1400" dirty="0">
                <a:solidFill>
                  <a:srgbClr val="000000"/>
                </a:solidFill>
                <a:latin typeface="华文楷体"/>
                <a:ea typeface="华文楷体"/>
              </a:rPr>
              <a:t>SKILL</a:t>
            </a:r>
            <a:endParaRPr lang="zh-CN" altLang="en-US" sz="1400" dirty="0">
              <a:solidFill>
                <a:srgbClr val="000000"/>
              </a:solidFill>
              <a:latin typeface="华文楷体"/>
              <a:ea typeface="华文楷体"/>
            </a:endParaRPr>
          </a:p>
        </p:txBody>
      </p:sp>
      <p:sp>
        <p:nvSpPr>
          <p:cNvPr id="28" name="矩形 27">
            <a:extLst>
              <a:ext uri="{FF2B5EF4-FFF2-40B4-BE49-F238E27FC236}">
                <a16:creationId xmlns:a16="http://schemas.microsoft.com/office/drawing/2014/main" id="{0DBA1322-A192-9919-F464-9C53B23C5448}"/>
              </a:ext>
            </a:extLst>
          </p:cNvPr>
          <p:cNvSpPr/>
          <p:nvPr/>
        </p:nvSpPr>
        <p:spPr>
          <a:xfrm>
            <a:off x="365760" y="2983580"/>
            <a:ext cx="2276165" cy="491837"/>
          </a:xfrm>
          <a:prstGeom prst="rect">
            <a:avLst/>
          </a:prstGeom>
          <a:solidFill>
            <a:srgbClr val="29484D">
              <a:lumMod val="20000"/>
              <a:lumOff val="80000"/>
            </a:srgbClr>
          </a:solidFill>
          <a:ln w="12700" cap="flat" cmpd="sng" algn="ctr">
            <a:noFill/>
            <a:prstDash val="solid"/>
            <a:miter lim="800000"/>
          </a:ln>
          <a:effectLst/>
        </p:spPr>
        <p:txBody>
          <a:bodyPr rtlCol="0" anchor="ctr"/>
          <a:lstStyle/>
          <a:p>
            <a:pPr algn="ctr">
              <a:defRPr/>
            </a:pPr>
            <a:r>
              <a:rPr kumimoji="1" lang="zh-CN" altLang="en-US" sz="1000" kern="0" dirty="0">
                <a:solidFill>
                  <a:srgbClr val="4472C4"/>
                </a:solidFill>
                <a:latin typeface="Microsoft YaHei" panose="020B0503020204020204" pitchFamily="34" charset="-122"/>
                <a:ea typeface="Microsoft YaHei" panose="020B0503020204020204" pitchFamily="34" charset="-122"/>
              </a:rPr>
              <a:t>调用本地</a:t>
            </a:r>
            <a:r>
              <a:rPr kumimoji="1" lang="en-US" altLang="zh-CN" sz="1000" kern="0" dirty="0">
                <a:solidFill>
                  <a:srgbClr val="4472C4"/>
                </a:solidFill>
                <a:latin typeface="Microsoft YaHei" panose="020B0503020204020204" pitchFamily="34" charset="-122"/>
                <a:ea typeface="Microsoft YaHei" panose="020B0503020204020204" pitchFamily="34" charset="-122"/>
              </a:rPr>
              <a:t>MCP</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400" kern="0" dirty="0">
                <a:solidFill>
                  <a:srgbClr val="4472C4"/>
                </a:solidFill>
                <a:latin typeface="Microsoft YaHei" panose="020B0503020204020204" pitchFamily="34" charset="-122"/>
                <a:ea typeface="Microsoft YaHei" panose="020B0503020204020204" pitchFamily="34" charset="-122"/>
              </a:rPr>
              <a:t>精确识别</a:t>
            </a:r>
            <a:r>
              <a:rPr kumimoji="1" lang="zh-CN" altLang="en-US" sz="1400" b="0" i="0" u="none" strike="noStrike" kern="0" cap="none" spc="0" normalizeH="0" baseline="0" noProof="0" dirty="0">
                <a:ln>
                  <a:noFill/>
                </a:ln>
                <a:solidFill>
                  <a:srgbClr val="4472C4"/>
                </a:solidFill>
                <a:effectLst/>
                <a:uLnTx/>
                <a:uFillTx/>
                <a:latin typeface="Microsoft YaHei" panose="020B0503020204020204" pitchFamily="34" charset="-122"/>
                <a:ea typeface="Microsoft YaHei" panose="020B0503020204020204" pitchFamily="34" charset="-122"/>
              </a:rPr>
              <a:t>工作任务</a:t>
            </a:r>
          </a:p>
        </p:txBody>
      </p:sp>
      <p:sp>
        <p:nvSpPr>
          <p:cNvPr id="29" name="矩形: 圆角 28">
            <a:extLst>
              <a:ext uri="{FF2B5EF4-FFF2-40B4-BE49-F238E27FC236}">
                <a16:creationId xmlns:a16="http://schemas.microsoft.com/office/drawing/2014/main" id="{31D65159-A8C8-FCD2-FF78-80E7D0D5D3D7}"/>
              </a:ext>
            </a:extLst>
          </p:cNvPr>
          <p:cNvSpPr/>
          <p:nvPr/>
        </p:nvSpPr>
        <p:spPr>
          <a:xfrm>
            <a:off x="3247704" y="3938447"/>
            <a:ext cx="1461027" cy="216000"/>
          </a:xfrm>
          <a:prstGeom prst="roundRect">
            <a:avLst/>
          </a:prstGeom>
          <a:noFill/>
          <a:ln w="6350" cap="sq" cmpd="sng" algn="ctr">
            <a:solidFill>
              <a:srgbClr val="29484D"/>
            </a:solidFill>
            <a:prstDash val="solid"/>
            <a:miter lim="800000"/>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zh-CN" altLang="en-US" sz="1100" b="0" i="0" u="none" strike="noStrike" kern="0" cap="none" spc="0" normalizeH="0" baseline="0" noProof="0" dirty="0">
                <a:ln>
                  <a:noFill/>
                </a:ln>
                <a:solidFill>
                  <a:srgbClr val="000000"/>
                </a:solidFill>
                <a:effectLst/>
                <a:uLnTx/>
                <a:uFillTx/>
                <a:latin typeface="华文楷体"/>
                <a:ea typeface="华文楷体"/>
                <a:cs typeface="+mn-cs"/>
              </a:rPr>
              <a:t>数据检查</a:t>
            </a:r>
          </a:p>
        </p:txBody>
      </p:sp>
      <p:sp>
        <p:nvSpPr>
          <p:cNvPr id="30" name="矩形: 圆角 29">
            <a:extLst>
              <a:ext uri="{FF2B5EF4-FFF2-40B4-BE49-F238E27FC236}">
                <a16:creationId xmlns:a16="http://schemas.microsoft.com/office/drawing/2014/main" id="{24F99EFD-ABBF-A51F-94CA-7068DA660F6D}"/>
              </a:ext>
            </a:extLst>
          </p:cNvPr>
          <p:cNvSpPr/>
          <p:nvPr/>
        </p:nvSpPr>
        <p:spPr>
          <a:xfrm>
            <a:off x="3247704" y="4238836"/>
            <a:ext cx="1461027" cy="216000"/>
          </a:xfrm>
          <a:prstGeom prst="roundRect">
            <a:avLst/>
          </a:prstGeom>
          <a:noFill/>
          <a:ln w="6350" cap="sq" cmpd="sng" algn="ctr">
            <a:solidFill>
              <a:srgbClr val="29484D"/>
            </a:solidFill>
            <a:prstDash val="solid"/>
            <a:miter lim="800000"/>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zh-CN" altLang="en-US" sz="1100" b="0" i="0" u="none" strike="noStrike" kern="0" cap="none" spc="0" normalizeH="0" baseline="0" noProof="0" dirty="0">
                <a:ln>
                  <a:noFill/>
                </a:ln>
                <a:solidFill>
                  <a:srgbClr val="000000"/>
                </a:solidFill>
                <a:effectLst/>
                <a:uLnTx/>
                <a:uFillTx/>
                <a:latin typeface="华文楷体"/>
                <a:ea typeface="华文楷体"/>
                <a:cs typeface="+mn-cs"/>
              </a:rPr>
              <a:t>调用插件</a:t>
            </a:r>
          </a:p>
        </p:txBody>
      </p:sp>
      <p:sp>
        <p:nvSpPr>
          <p:cNvPr id="31" name="矩形: 圆角 30">
            <a:extLst>
              <a:ext uri="{FF2B5EF4-FFF2-40B4-BE49-F238E27FC236}">
                <a16:creationId xmlns:a16="http://schemas.microsoft.com/office/drawing/2014/main" id="{6BACEB37-22B2-29D7-7FE9-2661F09099B3}"/>
              </a:ext>
            </a:extLst>
          </p:cNvPr>
          <p:cNvSpPr/>
          <p:nvPr/>
        </p:nvSpPr>
        <p:spPr>
          <a:xfrm>
            <a:off x="3247704" y="4539225"/>
            <a:ext cx="1461027" cy="216000"/>
          </a:xfrm>
          <a:prstGeom prst="roundRect">
            <a:avLst/>
          </a:prstGeom>
          <a:noFill/>
          <a:ln w="6350" cap="sq" cmpd="sng" algn="ctr">
            <a:solidFill>
              <a:srgbClr val="29484D"/>
            </a:solidFill>
            <a:prstDash val="solid"/>
            <a:miter lim="800000"/>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zh-CN" altLang="en-US" sz="1100" b="0" i="0" u="none" strike="noStrike" kern="0" cap="none" spc="0" normalizeH="0" baseline="0" noProof="0" dirty="0">
                <a:ln>
                  <a:noFill/>
                </a:ln>
                <a:solidFill>
                  <a:srgbClr val="000000"/>
                </a:solidFill>
                <a:effectLst/>
                <a:uLnTx/>
                <a:uFillTx/>
                <a:latin typeface="华文楷体"/>
                <a:ea typeface="华文楷体"/>
                <a:cs typeface="+mn-cs"/>
              </a:rPr>
              <a:t>调用接口</a:t>
            </a:r>
          </a:p>
        </p:txBody>
      </p:sp>
      <p:cxnSp>
        <p:nvCxnSpPr>
          <p:cNvPr id="32" name="连接符: 肘形 31">
            <a:extLst>
              <a:ext uri="{FF2B5EF4-FFF2-40B4-BE49-F238E27FC236}">
                <a16:creationId xmlns:a16="http://schemas.microsoft.com/office/drawing/2014/main" id="{54CEF375-6A2D-F0B5-EE1B-862A6CCAB717}"/>
              </a:ext>
            </a:extLst>
          </p:cNvPr>
          <p:cNvCxnSpPr>
            <a:cxnSpLocks/>
            <a:stCxn id="10" idx="3"/>
            <a:endCxn id="29" idx="1"/>
          </p:cNvCxnSpPr>
          <p:nvPr/>
        </p:nvCxnSpPr>
        <p:spPr>
          <a:xfrm>
            <a:off x="2641925" y="4011758"/>
            <a:ext cx="605779" cy="34689"/>
          </a:xfrm>
          <a:prstGeom prst="bentConnector3">
            <a:avLst/>
          </a:prstGeom>
          <a:noFill/>
          <a:ln w="6350" cap="flat" cmpd="sng" algn="ctr">
            <a:solidFill>
              <a:srgbClr val="35C3F7"/>
            </a:solidFill>
            <a:prstDash val="solid"/>
            <a:miter lim="800000"/>
            <a:tailEnd type="triangle"/>
          </a:ln>
          <a:effectLst/>
        </p:spPr>
      </p:cxnSp>
      <p:cxnSp>
        <p:nvCxnSpPr>
          <p:cNvPr id="33" name="连接符: 肘形 32">
            <a:extLst>
              <a:ext uri="{FF2B5EF4-FFF2-40B4-BE49-F238E27FC236}">
                <a16:creationId xmlns:a16="http://schemas.microsoft.com/office/drawing/2014/main" id="{103BDBA4-1FAD-3845-0AB3-BAEC45BD853C}"/>
              </a:ext>
            </a:extLst>
          </p:cNvPr>
          <p:cNvCxnSpPr>
            <a:cxnSpLocks/>
            <a:stCxn id="10" idx="3"/>
            <a:endCxn id="31" idx="1"/>
          </p:cNvCxnSpPr>
          <p:nvPr/>
        </p:nvCxnSpPr>
        <p:spPr>
          <a:xfrm>
            <a:off x="2641925" y="4011758"/>
            <a:ext cx="605779" cy="635467"/>
          </a:xfrm>
          <a:prstGeom prst="bentConnector3">
            <a:avLst/>
          </a:prstGeom>
          <a:noFill/>
          <a:ln w="6350" cap="flat" cmpd="sng" algn="ctr">
            <a:solidFill>
              <a:srgbClr val="35C3F7"/>
            </a:solidFill>
            <a:prstDash val="solid"/>
            <a:miter lim="800000"/>
            <a:tailEnd type="triangle"/>
          </a:ln>
          <a:effectLst/>
        </p:spPr>
      </p:cxnSp>
      <p:cxnSp>
        <p:nvCxnSpPr>
          <p:cNvPr id="34" name="直线箭头连接符 34">
            <a:extLst>
              <a:ext uri="{FF2B5EF4-FFF2-40B4-BE49-F238E27FC236}">
                <a16:creationId xmlns:a16="http://schemas.microsoft.com/office/drawing/2014/main" id="{07A4D36F-E24E-EE9E-69F9-ABCC15D9BE95}"/>
              </a:ext>
            </a:extLst>
          </p:cNvPr>
          <p:cNvCxnSpPr>
            <a:cxnSpLocks/>
            <a:stCxn id="10" idx="2"/>
            <a:endCxn id="12" idx="0"/>
          </p:cNvCxnSpPr>
          <p:nvPr/>
        </p:nvCxnSpPr>
        <p:spPr>
          <a:xfrm>
            <a:off x="1503842" y="4257676"/>
            <a:ext cx="0" cy="290422"/>
          </a:xfrm>
          <a:prstGeom prst="straightConnector1">
            <a:avLst/>
          </a:prstGeom>
          <a:noFill/>
          <a:ln w="10795" cap="flat" cmpd="sng" algn="ctr">
            <a:solidFill>
              <a:srgbClr val="35C3F7"/>
            </a:solidFill>
            <a:prstDash val="solid"/>
            <a:tailEnd type="triangle"/>
          </a:ln>
          <a:effectLst/>
        </p:spPr>
      </p:cxnSp>
      <p:sp>
        <p:nvSpPr>
          <p:cNvPr id="35" name="矩形: 圆角 34">
            <a:extLst>
              <a:ext uri="{FF2B5EF4-FFF2-40B4-BE49-F238E27FC236}">
                <a16:creationId xmlns:a16="http://schemas.microsoft.com/office/drawing/2014/main" id="{D6ECB890-D99B-9888-E5C1-D1B4B6E3A953}"/>
              </a:ext>
            </a:extLst>
          </p:cNvPr>
          <p:cNvSpPr/>
          <p:nvPr/>
        </p:nvSpPr>
        <p:spPr>
          <a:xfrm>
            <a:off x="3247704" y="3638058"/>
            <a:ext cx="1461027" cy="216000"/>
          </a:xfrm>
          <a:prstGeom prst="roundRect">
            <a:avLst/>
          </a:prstGeom>
          <a:noFill/>
          <a:ln w="6350" cap="sq" cmpd="sng" algn="ctr">
            <a:solidFill>
              <a:srgbClr val="29484D"/>
            </a:solidFill>
            <a:prstDash val="solid"/>
            <a:miter lim="800000"/>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100" b="0" i="0" u="none" strike="noStrike" kern="0" cap="none" spc="0" normalizeH="0" baseline="0" noProof="0" dirty="0">
                <a:ln>
                  <a:noFill/>
                </a:ln>
                <a:solidFill>
                  <a:srgbClr val="000000"/>
                </a:solidFill>
                <a:effectLst/>
                <a:uLnTx/>
                <a:uFillTx/>
                <a:latin typeface="华文楷体"/>
                <a:ea typeface="华文楷体"/>
                <a:cs typeface="+mn-cs"/>
              </a:rPr>
              <a:t>权限检查</a:t>
            </a:r>
            <a:endParaRPr kumimoji="0" lang="en-US" altLang="zh-CN" sz="1100" b="0" i="0" u="none" strike="noStrike" kern="0" cap="none" spc="0" normalizeH="0" baseline="0" noProof="0" dirty="0">
              <a:ln>
                <a:noFill/>
              </a:ln>
              <a:solidFill>
                <a:srgbClr val="000000"/>
              </a:solidFill>
              <a:effectLst/>
              <a:uLnTx/>
              <a:uFillTx/>
              <a:latin typeface="华文楷体"/>
              <a:ea typeface="华文楷体"/>
              <a:cs typeface="+mn-cs"/>
            </a:endParaRPr>
          </a:p>
        </p:txBody>
      </p:sp>
      <p:sp>
        <p:nvSpPr>
          <p:cNvPr id="38" name="矩形: 圆角 37">
            <a:extLst>
              <a:ext uri="{FF2B5EF4-FFF2-40B4-BE49-F238E27FC236}">
                <a16:creationId xmlns:a16="http://schemas.microsoft.com/office/drawing/2014/main" id="{3F9413FB-9308-3253-D82E-9E77AB89EAD3}"/>
              </a:ext>
            </a:extLst>
          </p:cNvPr>
          <p:cNvSpPr/>
          <p:nvPr/>
        </p:nvSpPr>
        <p:spPr>
          <a:xfrm>
            <a:off x="3247704" y="3053612"/>
            <a:ext cx="1461027" cy="351559"/>
          </a:xfrm>
          <a:prstGeom prst="roundRect">
            <a:avLst/>
          </a:prstGeom>
          <a:noFill/>
          <a:ln w="6350" cap="sq" cmpd="sng" algn="ctr">
            <a:solidFill>
              <a:srgbClr val="29484D"/>
            </a:solidFill>
            <a:prstDash val="solid"/>
            <a:miter lim="800000"/>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800" b="0" i="0" u="none" strike="noStrike" kern="0" cap="none" spc="0" normalizeH="0" baseline="0" noProof="0" dirty="0">
                <a:ln>
                  <a:noFill/>
                </a:ln>
                <a:solidFill>
                  <a:srgbClr val="000000"/>
                </a:solidFill>
                <a:effectLst/>
                <a:uLnTx/>
                <a:uFillTx/>
                <a:latin typeface="华文楷体"/>
                <a:ea typeface="华文楷体"/>
                <a:cs typeface="+mn-cs"/>
              </a:rPr>
              <a:t>本体模型（专业外脑）</a:t>
            </a:r>
            <a:endParaRPr kumimoji="0" lang="en-US" altLang="zh-CN" sz="800" b="0" i="0" u="none" strike="noStrike" kern="0" cap="none" spc="0" normalizeH="0" baseline="0" noProof="0" dirty="0">
              <a:ln>
                <a:noFill/>
              </a:ln>
              <a:solidFill>
                <a:srgbClr val="000000"/>
              </a:solidFill>
              <a:effectLst/>
              <a:uLnTx/>
              <a:uFillTx/>
              <a:latin typeface="华文楷体"/>
              <a:ea typeface="华文楷体"/>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800" b="0" i="0" u="none" strike="noStrike" kern="0" cap="none" spc="0" normalizeH="0" baseline="0" noProof="0" dirty="0">
                <a:ln>
                  <a:noFill/>
                </a:ln>
                <a:solidFill>
                  <a:srgbClr val="000000"/>
                </a:solidFill>
                <a:effectLst/>
                <a:uLnTx/>
                <a:uFillTx/>
                <a:latin typeface="华文楷体"/>
                <a:ea typeface="华文楷体"/>
                <a:cs typeface="+mn-cs"/>
              </a:rPr>
              <a:t>获取本体定义的合法操作</a:t>
            </a:r>
          </a:p>
        </p:txBody>
      </p:sp>
      <p:cxnSp>
        <p:nvCxnSpPr>
          <p:cNvPr id="41" name="直线箭头连接符 34">
            <a:extLst>
              <a:ext uri="{FF2B5EF4-FFF2-40B4-BE49-F238E27FC236}">
                <a16:creationId xmlns:a16="http://schemas.microsoft.com/office/drawing/2014/main" id="{E82B2956-E0FA-791D-BFC1-4DA1638A4DDD}"/>
              </a:ext>
            </a:extLst>
          </p:cNvPr>
          <p:cNvCxnSpPr>
            <a:cxnSpLocks/>
            <a:stCxn id="12" idx="1"/>
            <a:endCxn id="8" idx="1"/>
          </p:cNvCxnSpPr>
          <p:nvPr/>
        </p:nvCxnSpPr>
        <p:spPr>
          <a:xfrm rot="10800000">
            <a:off x="365759" y="1664981"/>
            <a:ext cx="12700" cy="3129036"/>
          </a:xfrm>
          <a:prstGeom prst="bentConnector3">
            <a:avLst>
              <a:gd name="adj1" fmla="val 1800000"/>
            </a:avLst>
          </a:prstGeom>
          <a:noFill/>
          <a:ln w="9525" cap="flat" cmpd="sng" algn="ctr">
            <a:solidFill>
              <a:srgbClr val="EE8F62"/>
            </a:solidFill>
            <a:prstDash val="solid"/>
            <a:tailEnd type="triangle"/>
          </a:ln>
          <a:effectLst/>
        </p:spPr>
      </p:cxnSp>
      <p:cxnSp>
        <p:nvCxnSpPr>
          <p:cNvPr id="76" name="直线箭头连接符 34">
            <a:extLst>
              <a:ext uri="{FF2B5EF4-FFF2-40B4-BE49-F238E27FC236}">
                <a16:creationId xmlns:a16="http://schemas.microsoft.com/office/drawing/2014/main" id="{37DB99EF-F027-3965-A653-B0F9232DB1CA}"/>
              </a:ext>
            </a:extLst>
          </p:cNvPr>
          <p:cNvCxnSpPr>
            <a:cxnSpLocks/>
            <a:stCxn id="38" idx="1"/>
            <a:endCxn id="28" idx="3"/>
          </p:cNvCxnSpPr>
          <p:nvPr/>
        </p:nvCxnSpPr>
        <p:spPr>
          <a:xfrm flipH="1">
            <a:off x="2641925" y="3229392"/>
            <a:ext cx="605779" cy="107"/>
          </a:xfrm>
          <a:prstGeom prst="straightConnector1">
            <a:avLst/>
          </a:prstGeom>
          <a:noFill/>
          <a:ln w="10795" cap="flat" cmpd="sng" algn="ctr">
            <a:solidFill>
              <a:srgbClr val="35C3F7"/>
            </a:solidFill>
            <a:prstDash val="solid"/>
            <a:tailEnd type="triangle"/>
          </a:ln>
          <a:effectLst/>
        </p:spPr>
      </p:cxnSp>
      <p:cxnSp>
        <p:nvCxnSpPr>
          <p:cNvPr id="88" name="肘形连接符 107">
            <a:extLst>
              <a:ext uri="{FF2B5EF4-FFF2-40B4-BE49-F238E27FC236}">
                <a16:creationId xmlns:a16="http://schemas.microsoft.com/office/drawing/2014/main" id="{D3DF3C99-A58E-CE86-D7C4-1A5C5003A040}"/>
              </a:ext>
            </a:extLst>
          </p:cNvPr>
          <p:cNvCxnSpPr>
            <a:cxnSpLocks/>
            <a:stCxn id="9" idx="2"/>
            <a:endCxn id="28" idx="0"/>
          </p:cNvCxnSpPr>
          <p:nvPr/>
        </p:nvCxnSpPr>
        <p:spPr>
          <a:xfrm>
            <a:off x="1503842" y="2693158"/>
            <a:ext cx="1" cy="290422"/>
          </a:xfrm>
          <a:prstGeom prst="straightConnector1">
            <a:avLst/>
          </a:prstGeom>
          <a:noFill/>
          <a:ln w="12700" cap="flat" cmpd="sng" algn="ctr">
            <a:solidFill>
              <a:srgbClr val="29484D"/>
            </a:solidFill>
            <a:prstDash val="solid"/>
            <a:tailEnd type="triangle"/>
          </a:ln>
          <a:effectLst/>
        </p:spPr>
      </p:cxnSp>
      <p:cxnSp>
        <p:nvCxnSpPr>
          <p:cNvPr id="93" name="连接符: 肘形 92">
            <a:extLst>
              <a:ext uri="{FF2B5EF4-FFF2-40B4-BE49-F238E27FC236}">
                <a16:creationId xmlns:a16="http://schemas.microsoft.com/office/drawing/2014/main" id="{E0E04468-C601-79AA-9B7B-DC4AC63295B1}"/>
              </a:ext>
            </a:extLst>
          </p:cNvPr>
          <p:cNvCxnSpPr>
            <a:cxnSpLocks/>
            <a:stCxn id="10" idx="3"/>
            <a:endCxn id="30" idx="1"/>
          </p:cNvCxnSpPr>
          <p:nvPr/>
        </p:nvCxnSpPr>
        <p:spPr>
          <a:xfrm>
            <a:off x="2641925" y="4011758"/>
            <a:ext cx="605779" cy="335078"/>
          </a:xfrm>
          <a:prstGeom prst="bentConnector3">
            <a:avLst>
              <a:gd name="adj1" fmla="val 50000"/>
            </a:avLst>
          </a:prstGeom>
          <a:noFill/>
          <a:ln w="6350" cap="flat" cmpd="sng" algn="ctr">
            <a:solidFill>
              <a:srgbClr val="35C3F7"/>
            </a:solidFill>
            <a:prstDash val="solid"/>
            <a:miter lim="800000"/>
            <a:tailEnd type="triangle"/>
          </a:ln>
          <a:effectLst/>
        </p:spPr>
      </p:cxnSp>
      <p:cxnSp>
        <p:nvCxnSpPr>
          <p:cNvPr id="96" name="连接符: 肘形 95">
            <a:extLst>
              <a:ext uri="{FF2B5EF4-FFF2-40B4-BE49-F238E27FC236}">
                <a16:creationId xmlns:a16="http://schemas.microsoft.com/office/drawing/2014/main" id="{7779CAA1-56F3-73B1-4A3D-30DF14CDFA9F}"/>
              </a:ext>
            </a:extLst>
          </p:cNvPr>
          <p:cNvCxnSpPr>
            <a:cxnSpLocks/>
            <a:stCxn id="10" idx="3"/>
            <a:endCxn id="35" idx="1"/>
          </p:cNvCxnSpPr>
          <p:nvPr/>
        </p:nvCxnSpPr>
        <p:spPr>
          <a:xfrm flipV="1">
            <a:off x="2641925" y="3746058"/>
            <a:ext cx="605779" cy="265700"/>
          </a:xfrm>
          <a:prstGeom prst="bentConnector3">
            <a:avLst>
              <a:gd name="adj1" fmla="val 50000"/>
            </a:avLst>
          </a:prstGeom>
          <a:noFill/>
          <a:ln w="6350" cap="flat" cmpd="sng" algn="ctr">
            <a:solidFill>
              <a:srgbClr val="35C3F7"/>
            </a:solidFill>
            <a:prstDash val="solid"/>
            <a:miter lim="800000"/>
            <a:tailEnd type="triangle"/>
          </a:ln>
          <a:effectLst/>
        </p:spPr>
      </p:cxnSp>
      <p:sp>
        <p:nvSpPr>
          <p:cNvPr id="3" name="文本框 2">
            <a:extLst>
              <a:ext uri="{FF2B5EF4-FFF2-40B4-BE49-F238E27FC236}">
                <a16:creationId xmlns:a16="http://schemas.microsoft.com/office/drawing/2014/main" id="{5164A5F3-3144-787C-35C5-8395E84DA495}"/>
              </a:ext>
            </a:extLst>
          </p:cNvPr>
          <p:cNvSpPr txBox="1"/>
          <p:nvPr/>
        </p:nvSpPr>
        <p:spPr>
          <a:xfrm>
            <a:off x="5205591" y="179852"/>
            <a:ext cx="3412809" cy="4939814"/>
          </a:xfrm>
          <a:prstGeom prst="rect">
            <a:avLst/>
          </a:prstGeom>
          <a:noFill/>
        </p:spPr>
        <p:txBody>
          <a:bodyPr wrap="square">
            <a:spAutoFit/>
          </a:bodyPr>
          <a:lstStyle/>
          <a:p>
            <a:r>
              <a:rPr lang="en-US" altLang="zh-CN" sz="700" dirty="0"/>
              <a:t>【</a:t>
            </a:r>
            <a:r>
              <a:rPr lang="zh-CN" altLang="en-US" sz="700" dirty="0"/>
              <a:t>用户</a:t>
            </a:r>
            <a:r>
              <a:rPr lang="en-US" altLang="zh-CN" sz="700" dirty="0"/>
              <a:t>】</a:t>
            </a:r>
            <a:r>
              <a:rPr lang="zh-CN" altLang="en-US" sz="700" dirty="0"/>
              <a:t>：帮我看看供应商 </a:t>
            </a:r>
            <a:r>
              <a:rPr lang="en-US" altLang="zh-CN" sz="700" dirty="0"/>
              <a:t>ABC </a:t>
            </a:r>
            <a:r>
              <a:rPr lang="zh-CN" altLang="en-US" sz="700" dirty="0"/>
              <a:t>的风险</a:t>
            </a:r>
          </a:p>
          <a:p>
            <a:r>
              <a:rPr lang="zh-CN" altLang="en-US" sz="700" dirty="0"/>
              <a:t>▼</a:t>
            </a:r>
          </a:p>
          <a:p>
            <a:r>
              <a:rPr lang="en-US" altLang="zh-CN" sz="700" dirty="0"/>
              <a:t>【</a:t>
            </a:r>
            <a:r>
              <a:rPr lang="zh-CN" altLang="en-US" sz="700" dirty="0"/>
              <a:t>大模型</a:t>
            </a:r>
            <a:r>
              <a:rPr lang="en-US" altLang="zh-CN" sz="700" dirty="0"/>
              <a:t>】LLM</a:t>
            </a:r>
          </a:p>
          <a:p>
            <a:r>
              <a:rPr lang="en-US" altLang="zh-CN" sz="700" dirty="0"/>
              <a:t>    </a:t>
            </a:r>
            <a:r>
              <a:rPr lang="zh-CN" altLang="en-US" sz="700" dirty="0"/>
              <a:t>思考：用户问供应商风险，我不确定具体定义</a:t>
            </a:r>
          </a:p>
          <a:p>
            <a:r>
              <a:rPr lang="zh-CN" altLang="en-US" sz="700" dirty="0"/>
              <a:t>    输出：我要调用 </a:t>
            </a:r>
            <a:r>
              <a:rPr lang="en-US" altLang="zh-CN" sz="700" dirty="0" err="1"/>
              <a:t>ontology_intent_parse</a:t>
            </a:r>
            <a:endParaRPr lang="en-US" altLang="zh-CN" sz="700" dirty="0"/>
          </a:p>
          <a:p>
            <a:r>
              <a:rPr lang="en-US" altLang="zh-CN" sz="700" dirty="0"/>
              <a:t>▼</a:t>
            </a:r>
          </a:p>
          <a:p>
            <a:r>
              <a:rPr lang="en-US" altLang="zh-CN" sz="700" dirty="0"/>
              <a:t>【MCP </a:t>
            </a:r>
            <a:r>
              <a:rPr lang="zh-CN" altLang="en-US" sz="700" dirty="0"/>
              <a:t>协议</a:t>
            </a:r>
            <a:r>
              <a:rPr lang="en-US" altLang="zh-CN" sz="700" dirty="0"/>
              <a:t>】</a:t>
            </a:r>
            <a:r>
              <a:rPr lang="zh-CN" altLang="en-US" sz="700" dirty="0"/>
              <a:t>打包</a:t>
            </a:r>
          </a:p>
          <a:p>
            <a:r>
              <a:rPr lang="en-US" altLang="zh-CN" sz="700" dirty="0"/>
              <a:t>"</a:t>
            </a:r>
            <a:r>
              <a:rPr lang="en-US" altLang="zh-CN" sz="700" dirty="0" err="1"/>
              <a:t>jsonrpc</a:t>
            </a:r>
            <a:r>
              <a:rPr lang="en-US" altLang="zh-CN" sz="700" dirty="0"/>
              <a:t>": "2.0",</a:t>
            </a:r>
          </a:p>
          <a:p>
            <a:r>
              <a:rPr lang="en-US" altLang="zh-CN" sz="700" dirty="0"/>
              <a:t>      "method": "tools/call",</a:t>
            </a:r>
          </a:p>
          <a:p>
            <a:r>
              <a:rPr lang="en-US" altLang="zh-CN" sz="700" dirty="0"/>
              <a:t>      "params": {</a:t>
            </a:r>
          </a:p>
          <a:p>
            <a:r>
              <a:rPr lang="en-US" altLang="zh-CN" sz="700" dirty="0"/>
              <a:t>        "name": "</a:t>
            </a:r>
            <a:r>
              <a:rPr lang="en-US" altLang="zh-CN" sz="700" dirty="0" err="1"/>
              <a:t>ontology_intent_parse</a:t>
            </a:r>
            <a:r>
              <a:rPr lang="en-US" altLang="zh-CN" sz="700" dirty="0"/>
              <a:t>",</a:t>
            </a:r>
          </a:p>
          <a:p>
            <a:r>
              <a:rPr lang="en-US" altLang="zh-CN" sz="700" dirty="0"/>
              <a:t>        "arguments": {"query": "</a:t>
            </a:r>
            <a:r>
              <a:rPr lang="zh-CN" altLang="en-US" sz="700" dirty="0"/>
              <a:t>帮我看看供应商 </a:t>
            </a:r>
            <a:r>
              <a:rPr lang="en-US" altLang="zh-CN" sz="700" dirty="0"/>
              <a:t>ABC </a:t>
            </a:r>
            <a:r>
              <a:rPr lang="zh-CN" altLang="en-US" sz="700" dirty="0"/>
              <a:t>的风险</a:t>
            </a:r>
            <a:r>
              <a:rPr lang="en-US" altLang="zh-CN" sz="700" dirty="0"/>
              <a:t>"}</a:t>
            </a:r>
          </a:p>
          <a:p>
            <a:r>
              <a:rPr lang="en-US" altLang="zh-CN" sz="700" dirty="0"/>
              <a:t>▼</a:t>
            </a:r>
          </a:p>
          <a:p>
            <a:r>
              <a:rPr lang="en-US" altLang="zh-CN" sz="700" dirty="0"/>
              <a:t>【MCP Server】</a:t>
            </a:r>
            <a:r>
              <a:rPr lang="zh-CN" altLang="en-US" sz="700" dirty="0"/>
              <a:t>收到请求</a:t>
            </a:r>
          </a:p>
          <a:p>
            <a:r>
              <a:rPr lang="zh-CN" altLang="en-US" sz="700" dirty="0"/>
              <a:t>    </a:t>
            </a:r>
            <a:r>
              <a:rPr lang="en-US" altLang="zh-CN" sz="700" dirty="0"/>
              <a:t>1. </a:t>
            </a:r>
            <a:r>
              <a:rPr lang="zh-CN" altLang="en-US" sz="700" dirty="0"/>
              <a:t>权限检查：用户有权限？✓</a:t>
            </a:r>
          </a:p>
          <a:p>
            <a:r>
              <a:rPr lang="zh-CN" altLang="en-US" sz="700" dirty="0"/>
              <a:t>    </a:t>
            </a:r>
            <a:r>
              <a:rPr lang="en-US" altLang="zh-CN" sz="700" dirty="0"/>
              <a:t>2. </a:t>
            </a:r>
            <a:r>
              <a:rPr lang="zh-CN" altLang="en-US" sz="700" dirty="0"/>
              <a:t>调用 </a:t>
            </a:r>
            <a:r>
              <a:rPr lang="en-US" altLang="zh-CN" sz="700" dirty="0" err="1"/>
              <a:t>ontology_intent_parse</a:t>
            </a:r>
            <a:r>
              <a:rPr lang="en-US" altLang="zh-CN" sz="700" dirty="0"/>
              <a:t> </a:t>
            </a:r>
            <a:r>
              <a:rPr lang="zh-CN" altLang="en-US" sz="700" dirty="0"/>
              <a:t>函数</a:t>
            </a:r>
          </a:p>
          <a:p>
            <a:r>
              <a:rPr lang="zh-CN" altLang="en-US" sz="700" dirty="0"/>
              <a:t>    </a:t>
            </a:r>
            <a:r>
              <a:rPr lang="en-US" altLang="zh-CN" sz="700" dirty="0"/>
              <a:t>3. </a:t>
            </a:r>
            <a:r>
              <a:rPr lang="zh-CN" altLang="en-US" sz="700" dirty="0"/>
              <a:t>函数内部去查 </a:t>
            </a:r>
            <a:r>
              <a:rPr lang="en-US" altLang="zh-CN" sz="700" dirty="0"/>
              <a:t>Neo4j</a:t>
            </a:r>
            <a:r>
              <a:rPr lang="zh-CN" altLang="en-US" sz="700" dirty="0"/>
              <a:t>：</a:t>
            </a:r>
          </a:p>
          <a:p>
            <a:r>
              <a:rPr lang="zh-CN" altLang="en-US" sz="700" dirty="0"/>
              <a:t>       </a:t>
            </a:r>
            <a:r>
              <a:rPr lang="en-US" altLang="zh-CN" sz="700" dirty="0"/>
              <a:t>MATCH (</a:t>
            </a:r>
            <a:r>
              <a:rPr lang="en-US" altLang="zh-CN" sz="700" dirty="0" err="1"/>
              <a:t>c:Concept</a:t>
            </a:r>
            <a:r>
              <a:rPr lang="en-US" altLang="zh-CN" sz="700" dirty="0"/>
              <a:t> {name:'</a:t>
            </a:r>
            <a:r>
              <a:rPr lang="en-US" altLang="zh-CN" sz="700" dirty="0" err="1"/>
              <a:t>SupplierRisk</a:t>
            </a:r>
            <a:r>
              <a:rPr lang="en-US" altLang="zh-CN" sz="700" dirty="0"/>
              <a:t>'})-[:HAS_DIMENSION]-&gt;(d)</a:t>
            </a:r>
          </a:p>
          <a:p>
            <a:r>
              <a:rPr lang="en-US" altLang="zh-CN" sz="700" dirty="0"/>
              <a:t>       RETURN d.name</a:t>
            </a:r>
          </a:p>
          <a:p>
            <a:r>
              <a:rPr lang="en-US" altLang="zh-CN" sz="700" dirty="0"/>
              <a:t>    4. </a:t>
            </a:r>
            <a:r>
              <a:rPr lang="zh-CN" altLang="en-US" sz="700" dirty="0"/>
              <a:t>返回：</a:t>
            </a:r>
            <a:r>
              <a:rPr lang="en-US" altLang="zh-CN" sz="700" dirty="0"/>
              <a:t>["</a:t>
            </a:r>
            <a:r>
              <a:rPr lang="zh-CN" altLang="en-US" sz="700" dirty="0"/>
              <a:t>财务健康度</a:t>
            </a:r>
            <a:r>
              <a:rPr lang="en-US" altLang="zh-CN" sz="700" dirty="0"/>
              <a:t>", "</a:t>
            </a:r>
            <a:r>
              <a:rPr lang="zh-CN" altLang="en-US" sz="700" dirty="0"/>
              <a:t>履约准时率</a:t>
            </a:r>
            <a:r>
              <a:rPr lang="en-US" altLang="zh-CN" sz="700" dirty="0"/>
              <a:t>", "</a:t>
            </a:r>
            <a:r>
              <a:rPr lang="zh-CN" altLang="en-US" sz="700" dirty="0"/>
              <a:t>合规记录</a:t>
            </a:r>
            <a:r>
              <a:rPr lang="en-US" altLang="zh-CN" sz="700" dirty="0"/>
              <a:t>", "ESG</a:t>
            </a:r>
            <a:r>
              <a:rPr lang="zh-CN" altLang="en-US" sz="700" dirty="0"/>
              <a:t>评分</a:t>
            </a:r>
            <a:r>
              <a:rPr lang="en-US" altLang="zh-CN" sz="700" dirty="0"/>
              <a:t>"]</a:t>
            </a:r>
          </a:p>
          <a:p>
            <a:r>
              <a:rPr lang="en-US" altLang="zh-CN" sz="700" dirty="0"/>
              <a:t>▼</a:t>
            </a:r>
          </a:p>
          <a:p>
            <a:r>
              <a:rPr lang="en-US" altLang="zh-CN" sz="700" dirty="0"/>
              <a:t>【MCP </a:t>
            </a:r>
            <a:r>
              <a:rPr lang="zh-CN" altLang="en-US" sz="700" dirty="0"/>
              <a:t>协议</a:t>
            </a:r>
            <a:r>
              <a:rPr lang="en-US" altLang="zh-CN" sz="700" dirty="0"/>
              <a:t>】</a:t>
            </a:r>
            <a:r>
              <a:rPr lang="zh-CN" altLang="en-US" sz="700" dirty="0"/>
              <a:t>回包</a:t>
            </a:r>
          </a:p>
          <a:p>
            <a:r>
              <a:rPr lang="en-US" altLang="zh-CN" sz="700" dirty="0"/>
              <a:t>"result": {</a:t>
            </a:r>
          </a:p>
          <a:p>
            <a:r>
              <a:rPr lang="en-US" altLang="zh-CN" sz="700" dirty="0"/>
              <a:t>        "</a:t>
            </a:r>
            <a:r>
              <a:rPr lang="en-US" altLang="zh-CN" sz="700" dirty="0" err="1"/>
              <a:t>core_concept</a:t>
            </a:r>
            <a:r>
              <a:rPr lang="en-US" altLang="zh-CN" sz="700" dirty="0"/>
              <a:t>": "</a:t>
            </a:r>
            <a:r>
              <a:rPr lang="en-US" altLang="zh-CN" sz="700" dirty="0" err="1"/>
              <a:t>SupplierRisk</a:t>
            </a:r>
            <a:r>
              <a:rPr lang="en-US" altLang="zh-CN" sz="700" dirty="0"/>
              <a:t>",</a:t>
            </a:r>
          </a:p>
          <a:p>
            <a:r>
              <a:rPr lang="en-US" altLang="zh-CN" sz="700" dirty="0"/>
              <a:t>        "dimensions": ["</a:t>
            </a:r>
            <a:r>
              <a:rPr lang="zh-CN" altLang="en-US" sz="700" dirty="0"/>
              <a:t>财务健康度</a:t>
            </a:r>
            <a:r>
              <a:rPr lang="en-US" altLang="zh-CN" sz="700" dirty="0"/>
              <a:t>", "</a:t>
            </a:r>
            <a:r>
              <a:rPr lang="zh-CN" altLang="en-US" sz="700" dirty="0"/>
              <a:t>履约准时率</a:t>
            </a:r>
            <a:r>
              <a:rPr lang="en-US" altLang="zh-CN" sz="700" dirty="0"/>
              <a:t>", "</a:t>
            </a:r>
            <a:r>
              <a:rPr lang="zh-CN" altLang="en-US" sz="700" dirty="0"/>
              <a:t>合规记录</a:t>
            </a:r>
            <a:r>
              <a:rPr lang="en-US" altLang="zh-CN" sz="700" dirty="0"/>
              <a:t>", "ESG</a:t>
            </a:r>
            <a:r>
              <a:rPr lang="zh-CN" altLang="en-US" sz="700" dirty="0"/>
              <a:t>评分</a:t>
            </a:r>
            <a:r>
              <a:rPr lang="en-US" altLang="zh-CN" sz="700" dirty="0"/>
              <a:t>"]</a:t>
            </a:r>
          </a:p>
          <a:p>
            <a:r>
              <a:rPr lang="en-US" altLang="zh-CN" sz="700" dirty="0"/>
              <a:t>▼</a:t>
            </a:r>
          </a:p>
          <a:p>
            <a:r>
              <a:rPr lang="en-US" altLang="zh-CN" sz="700" dirty="0"/>
              <a:t>【</a:t>
            </a:r>
            <a:r>
              <a:rPr lang="zh-CN" altLang="en-US" sz="700" dirty="0"/>
              <a:t>大模型</a:t>
            </a:r>
            <a:r>
              <a:rPr lang="en-US" altLang="zh-CN" sz="700" dirty="0"/>
              <a:t>】</a:t>
            </a:r>
            <a:r>
              <a:rPr lang="zh-CN" altLang="en-US" sz="700" dirty="0"/>
              <a:t>收到结果</a:t>
            </a:r>
          </a:p>
          <a:p>
            <a:r>
              <a:rPr lang="zh-CN" altLang="en-US" sz="700" dirty="0"/>
              <a:t>    思考：原来供应商风险包含</a:t>
            </a:r>
            <a:r>
              <a:rPr lang="en-US" altLang="zh-CN" sz="700" dirty="0"/>
              <a:t>4</a:t>
            </a:r>
            <a:r>
              <a:rPr lang="zh-CN" altLang="en-US" sz="700" dirty="0"/>
              <a:t>个维度</a:t>
            </a:r>
          </a:p>
          <a:p>
            <a:r>
              <a:rPr lang="zh-CN" altLang="en-US" sz="700" dirty="0"/>
              <a:t>    接下来我需要查 </a:t>
            </a:r>
            <a:r>
              <a:rPr lang="en-US" altLang="zh-CN" sz="700" dirty="0"/>
              <a:t>ABC </a:t>
            </a:r>
            <a:r>
              <a:rPr lang="zh-CN" altLang="en-US" sz="700" dirty="0"/>
              <a:t>在这</a:t>
            </a:r>
            <a:r>
              <a:rPr lang="en-US" altLang="zh-CN" sz="700" dirty="0"/>
              <a:t>4</a:t>
            </a:r>
            <a:r>
              <a:rPr lang="zh-CN" altLang="en-US" sz="700" dirty="0"/>
              <a:t>个维度的数据</a:t>
            </a:r>
          </a:p>
          <a:p>
            <a:r>
              <a:rPr lang="zh-CN" altLang="en-US" sz="700" dirty="0"/>
              <a:t>    输出：我要调用数据查询工具</a:t>
            </a:r>
          </a:p>
          <a:p>
            <a:r>
              <a:rPr lang="zh-CN" altLang="en-US" sz="700" dirty="0"/>
              <a:t>▼</a:t>
            </a:r>
          </a:p>
          <a:p>
            <a:r>
              <a:rPr lang="en-US" altLang="zh-CN" sz="700" dirty="0"/>
              <a:t>【MCP Server】</a:t>
            </a:r>
            <a:r>
              <a:rPr lang="zh-CN" altLang="en-US" sz="700" dirty="0"/>
              <a:t>再次收到请求</a:t>
            </a:r>
          </a:p>
          <a:p>
            <a:r>
              <a:rPr lang="zh-CN" altLang="en-US" sz="700" dirty="0"/>
              <a:t>    这次调用的是查 </a:t>
            </a:r>
            <a:r>
              <a:rPr lang="en-US" altLang="zh-CN" sz="700" dirty="0"/>
              <a:t>SQL</a:t>
            </a:r>
            <a:r>
              <a:rPr lang="zh-CN" altLang="en-US" sz="700" dirty="0"/>
              <a:t>：</a:t>
            </a:r>
          </a:p>
          <a:p>
            <a:r>
              <a:rPr lang="zh-CN" altLang="en-US" sz="700" dirty="0"/>
              <a:t>    </a:t>
            </a:r>
            <a:r>
              <a:rPr lang="en-US" altLang="zh-CN" sz="700" dirty="0"/>
              <a:t>SELECT </a:t>
            </a:r>
            <a:r>
              <a:rPr lang="en-US" altLang="zh-CN" sz="700" dirty="0" err="1"/>
              <a:t>debt_ratio</a:t>
            </a:r>
            <a:r>
              <a:rPr lang="en-US" altLang="zh-CN" sz="700" dirty="0"/>
              <a:t>, </a:t>
            </a:r>
            <a:r>
              <a:rPr lang="en-US" altLang="zh-CN" sz="700" dirty="0" err="1"/>
              <a:t>delay_rate</a:t>
            </a:r>
            <a:r>
              <a:rPr lang="en-US" altLang="zh-CN" sz="700" dirty="0"/>
              <a:t> FROM suppliers WHERE name='ABC'</a:t>
            </a:r>
          </a:p>
          <a:p>
            <a:r>
              <a:rPr lang="en-US" altLang="zh-CN" sz="700" dirty="0"/>
              <a:t>    </a:t>
            </a:r>
            <a:r>
              <a:rPr lang="zh-CN" altLang="en-US" sz="700" dirty="0"/>
              <a:t>返回：</a:t>
            </a:r>
            <a:r>
              <a:rPr lang="en-US" altLang="zh-CN" sz="700" dirty="0"/>
              <a:t>{</a:t>
            </a:r>
            <a:r>
              <a:rPr lang="en-US" altLang="zh-CN" sz="700" dirty="0" err="1"/>
              <a:t>debt_ratio</a:t>
            </a:r>
            <a:r>
              <a:rPr lang="en-US" altLang="zh-CN" sz="700" dirty="0"/>
              <a:t>: 0.8, </a:t>
            </a:r>
            <a:r>
              <a:rPr lang="en-US" altLang="zh-CN" sz="700" dirty="0" err="1"/>
              <a:t>delay_rate</a:t>
            </a:r>
            <a:r>
              <a:rPr lang="en-US" altLang="zh-CN" sz="700" dirty="0"/>
              <a:t>: 0.15}</a:t>
            </a:r>
          </a:p>
          <a:p>
            <a:r>
              <a:rPr lang="en-US" altLang="zh-CN" sz="700" dirty="0"/>
              <a:t>▼</a:t>
            </a:r>
          </a:p>
          <a:p>
            <a:r>
              <a:rPr lang="en-US" altLang="zh-CN" sz="700" dirty="0"/>
              <a:t>【</a:t>
            </a:r>
            <a:r>
              <a:rPr lang="zh-CN" altLang="en-US" sz="700" dirty="0"/>
              <a:t>大模型</a:t>
            </a:r>
            <a:r>
              <a:rPr lang="en-US" altLang="zh-CN" sz="700" dirty="0"/>
              <a:t>】</a:t>
            </a:r>
            <a:r>
              <a:rPr lang="zh-CN" altLang="en-US" sz="700" dirty="0"/>
              <a:t>拿到数据</a:t>
            </a:r>
          </a:p>
          <a:p>
            <a:r>
              <a:rPr lang="zh-CN" altLang="en-US" sz="700" dirty="0"/>
              <a:t>    但不知道 </a:t>
            </a:r>
            <a:r>
              <a:rPr lang="en-US" altLang="zh-CN" sz="700" dirty="0"/>
              <a:t>0.8 </a:t>
            </a:r>
            <a:r>
              <a:rPr lang="zh-CN" altLang="en-US" sz="700" dirty="0"/>
              <a:t>是高还是低</a:t>
            </a:r>
          </a:p>
          <a:p>
            <a:r>
              <a:rPr lang="zh-CN" altLang="en-US" sz="700" dirty="0"/>
              <a:t>    输出：我要调用 </a:t>
            </a:r>
            <a:r>
              <a:rPr lang="en-US" altLang="zh-CN" sz="700" dirty="0" err="1"/>
              <a:t>ontology_semantic_check</a:t>
            </a:r>
            <a:endParaRPr lang="en-US" altLang="zh-CN" sz="700" dirty="0"/>
          </a:p>
          <a:p>
            <a:r>
              <a:rPr lang="en-US" altLang="zh-CN" sz="700" dirty="0"/>
              <a:t>▼</a:t>
            </a:r>
          </a:p>
          <a:p>
            <a:r>
              <a:rPr lang="en-US" altLang="zh-CN" sz="700" dirty="0"/>
              <a:t>【MCP Server】</a:t>
            </a:r>
            <a:r>
              <a:rPr lang="zh-CN" altLang="en-US" sz="700" dirty="0"/>
              <a:t>查本体</a:t>
            </a:r>
          </a:p>
          <a:p>
            <a:r>
              <a:rPr lang="zh-CN" altLang="en-US" sz="700" dirty="0"/>
              <a:t>    返回：</a:t>
            </a:r>
            <a:r>
              <a:rPr lang="en-US" altLang="zh-CN" sz="700" dirty="0" err="1"/>
              <a:t>debt_ratio</a:t>
            </a:r>
            <a:r>
              <a:rPr lang="en-US" altLang="zh-CN" sz="700" dirty="0"/>
              <a:t> &gt; 0.7 </a:t>
            </a:r>
            <a:r>
              <a:rPr lang="zh-CN" altLang="en-US" sz="700" dirty="0"/>
              <a:t>在制造业是高风险</a:t>
            </a:r>
          </a:p>
          <a:p>
            <a:r>
              <a:rPr lang="zh-CN" altLang="en-US" sz="700" dirty="0"/>
              <a:t>▼</a:t>
            </a:r>
          </a:p>
          <a:p>
            <a:r>
              <a:rPr lang="en-US" altLang="zh-CN" sz="700" dirty="0"/>
              <a:t>【</a:t>
            </a:r>
            <a:r>
              <a:rPr lang="zh-CN" altLang="en-US" sz="700" dirty="0"/>
              <a:t>大模型</a:t>
            </a:r>
            <a:r>
              <a:rPr lang="en-US" altLang="zh-CN" sz="700" dirty="0"/>
              <a:t>】</a:t>
            </a:r>
            <a:r>
              <a:rPr lang="zh-CN" altLang="en-US" sz="700" dirty="0"/>
              <a:t>综合所有信息</a:t>
            </a:r>
          </a:p>
          <a:p>
            <a:r>
              <a:rPr lang="zh-CN" altLang="en-US" sz="700" dirty="0"/>
              <a:t>   生成最终回答给用户</a:t>
            </a:r>
          </a:p>
        </p:txBody>
      </p:sp>
    </p:spTree>
    <p:extLst>
      <p:ext uri="{BB962C8B-B14F-4D97-AF65-F5344CB8AC3E}">
        <p14:creationId xmlns:p14="http://schemas.microsoft.com/office/powerpoint/2010/main" val="41947184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7FEB16A7-0279-53F7-77BB-2BBF87660815}"/>
              </a:ext>
            </a:extLst>
          </p:cNvPr>
          <p:cNvSpPr txBox="1"/>
          <p:nvPr/>
        </p:nvSpPr>
        <p:spPr>
          <a:xfrm>
            <a:off x="689545" y="882975"/>
            <a:ext cx="8019739" cy="3665042"/>
          </a:xfrm>
          <a:prstGeom prst="rect">
            <a:avLst/>
          </a:prstGeom>
          <a:noFill/>
        </p:spPr>
        <p:txBody>
          <a:bodyPr wrap="square">
            <a:spAutoFit/>
          </a:bodyPr>
          <a:lstStyle/>
          <a:p>
            <a:pPr>
              <a:lnSpc>
                <a:spcPct val="150000"/>
              </a:lnSpc>
            </a:pPr>
            <a:r>
              <a:rPr lang="en-US" altLang="zh-CN" sz="1200" dirty="0"/>
              <a:t>| #  | </a:t>
            </a:r>
            <a:r>
              <a:rPr lang="zh-CN" altLang="en-US" sz="1200" dirty="0"/>
              <a:t>场景                             </a:t>
            </a:r>
            <a:r>
              <a:rPr lang="en-US" altLang="zh-CN" sz="1200" dirty="0"/>
              <a:t>| LLM </a:t>
            </a:r>
            <a:r>
              <a:rPr lang="zh-CN" altLang="en-US" sz="1200" dirty="0"/>
              <a:t>角色        </a:t>
            </a:r>
            <a:r>
              <a:rPr lang="en-US" altLang="zh-CN" sz="1200" dirty="0"/>
              <a:t>| </a:t>
            </a:r>
            <a:r>
              <a:rPr lang="zh-CN" altLang="en-US" sz="1200" dirty="0"/>
              <a:t>本体角色             </a:t>
            </a:r>
            <a:r>
              <a:rPr lang="en-US" altLang="zh-CN" sz="1200" dirty="0"/>
              <a:t>| </a:t>
            </a:r>
            <a:r>
              <a:rPr lang="zh-CN" altLang="en-US" sz="1200" dirty="0"/>
              <a:t>触发时机                                   </a:t>
            </a:r>
            <a:r>
              <a:rPr lang="en-US" altLang="zh-CN" sz="1200" dirty="0"/>
              <a:t>|</a:t>
            </a:r>
          </a:p>
          <a:p>
            <a:pPr>
              <a:lnSpc>
                <a:spcPct val="150000"/>
              </a:lnSpc>
            </a:pPr>
            <a:r>
              <a:rPr lang="en-US" altLang="zh-CN" sz="1200" dirty="0"/>
              <a:t>| -- | --------------------------- | ------------------- | ------------------ ---- |--------------------------------------   |</a:t>
            </a:r>
          </a:p>
          <a:p>
            <a:pPr>
              <a:lnSpc>
                <a:spcPct val="150000"/>
              </a:lnSpc>
            </a:pPr>
            <a:r>
              <a:rPr lang="en-US" altLang="zh-CN" sz="1200" dirty="0"/>
              <a:t>| 1  | **</a:t>
            </a:r>
            <a:r>
              <a:rPr lang="zh-CN" altLang="en-US" sz="1200" dirty="0"/>
              <a:t>概念查询**          </a:t>
            </a:r>
            <a:r>
              <a:rPr lang="en-US" altLang="zh-CN" sz="1200" dirty="0"/>
              <a:t>| </a:t>
            </a:r>
            <a:r>
              <a:rPr lang="zh-CN" altLang="en-US" sz="1200" dirty="0"/>
              <a:t>提问者             </a:t>
            </a:r>
            <a:r>
              <a:rPr lang="en-US" altLang="zh-CN" sz="1200" dirty="0"/>
              <a:t>| </a:t>
            </a:r>
            <a:r>
              <a:rPr lang="zh-CN" altLang="en-US" sz="1200" dirty="0"/>
              <a:t>知识库                   </a:t>
            </a:r>
            <a:r>
              <a:rPr lang="en-US" altLang="zh-CN" sz="1200" dirty="0"/>
              <a:t>| </a:t>
            </a:r>
            <a:r>
              <a:rPr lang="zh-CN" altLang="en-US" sz="1200" dirty="0"/>
              <a:t>遇到不确定的专业概念       </a:t>
            </a:r>
            <a:r>
              <a:rPr lang="en-US" altLang="zh-CN" sz="1200" dirty="0"/>
              <a:t>|</a:t>
            </a:r>
          </a:p>
          <a:p>
            <a:pPr>
              <a:lnSpc>
                <a:spcPct val="150000"/>
              </a:lnSpc>
            </a:pPr>
            <a:r>
              <a:rPr lang="en-US" altLang="zh-CN" sz="1200" dirty="0"/>
              <a:t>| 2  | **</a:t>
            </a:r>
            <a:r>
              <a:rPr lang="zh-CN" altLang="en-US" sz="1200" dirty="0"/>
              <a:t>任务规划验证** </a:t>
            </a:r>
            <a:r>
              <a:rPr lang="en-US" altLang="zh-CN" sz="1200" dirty="0"/>
              <a:t>| </a:t>
            </a:r>
            <a:r>
              <a:rPr lang="zh-CN" altLang="en-US" sz="1200" dirty="0"/>
              <a:t>生成者             </a:t>
            </a:r>
            <a:r>
              <a:rPr lang="en-US" altLang="zh-CN" sz="1200" dirty="0"/>
              <a:t>| </a:t>
            </a:r>
            <a:r>
              <a:rPr lang="zh-CN" altLang="en-US" sz="1200" dirty="0"/>
              <a:t>审核者                   </a:t>
            </a:r>
            <a:r>
              <a:rPr lang="en-US" altLang="zh-CN" sz="1200" dirty="0"/>
              <a:t>| </a:t>
            </a:r>
            <a:r>
              <a:rPr lang="zh-CN" altLang="en-US" sz="1200" dirty="0"/>
              <a:t>生成多步计划后                     </a:t>
            </a:r>
            <a:r>
              <a:rPr lang="en-US" altLang="zh-CN" sz="1200" dirty="0"/>
              <a:t>|</a:t>
            </a:r>
          </a:p>
          <a:p>
            <a:pPr>
              <a:lnSpc>
                <a:spcPct val="150000"/>
              </a:lnSpc>
            </a:pPr>
            <a:r>
              <a:rPr lang="en-US" altLang="zh-CN" sz="1200" dirty="0"/>
              <a:t>| 3  | **</a:t>
            </a:r>
            <a:r>
              <a:rPr lang="zh-CN" altLang="en-US" sz="1200" dirty="0"/>
              <a:t>语义标准查询** </a:t>
            </a:r>
            <a:r>
              <a:rPr lang="en-US" altLang="zh-CN" sz="1200" dirty="0"/>
              <a:t>| </a:t>
            </a:r>
            <a:r>
              <a:rPr lang="zh-CN" altLang="en-US" sz="1200" dirty="0"/>
              <a:t>理解者             </a:t>
            </a:r>
            <a:r>
              <a:rPr lang="en-US" altLang="zh-CN" sz="1200" dirty="0"/>
              <a:t>| </a:t>
            </a:r>
            <a:r>
              <a:rPr lang="zh-CN" altLang="en-US" sz="1200" dirty="0"/>
              <a:t>解释者                   </a:t>
            </a:r>
            <a:r>
              <a:rPr lang="en-US" altLang="zh-CN" sz="1200" dirty="0"/>
              <a:t>| </a:t>
            </a:r>
            <a:r>
              <a:rPr lang="zh-CN" altLang="en-US" sz="1200" dirty="0"/>
              <a:t>拿到业务数据需要判断        </a:t>
            </a:r>
            <a:r>
              <a:rPr lang="en-US" altLang="zh-CN" sz="1200" dirty="0"/>
              <a:t>|</a:t>
            </a:r>
          </a:p>
          <a:p>
            <a:pPr>
              <a:lnSpc>
                <a:spcPct val="150000"/>
              </a:lnSpc>
            </a:pPr>
            <a:r>
              <a:rPr lang="en-US" altLang="zh-CN" sz="1200" dirty="0"/>
              <a:t>| 4  | **</a:t>
            </a:r>
            <a:r>
              <a:rPr lang="zh-CN" altLang="en-US" sz="1200" dirty="0"/>
              <a:t>规则推理**          </a:t>
            </a:r>
            <a:r>
              <a:rPr lang="en-US" altLang="zh-CN" sz="1200" dirty="0"/>
              <a:t>| </a:t>
            </a:r>
            <a:r>
              <a:rPr lang="zh-CN" altLang="en-US" sz="1200" dirty="0"/>
              <a:t>提供事实         </a:t>
            </a:r>
            <a:r>
              <a:rPr lang="en-US" altLang="zh-CN" sz="1200" dirty="0"/>
              <a:t>| </a:t>
            </a:r>
            <a:r>
              <a:rPr lang="zh-CN" altLang="en-US" sz="1200" dirty="0"/>
              <a:t>精确计算              </a:t>
            </a:r>
            <a:r>
              <a:rPr lang="en-US" altLang="zh-CN" sz="1200" dirty="0"/>
              <a:t>| </a:t>
            </a:r>
            <a:r>
              <a:rPr lang="zh-CN" altLang="en-US" sz="1200" dirty="0"/>
              <a:t>多维度事实需要综合判断   </a:t>
            </a:r>
            <a:r>
              <a:rPr lang="en-US" altLang="zh-CN" sz="1200" dirty="0"/>
              <a:t>|</a:t>
            </a:r>
          </a:p>
          <a:p>
            <a:pPr>
              <a:lnSpc>
                <a:spcPct val="150000"/>
              </a:lnSpc>
            </a:pPr>
            <a:r>
              <a:rPr lang="en-US" altLang="zh-CN" sz="1200" dirty="0"/>
              <a:t>| 5  | **</a:t>
            </a:r>
            <a:r>
              <a:rPr lang="zh-CN" altLang="en-US" sz="1200" dirty="0"/>
              <a:t>存储反馈**          </a:t>
            </a:r>
            <a:r>
              <a:rPr lang="en-US" altLang="zh-CN" sz="1200" dirty="0"/>
              <a:t>| </a:t>
            </a:r>
            <a:r>
              <a:rPr lang="zh-CN" altLang="en-US" sz="1200" dirty="0"/>
              <a:t>经验提炼者     </a:t>
            </a:r>
            <a:r>
              <a:rPr lang="en-US" altLang="zh-CN" sz="1200" dirty="0"/>
              <a:t>| </a:t>
            </a:r>
            <a:r>
              <a:rPr lang="zh-CN" altLang="en-US" sz="1200" dirty="0"/>
              <a:t>结构化存储         </a:t>
            </a:r>
            <a:r>
              <a:rPr lang="en-US" altLang="zh-CN" sz="1200" dirty="0"/>
              <a:t>| </a:t>
            </a:r>
            <a:r>
              <a:rPr lang="zh-CN" altLang="en-US" sz="1200" dirty="0"/>
              <a:t>任务完成有验证结果            </a:t>
            </a:r>
            <a:r>
              <a:rPr lang="en-US" altLang="zh-CN" sz="1200" dirty="0"/>
              <a:t>|</a:t>
            </a:r>
          </a:p>
          <a:p>
            <a:pPr>
              <a:lnSpc>
                <a:spcPct val="150000"/>
              </a:lnSpc>
            </a:pPr>
            <a:r>
              <a:rPr lang="en-US" altLang="zh-CN" sz="1200" dirty="0"/>
              <a:t>| 6  | **</a:t>
            </a:r>
            <a:r>
              <a:rPr lang="zh-CN" altLang="en-US" sz="1200" dirty="0"/>
              <a:t>冲突裁决**          </a:t>
            </a:r>
            <a:r>
              <a:rPr lang="en-US" altLang="zh-CN" sz="1200" dirty="0"/>
              <a:t>| </a:t>
            </a:r>
            <a:r>
              <a:rPr lang="zh-CN" altLang="en-US" sz="1200" dirty="0"/>
              <a:t>检测冲突         </a:t>
            </a:r>
            <a:r>
              <a:rPr lang="en-US" altLang="zh-CN" sz="1200" dirty="0"/>
              <a:t>| </a:t>
            </a:r>
            <a:r>
              <a:rPr lang="zh-CN" altLang="en-US" sz="1200" dirty="0"/>
              <a:t>权威裁定              </a:t>
            </a:r>
            <a:r>
              <a:rPr lang="en-US" altLang="zh-CN" sz="1200" dirty="0"/>
              <a:t>| </a:t>
            </a:r>
            <a:r>
              <a:rPr lang="zh-CN" altLang="en-US" sz="1200" dirty="0"/>
              <a:t>多规则</a:t>
            </a:r>
            <a:r>
              <a:rPr lang="en-US" altLang="zh-CN" sz="1200" dirty="0"/>
              <a:t>/</a:t>
            </a:r>
            <a:r>
              <a:rPr lang="zh-CN" altLang="en-US" sz="1200" dirty="0"/>
              <a:t>多 </a:t>
            </a:r>
            <a:r>
              <a:rPr lang="en-US" altLang="zh-CN" sz="1200" dirty="0"/>
              <a:t>Agent </a:t>
            </a:r>
            <a:r>
              <a:rPr lang="zh-CN" altLang="en-US" sz="1200" dirty="0"/>
              <a:t>结论矛盾  </a:t>
            </a:r>
            <a:r>
              <a:rPr lang="en-US" altLang="zh-CN" sz="1200" dirty="0"/>
              <a:t>|</a:t>
            </a:r>
          </a:p>
          <a:p>
            <a:pPr>
              <a:lnSpc>
                <a:spcPct val="150000"/>
              </a:lnSpc>
            </a:pPr>
            <a:r>
              <a:rPr lang="en-US" altLang="zh-CN" sz="1200" dirty="0"/>
              <a:t>| 7  | **</a:t>
            </a:r>
            <a:r>
              <a:rPr lang="zh-CN" altLang="en-US" sz="1200" dirty="0"/>
              <a:t>概念演化**          </a:t>
            </a:r>
            <a:r>
              <a:rPr lang="en-US" altLang="zh-CN" sz="1200" dirty="0"/>
              <a:t>| </a:t>
            </a:r>
            <a:r>
              <a:rPr lang="zh-CN" altLang="en-US" sz="1200" dirty="0"/>
              <a:t>发现新概念     </a:t>
            </a:r>
            <a:r>
              <a:rPr lang="en-US" altLang="zh-CN" sz="1200" dirty="0"/>
              <a:t>| </a:t>
            </a:r>
            <a:r>
              <a:rPr lang="zh-CN" altLang="en-US" sz="1200" dirty="0"/>
              <a:t>扩展定义              </a:t>
            </a:r>
            <a:r>
              <a:rPr lang="en-US" altLang="zh-CN" sz="1200" dirty="0"/>
              <a:t>| </a:t>
            </a:r>
            <a:r>
              <a:rPr lang="zh-CN" altLang="en-US" sz="1200" dirty="0"/>
              <a:t>现有概念无法覆盖新场景   </a:t>
            </a:r>
            <a:r>
              <a:rPr lang="en-US" altLang="zh-CN" sz="1200" dirty="0"/>
              <a:t>|</a:t>
            </a:r>
          </a:p>
          <a:p>
            <a:pPr>
              <a:lnSpc>
                <a:spcPct val="150000"/>
              </a:lnSpc>
            </a:pPr>
            <a:r>
              <a:rPr lang="en-US" altLang="zh-CN" sz="1200" dirty="0"/>
              <a:t>| 8  | **</a:t>
            </a:r>
            <a:r>
              <a:rPr lang="zh-CN" altLang="en-US" sz="1200" dirty="0"/>
              <a:t>路径回溯**          </a:t>
            </a:r>
            <a:r>
              <a:rPr lang="en-US" altLang="zh-CN" sz="1200" dirty="0"/>
              <a:t>| </a:t>
            </a:r>
            <a:r>
              <a:rPr lang="zh-CN" altLang="en-US" sz="1200" dirty="0"/>
              <a:t>请求解释         </a:t>
            </a:r>
            <a:r>
              <a:rPr lang="en-US" altLang="zh-CN" sz="1200" dirty="0"/>
              <a:t>| </a:t>
            </a:r>
            <a:r>
              <a:rPr lang="zh-CN" altLang="en-US" sz="1200" dirty="0"/>
              <a:t>返回推导链          </a:t>
            </a:r>
            <a:r>
              <a:rPr lang="en-US" altLang="zh-CN" sz="1200" dirty="0"/>
              <a:t>| </a:t>
            </a:r>
            <a:r>
              <a:rPr lang="zh-CN" altLang="en-US" sz="1200" dirty="0"/>
              <a:t>用户质疑结论依据                </a:t>
            </a:r>
            <a:r>
              <a:rPr lang="en-US" altLang="zh-CN" sz="1200" dirty="0"/>
              <a:t>|</a:t>
            </a:r>
          </a:p>
          <a:p>
            <a:pPr>
              <a:lnSpc>
                <a:spcPct val="150000"/>
              </a:lnSpc>
            </a:pPr>
            <a:r>
              <a:rPr lang="en-US" altLang="zh-CN" sz="1200" dirty="0"/>
              <a:t>| 9  | **</a:t>
            </a:r>
            <a:r>
              <a:rPr lang="zh-CN" altLang="en-US" sz="1200" dirty="0"/>
              <a:t>上下文继承**     </a:t>
            </a:r>
            <a:r>
              <a:rPr lang="en-US" altLang="zh-CN" sz="1200" dirty="0"/>
              <a:t>| </a:t>
            </a:r>
            <a:r>
              <a:rPr lang="zh-CN" altLang="en-US" sz="1200" dirty="0"/>
              <a:t>使用指代          </a:t>
            </a:r>
            <a:r>
              <a:rPr lang="en-US" altLang="zh-CN" sz="1200" dirty="0"/>
              <a:t>| </a:t>
            </a:r>
            <a:r>
              <a:rPr lang="zh-CN" altLang="en-US" sz="1200" dirty="0"/>
              <a:t>维护实体绑定     </a:t>
            </a:r>
            <a:r>
              <a:rPr lang="en-US" altLang="zh-CN" sz="1200" dirty="0"/>
              <a:t>| </a:t>
            </a:r>
            <a:r>
              <a:rPr lang="zh-CN" altLang="en-US" sz="1200" dirty="0"/>
              <a:t>多轮对话中的这个该            </a:t>
            </a:r>
            <a:r>
              <a:rPr lang="en-US" altLang="zh-CN" sz="1200" dirty="0"/>
              <a:t>|</a:t>
            </a:r>
          </a:p>
          <a:p>
            <a:pPr>
              <a:lnSpc>
                <a:spcPct val="150000"/>
              </a:lnSpc>
            </a:pPr>
            <a:r>
              <a:rPr lang="en-US" altLang="zh-CN" sz="1200" dirty="0"/>
              <a:t>| 10 | **</a:t>
            </a:r>
            <a:r>
              <a:rPr lang="zh-CN" altLang="en-US" sz="1200" dirty="0"/>
              <a:t>跨本体映射**    </a:t>
            </a:r>
            <a:r>
              <a:rPr lang="en-US" altLang="zh-CN" sz="1200" dirty="0"/>
              <a:t>| </a:t>
            </a:r>
            <a:r>
              <a:rPr lang="zh-CN" altLang="en-US" sz="1200" dirty="0"/>
              <a:t>发现术语差异 </a:t>
            </a:r>
            <a:r>
              <a:rPr lang="en-US" altLang="zh-CN" sz="1200" dirty="0"/>
              <a:t>| </a:t>
            </a:r>
            <a:r>
              <a:rPr lang="zh-CN" altLang="en-US" sz="1200" dirty="0"/>
              <a:t>提供对齐关系     </a:t>
            </a:r>
            <a:r>
              <a:rPr lang="en-US" altLang="zh-CN" sz="1200" dirty="0"/>
              <a:t>| </a:t>
            </a:r>
            <a:r>
              <a:rPr lang="zh-CN" altLang="en-US" sz="1200" dirty="0"/>
              <a:t>不同系统术语不一致            </a:t>
            </a:r>
            <a:r>
              <a:rPr lang="en-US" altLang="zh-CN" sz="1200" dirty="0"/>
              <a:t>|</a:t>
            </a:r>
          </a:p>
          <a:p>
            <a:pPr>
              <a:lnSpc>
                <a:spcPct val="150000"/>
              </a:lnSpc>
            </a:pPr>
            <a:r>
              <a:rPr lang="en-US" altLang="zh-CN" sz="1200" dirty="0"/>
              <a:t>| 11 | **</a:t>
            </a:r>
            <a:r>
              <a:rPr lang="zh-CN" altLang="en-US" sz="1200" dirty="0"/>
              <a:t>假设推演**        </a:t>
            </a:r>
            <a:r>
              <a:rPr lang="en-US" altLang="zh-CN" sz="1200" dirty="0"/>
              <a:t>| </a:t>
            </a:r>
            <a:r>
              <a:rPr lang="zh-CN" altLang="en-US" sz="1200" dirty="0"/>
              <a:t>提出假设          </a:t>
            </a:r>
            <a:r>
              <a:rPr lang="en-US" altLang="zh-CN" sz="1200" dirty="0"/>
              <a:t>| </a:t>
            </a:r>
            <a:r>
              <a:rPr lang="zh-CN" altLang="en-US" sz="1200" dirty="0"/>
              <a:t>执行反事实推理 </a:t>
            </a:r>
            <a:r>
              <a:rPr lang="en-US" altLang="zh-CN" sz="1200" dirty="0"/>
              <a:t>| </a:t>
            </a:r>
            <a:r>
              <a:rPr lang="zh-CN" altLang="en-US" sz="1200" dirty="0"/>
              <a:t>用户问如果</a:t>
            </a:r>
            <a:r>
              <a:rPr lang="en-US" altLang="zh-CN" sz="1200" dirty="0"/>
              <a:t>...</a:t>
            </a:r>
            <a:r>
              <a:rPr lang="zh-CN" altLang="en-US" sz="1200" dirty="0"/>
              <a:t>会怎样             </a:t>
            </a:r>
            <a:r>
              <a:rPr lang="en-US" altLang="zh-CN" sz="1200" dirty="0"/>
              <a:t>|</a:t>
            </a:r>
          </a:p>
        </p:txBody>
      </p:sp>
      <p:sp>
        <p:nvSpPr>
          <p:cNvPr id="5" name="文本框 4">
            <a:extLst>
              <a:ext uri="{FF2B5EF4-FFF2-40B4-BE49-F238E27FC236}">
                <a16:creationId xmlns:a16="http://schemas.microsoft.com/office/drawing/2014/main" id="{EB9DEB4C-CB45-CFD9-5AFA-180D82A27ABD}"/>
              </a:ext>
            </a:extLst>
          </p:cNvPr>
          <p:cNvSpPr txBox="1"/>
          <p:nvPr/>
        </p:nvSpPr>
        <p:spPr>
          <a:xfrm>
            <a:off x="603504" y="269855"/>
            <a:ext cx="4572000" cy="461665"/>
          </a:xfrm>
          <a:prstGeom prst="rect">
            <a:avLst/>
          </a:prstGeom>
          <a:noFill/>
        </p:spPr>
        <p:txBody>
          <a:bodyPr wrap="square">
            <a:spAutoFit/>
          </a:bodyPr>
          <a:lstStyle/>
          <a:p>
            <a:r>
              <a:rPr lang="zh-CN" altLang="en-US" sz="2400" b="1" dirty="0">
                <a:solidFill>
                  <a:srgbClr val="1E293B"/>
                </a:solidFill>
                <a:latin typeface="Arial" pitchFamily="34" charset="0"/>
                <a:ea typeface="微软雅黑" panose="020B0503020204020204" pitchFamily="34" charset="-122"/>
                <a:cs typeface="Arial" pitchFamily="34" charset="-120"/>
              </a:rPr>
              <a:t>十一类核心互动场景</a:t>
            </a:r>
          </a:p>
        </p:txBody>
      </p:sp>
      <p:sp>
        <p:nvSpPr>
          <p:cNvPr id="6" name="Shape 1">
            <a:extLst>
              <a:ext uri="{FF2B5EF4-FFF2-40B4-BE49-F238E27FC236}">
                <a16:creationId xmlns:a16="http://schemas.microsoft.com/office/drawing/2014/main" id="{0506A8A9-7D8D-4A96-8E0C-00F2D1EE717C}"/>
              </a:ext>
            </a:extLst>
          </p:cNvPr>
          <p:cNvSpPr/>
          <p:nvPr/>
        </p:nvSpPr>
        <p:spPr>
          <a:xfrm>
            <a:off x="548640" y="274320"/>
            <a:ext cx="54864" cy="457200"/>
          </a:xfrm>
          <a:prstGeom prst="rect">
            <a:avLst/>
          </a:prstGeom>
          <a:solidFill>
            <a:srgbClr val="22A699"/>
          </a:solidFill>
          <a:ln/>
        </p:spPr>
        <p:txBody>
          <a:bodyPr/>
          <a:lstStyle/>
          <a:p>
            <a:endParaRPr lang="zh-CN" altLang="en-US"/>
          </a:p>
        </p:txBody>
      </p:sp>
    </p:spTree>
    <p:extLst>
      <p:ext uri="{BB962C8B-B14F-4D97-AF65-F5344CB8AC3E}">
        <p14:creationId xmlns:p14="http://schemas.microsoft.com/office/powerpoint/2010/main" val="37590307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FD192495-BAB2-6B9F-0B23-CB0B2E4D9A81}"/>
              </a:ext>
            </a:extLst>
          </p:cNvPr>
          <p:cNvSpPr txBox="1"/>
          <p:nvPr/>
        </p:nvSpPr>
        <p:spPr>
          <a:xfrm>
            <a:off x="1409074" y="974442"/>
            <a:ext cx="6250899" cy="3789435"/>
          </a:xfrm>
          <a:prstGeom prst="rect">
            <a:avLst/>
          </a:prstGeom>
          <a:noFill/>
        </p:spPr>
        <p:txBody>
          <a:bodyPr wrap="square">
            <a:spAutoFit/>
          </a:bodyPr>
          <a:lstStyle/>
          <a:p>
            <a:pPr>
              <a:lnSpc>
                <a:spcPct val="150000"/>
              </a:lnSpc>
            </a:pPr>
            <a:r>
              <a:rPr lang="zh-CN" altLang="en-US" dirty="0"/>
              <a:t>场景 </a:t>
            </a:r>
            <a:r>
              <a:rPr lang="en-US" altLang="zh-CN" dirty="0"/>
              <a:t>1</a:t>
            </a:r>
            <a:r>
              <a:rPr lang="zh-CN" altLang="en-US" dirty="0"/>
              <a:t>：概念查询（</a:t>
            </a:r>
            <a:r>
              <a:rPr lang="en-US" altLang="zh-CN" dirty="0" err="1"/>
              <a:t>ontology_intent_parse</a:t>
            </a:r>
            <a:r>
              <a:rPr lang="zh-CN" altLang="en-US" dirty="0"/>
              <a:t>）</a:t>
            </a:r>
          </a:p>
          <a:p>
            <a:pPr>
              <a:lnSpc>
                <a:spcPct val="150000"/>
              </a:lnSpc>
            </a:pPr>
            <a:r>
              <a:rPr lang="zh-CN" altLang="en-US" dirty="0"/>
              <a:t>目的：将自然语言意图映射到本体概念图谱。</a:t>
            </a:r>
          </a:p>
          <a:p>
            <a:pPr>
              <a:lnSpc>
                <a:spcPct val="150000"/>
              </a:lnSpc>
            </a:pPr>
            <a:r>
              <a:rPr lang="zh-CN" altLang="en-US" dirty="0"/>
              <a:t>输入：用户原始查询字符串。</a:t>
            </a:r>
          </a:p>
          <a:p>
            <a:pPr>
              <a:lnSpc>
                <a:spcPct val="150000"/>
              </a:lnSpc>
            </a:pPr>
            <a:r>
              <a:rPr lang="zh-CN" altLang="en-US" dirty="0"/>
              <a:t>输出：</a:t>
            </a:r>
          </a:p>
          <a:p>
            <a:pPr marL="285750" indent="-285750">
              <a:lnSpc>
                <a:spcPct val="150000"/>
              </a:lnSpc>
              <a:buFont typeface="Arial" panose="020B0604020202020204" pitchFamily="34" charset="0"/>
              <a:buChar char="•"/>
            </a:pPr>
            <a:r>
              <a:rPr lang="zh-CN" altLang="en-US" dirty="0"/>
              <a:t>核心概念（如 </a:t>
            </a:r>
            <a:r>
              <a:rPr lang="en-US" altLang="zh-CN" dirty="0" err="1"/>
              <a:t>SupplierRisk</a:t>
            </a:r>
            <a:r>
              <a:rPr lang="zh-CN" altLang="en-US" dirty="0"/>
              <a:t>）</a:t>
            </a:r>
          </a:p>
          <a:p>
            <a:pPr marL="285750" indent="-285750">
              <a:lnSpc>
                <a:spcPct val="150000"/>
              </a:lnSpc>
              <a:buFont typeface="Arial" panose="020B0604020202020204" pitchFamily="34" charset="0"/>
              <a:buChar char="•"/>
            </a:pPr>
            <a:r>
              <a:rPr lang="zh-CN" altLang="en-US" dirty="0"/>
              <a:t>关联概念列表</a:t>
            </a:r>
          </a:p>
          <a:p>
            <a:pPr marL="285750" indent="-285750">
              <a:lnSpc>
                <a:spcPct val="150000"/>
              </a:lnSpc>
              <a:buFont typeface="Arial" panose="020B0604020202020204" pitchFamily="34" charset="0"/>
              <a:buChar char="•"/>
            </a:pPr>
            <a:r>
              <a:rPr lang="zh-CN" altLang="en-US" dirty="0"/>
              <a:t>涉及的实体实例（如供应商 </a:t>
            </a:r>
            <a:r>
              <a:rPr lang="en-US" altLang="zh-CN" dirty="0"/>
              <a:t>ABC</a:t>
            </a:r>
            <a:r>
              <a:rPr lang="zh-CN" altLang="en-US" dirty="0"/>
              <a:t>）</a:t>
            </a:r>
          </a:p>
          <a:p>
            <a:pPr marL="285750" indent="-285750">
              <a:lnSpc>
                <a:spcPct val="150000"/>
              </a:lnSpc>
              <a:buFont typeface="Arial" panose="020B0604020202020204" pitchFamily="34" charset="0"/>
              <a:buChar char="•"/>
            </a:pPr>
            <a:r>
              <a:rPr lang="zh-CN" altLang="en-US" dirty="0"/>
              <a:t>建议的查询维度</a:t>
            </a:r>
          </a:p>
          <a:p>
            <a:pPr>
              <a:lnSpc>
                <a:spcPct val="150000"/>
              </a:lnSpc>
            </a:pPr>
            <a:r>
              <a:rPr lang="en-US" altLang="zh-CN" dirty="0"/>
              <a:t>LLM </a:t>
            </a:r>
            <a:r>
              <a:rPr lang="zh-CN" altLang="en-US" dirty="0"/>
              <a:t>触发时机：收到任何业务相关查询的第一步。</a:t>
            </a:r>
          </a:p>
        </p:txBody>
      </p:sp>
      <p:sp>
        <p:nvSpPr>
          <p:cNvPr id="5" name="文本框 4">
            <a:extLst>
              <a:ext uri="{FF2B5EF4-FFF2-40B4-BE49-F238E27FC236}">
                <a16:creationId xmlns:a16="http://schemas.microsoft.com/office/drawing/2014/main" id="{41439BE2-99D6-51FE-3E44-8301AE3C7FAB}"/>
              </a:ext>
            </a:extLst>
          </p:cNvPr>
          <p:cNvSpPr txBox="1"/>
          <p:nvPr/>
        </p:nvSpPr>
        <p:spPr>
          <a:xfrm>
            <a:off x="603504" y="257224"/>
            <a:ext cx="4572000" cy="461665"/>
          </a:xfrm>
          <a:prstGeom prst="rect">
            <a:avLst/>
          </a:prstGeom>
          <a:noFill/>
        </p:spPr>
        <p:txBody>
          <a:bodyPr wrap="square">
            <a:spAutoFit/>
          </a:bodyPr>
          <a:lstStyle/>
          <a:p>
            <a:r>
              <a:rPr lang="zh-CN" altLang="en-US" sz="2400" b="1" dirty="0">
                <a:solidFill>
                  <a:srgbClr val="1E293B"/>
                </a:solidFill>
                <a:latin typeface="Arial" pitchFamily="34" charset="0"/>
                <a:ea typeface="微软雅黑" panose="020B0503020204020204" pitchFamily="34" charset="-122"/>
                <a:cs typeface="Arial" pitchFamily="34" charset="-120"/>
              </a:rPr>
              <a:t>场景详细说明</a:t>
            </a:r>
          </a:p>
        </p:txBody>
      </p:sp>
      <p:sp>
        <p:nvSpPr>
          <p:cNvPr id="6" name="Shape 1">
            <a:extLst>
              <a:ext uri="{FF2B5EF4-FFF2-40B4-BE49-F238E27FC236}">
                <a16:creationId xmlns:a16="http://schemas.microsoft.com/office/drawing/2014/main" id="{082C3B5E-C308-F209-0C59-68C20DDB1962}"/>
              </a:ext>
            </a:extLst>
          </p:cNvPr>
          <p:cNvSpPr/>
          <p:nvPr/>
        </p:nvSpPr>
        <p:spPr>
          <a:xfrm>
            <a:off x="548640" y="274320"/>
            <a:ext cx="54864" cy="457200"/>
          </a:xfrm>
          <a:prstGeom prst="rect">
            <a:avLst/>
          </a:prstGeom>
          <a:solidFill>
            <a:srgbClr val="22A699"/>
          </a:solidFill>
          <a:ln/>
        </p:spPr>
        <p:txBody>
          <a:bodyPr/>
          <a:lstStyle/>
          <a:p>
            <a:endParaRPr lang="zh-CN" altLang="en-US"/>
          </a:p>
        </p:txBody>
      </p:sp>
    </p:spTree>
    <p:extLst>
      <p:ext uri="{BB962C8B-B14F-4D97-AF65-F5344CB8AC3E}">
        <p14:creationId xmlns:p14="http://schemas.microsoft.com/office/powerpoint/2010/main" val="41677147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970B2-7EEA-F5E0-4EED-CA6E77AA52F3}"/>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6C878CCD-E76B-58C3-790E-7E47D504DCA1}"/>
              </a:ext>
            </a:extLst>
          </p:cNvPr>
          <p:cNvSpPr txBox="1"/>
          <p:nvPr/>
        </p:nvSpPr>
        <p:spPr>
          <a:xfrm>
            <a:off x="1409074" y="974442"/>
            <a:ext cx="6250899" cy="3789435"/>
          </a:xfrm>
          <a:prstGeom prst="rect">
            <a:avLst/>
          </a:prstGeom>
          <a:noFill/>
        </p:spPr>
        <p:txBody>
          <a:bodyPr wrap="square">
            <a:spAutoFit/>
          </a:bodyPr>
          <a:lstStyle/>
          <a:p>
            <a:pPr>
              <a:lnSpc>
                <a:spcPct val="150000"/>
              </a:lnSpc>
            </a:pPr>
            <a:r>
              <a:rPr lang="zh-CN" altLang="en-US" dirty="0"/>
              <a:t>场景 </a:t>
            </a:r>
            <a:r>
              <a:rPr lang="en-US" altLang="zh-CN" dirty="0"/>
              <a:t>2</a:t>
            </a:r>
            <a:r>
              <a:rPr lang="zh-CN" altLang="en-US" dirty="0"/>
              <a:t>：任务规划验证（</a:t>
            </a:r>
            <a:r>
              <a:rPr lang="en-US" altLang="zh-CN" dirty="0" err="1"/>
              <a:t>ontology_plan_validate</a:t>
            </a:r>
            <a:r>
              <a:rPr lang="zh-CN" altLang="en-US" dirty="0"/>
              <a:t>）</a:t>
            </a:r>
          </a:p>
          <a:p>
            <a:pPr>
              <a:lnSpc>
                <a:spcPct val="150000"/>
              </a:lnSpc>
            </a:pPr>
            <a:r>
              <a:rPr lang="zh-CN" altLang="en-US" dirty="0"/>
              <a:t>目的：检查 </a:t>
            </a:r>
            <a:r>
              <a:rPr lang="en-US" altLang="zh-CN" dirty="0"/>
              <a:t>LLM </a:t>
            </a:r>
            <a:r>
              <a:rPr lang="zh-CN" altLang="en-US" dirty="0"/>
              <a:t>生成的执行计划是否完整、合规。</a:t>
            </a:r>
          </a:p>
          <a:p>
            <a:pPr>
              <a:lnSpc>
                <a:spcPct val="150000"/>
              </a:lnSpc>
            </a:pPr>
            <a:r>
              <a:rPr lang="zh-CN" altLang="en-US" dirty="0"/>
              <a:t>输入：初步执行计划（步骤列表）。</a:t>
            </a:r>
          </a:p>
          <a:p>
            <a:pPr>
              <a:lnSpc>
                <a:spcPct val="150000"/>
              </a:lnSpc>
            </a:pPr>
            <a:r>
              <a:rPr lang="zh-CN" altLang="en-US" dirty="0"/>
              <a:t>输出：</a:t>
            </a:r>
          </a:p>
          <a:p>
            <a:pPr marL="285750" indent="-285750">
              <a:lnSpc>
                <a:spcPct val="150000"/>
              </a:lnSpc>
              <a:buFont typeface="Arial" panose="020B0604020202020204" pitchFamily="34" charset="0"/>
              <a:buChar char="•"/>
            </a:pPr>
            <a:r>
              <a:rPr lang="zh-CN" altLang="en-US" dirty="0"/>
              <a:t>遗漏步骤</a:t>
            </a:r>
          </a:p>
          <a:p>
            <a:pPr marL="285750" indent="-285750">
              <a:lnSpc>
                <a:spcPct val="150000"/>
              </a:lnSpc>
              <a:buFont typeface="Arial" panose="020B0604020202020204" pitchFamily="34" charset="0"/>
              <a:buChar char="•"/>
            </a:pPr>
            <a:r>
              <a:rPr lang="zh-CN" altLang="en-US" dirty="0"/>
              <a:t>顺序调整建议</a:t>
            </a:r>
          </a:p>
          <a:p>
            <a:pPr marL="285750" indent="-285750">
              <a:lnSpc>
                <a:spcPct val="150000"/>
              </a:lnSpc>
              <a:buFont typeface="Arial" panose="020B0604020202020204" pitchFamily="34" charset="0"/>
              <a:buChar char="•"/>
            </a:pPr>
            <a:r>
              <a:rPr lang="zh-CN" altLang="en-US" dirty="0"/>
              <a:t>约束条件提醒</a:t>
            </a:r>
          </a:p>
          <a:p>
            <a:pPr marL="285750" indent="-285750">
              <a:lnSpc>
                <a:spcPct val="150000"/>
              </a:lnSpc>
              <a:buFont typeface="Arial" panose="020B0604020202020204" pitchFamily="34" charset="0"/>
              <a:buChar char="•"/>
            </a:pPr>
            <a:r>
              <a:rPr lang="zh-CN" altLang="en-US" dirty="0"/>
              <a:t>依赖关系修正</a:t>
            </a:r>
          </a:p>
          <a:p>
            <a:pPr>
              <a:lnSpc>
                <a:spcPct val="150000"/>
              </a:lnSpc>
            </a:pPr>
            <a:r>
              <a:rPr lang="en-US" altLang="zh-CN" dirty="0"/>
              <a:t>LLM </a:t>
            </a:r>
            <a:r>
              <a:rPr lang="zh-CN" altLang="en-US" dirty="0"/>
              <a:t>触发时机：生成多步骤计划后，执行前。</a:t>
            </a:r>
          </a:p>
        </p:txBody>
      </p:sp>
      <p:sp>
        <p:nvSpPr>
          <p:cNvPr id="2" name="文本框 1">
            <a:extLst>
              <a:ext uri="{FF2B5EF4-FFF2-40B4-BE49-F238E27FC236}">
                <a16:creationId xmlns:a16="http://schemas.microsoft.com/office/drawing/2014/main" id="{26C03228-B9BB-7029-58A1-5456C6965036}"/>
              </a:ext>
            </a:extLst>
          </p:cNvPr>
          <p:cNvSpPr txBox="1"/>
          <p:nvPr/>
        </p:nvSpPr>
        <p:spPr>
          <a:xfrm>
            <a:off x="603504" y="257224"/>
            <a:ext cx="4572000" cy="461665"/>
          </a:xfrm>
          <a:prstGeom prst="rect">
            <a:avLst/>
          </a:prstGeom>
          <a:noFill/>
        </p:spPr>
        <p:txBody>
          <a:bodyPr wrap="square">
            <a:spAutoFit/>
          </a:bodyPr>
          <a:lstStyle/>
          <a:p>
            <a:r>
              <a:rPr lang="zh-CN" altLang="en-US" sz="2400" b="1" dirty="0">
                <a:solidFill>
                  <a:srgbClr val="1E293B"/>
                </a:solidFill>
                <a:latin typeface="Arial" pitchFamily="34" charset="0"/>
                <a:ea typeface="微软雅黑" panose="020B0503020204020204" pitchFamily="34" charset="-122"/>
                <a:cs typeface="Arial" pitchFamily="34" charset="-120"/>
              </a:rPr>
              <a:t>场景详细说明</a:t>
            </a:r>
          </a:p>
        </p:txBody>
      </p:sp>
      <p:sp>
        <p:nvSpPr>
          <p:cNvPr id="4" name="Shape 1">
            <a:extLst>
              <a:ext uri="{FF2B5EF4-FFF2-40B4-BE49-F238E27FC236}">
                <a16:creationId xmlns:a16="http://schemas.microsoft.com/office/drawing/2014/main" id="{5B9EEE85-E704-C0CC-F500-CD269242D096}"/>
              </a:ext>
            </a:extLst>
          </p:cNvPr>
          <p:cNvSpPr/>
          <p:nvPr/>
        </p:nvSpPr>
        <p:spPr>
          <a:xfrm>
            <a:off x="548640" y="274320"/>
            <a:ext cx="54864" cy="457200"/>
          </a:xfrm>
          <a:prstGeom prst="rect">
            <a:avLst/>
          </a:prstGeom>
          <a:solidFill>
            <a:srgbClr val="22A699"/>
          </a:solidFill>
          <a:ln/>
        </p:spPr>
        <p:txBody>
          <a:bodyPr/>
          <a:lstStyle/>
          <a:p>
            <a:endParaRPr lang="zh-CN" altLang="en-US"/>
          </a:p>
        </p:txBody>
      </p:sp>
    </p:spTree>
    <p:extLst>
      <p:ext uri="{BB962C8B-B14F-4D97-AF65-F5344CB8AC3E}">
        <p14:creationId xmlns:p14="http://schemas.microsoft.com/office/powerpoint/2010/main" val="27650905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2F963-56CB-6360-AA3D-C7634C90BDE9}"/>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A79B61DF-EFB4-B5F6-255F-94051C1E51CB}"/>
              </a:ext>
            </a:extLst>
          </p:cNvPr>
          <p:cNvSpPr txBox="1"/>
          <p:nvPr/>
        </p:nvSpPr>
        <p:spPr>
          <a:xfrm>
            <a:off x="1409074" y="974442"/>
            <a:ext cx="6250899" cy="3789435"/>
          </a:xfrm>
          <a:prstGeom prst="rect">
            <a:avLst/>
          </a:prstGeom>
          <a:noFill/>
        </p:spPr>
        <p:txBody>
          <a:bodyPr wrap="square">
            <a:spAutoFit/>
          </a:bodyPr>
          <a:lstStyle/>
          <a:p>
            <a:pPr>
              <a:lnSpc>
                <a:spcPct val="150000"/>
              </a:lnSpc>
            </a:pPr>
            <a:r>
              <a:rPr lang="zh-CN" altLang="en-US" dirty="0"/>
              <a:t>场景 </a:t>
            </a:r>
            <a:r>
              <a:rPr lang="en-US" altLang="zh-CN" dirty="0"/>
              <a:t>3</a:t>
            </a:r>
            <a:r>
              <a:rPr lang="zh-CN" altLang="en-US" dirty="0"/>
              <a:t>：语义标准查询（</a:t>
            </a:r>
            <a:r>
              <a:rPr lang="en-US" altLang="zh-CN" dirty="0" err="1"/>
              <a:t>ontology_semantic_check</a:t>
            </a:r>
            <a:r>
              <a:rPr lang="zh-CN" altLang="en-US" dirty="0"/>
              <a:t>）</a:t>
            </a:r>
          </a:p>
          <a:p>
            <a:pPr>
              <a:lnSpc>
                <a:spcPct val="150000"/>
              </a:lnSpc>
            </a:pPr>
            <a:r>
              <a:rPr lang="zh-CN" altLang="en-US" dirty="0"/>
              <a:t>目的：解释业务数据在本体中的含义和判断标准。</a:t>
            </a:r>
          </a:p>
          <a:p>
            <a:pPr>
              <a:lnSpc>
                <a:spcPct val="150000"/>
              </a:lnSpc>
            </a:pPr>
            <a:r>
              <a:rPr lang="zh-CN" altLang="en-US" dirty="0"/>
              <a:t>输入：原始数据值 </a:t>
            </a:r>
            <a:r>
              <a:rPr lang="en-US" altLang="zh-CN" dirty="0"/>
              <a:t>+ </a:t>
            </a:r>
            <a:r>
              <a:rPr lang="zh-CN" altLang="en-US" dirty="0"/>
              <a:t>概念名。</a:t>
            </a:r>
          </a:p>
          <a:p>
            <a:pPr>
              <a:lnSpc>
                <a:spcPct val="150000"/>
              </a:lnSpc>
            </a:pPr>
            <a:r>
              <a:rPr lang="zh-CN" altLang="en-US" dirty="0"/>
              <a:t>输出：</a:t>
            </a:r>
          </a:p>
          <a:p>
            <a:pPr marL="285750" indent="-285750">
              <a:lnSpc>
                <a:spcPct val="150000"/>
              </a:lnSpc>
              <a:buFont typeface="Arial" panose="020B0604020202020204" pitchFamily="34" charset="0"/>
              <a:buChar char="•"/>
            </a:pPr>
            <a:r>
              <a:rPr lang="zh-CN" altLang="en-US" dirty="0"/>
              <a:t>字段业务定义</a:t>
            </a:r>
          </a:p>
          <a:p>
            <a:pPr marL="285750" indent="-285750">
              <a:lnSpc>
                <a:spcPct val="150000"/>
              </a:lnSpc>
              <a:buFont typeface="Arial" panose="020B0604020202020204" pitchFamily="34" charset="0"/>
              <a:buChar char="•"/>
            </a:pPr>
            <a:r>
              <a:rPr lang="zh-CN" altLang="en-US" dirty="0"/>
              <a:t>阈值标准（如制造业 </a:t>
            </a:r>
            <a:r>
              <a:rPr lang="en-US" altLang="zh-CN" dirty="0" err="1"/>
              <a:t>debt_ratio</a:t>
            </a:r>
            <a:r>
              <a:rPr lang="en-US" altLang="zh-CN" dirty="0"/>
              <a:t> &gt; 0.7 </a:t>
            </a:r>
            <a:r>
              <a:rPr lang="zh-CN" altLang="en-US" dirty="0"/>
              <a:t>为高风险）</a:t>
            </a:r>
          </a:p>
          <a:p>
            <a:pPr marL="285750" indent="-285750">
              <a:lnSpc>
                <a:spcPct val="150000"/>
              </a:lnSpc>
              <a:buFont typeface="Arial" panose="020B0604020202020204" pitchFamily="34" charset="0"/>
              <a:buChar char="•"/>
            </a:pPr>
            <a:r>
              <a:rPr lang="zh-CN" altLang="en-US" dirty="0"/>
              <a:t>关联检查项</a:t>
            </a:r>
          </a:p>
          <a:p>
            <a:pPr marL="285750" indent="-285750">
              <a:lnSpc>
                <a:spcPct val="150000"/>
              </a:lnSpc>
              <a:buFont typeface="Arial" panose="020B0604020202020204" pitchFamily="34" charset="0"/>
              <a:buChar char="•"/>
            </a:pPr>
            <a:r>
              <a:rPr lang="zh-CN" altLang="en-US" dirty="0"/>
              <a:t>数据质量状态（如是否过期）</a:t>
            </a:r>
          </a:p>
          <a:p>
            <a:pPr>
              <a:lnSpc>
                <a:spcPct val="150000"/>
              </a:lnSpc>
            </a:pPr>
            <a:r>
              <a:rPr lang="en-US" altLang="zh-CN" dirty="0"/>
              <a:t>LLM </a:t>
            </a:r>
            <a:r>
              <a:rPr lang="zh-CN" altLang="en-US" dirty="0"/>
              <a:t>触发时机：拿到原始数据后，做业务判断前。</a:t>
            </a:r>
          </a:p>
        </p:txBody>
      </p:sp>
      <p:sp>
        <p:nvSpPr>
          <p:cNvPr id="2" name="文本框 1">
            <a:extLst>
              <a:ext uri="{FF2B5EF4-FFF2-40B4-BE49-F238E27FC236}">
                <a16:creationId xmlns:a16="http://schemas.microsoft.com/office/drawing/2014/main" id="{09430E7C-0B03-6F2F-F6BF-E412FC8CE806}"/>
              </a:ext>
            </a:extLst>
          </p:cNvPr>
          <p:cNvSpPr txBox="1"/>
          <p:nvPr/>
        </p:nvSpPr>
        <p:spPr>
          <a:xfrm>
            <a:off x="603504" y="257224"/>
            <a:ext cx="4572000" cy="461665"/>
          </a:xfrm>
          <a:prstGeom prst="rect">
            <a:avLst/>
          </a:prstGeom>
          <a:noFill/>
        </p:spPr>
        <p:txBody>
          <a:bodyPr wrap="square">
            <a:spAutoFit/>
          </a:bodyPr>
          <a:lstStyle/>
          <a:p>
            <a:r>
              <a:rPr lang="zh-CN" altLang="en-US" sz="2400" b="1" dirty="0">
                <a:solidFill>
                  <a:srgbClr val="1E293B"/>
                </a:solidFill>
                <a:latin typeface="Arial" pitchFamily="34" charset="0"/>
                <a:ea typeface="微软雅黑" panose="020B0503020204020204" pitchFamily="34" charset="-122"/>
                <a:cs typeface="Arial" pitchFamily="34" charset="-120"/>
              </a:rPr>
              <a:t>场景详细说明</a:t>
            </a:r>
          </a:p>
        </p:txBody>
      </p:sp>
      <p:sp>
        <p:nvSpPr>
          <p:cNvPr id="4" name="Shape 1">
            <a:extLst>
              <a:ext uri="{FF2B5EF4-FFF2-40B4-BE49-F238E27FC236}">
                <a16:creationId xmlns:a16="http://schemas.microsoft.com/office/drawing/2014/main" id="{B21C743E-42B7-452F-3BC2-6B27FA31A22A}"/>
              </a:ext>
            </a:extLst>
          </p:cNvPr>
          <p:cNvSpPr/>
          <p:nvPr/>
        </p:nvSpPr>
        <p:spPr>
          <a:xfrm>
            <a:off x="548640" y="274320"/>
            <a:ext cx="54864" cy="457200"/>
          </a:xfrm>
          <a:prstGeom prst="rect">
            <a:avLst/>
          </a:prstGeom>
          <a:solidFill>
            <a:srgbClr val="22A699"/>
          </a:solidFill>
          <a:ln/>
        </p:spPr>
        <p:txBody>
          <a:bodyPr/>
          <a:lstStyle/>
          <a:p>
            <a:endParaRPr lang="zh-CN" altLang="en-US"/>
          </a:p>
        </p:txBody>
      </p:sp>
    </p:spTree>
    <p:extLst>
      <p:ext uri="{BB962C8B-B14F-4D97-AF65-F5344CB8AC3E}">
        <p14:creationId xmlns:p14="http://schemas.microsoft.com/office/powerpoint/2010/main" val="25465309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6FFE5-6CFA-78F8-B06A-C82B5BD7A20F}"/>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299C894C-79BF-3CD2-4362-206D505A1C9C}"/>
              </a:ext>
            </a:extLst>
          </p:cNvPr>
          <p:cNvSpPr txBox="1"/>
          <p:nvPr/>
        </p:nvSpPr>
        <p:spPr>
          <a:xfrm>
            <a:off x="1409074" y="974442"/>
            <a:ext cx="6250899" cy="3789435"/>
          </a:xfrm>
          <a:prstGeom prst="rect">
            <a:avLst/>
          </a:prstGeom>
          <a:noFill/>
        </p:spPr>
        <p:txBody>
          <a:bodyPr wrap="square">
            <a:spAutoFit/>
          </a:bodyPr>
          <a:lstStyle/>
          <a:p>
            <a:pPr>
              <a:lnSpc>
                <a:spcPct val="150000"/>
              </a:lnSpc>
            </a:pPr>
            <a:r>
              <a:rPr lang="zh-CN" altLang="en-US" dirty="0"/>
              <a:t>场景 </a:t>
            </a:r>
            <a:r>
              <a:rPr lang="en-US" altLang="zh-CN" dirty="0"/>
              <a:t>4</a:t>
            </a:r>
            <a:r>
              <a:rPr lang="zh-CN" altLang="en-US" dirty="0"/>
              <a:t>：规则推理（</a:t>
            </a:r>
            <a:r>
              <a:rPr lang="en-US" altLang="zh-CN" dirty="0" err="1"/>
              <a:t>ontology_reason_execute</a:t>
            </a:r>
            <a:r>
              <a:rPr lang="zh-CN" altLang="en-US" dirty="0"/>
              <a:t>）</a:t>
            </a:r>
          </a:p>
          <a:p>
            <a:pPr>
              <a:lnSpc>
                <a:spcPct val="150000"/>
              </a:lnSpc>
            </a:pPr>
            <a:r>
              <a:rPr lang="zh-CN" altLang="en-US" dirty="0"/>
              <a:t>目的：基于事实执行精确的逻辑</a:t>
            </a:r>
            <a:r>
              <a:rPr lang="en-US" altLang="zh-CN" dirty="0"/>
              <a:t>/</a:t>
            </a:r>
            <a:r>
              <a:rPr lang="zh-CN" altLang="en-US" dirty="0"/>
              <a:t>数学推理。</a:t>
            </a:r>
          </a:p>
          <a:p>
            <a:pPr>
              <a:lnSpc>
                <a:spcPct val="150000"/>
              </a:lnSpc>
            </a:pPr>
            <a:r>
              <a:rPr lang="zh-CN" altLang="en-US" dirty="0"/>
              <a:t>输入：结构化事实数据。</a:t>
            </a:r>
          </a:p>
          <a:p>
            <a:pPr>
              <a:lnSpc>
                <a:spcPct val="150000"/>
              </a:lnSpc>
            </a:pPr>
            <a:r>
              <a:rPr lang="zh-CN" altLang="en-US" dirty="0"/>
              <a:t>输出：</a:t>
            </a:r>
          </a:p>
          <a:p>
            <a:pPr marL="285750" indent="-285750">
              <a:lnSpc>
                <a:spcPct val="150000"/>
              </a:lnSpc>
              <a:buFont typeface="Arial" panose="020B0604020202020204" pitchFamily="34" charset="0"/>
              <a:buChar char="•"/>
            </a:pPr>
            <a:r>
              <a:rPr lang="zh-CN" altLang="en-US" dirty="0"/>
              <a:t>综合结论（如风险等级）</a:t>
            </a:r>
          </a:p>
          <a:p>
            <a:pPr marL="285750" indent="-285750">
              <a:lnSpc>
                <a:spcPct val="150000"/>
              </a:lnSpc>
              <a:buFont typeface="Arial" panose="020B0604020202020204" pitchFamily="34" charset="0"/>
              <a:buChar char="•"/>
            </a:pPr>
            <a:r>
              <a:rPr lang="zh-CN" altLang="en-US" dirty="0"/>
              <a:t>置信度</a:t>
            </a:r>
          </a:p>
          <a:p>
            <a:pPr marL="285750" indent="-285750">
              <a:lnSpc>
                <a:spcPct val="150000"/>
              </a:lnSpc>
              <a:buFont typeface="Arial" panose="020B0604020202020204" pitchFamily="34" charset="0"/>
              <a:buChar char="•"/>
            </a:pPr>
            <a:r>
              <a:rPr lang="zh-CN" altLang="en-US" dirty="0"/>
              <a:t>触发因素权重</a:t>
            </a:r>
          </a:p>
          <a:p>
            <a:pPr marL="285750" indent="-285750">
              <a:lnSpc>
                <a:spcPct val="150000"/>
              </a:lnSpc>
              <a:buFont typeface="Arial" panose="020B0604020202020204" pitchFamily="34" charset="0"/>
              <a:buChar char="•"/>
            </a:pPr>
            <a:r>
              <a:rPr lang="zh-CN" altLang="en-US" dirty="0"/>
              <a:t>建议行动</a:t>
            </a:r>
          </a:p>
          <a:p>
            <a:pPr>
              <a:lnSpc>
                <a:spcPct val="150000"/>
              </a:lnSpc>
            </a:pPr>
            <a:r>
              <a:rPr lang="en-US" altLang="zh-CN" dirty="0"/>
              <a:t>LLM </a:t>
            </a:r>
            <a:r>
              <a:rPr lang="zh-CN" altLang="en-US" dirty="0"/>
              <a:t>触发时机：多维度数据收集完毕后。</a:t>
            </a:r>
          </a:p>
        </p:txBody>
      </p:sp>
      <p:sp>
        <p:nvSpPr>
          <p:cNvPr id="2" name="文本框 1">
            <a:extLst>
              <a:ext uri="{FF2B5EF4-FFF2-40B4-BE49-F238E27FC236}">
                <a16:creationId xmlns:a16="http://schemas.microsoft.com/office/drawing/2014/main" id="{FE684375-0E89-36C5-A568-60660DEE32C8}"/>
              </a:ext>
            </a:extLst>
          </p:cNvPr>
          <p:cNvSpPr txBox="1"/>
          <p:nvPr/>
        </p:nvSpPr>
        <p:spPr>
          <a:xfrm>
            <a:off x="603504" y="257224"/>
            <a:ext cx="4572000" cy="461665"/>
          </a:xfrm>
          <a:prstGeom prst="rect">
            <a:avLst/>
          </a:prstGeom>
          <a:noFill/>
        </p:spPr>
        <p:txBody>
          <a:bodyPr wrap="square">
            <a:spAutoFit/>
          </a:bodyPr>
          <a:lstStyle/>
          <a:p>
            <a:r>
              <a:rPr lang="zh-CN" altLang="en-US" sz="2400" b="1" dirty="0">
                <a:solidFill>
                  <a:srgbClr val="1E293B"/>
                </a:solidFill>
                <a:latin typeface="Arial" pitchFamily="34" charset="0"/>
                <a:ea typeface="微软雅黑" panose="020B0503020204020204" pitchFamily="34" charset="-122"/>
                <a:cs typeface="Arial" pitchFamily="34" charset="-120"/>
              </a:rPr>
              <a:t>场景详细说明</a:t>
            </a:r>
          </a:p>
        </p:txBody>
      </p:sp>
      <p:sp>
        <p:nvSpPr>
          <p:cNvPr id="4" name="Shape 1">
            <a:extLst>
              <a:ext uri="{FF2B5EF4-FFF2-40B4-BE49-F238E27FC236}">
                <a16:creationId xmlns:a16="http://schemas.microsoft.com/office/drawing/2014/main" id="{1D38C876-E040-009E-707A-682D481A791C}"/>
              </a:ext>
            </a:extLst>
          </p:cNvPr>
          <p:cNvSpPr/>
          <p:nvPr/>
        </p:nvSpPr>
        <p:spPr>
          <a:xfrm>
            <a:off x="548640" y="274320"/>
            <a:ext cx="54864" cy="457200"/>
          </a:xfrm>
          <a:prstGeom prst="rect">
            <a:avLst/>
          </a:prstGeom>
          <a:solidFill>
            <a:srgbClr val="22A699"/>
          </a:solidFill>
          <a:ln/>
        </p:spPr>
        <p:txBody>
          <a:bodyPr/>
          <a:lstStyle/>
          <a:p>
            <a:endParaRPr lang="zh-CN" altLang="en-US"/>
          </a:p>
        </p:txBody>
      </p:sp>
    </p:spTree>
    <p:extLst>
      <p:ext uri="{BB962C8B-B14F-4D97-AF65-F5344CB8AC3E}">
        <p14:creationId xmlns:p14="http://schemas.microsoft.com/office/powerpoint/2010/main" val="17516194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02B8C-3A7A-E255-6ADA-012DE75D7797}"/>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49E4178B-7490-D9BD-FC6F-F1481E8B1DB3}"/>
              </a:ext>
            </a:extLst>
          </p:cNvPr>
          <p:cNvSpPr txBox="1"/>
          <p:nvPr/>
        </p:nvSpPr>
        <p:spPr>
          <a:xfrm>
            <a:off x="1409074" y="974442"/>
            <a:ext cx="6250899" cy="3373937"/>
          </a:xfrm>
          <a:prstGeom prst="rect">
            <a:avLst/>
          </a:prstGeom>
          <a:noFill/>
        </p:spPr>
        <p:txBody>
          <a:bodyPr wrap="square">
            <a:spAutoFit/>
          </a:bodyPr>
          <a:lstStyle/>
          <a:p>
            <a:pPr>
              <a:lnSpc>
                <a:spcPct val="150000"/>
              </a:lnSpc>
            </a:pPr>
            <a:r>
              <a:rPr lang="zh-CN" altLang="en-US" dirty="0"/>
              <a:t>场景 </a:t>
            </a:r>
            <a:r>
              <a:rPr lang="en-US" altLang="zh-CN" dirty="0"/>
              <a:t>5</a:t>
            </a:r>
            <a:r>
              <a:rPr lang="zh-CN" altLang="en-US" dirty="0"/>
              <a:t>：存储反馈（</a:t>
            </a:r>
            <a:r>
              <a:rPr lang="en-US" altLang="zh-CN" dirty="0" err="1"/>
              <a:t>ontology_learn_case</a:t>
            </a:r>
            <a:r>
              <a:rPr lang="zh-CN" altLang="en-US" dirty="0"/>
              <a:t>）</a:t>
            </a:r>
          </a:p>
          <a:p>
            <a:pPr>
              <a:lnSpc>
                <a:spcPct val="150000"/>
              </a:lnSpc>
            </a:pPr>
            <a:r>
              <a:rPr lang="zh-CN" altLang="en-US" dirty="0"/>
              <a:t>目的：记录验证案例，更新规则命中率，发现盲区。</a:t>
            </a:r>
          </a:p>
          <a:p>
            <a:pPr>
              <a:lnSpc>
                <a:spcPct val="150000"/>
              </a:lnSpc>
            </a:pPr>
            <a:r>
              <a:rPr lang="zh-CN" altLang="en-US" dirty="0"/>
              <a:t>输入：案例摘要 </a:t>
            </a:r>
            <a:r>
              <a:rPr lang="en-US" altLang="zh-CN" dirty="0"/>
              <a:t>+ </a:t>
            </a:r>
            <a:r>
              <a:rPr lang="zh-CN" altLang="en-US" dirty="0"/>
              <a:t>预测结果 </a:t>
            </a:r>
            <a:r>
              <a:rPr lang="en-US" altLang="zh-CN" dirty="0"/>
              <a:t>+ </a:t>
            </a:r>
            <a:r>
              <a:rPr lang="zh-CN" altLang="en-US" dirty="0"/>
              <a:t>实际结果。</a:t>
            </a:r>
          </a:p>
          <a:p>
            <a:pPr>
              <a:lnSpc>
                <a:spcPct val="150000"/>
              </a:lnSpc>
            </a:pPr>
            <a:r>
              <a:rPr lang="zh-CN" altLang="en-US" dirty="0"/>
              <a:t>输出：</a:t>
            </a:r>
          </a:p>
          <a:p>
            <a:pPr marL="285750" indent="-285750">
              <a:lnSpc>
                <a:spcPct val="150000"/>
              </a:lnSpc>
              <a:buFont typeface="Arial" panose="020B0604020202020204" pitchFamily="34" charset="0"/>
              <a:buChar char="•"/>
            </a:pPr>
            <a:r>
              <a:rPr lang="zh-CN" altLang="en-US" dirty="0"/>
              <a:t>规则命中率统计</a:t>
            </a:r>
          </a:p>
          <a:p>
            <a:pPr marL="285750" indent="-285750">
              <a:lnSpc>
                <a:spcPct val="150000"/>
              </a:lnSpc>
              <a:buFont typeface="Arial" panose="020B0604020202020204" pitchFamily="34" charset="0"/>
              <a:buChar char="•"/>
            </a:pPr>
            <a:r>
              <a:rPr lang="zh-CN" altLang="en-US" dirty="0"/>
              <a:t>新发现的规则盲区</a:t>
            </a:r>
          </a:p>
          <a:p>
            <a:pPr marL="285750" indent="-285750">
              <a:lnSpc>
                <a:spcPct val="150000"/>
              </a:lnSpc>
              <a:buFont typeface="Arial" panose="020B0604020202020204" pitchFamily="34" charset="0"/>
              <a:buChar char="•"/>
            </a:pPr>
            <a:r>
              <a:rPr lang="zh-CN" altLang="en-US" dirty="0"/>
              <a:t>本体扩展建议</a:t>
            </a:r>
          </a:p>
          <a:p>
            <a:pPr>
              <a:lnSpc>
                <a:spcPct val="150000"/>
              </a:lnSpc>
            </a:pPr>
            <a:r>
              <a:rPr lang="en-US" altLang="zh-CN" dirty="0"/>
              <a:t>LLM </a:t>
            </a:r>
            <a:r>
              <a:rPr lang="zh-CN" altLang="en-US" dirty="0"/>
              <a:t>触发时机：任务完成，有验证反馈时。</a:t>
            </a:r>
          </a:p>
        </p:txBody>
      </p:sp>
      <p:sp>
        <p:nvSpPr>
          <p:cNvPr id="2" name="文本框 1">
            <a:extLst>
              <a:ext uri="{FF2B5EF4-FFF2-40B4-BE49-F238E27FC236}">
                <a16:creationId xmlns:a16="http://schemas.microsoft.com/office/drawing/2014/main" id="{E9226F12-3685-EA55-4A57-12C23B5338AA}"/>
              </a:ext>
            </a:extLst>
          </p:cNvPr>
          <p:cNvSpPr txBox="1"/>
          <p:nvPr/>
        </p:nvSpPr>
        <p:spPr>
          <a:xfrm>
            <a:off x="603504" y="257224"/>
            <a:ext cx="4572000" cy="461665"/>
          </a:xfrm>
          <a:prstGeom prst="rect">
            <a:avLst/>
          </a:prstGeom>
          <a:noFill/>
        </p:spPr>
        <p:txBody>
          <a:bodyPr wrap="square">
            <a:spAutoFit/>
          </a:bodyPr>
          <a:lstStyle/>
          <a:p>
            <a:r>
              <a:rPr lang="zh-CN" altLang="en-US" sz="2400" b="1" dirty="0">
                <a:solidFill>
                  <a:srgbClr val="1E293B"/>
                </a:solidFill>
                <a:latin typeface="Arial" pitchFamily="34" charset="0"/>
                <a:ea typeface="微软雅黑" panose="020B0503020204020204" pitchFamily="34" charset="-122"/>
                <a:cs typeface="Arial" pitchFamily="34" charset="-120"/>
              </a:rPr>
              <a:t>场景详细说明</a:t>
            </a:r>
          </a:p>
        </p:txBody>
      </p:sp>
      <p:sp>
        <p:nvSpPr>
          <p:cNvPr id="4" name="Shape 1">
            <a:extLst>
              <a:ext uri="{FF2B5EF4-FFF2-40B4-BE49-F238E27FC236}">
                <a16:creationId xmlns:a16="http://schemas.microsoft.com/office/drawing/2014/main" id="{FA8891A0-0252-B414-5FB4-20C9E8903851}"/>
              </a:ext>
            </a:extLst>
          </p:cNvPr>
          <p:cNvSpPr/>
          <p:nvPr/>
        </p:nvSpPr>
        <p:spPr>
          <a:xfrm>
            <a:off x="548640" y="274320"/>
            <a:ext cx="54864" cy="457200"/>
          </a:xfrm>
          <a:prstGeom prst="rect">
            <a:avLst/>
          </a:prstGeom>
          <a:solidFill>
            <a:srgbClr val="22A699"/>
          </a:solidFill>
          <a:ln/>
        </p:spPr>
        <p:txBody>
          <a:bodyPr/>
          <a:lstStyle/>
          <a:p>
            <a:endParaRPr lang="zh-CN" altLang="en-US"/>
          </a:p>
        </p:txBody>
      </p:sp>
    </p:spTree>
    <p:extLst>
      <p:ext uri="{BB962C8B-B14F-4D97-AF65-F5344CB8AC3E}">
        <p14:creationId xmlns:p14="http://schemas.microsoft.com/office/powerpoint/2010/main" val="21610296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262C1-485A-93D3-68DF-9509510930BF}"/>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7CD587E0-AFC4-E477-0944-1F70A5EB8339}"/>
              </a:ext>
            </a:extLst>
          </p:cNvPr>
          <p:cNvSpPr txBox="1"/>
          <p:nvPr/>
        </p:nvSpPr>
        <p:spPr>
          <a:xfrm>
            <a:off x="1409074" y="974442"/>
            <a:ext cx="6250899" cy="3373937"/>
          </a:xfrm>
          <a:prstGeom prst="rect">
            <a:avLst/>
          </a:prstGeom>
          <a:noFill/>
        </p:spPr>
        <p:txBody>
          <a:bodyPr wrap="square">
            <a:spAutoFit/>
          </a:bodyPr>
          <a:lstStyle/>
          <a:p>
            <a:pPr>
              <a:lnSpc>
                <a:spcPct val="150000"/>
              </a:lnSpc>
            </a:pPr>
            <a:r>
              <a:rPr lang="zh-CN" altLang="en-US" dirty="0"/>
              <a:t>场景 </a:t>
            </a:r>
            <a:r>
              <a:rPr lang="en-US" altLang="zh-CN" dirty="0"/>
              <a:t>6</a:t>
            </a:r>
            <a:r>
              <a:rPr lang="zh-CN" altLang="en-US" dirty="0"/>
              <a:t>：冲突裁决（</a:t>
            </a:r>
            <a:r>
              <a:rPr lang="en-US" altLang="zh-CN" dirty="0" err="1"/>
              <a:t>ontology_conflict_resolve</a:t>
            </a:r>
            <a:r>
              <a:rPr lang="zh-CN" altLang="en-US" dirty="0"/>
              <a:t>）</a:t>
            </a:r>
          </a:p>
          <a:p>
            <a:pPr>
              <a:lnSpc>
                <a:spcPct val="150000"/>
              </a:lnSpc>
            </a:pPr>
            <a:r>
              <a:rPr lang="zh-CN" altLang="en-US" dirty="0"/>
              <a:t>目的：解决多规则或多 </a:t>
            </a:r>
            <a:r>
              <a:rPr lang="en-US" altLang="zh-CN" dirty="0"/>
              <a:t>Agent </a:t>
            </a:r>
            <a:r>
              <a:rPr lang="zh-CN" altLang="en-US" dirty="0"/>
              <a:t>结论冲突。</a:t>
            </a:r>
          </a:p>
          <a:p>
            <a:pPr>
              <a:lnSpc>
                <a:spcPct val="150000"/>
              </a:lnSpc>
            </a:pPr>
            <a:r>
              <a:rPr lang="zh-CN" altLang="en-US" dirty="0"/>
              <a:t>输入：冲突项列表（来源、结论、置信度）。</a:t>
            </a:r>
          </a:p>
          <a:p>
            <a:pPr>
              <a:lnSpc>
                <a:spcPct val="150000"/>
              </a:lnSpc>
            </a:pPr>
            <a:r>
              <a:rPr lang="zh-CN" altLang="en-US" dirty="0"/>
              <a:t>输出：</a:t>
            </a:r>
          </a:p>
          <a:p>
            <a:pPr marL="285750" indent="-285750">
              <a:lnSpc>
                <a:spcPct val="150000"/>
              </a:lnSpc>
              <a:buFont typeface="Arial" panose="020B0604020202020204" pitchFamily="34" charset="0"/>
              <a:buChar char="•"/>
            </a:pPr>
            <a:r>
              <a:rPr lang="zh-CN" altLang="en-US" dirty="0"/>
              <a:t>最终裁决结论</a:t>
            </a:r>
          </a:p>
          <a:p>
            <a:pPr marL="285750" indent="-285750">
              <a:lnSpc>
                <a:spcPct val="150000"/>
              </a:lnSpc>
              <a:buFont typeface="Arial" panose="020B0604020202020204" pitchFamily="34" charset="0"/>
              <a:buChar char="•"/>
            </a:pPr>
            <a:r>
              <a:rPr lang="zh-CN" altLang="en-US" dirty="0"/>
              <a:t>裁决路径（为什么选这个）</a:t>
            </a:r>
          </a:p>
          <a:p>
            <a:pPr marL="285750" indent="-285750">
              <a:lnSpc>
                <a:spcPct val="150000"/>
              </a:lnSpc>
              <a:buFont typeface="Arial" panose="020B0604020202020204" pitchFamily="34" charset="0"/>
              <a:buChar char="•"/>
            </a:pPr>
            <a:r>
              <a:rPr lang="zh-CN" altLang="en-US" dirty="0"/>
              <a:t>被否决的异议及原因</a:t>
            </a:r>
          </a:p>
          <a:p>
            <a:pPr>
              <a:lnSpc>
                <a:spcPct val="150000"/>
              </a:lnSpc>
            </a:pPr>
            <a:r>
              <a:rPr lang="en-US" altLang="zh-CN" dirty="0"/>
              <a:t>LLM </a:t>
            </a:r>
            <a:r>
              <a:rPr lang="zh-CN" altLang="en-US" dirty="0"/>
              <a:t>触发时机：检测到结论矛盾时。</a:t>
            </a:r>
          </a:p>
        </p:txBody>
      </p:sp>
      <p:sp>
        <p:nvSpPr>
          <p:cNvPr id="2" name="文本框 1">
            <a:extLst>
              <a:ext uri="{FF2B5EF4-FFF2-40B4-BE49-F238E27FC236}">
                <a16:creationId xmlns:a16="http://schemas.microsoft.com/office/drawing/2014/main" id="{654CD8D2-7D10-EDF1-B163-B4F5E8600D27}"/>
              </a:ext>
            </a:extLst>
          </p:cNvPr>
          <p:cNvSpPr txBox="1"/>
          <p:nvPr/>
        </p:nvSpPr>
        <p:spPr>
          <a:xfrm>
            <a:off x="603504" y="257224"/>
            <a:ext cx="4572000" cy="461665"/>
          </a:xfrm>
          <a:prstGeom prst="rect">
            <a:avLst/>
          </a:prstGeom>
          <a:noFill/>
        </p:spPr>
        <p:txBody>
          <a:bodyPr wrap="square">
            <a:spAutoFit/>
          </a:bodyPr>
          <a:lstStyle/>
          <a:p>
            <a:r>
              <a:rPr lang="zh-CN" altLang="en-US" sz="2400" b="1" dirty="0">
                <a:solidFill>
                  <a:srgbClr val="1E293B"/>
                </a:solidFill>
                <a:latin typeface="Arial" pitchFamily="34" charset="0"/>
                <a:ea typeface="微软雅黑" panose="020B0503020204020204" pitchFamily="34" charset="-122"/>
                <a:cs typeface="Arial" pitchFamily="34" charset="-120"/>
              </a:rPr>
              <a:t>场景详细说明</a:t>
            </a:r>
          </a:p>
        </p:txBody>
      </p:sp>
      <p:sp>
        <p:nvSpPr>
          <p:cNvPr id="4" name="Shape 1">
            <a:extLst>
              <a:ext uri="{FF2B5EF4-FFF2-40B4-BE49-F238E27FC236}">
                <a16:creationId xmlns:a16="http://schemas.microsoft.com/office/drawing/2014/main" id="{F86B7EEA-3479-2F65-02F6-0E1E311C0FCB}"/>
              </a:ext>
            </a:extLst>
          </p:cNvPr>
          <p:cNvSpPr/>
          <p:nvPr/>
        </p:nvSpPr>
        <p:spPr>
          <a:xfrm>
            <a:off x="548640" y="274320"/>
            <a:ext cx="54864" cy="457200"/>
          </a:xfrm>
          <a:prstGeom prst="rect">
            <a:avLst/>
          </a:prstGeom>
          <a:solidFill>
            <a:srgbClr val="22A699"/>
          </a:solidFill>
          <a:ln/>
        </p:spPr>
        <p:txBody>
          <a:bodyPr/>
          <a:lstStyle/>
          <a:p>
            <a:endParaRPr lang="zh-CN" altLang="en-US"/>
          </a:p>
        </p:txBody>
      </p:sp>
    </p:spTree>
    <p:extLst>
      <p:ext uri="{BB962C8B-B14F-4D97-AF65-F5344CB8AC3E}">
        <p14:creationId xmlns:p14="http://schemas.microsoft.com/office/powerpoint/2010/main" val="36642028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9D3CD-0485-9234-BDC2-42186F9BFB3A}"/>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7AC3AC6F-EB74-7FB1-4982-5FF1DA98BAF4}"/>
              </a:ext>
            </a:extLst>
          </p:cNvPr>
          <p:cNvSpPr txBox="1"/>
          <p:nvPr/>
        </p:nvSpPr>
        <p:spPr>
          <a:xfrm>
            <a:off x="1409074" y="974442"/>
            <a:ext cx="6250899" cy="3373937"/>
          </a:xfrm>
          <a:prstGeom prst="rect">
            <a:avLst/>
          </a:prstGeom>
          <a:noFill/>
        </p:spPr>
        <p:txBody>
          <a:bodyPr wrap="square">
            <a:spAutoFit/>
          </a:bodyPr>
          <a:lstStyle/>
          <a:p>
            <a:pPr>
              <a:lnSpc>
                <a:spcPct val="150000"/>
              </a:lnSpc>
            </a:pPr>
            <a:r>
              <a:rPr lang="zh-CN" altLang="en-US" dirty="0"/>
              <a:t>场景 </a:t>
            </a:r>
            <a:r>
              <a:rPr lang="en-US" altLang="zh-CN" dirty="0"/>
              <a:t>7</a:t>
            </a:r>
            <a:r>
              <a:rPr lang="zh-CN" altLang="en-US" dirty="0"/>
              <a:t>：概念演化（</a:t>
            </a:r>
            <a:r>
              <a:rPr lang="en-US" altLang="zh-CN" dirty="0" err="1"/>
              <a:t>ontology_concept_evolve</a:t>
            </a:r>
            <a:r>
              <a:rPr lang="zh-CN" altLang="en-US" dirty="0"/>
              <a:t>）</a:t>
            </a:r>
          </a:p>
          <a:p>
            <a:pPr>
              <a:lnSpc>
                <a:spcPct val="150000"/>
              </a:lnSpc>
            </a:pPr>
            <a:r>
              <a:rPr lang="zh-CN" altLang="en-US" dirty="0"/>
              <a:t>目的：发现现有概念无法覆盖新场景，触发本体扩展。</a:t>
            </a:r>
          </a:p>
          <a:p>
            <a:pPr>
              <a:lnSpc>
                <a:spcPct val="150000"/>
              </a:lnSpc>
            </a:pPr>
            <a:r>
              <a:rPr lang="zh-CN" altLang="en-US" dirty="0"/>
              <a:t>输入：新场景描述 </a:t>
            </a:r>
            <a:r>
              <a:rPr lang="en-US" altLang="zh-CN" dirty="0"/>
              <a:t>+ </a:t>
            </a:r>
            <a:r>
              <a:rPr lang="zh-CN" altLang="en-US" dirty="0"/>
              <a:t>现有概念匹配失败记录。</a:t>
            </a:r>
          </a:p>
          <a:p>
            <a:pPr>
              <a:lnSpc>
                <a:spcPct val="150000"/>
              </a:lnSpc>
            </a:pPr>
            <a:r>
              <a:rPr lang="zh-CN" altLang="en-US" dirty="0"/>
              <a:t>输出：</a:t>
            </a:r>
          </a:p>
          <a:p>
            <a:pPr marL="285750" indent="-285750">
              <a:lnSpc>
                <a:spcPct val="150000"/>
              </a:lnSpc>
              <a:buFont typeface="Arial" panose="020B0604020202020204" pitchFamily="34" charset="0"/>
              <a:buChar char="•"/>
            </a:pPr>
            <a:r>
              <a:rPr lang="zh-CN" altLang="en-US" dirty="0"/>
              <a:t>建议新增概念</a:t>
            </a:r>
          </a:p>
          <a:p>
            <a:pPr marL="285750" indent="-285750">
              <a:lnSpc>
                <a:spcPct val="150000"/>
              </a:lnSpc>
              <a:buFont typeface="Arial" panose="020B0604020202020204" pitchFamily="34" charset="0"/>
              <a:buChar char="•"/>
            </a:pPr>
            <a:r>
              <a:rPr lang="zh-CN" altLang="en-US" dirty="0"/>
              <a:t>与现有概念的关系建议</a:t>
            </a:r>
          </a:p>
          <a:p>
            <a:pPr marL="285750" indent="-285750">
              <a:lnSpc>
                <a:spcPct val="150000"/>
              </a:lnSpc>
              <a:buFont typeface="Arial" panose="020B0604020202020204" pitchFamily="34" charset="0"/>
              <a:buChar char="•"/>
            </a:pPr>
            <a:r>
              <a:rPr lang="zh-CN" altLang="en-US" dirty="0"/>
              <a:t>审批流程触发</a:t>
            </a:r>
          </a:p>
          <a:p>
            <a:pPr>
              <a:lnSpc>
                <a:spcPct val="150000"/>
              </a:lnSpc>
            </a:pPr>
            <a:r>
              <a:rPr lang="en-US" altLang="zh-CN" dirty="0"/>
              <a:t>LLM </a:t>
            </a:r>
            <a:r>
              <a:rPr lang="zh-CN" altLang="en-US" dirty="0"/>
              <a:t>触发时机：反复遇到无法归类的业务场景。</a:t>
            </a:r>
          </a:p>
        </p:txBody>
      </p:sp>
      <p:sp>
        <p:nvSpPr>
          <p:cNvPr id="2" name="文本框 1">
            <a:extLst>
              <a:ext uri="{FF2B5EF4-FFF2-40B4-BE49-F238E27FC236}">
                <a16:creationId xmlns:a16="http://schemas.microsoft.com/office/drawing/2014/main" id="{C507198E-74B5-1343-7B0C-6F79F40796CF}"/>
              </a:ext>
            </a:extLst>
          </p:cNvPr>
          <p:cNvSpPr txBox="1"/>
          <p:nvPr/>
        </p:nvSpPr>
        <p:spPr>
          <a:xfrm>
            <a:off x="603504" y="257224"/>
            <a:ext cx="4572000" cy="461665"/>
          </a:xfrm>
          <a:prstGeom prst="rect">
            <a:avLst/>
          </a:prstGeom>
          <a:noFill/>
        </p:spPr>
        <p:txBody>
          <a:bodyPr wrap="square">
            <a:spAutoFit/>
          </a:bodyPr>
          <a:lstStyle/>
          <a:p>
            <a:r>
              <a:rPr lang="zh-CN" altLang="en-US" sz="2400" b="1" dirty="0">
                <a:solidFill>
                  <a:srgbClr val="1E293B"/>
                </a:solidFill>
                <a:latin typeface="Arial" pitchFamily="34" charset="0"/>
                <a:ea typeface="微软雅黑" panose="020B0503020204020204" pitchFamily="34" charset="-122"/>
                <a:cs typeface="Arial" pitchFamily="34" charset="-120"/>
              </a:rPr>
              <a:t>场景详细说明</a:t>
            </a:r>
          </a:p>
        </p:txBody>
      </p:sp>
      <p:sp>
        <p:nvSpPr>
          <p:cNvPr id="4" name="Shape 1">
            <a:extLst>
              <a:ext uri="{FF2B5EF4-FFF2-40B4-BE49-F238E27FC236}">
                <a16:creationId xmlns:a16="http://schemas.microsoft.com/office/drawing/2014/main" id="{69F76485-DF2B-84F8-93A4-645D4E696647}"/>
              </a:ext>
            </a:extLst>
          </p:cNvPr>
          <p:cNvSpPr/>
          <p:nvPr/>
        </p:nvSpPr>
        <p:spPr>
          <a:xfrm>
            <a:off x="548640" y="274320"/>
            <a:ext cx="54864" cy="457200"/>
          </a:xfrm>
          <a:prstGeom prst="rect">
            <a:avLst/>
          </a:prstGeom>
          <a:solidFill>
            <a:srgbClr val="22A699"/>
          </a:solidFill>
          <a:ln/>
        </p:spPr>
        <p:txBody>
          <a:bodyPr/>
          <a:lstStyle/>
          <a:p>
            <a:endParaRPr lang="zh-CN" altLang="en-US"/>
          </a:p>
        </p:txBody>
      </p:sp>
    </p:spTree>
    <p:extLst>
      <p:ext uri="{BB962C8B-B14F-4D97-AF65-F5344CB8AC3E}">
        <p14:creationId xmlns:p14="http://schemas.microsoft.com/office/powerpoint/2010/main" val="42078137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7E125-74E7-67DF-BBAF-39C4932B6A3E}"/>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E48B07E4-89AF-541D-F9D6-A5E10C69A62A}"/>
              </a:ext>
            </a:extLst>
          </p:cNvPr>
          <p:cNvSpPr txBox="1"/>
          <p:nvPr/>
        </p:nvSpPr>
        <p:spPr>
          <a:xfrm>
            <a:off x="1409074" y="974442"/>
            <a:ext cx="6250899" cy="3373937"/>
          </a:xfrm>
          <a:prstGeom prst="rect">
            <a:avLst/>
          </a:prstGeom>
          <a:noFill/>
        </p:spPr>
        <p:txBody>
          <a:bodyPr wrap="square">
            <a:spAutoFit/>
          </a:bodyPr>
          <a:lstStyle/>
          <a:p>
            <a:pPr>
              <a:lnSpc>
                <a:spcPct val="150000"/>
              </a:lnSpc>
            </a:pPr>
            <a:r>
              <a:rPr lang="zh-CN" altLang="en-US" dirty="0"/>
              <a:t>场景 </a:t>
            </a:r>
            <a:r>
              <a:rPr lang="en-US" altLang="zh-CN" dirty="0"/>
              <a:t>8</a:t>
            </a:r>
            <a:r>
              <a:rPr lang="zh-CN" altLang="en-US" dirty="0"/>
              <a:t>：路径回溯（</a:t>
            </a:r>
            <a:r>
              <a:rPr lang="en-US" altLang="zh-CN" dirty="0" err="1"/>
              <a:t>ontology_explain_trace</a:t>
            </a:r>
            <a:r>
              <a:rPr lang="zh-CN" altLang="en-US" dirty="0"/>
              <a:t>）</a:t>
            </a:r>
          </a:p>
          <a:p>
            <a:pPr>
              <a:lnSpc>
                <a:spcPct val="150000"/>
              </a:lnSpc>
            </a:pPr>
            <a:r>
              <a:rPr lang="zh-CN" altLang="en-US" dirty="0"/>
              <a:t>目的：追溯推理结论的推导路径。</a:t>
            </a:r>
          </a:p>
          <a:p>
            <a:pPr>
              <a:lnSpc>
                <a:spcPct val="150000"/>
              </a:lnSpc>
            </a:pPr>
            <a:r>
              <a:rPr lang="zh-CN" altLang="en-US" dirty="0"/>
              <a:t>输入：结论 </a:t>
            </a:r>
            <a:r>
              <a:rPr lang="en-US" altLang="zh-CN" dirty="0"/>
              <a:t>+ </a:t>
            </a:r>
            <a:r>
              <a:rPr lang="zh-CN" altLang="en-US" dirty="0"/>
              <a:t>目标实体。</a:t>
            </a:r>
          </a:p>
          <a:p>
            <a:pPr>
              <a:lnSpc>
                <a:spcPct val="150000"/>
              </a:lnSpc>
            </a:pPr>
            <a:r>
              <a:rPr lang="zh-CN" altLang="en-US" dirty="0"/>
              <a:t>输出：</a:t>
            </a:r>
          </a:p>
          <a:p>
            <a:pPr marL="285750" indent="-285750">
              <a:lnSpc>
                <a:spcPct val="150000"/>
              </a:lnSpc>
              <a:buFont typeface="Arial" panose="020B0604020202020204" pitchFamily="34" charset="0"/>
              <a:buChar char="•"/>
            </a:pPr>
            <a:r>
              <a:rPr lang="zh-CN" altLang="en-US" dirty="0"/>
              <a:t>完整推理路径（概念</a:t>
            </a:r>
            <a:r>
              <a:rPr lang="en-US" altLang="zh-CN" dirty="0"/>
              <a:t>-&gt;</a:t>
            </a:r>
            <a:r>
              <a:rPr lang="zh-CN" altLang="en-US" dirty="0"/>
              <a:t>关系</a:t>
            </a:r>
            <a:r>
              <a:rPr lang="en-US" altLang="zh-CN" dirty="0"/>
              <a:t>-&gt;</a:t>
            </a:r>
            <a:r>
              <a:rPr lang="zh-CN" altLang="en-US" dirty="0"/>
              <a:t>规则</a:t>
            </a:r>
            <a:r>
              <a:rPr lang="en-US" altLang="zh-CN" dirty="0"/>
              <a:t>-&gt;</a:t>
            </a:r>
            <a:r>
              <a:rPr lang="zh-CN" altLang="en-US" dirty="0"/>
              <a:t>结论）</a:t>
            </a:r>
          </a:p>
          <a:p>
            <a:pPr marL="285750" indent="-285750">
              <a:lnSpc>
                <a:spcPct val="150000"/>
              </a:lnSpc>
              <a:buFont typeface="Arial" panose="020B0604020202020204" pitchFamily="34" charset="0"/>
              <a:buChar char="•"/>
            </a:pPr>
            <a:r>
              <a:rPr lang="zh-CN" altLang="en-US" dirty="0"/>
              <a:t>每步的依据</a:t>
            </a:r>
          </a:p>
          <a:p>
            <a:pPr marL="285750" indent="-285750">
              <a:lnSpc>
                <a:spcPct val="150000"/>
              </a:lnSpc>
              <a:buFont typeface="Arial" panose="020B0604020202020204" pitchFamily="34" charset="0"/>
              <a:buChar char="•"/>
            </a:pPr>
            <a:r>
              <a:rPr lang="zh-CN" altLang="en-US" dirty="0"/>
              <a:t>置信度传递</a:t>
            </a:r>
          </a:p>
          <a:p>
            <a:pPr>
              <a:lnSpc>
                <a:spcPct val="150000"/>
              </a:lnSpc>
            </a:pPr>
            <a:r>
              <a:rPr lang="en-US" altLang="zh-CN" dirty="0"/>
              <a:t>LLM </a:t>
            </a:r>
            <a:r>
              <a:rPr lang="zh-CN" altLang="en-US" dirty="0"/>
              <a:t>触发时机：用户质疑为什么是这个结论。</a:t>
            </a:r>
          </a:p>
        </p:txBody>
      </p:sp>
      <p:sp>
        <p:nvSpPr>
          <p:cNvPr id="2" name="文本框 1">
            <a:extLst>
              <a:ext uri="{FF2B5EF4-FFF2-40B4-BE49-F238E27FC236}">
                <a16:creationId xmlns:a16="http://schemas.microsoft.com/office/drawing/2014/main" id="{06944910-DE32-4749-B2D2-1BFA5B87BBB5}"/>
              </a:ext>
            </a:extLst>
          </p:cNvPr>
          <p:cNvSpPr txBox="1"/>
          <p:nvPr/>
        </p:nvSpPr>
        <p:spPr>
          <a:xfrm>
            <a:off x="603504" y="257224"/>
            <a:ext cx="4572000" cy="461665"/>
          </a:xfrm>
          <a:prstGeom prst="rect">
            <a:avLst/>
          </a:prstGeom>
          <a:noFill/>
        </p:spPr>
        <p:txBody>
          <a:bodyPr wrap="square">
            <a:spAutoFit/>
          </a:bodyPr>
          <a:lstStyle/>
          <a:p>
            <a:r>
              <a:rPr lang="zh-CN" altLang="en-US" sz="2400" b="1" dirty="0">
                <a:solidFill>
                  <a:srgbClr val="1E293B"/>
                </a:solidFill>
                <a:latin typeface="Arial" pitchFamily="34" charset="0"/>
                <a:ea typeface="微软雅黑" panose="020B0503020204020204" pitchFamily="34" charset="-122"/>
                <a:cs typeface="Arial" pitchFamily="34" charset="-120"/>
              </a:rPr>
              <a:t>场景详细说明</a:t>
            </a:r>
          </a:p>
        </p:txBody>
      </p:sp>
      <p:sp>
        <p:nvSpPr>
          <p:cNvPr id="4" name="Shape 1">
            <a:extLst>
              <a:ext uri="{FF2B5EF4-FFF2-40B4-BE49-F238E27FC236}">
                <a16:creationId xmlns:a16="http://schemas.microsoft.com/office/drawing/2014/main" id="{3836ED6F-077E-2F14-1BC5-DA48E3D5575D}"/>
              </a:ext>
            </a:extLst>
          </p:cNvPr>
          <p:cNvSpPr/>
          <p:nvPr/>
        </p:nvSpPr>
        <p:spPr>
          <a:xfrm>
            <a:off x="548640" y="274320"/>
            <a:ext cx="54864" cy="457200"/>
          </a:xfrm>
          <a:prstGeom prst="rect">
            <a:avLst/>
          </a:prstGeom>
          <a:solidFill>
            <a:srgbClr val="22A699"/>
          </a:solidFill>
          <a:ln/>
        </p:spPr>
        <p:txBody>
          <a:bodyPr/>
          <a:lstStyle/>
          <a:p>
            <a:endParaRPr lang="zh-CN" altLang="en-US"/>
          </a:p>
        </p:txBody>
      </p:sp>
    </p:spTree>
    <p:extLst>
      <p:ext uri="{BB962C8B-B14F-4D97-AF65-F5344CB8AC3E}">
        <p14:creationId xmlns:p14="http://schemas.microsoft.com/office/powerpoint/2010/main" val="3827560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3E749-327A-3A04-F85F-D4C905371360}"/>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C19A8EE9-80F7-8FE4-F356-D234D16728AF}"/>
              </a:ext>
            </a:extLst>
          </p:cNvPr>
          <p:cNvSpPr txBox="1"/>
          <p:nvPr/>
        </p:nvSpPr>
        <p:spPr>
          <a:xfrm>
            <a:off x="1409074" y="974442"/>
            <a:ext cx="6250899" cy="3373937"/>
          </a:xfrm>
          <a:prstGeom prst="rect">
            <a:avLst/>
          </a:prstGeom>
          <a:noFill/>
        </p:spPr>
        <p:txBody>
          <a:bodyPr wrap="square">
            <a:spAutoFit/>
          </a:bodyPr>
          <a:lstStyle/>
          <a:p>
            <a:pPr>
              <a:lnSpc>
                <a:spcPct val="150000"/>
              </a:lnSpc>
            </a:pPr>
            <a:r>
              <a:rPr lang="zh-CN" altLang="en-US" dirty="0"/>
              <a:t>场景 </a:t>
            </a:r>
            <a:r>
              <a:rPr lang="en-US" altLang="zh-CN" dirty="0"/>
              <a:t>9</a:t>
            </a:r>
            <a:r>
              <a:rPr lang="zh-CN" altLang="en-US" dirty="0"/>
              <a:t>：上下文继承（</a:t>
            </a:r>
            <a:r>
              <a:rPr lang="en-US" altLang="zh-CN" dirty="0" err="1"/>
              <a:t>ontology_context_bind</a:t>
            </a:r>
            <a:r>
              <a:rPr lang="zh-CN" altLang="en-US" dirty="0"/>
              <a:t>）</a:t>
            </a:r>
          </a:p>
          <a:p>
            <a:pPr>
              <a:lnSpc>
                <a:spcPct val="150000"/>
              </a:lnSpc>
            </a:pPr>
            <a:r>
              <a:rPr lang="zh-CN" altLang="en-US" dirty="0"/>
              <a:t>目的：多轮对话中保持概念实例的状态一致性。</a:t>
            </a:r>
          </a:p>
          <a:p>
            <a:pPr>
              <a:lnSpc>
                <a:spcPct val="150000"/>
              </a:lnSpc>
            </a:pPr>
            <a:r>
              <a:rPr lang="zh-CN" altLang="en-US" dirty="0"/>
              <a:t>输入：当前查询 </a:t>
            </a:r>
            <a:r>
              <a:rPr lang="en-US" altLang="zh-CN" dirty="0"/>
              <a:t>+ </a:t>
            </a:r>
            <a:r>
              <a:rPr lang="zh-CN" altLang="en-US" dirty="0"/>
              <a:t>会话历史。</a:t>
            </a:r>
          </a:p>
          <a:p>
            <a:pPr>
              <a:lnSpc>
                <a:spcPct val="150000"/>
              </a:lnSpc>
            </a:pPr>
            <a:r>
              <a:rPr lang="zh-CN" altLang="en-US" dirty="0"/>
              <a:t>输出：</a:t>
            </a:r>
          </a:p>
          <a:p>
            <a:pPr marL="285750" indent="-285750">
              <a:lnSpc>
                <a:spcPct val="150000"/>
              </a:lnSpc>
              <a:buFont typeface="Arial" panose="020B0604020202020204" pitchFamily="34" charset="0"/>
              <a:buChar char="•"/>
            </a:pPr>
            <a:r>
              <a:rPr lang="zh-CN" altLang="en-US" dirty="0"/>
              <a:t>指代消解结果</a:t>
            </a:r>
          </a:p>
          <a:p>
            <a:pPr marL="285750" indent="-285750">
              <a:lnSpc>
                <a:spcPct val="150000"/>
              </a:lnSpc>
              <a:buFont typeface="Arial" panose="020B0604020202020204" pitchFamily="34" charset="0"/>
              <a:buChar char="•"/>
            </a:pPr>
            <a:r>
              <a:rPr lang="zh-CN" altLang="en-US" dirty="0"/>
              <a:t>当前活跃的实体绑定</a:t>
            </a:r>
          </a:p>
          <a:p>
            <a:pPr marL="285750" indent="-285750">
              <a:lnSpc>
                <a:spcPct val="150000"/>
              </a:lnSpc>
              <a:buFont typeface="Arial" panose="020B0604020202020204" pitchFamily="34" charset="0"/>
              <a:buChar char="•"/>
            </a:pPr>
            <a:r>
              <a:rPr lang="zh-CN" altLang="en-US" dirty="0"/>
              <a:t>缺失的上下文提示</a:t>
            </a:r>
          </a:p>
          <a:p>
            <a:pPr>
              <a:lnSpc>
                <a:spcPct val="150000"/>
              </a:lnSpc>
            </a:pPr>
            <a:r>
              <a:rPr lang="en-US" altLang="zh-CN" dirty="0"/>
              <a:t>LLM </a:t>
            </a:r>
            <a:r>
              <a:rPr lang="zh-CN" altLang="en-US" dirty="0"/>
              <a:t>触发时机：出现该供应商这个合同等指代时。</a:t>
            </a:r>
          </a:p>
        </p:txBody>
      </p:sp>
      <p:sp>
        <p:nvSpPr>
          <p:cNvPr id="2" name="文本框 1">
            <a:extLst>
              <a:ext uri="{FF2B5EF4-FFF2-40B4-BE49-F238E27FC236}">
                <a16:creationId xmlns:a16="http://schemas.microsoft.com/office/drawing/2014/main" id="{AA6C49C2-F225-6FE3-BC33-1FF781DFDA64}"/>
              </a:ext>
            </a:extLst>
          </p:cNvPr>
          <p:cNvSpPr txBox="1"/>
          <p:nvPr/>
        </p:nvSpPr>
        <p:spPr>
          <a:xfrm>
            <a:off x="603504" y="257224"/>
            <a:ext cx="4572000" cy="461665"/>
          </a:xfrm>
          <a:prstGeom prst="rect">
            <a:avLst/>
          </a:prstGeom>
          <a:noFill/>
        </p:spPr>
        <p:txBody>
          <a:bodyPr wrap="square">
            <a:spAutoFit/>
          </a:bodyPr>
          <a:lstStyle/>
          <a:p>
            <a:r>
              <a:rPr lang="zh-CN" altLang="en-US" sz="2400" b="1" dirty="0">
                <a:solidFill>
                  <a:srgbClr val="1E293B"/>
                </a:solidFill>
                <a:latin typeface="Arial" pitchFamily="34" charset="0"/>
                <a:ea typeface="微软雅黑" panose="020B0503020204020204" pitchFamily="34" charset="-122"/>
                <a:cs typeface="Arial" pitchFamily="34" charset="-120"/>
              </a:rPr>
              <a:t>场景详细说明</a:t>
            </a:r>
          </a:p>
        </p:txBody>
      </p:sp>
      <p:sp>
        <p:nvSpPr>
          <p:cNvPr id="4" name="Shape 1">
            <a:extLst>
              <a:ext uri="{FF2B5EF4-FFF2-40B4-BE49-F238E27FC236}">
                <a16:creationId xmlns:a16="http://schemas.microsoft.com/office/drawing/2014/main" id="{9A019A05-31C8-DC92-992F-A9F0248D0AE0}"/>
              </a:ext>
            </a:extLst>
          </p:cNvPr>
          <p:cNvSpPr/>
          <p:nvPr/>
        </p:nvSpPr>
        <p:spPr>
          <a:xfrm>
            <a:off x="548640" y="274320"/>
            <a:ext cx="54864" cy="457200"/>
          </a:xfrm>
          <a:prstGeom prst="rect">
            <a:avLst/>
          </a:prstGeom>
          <a:solidFill>
            <a:srgbClr val="22A699"/>
          </a:solidFill>
          <a:ln/>
        </p:spPr>
        <p:txBody>
          <a:bodyPr/>
          <a:lstStyle/>
          <a:p>
            <a:endParaRPr lang="zh-CN" altLang="en-US"/>
          </a:p>
        </p:txBody>
      </p:sp>
    </p:spTree>
    <p:extLst>
      <p:ext uri="{BB962C8B-B14F-4D97-AF65-F5344CB8AC3E}">
        <p14:creationId xmlns:p14="http://schemas.microsoft.com/office/powerpoint/2010/main" val="13210761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62DF5-13D3-FC2C-456D-E7A91167D51B}"/>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5FDA9D1D-E783-5B80-2EEE-7FEBBC9FFDFF}"/>
              </a:ext>
            </a:extLst>
          </p:cNvPr>
          <p:cNvSpPr txBox="1"/>
          <p:nvPr/>
        </p:nvSpPr>
        <p:spPr>
          <a:xfrm>
            <a:off x="1409074" y="974442"/>
            <a:ext cx="6250899" cy="3789435"/>
          </a:xfrm>
          <a:prstGeom prst="rect">
            <a:avLst/>
          </a:prstGeom>
          <a:noFill/>
        </p:spPr>
        <p:txBody>
          <a:bodyPr wrap="square">
            <a:spAutoFit/>
          </a:bodyPr>
          <a:lstStyle/>
          <a:p>
            <a:pPr>
              <a:lnSpc>
                <a:spcPct val="150000"/>
              </a:lnSpc>
            </a:pPr>
            <a:r>
              <a:rPr lang="zh-CN" altLang="en-US" dirty="0"/>
              <a:t>场景 </a:t>
            </a:r>
            <a:r>
              <a:rPr lang="en-US" altLang="zh-CN" dirty="0"/>
              <a:t>10</a:t>
            </a:r>
            <a:r>
              <a:rPr lang="zh-CN" altLang="en-US" dirty="0"/>
              <a:t>：跨本体映射（</a:t>
            </a:r>
            <a:r>
              <a:rPr lang="en-US" altLang="zh-CN" dirty="0" err="1"/>
              <a:t>ontology_cross_map</a:t>
            </a:r>
            <a:r>
              <a:rPr lang="zh-CN" altLang="en-US" dirty="0"/>
              <a:t>）</a:t>
            </a:r>
          </a:p>
          <a:p>
            <a:pPr>
              <a:lnSpc>
                <a:spcPct val="150000"/>
              </a:lnSpc>
            </a:pPr>
            <a:r>
              <a:rPr lang="zh-CN" altLang="en-US" dirty="0"/>
              <a:t>目的：不同部门</a:t>
            </a:r>
            <a:r>
              <a:rPr lang="en-US" altLang="zh-CN" dirty="0"/>
              <a:t>/</a:t>
            </a:r>
            <a:r>
              <a:rPr lang="zh-CN" altLang="en-US" dirty="0"/>
              <a:t>系统本体概念不一致时对齐。</a:t>
            </a:r>
          </a:p>
          <a:p>
            <a:pPr>
              <a:lnSpc>
                <a:spcPct val="150000"/>
              </a:lnSpc>
            </a:pPr>
            <a:r>
              <a:rPr lang="zh-CN" altLang="en-US" dirty="0"/>
              <a:t>输入：源概念 </a:t>
            </a:r>
            <a:r>
              <a:rPr lang="en-US" altLang="zh-CN" dirty="0"/>
              <a:t>+ </a:t>
            </a:r>
            <a:r>
              <a:rPr lang="zh-CN" altLang="en-US" dirty="0"/>
              <a:t>目标系统。</a:t>
            </a:r>
          </a:p>
          <a:p>
            <a:pPr>
              <a:lnSpc>
                <a:spcPct val="150000"/>
              </a:lnSpc>
            </a:pPr>
            <a:r>
              <a:rPr lang="zh-CN" altLang="en-US" dirty="0"/>
              <a:t>输出：</a:t>
            </a:r>
          </a:p>
          <a:p>
            <a:pPr marL="285750" indent="-285750">
              <a:lnSpc>
                <a:spcPct val="150000"/>
              </a:lnSpc>
              <a:buFont typeface="Arial" panose="020B0604020202020204" pitchFamily="34" charset="0"/>
              <a:buChar char="•"/>
            </a:pPr>
            <a:r>
              <a:rPr lang="zh-CN" altLang="en-US" dirty="0"/>
              <a:t>概念等价关系</a:t>
            </a:r>
          </a:p>
          <a:p>
            <a:pPr marL="285750" indent="-285750">
              <a:lnSpc>
                <a:spcPct val="150000"/>
              </a:lnSpc>
              <a:buFont typeface="Arial" panose="020B0604020202020204" pitchFamily="34" charset="0"/>
              <a:buChar char="•"/>
            </a:pPr>
            <a:r>
              <a:rPr lang="zh-CN" altLang="en-US" dirty="0"/>
              <a:t>属性映射</a:t>
            </a:r>
          </a:p>
          <a:p>
            <a:pPr marL="285750" indent="-285750">
              <a:lnSpc>
                <a:spcPct val="150000"/>
              </a:lnSpc>
              <a:buFont typeface="Arial" panose="020B0604020202020204" pitchFamily="34" charset="0"/>
              <a:buChar char="•"/>
            </a:pPr>
            <a:r>
              <a:rPr lang="zh-CN" altLang="en-US" dirty="0"/>
              <a:t>关系映射</a:t>
            </a:r>
          </a:p>
          <a:p>
            <a:pPr marL="285750" indent="-285750">
              <a:lnSpc>
                <a:spcPct val="150000"/>
              </a:lnSpc>
              <a:buFont typeface="Arial" panose="020B0604020202020204" pitchFamily="34" charset="0"/>
              <a:buChar char="•"/>
            </a:pPr>
            <a:r>
              <a:rPr lang="zh-CN" altLang="en-US" dirty="0"/>
              <a:t>冲突标记与转换函数</a:t>
            </a:r>
          </a:p>
          <a:p>
            <a:pPr>
              <a:lnSpc>
                <a:spcPct val="150000"/>
              </a:lnSpc>
            </a:pPr>
            <a:r>
              <a:rPr lang="en-US" altLang="zh-CN" dirty="0"/>
              <a:t>LLM </a:t>
            </a:r>
            <a:r>
              <a:rPr lang="zh-CN" altLang="en-US" dirty="0"/>
              <a:t>触发时机：多系统集成时发现术语差异。</a:t>
            </a:r>
          </a:p>
        </p:txBody>
      </p:sp>
      <p:sp>
        <p:nvSpPr>
          <p:cNvPr id="2" name="文本框 1">
            <a:extLst>
              <a:ext uri="{FF2B5EF4-FFF2-40B4-BE49-F238E27FC236}">
                <a16:creationId xmlns:a16="http://schemas.microsoft.com/office/drawing/2014/main" id="{F0B0A999-76D1-51E9-5560-270DBE6670C5}"/>
              </a:ext>
            </a:extLst>
          </p:cNvPr>
          <p:cNvSpPr txBox="1"/>
          <p:nvPr/>
        </p:nvSpPr>
        <p:spPr>
          <a:xfrm>
            <a:off x="603504" y="257224"/>
            <a:ext cx="4572000" cy="461665"/>
          </a:xfrm>
          <a:prstGeom prst="rect">
            <a:avLst/>
          </a:prstGeom>
          <a:noFill/>
        </p:spPr>
        <p:txBody>
          <a:bodyPr wrap="square">
            <a:spAutoFit/>
          </a:bodyPr>
          <a:lstStyle/>
          <a:p>
            <a:r>
              <a:rPr lang="zh-CN" altLang="en-US" sz="2400" b="1" dirty="0">
                <a:solidFill>
                  <a:srgbClr val="1E293B"/>
                </a:solidFill>
                <a:latin typeface="Arial" pitchFamily="34" charset="0"/>
                <a:ea typeface="微软雅黑" panose="020B0503020204020204" pitchFamily="34" charset="-122"/>
                <a:cs typeface="Arial" pitchFamily="34" charset="-120"/>
              </a:rPr>
              <a:t>场景详细说明</a:t>
            </a:r>
          </a:p>
        </p:txBody>
      </p:sp>
      <p:sp>
        <p:nvSpPr>
          <p:cNvPr id="4" name="Shape 1">
            <a:extLst>
              <a:ext uri="{FF2B5EF4-FFF2-40B4-BE49-F238E27FC236}">
                <a16:creationId xmlns:a16="http://schemas.microsoft.com/office/drawing/2014/main" id="{1997BA35-FBA9-A313-4EE6-7F864F981B49}"/>
              </a:ext>
            </a:extLst>
          </p:cNvPr>
          <p:cNvSpPr/>
          <p:nvPr/>
        </p:nvSpPr>
        <p:spPr>
          <a:xfrm>
            <a:off x="548640" y="274320"/>
            <a:ext cx="54864" cy="457200"/>
          </a:xfrm>
          <a:prstGeom prst="rect">
            <a:avLst/>
          </a:prstGeom>
          <a:solidFill>
            <a:srgbClr val="22A699"/>
          </a:solidFill>
          <a:ln/>
        </p:spPr>
        <p:txBody>
          <a:bodyPr/>
          <a:lstStyle/>
          <a:p>
            <a:endParaRPr lang="zh-CN" altLang="en-US"/>
          </a:p>
        </p:txBody>
      </p:sp>
    </p:spTree>
    <p:extLst>
      <p:ext uri="{BB962C8B-B14F-4D97-AF65-F5344CB8AC3E}">
        <p14:creationId xmlns:p14="http://schemas.microsoft.com/office/powerpoint/2010/main" val="4394301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297CB-52FA-D6A0-7EB6-8B384F189CB5}"/>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B7CAEA91-A068-A4EA-0552-2F48E1B93DE0}"/>
              </a:ext>
            </a:extLst>
          </p:cNvPr>
          <p:cNvSpPr txBox="1"/>
          <p:nvPr/>
        </p:nvSpPr>
        <p:spPr>
          <a:xfrm>
            <a:off x="1409074" y="974442"/>
            <a:ext cx="6250899" cy="3373937"/>
          </a:xfrm>
          <a:prstGeom prst="rect">
            <a:avLst/>
          </a:prstGeom>
          <a:noFill/>
        </p:spPr>
        <p:txBody>
          <a:bodyPr wrap="square">
            <a:spAutoFit/>
          </a:bodyPr>
          <a:lstStyle/>
          <a:p>
            <a:pPr>
              <a:lnSpc>
                <a:spcPct val="150000"/>
              </a:lnSpc>
            </a:pPr>
            <a:r>
              <a:rPr lang="zh-CN" altLang="en-US" dirty="0"/>
              <a:t>场景 </a:t>
            </a:r>
            <a:r>
              <a:rPr lang="en-US" altLang="zh-CN" dirty="0"/>
              <a:t>11</a:t>
            </a:r>
            <a:r>
              <a:rPr lang="zh-CN" altLang="en-US" dirty="0"/>
              <a:t>：假设推演（</a:t>
            </a:r>
            <a:r>
              <a:rPr lang="en-US" altLang="zh-CN" dirty="0" err="1"/>
              <a:t>ontology_what_if</a:t>
            </a:r>
            <a:r>
              <a:rPr lang="zh-CN" altLang="en-US" dirty="0"/>
              <a:t>）</a:t>
            </a:r>
          </a:p>
          <a:p>
            <a:pPr>
              <a:lnSpc>
                <a:spcPct val="150000"/>
              </a:lnSpc>
            </a:pPr>
            <a:r>
              <a:rPr lang="zh-CN" altLang="en-US" dirty="0"/>
              <a:t>目的：基于当前本体模拟反事实场景。</a:t>
            </a:r>
          </a:p>
          <a:p>
            <a:pPr>
              <a:lnSpc>
                <a:spcPct val="150000"/>
              </a:lnSpc>
            </a:pPr>
            <a:r>
              <a:rPr lang="zh-CN" altLang="en-US" dirty="0"/>
              <a:t>输入：假设条件 </a:t>
            </a:r>
            <a:r>
              <a:rPr lang="en-US" altLang="zh-CN" dirty="0"/>
              <a:t>+ </a:t>
            </a:r>
            <a:r>
              <a:rPr lang="zh-CN" altLang="en-US" dirty="0"/>
              <a:t>基准状态。</a:t>
            </a:r>
          </a:p>
          <a:p>
            <a:pPr>
              <a:lnSpc>
                <a:spcPct val="150000"/>
              </a:lnSpc>
            </a:pPr>
            <a:r>
              <a:rPr lang="zh-CN" altLang="en-US" dirty="0"/>
              <a:t>输出：</a:t>
            </a:r>
          </a:p>
          <a:p>
            <a:pPr marL="285750" indent="-285750">
              <a:lnSpc>
                <a:spcPct val="150000"/>
              </a:lnSpc>
              <a:buFont typeface="Arial" panose="020B0604020202020204" pitchFamily="34" charset="0"/>
              <a:buChar char="•"/>
            </a:pPr>
            <a:r>
              <a:rPr lang="zh-CN" altLang="en-US" dirty="0"/>
              <a:t>推演结论</a:t>
            </a:r>
          </a:p>
          <a:p>
            <a:pPr marL="285750" indent="-285750">
              <a:lnSpc>
                <a:spcPct val="150000"/>
              </a:lnSpc>
              <a:buFont typeface="Arial" panose="020B0604020202020204" pitchFamily="34" charset="0"/>
              <a:buChar char="•"/>
            </a:pPr>
            <a:r>
              <a:rPr lang="zh-CN" altLang="en-US" dirty="0"/>
              <a:t>关键敏感因子</a:t>
            </a:r>
          </a:p>
          <a:p>
            <a:pPr marL="285750" indent="-285750">
              <a:lnSpc>
                <a:spcPct val="150000"/>
              </a:lnSpc>
              <a:buFont typeface="Arial" panose="020B0604020202020204" pitchFamily="34" charset="0"/>
              <a:buChar char="•"/>
            </a:pPr>
            <a:r>
              <a:rPr lang="zh-CN" altLang="en-US" dirty="0"/>
              <a:t>置信度变化</a:t>
            </a:r>
          </a:p>
          <a:p>
            <a:pPr>
              <a:lnSpc>
                <a:spcPct val="150000"/>
              </a:lnSpc>
            </a:pPr>
            <a:r>
              <a:rPr lang="en-US" altLang="zh-CN" dirty="0"/>
              <a:t>LLM </a:t>
            </a:r>
            <a:r>
              <a:rPr lang="zh-CN" altLang="en-US" dirty="0"/>
              <a:t>触发时机：用户问如果</a:t>
            </a:r>
            <a:r>
              <a:rPr lang="en-US" altLang="zh-CN" dirty="0"/>
              <a:t>...</a:t>
            </a:r>
            <a:r>
              <a:rPr lang="zh-CN" altLang="en-US" dirty="0"/>
              <a:t>会怎样。</a:t>
            </a:r>
          </a:p>
        </p:txBody>
      </p:sp>
      <p:sp>
        <p:nvSpPr>
          <p:cNvPr id="2" name="文本框 1">
            <a:extLst>
              <a:ext uri="{FF2B5EF4-FFF2-40B4-BE49-F238E27FC236}">
                <a16:creationId xmlns:a16="http://schemas.microsoft.com/office/drawing/2014/main" id="{FF158E74-A9A0-CA12-7FEF-FC0BC4BFCC45}"/>
              </a:ext>
            </a:extLst>
          </p:cNvPr>
          <p:cNvSpPr txBox="1"/>
          <p:nvPr/>
        </p:nvSpPr>
        <p:spPr>
          <a:xfrm>
            <a:off x="603504" y="257224"/>
            <a:ext cx="4572000" cy="461665"/>
          </a:xfrm>
          <a:prstGeom prst="rect">
            <a:avLst/>
          </a:prstGeom>
          <a:noFill/>
        </p:spPr>
        <p:txBody>
          <a:bodyPr wrap="square">
            <a:spAutoFit/>
          </a:bodyPr>
          <a:lstStyle/>
          <a:p>
            <a:r>
              <a:rPr lang="zh-CN" altLang="en-US" sz="2400" b="1" dirty="0">
                <a:solidFill>
                  <a:srgbClr val="1E293B"/>
                </a:solidFill>
                <a:latin typeface="Arial" pitchFamily="34" charset="0"/>
                <a:ea typeface="微软雅黑" panose="020B0503020204020204" pitchFamily="34" charset="-122"/>
                <a:cs typeface="Arial" pitchFamily="34" charset="-120"/>
              </a:rPr>
              <a:t>场景详细说明</a:t>
            </a:r>
          </a:p>
        </p:txBody>
      </p:sp>
      <p:sp>
        <p:nvSpPr>
          <p:cNvPr id="4" name="Shape 1">
            <a:extLst>
              <a:ext uri="{FF2B5EF4-FFF2-40B4-BE49-F238E27FC236}">
                <a16:creationId xmlns:a16="http://schemas.microsoft.com/office/drawing/2014/main" id="{A5A013A8-1C28-71F4-1006-0711FDF5678D}"/>
              </a:ext>
            </a:extLst>
          </p:cNvPr>
          <p:cNvSpPr/>
          <p:nvPr/>
        </p:nvSpPr>
        <p:spPr>
          <a:xfrm>
            <a:off x="548640" y="274320"/>
            <a:ext cx="54864" cy="457200"/>
          </a:xfrm>
          <a:prstGeom prst="rect">
            <a:avLst/>
          </a:prstGeom>
          <a:solidFill>
            <a:srgbClr val="22A699"/>
          </a:solidFill>
          <a:ln/>
        </p:spPr>
        <p:txBody>
          <a:bodyPr/>
          <a:lstStyle/>
          <a:p>
            <a:endParaRPr lang="zh-CN" altLang="en-US"/>
          </a:p>
        </p:txBody>
      </p:sp>
    </p:spTree>
    <p:extLst>
      <p:ext uri="{BB962C8B-B14F-4D97-AF65-F5344CB8AC3E}">
        <p14:creationId xmlns:p14="http://schemas.microsoft.com/office/powerpoint/2010/main" val="22899233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D105A30-FE93-9CA4-108A-D51043239D97}"/>
              </a:ext>
            </a:extLst>
          </p:cNvPr>
          <p:cNvSpPr txBox="1"/>
          <p:nvPr/>
        </p:nvSpPr>
        <p:spPr>
          <a:xfrm>
            <a:off x="2286000" y="1693650"/>
            <a:ext cx="4572000" cy="2127442"/>
          </a:xfrm>
          <a:prstGeom prst="rect">
            <a:avLst/>
          </a:prstGeom>
          <a:noFill/>
        </p:spPr>
        <p:txBody>
          <a:bodyPr wrap="square">
            <a:spAutoFit/>
          </a:bodyPr>
          <a:lstStyle/>
          <a:p>
            <a:pPr>
              <a:lnSpc>
                <a:spcPct val="150000"/>
              </a:lnSpc>
            </a:pPr>
            <a:r>
              <a:rPr lang="en-US" altLang="zh-CN" dirty="0"/>
              <a:t>LLM </a:t>
            </a:r>
            <a:r>
              <a:rPr lang="zh-CN" altLang="en-US" dirty="0"/>
              <a:t>何时需要调用本体？</a:t>
            </a:r>
          </a:p>
          <a:p>
            <a:pPr>
              <a:lnSpc>
                <a:spcPct val="150000"/>
              </a:lnSpc>
            </a:pPr>
            <a:r>
              <a:rPr lang="zh-CN" altLang="en-US" dirty="0"/>
              <a:t>调用本体的哪个能力？</a:t>
            </a:r>
          </a:p>
          <a:p>
            <a:pPr>
              <a:lnSpc>
                <a:spcPct val="150000"/>
              </a:lnSpc>
            </a:pPr>
            <a:r>
              <a:rPr lang="zh-CN" altLang="en-US" dirty="0"/>
              <a:t>如何传递参数？</a:t>
            </a:r>
          </a:p>
          <a:p>
            <a:pPr>
              <a:lnSpc>
                <a:spcPct val="150000"/>
              </a:lnSpc>
            </a:pPr>
            <a:r>
              <a:rPr lang="zh-CN" altLang="en-US" dirty="0"/>
              <a:t>如何确保 </a:t>
            </a:r>
            <a:r>
              <a:rPr lang="en-US" altLang="zh-CN" dirty="0"/>
              <a:t>LLM </a:t>
            </a:r>
            <a:r>
              <a:rPr lang="zh-CN" altLang="en-US" dirty="0"/>
              <a:t>一定会调用？</a:t>
            </a:r>
          </a:p>
          <a:p>
            <a:pPr>
              <a:lnSpc>
                <a:spcPct val="150000"/>
              </a:lnSpc>
            </a:pPr>
            <a:r>
              <a:rPr lang="zh-CN" altLang="en-US" dirty="0"/>
              <a:t>调用失败或参数缺失时如何处理？</a:t>
            </a:r>
          </a:p>
        </p:txBody>
      </p:sp>
      <p:sp>
        <p:nvSpPr>
          <p:cNvPr id="5" name="文本框 4">
            <a:extLst>
              <a:ext uri="{FF2B5EF4-FFF2-40B4-BE49-F238E27FC236}">
                <a16:creationId xmlns:a16="http://schemas.microsoft.com/office/drawing/2014/main" id="{F0B894B6-53FB-F061-0812-42BBEBF48AFD}"/>
              </a:ext>
            </a:extLst>
          </p:cNvPr>
          <p:cNvSpPr txBox="1"/>
          <p:nvPr/>
        </p:nvSpPr>
        <p:spPr>
          <a:xfrm>
            <a:off x="622092" y="381872"/>
            <a:ext cx="4572000" cy="587405"/>
          </a:xfrm>
          <a:prstGeom prst="rect">
            <a:avLst/>
          </a:prstGeom>
          <a:noFill/>
        </p:spPr>
        <p:txBody>
          <a:bodyPr wrap="square">
            <a:spAutoFit/>
          </a:bodyPr>
          <a:lstStyle/>
          <a:p>
            <a:pPr>
              <a:lnSpc>
                <a:spcPct val="150000"/>
              </a:lnSpc>
            </a:pPr>
            <a:r>
              <a:rPr lang="zh-CN" altLang="en-US" sz="2400" b="1" dirty="0">
                <a:solidFill>
                  <a:srgbClr val="1E293B"/>
                </a:solidFill>
                <a:latin typeface="Arial" panose="020B0604020202020204" pitchFamily="34" charset="0"/>
                <a:cs typeface="Arial" panose="020B0604020202020204" pitchFamily="34" charset="0"/>
              </a:rPr>
              <a:t>核心问题：</a:t>
            </a:r>
          </a:p>
        </p:txBody>
      </p:sp>
    </p:spTree>
    <p:extLst>
      <p:ext uri="{BB962C8B-B14F-4D97-AF65-F5344CB8AC3E}">
        <p14:creationId xmlns:p14="http://schemas.microsoft.com/office/powerpoint/2010/main" val="32508112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2A699"/>
          </a:solidFill>
          <a:ln/>
        </p:spPr>
        <p:txBody>
          <a:bodyPr/>
          <a:lstStyle/>
          <a:p>
            <a:endParaRPr lang="zh-CN" altLang="en-US"/>
          </a:p>
        </p:txBody>
      </p:sp>
      <p:sp>
        <p:nvSpPr>
          <p:cNvPr id="3" name="Shape 1"/>
          <p:cNvSpPr/>
          <p:nvPr/>
        </p:nvSpPr>
        <p:spPr>
          <a:xfrm>
            <a:off x="548640" y="274320"/>
            <a:ext cx="54864" cy="457200"/>
          </a:xfrm>
          <a:prstGeom prst="rect">
            <a:avLst/>
          </a:prstGeom>
          <a:solidFill>
            <a:srgbClr val="22A699"/>
          </a:solidFill>
          <a:ln/>
        </p:spPr>
        <p:txBody>
          <a:bodyPr/>
          <a:lstStyle/>
          <a:p>
            <a:endParaRPr lang="zh-CN" altLang="en-US"/>
          </a:p>
        </p:txBody>
      </p:sp>
      <p:sp>
        <p:nvSpPr>
          <p:cNvPr id="4" name="Text 2"/>
          <p:cNvSpPr/>
          <p:nvPr/>
        </p:nvSpPr>
        <p:spPr>
          <a:xfrm>
            <a:off x="731520" y="274320"/>
            <a:ext cx="731520" cy="457200"/>
          </a:xfrm>
          <a:prstGeom prst="rect">
            <a:avLst/>
          </a:prstGeom>
          <a:noFill/>
          <a:ln/>
        </p:spPr>
        <p:txBody>
          <a:bodyPr wrap="square" lIns="0" tIns="0" rIns="0" bIns="0" rtlCol="0" anchor="ctr"/>
          <a:lstStyle/>
          <a:p>
            <a:pPr marL="0" indent="0">
              <a:buNone/>
            </a:pPr>
            <a:r>
              <a:rPr lang="en-US" sz="1800" b="1" dirty="0">
                <a:solidFill>
                  <a:srgbClr val="22A699"/>
                </a:solidFill>
                <a:latin typeface="Arial" pitchFamily="34" charset="0"/>
                <a:ea typeface="Arial" pitchFamily="34" charset="-122"/>
                <a:cs typeface="Arial" pitchFamily="34" charset="-120"/>
              </a:rPr>
              <a:t>03</a:t>
            </a:r>
            <a:endParaRPr lang="en-US" sz="1800" dirty="0"/>
          </a:p>
        </p:txBody>
      </p:sp>
      <p:sp>
        <p:nvSpPr>
          <p:cNvPr id="5" name="Text 3"/>
          <p:cNvSpPr/>
          <p:nvPr/>
        </p:nvSpPr>
        <p:spPr>
          <a:xfrm>
            <a:off x="548640" y="822960"/>
            <a:ext cx="8046720" cy="457200"/>
          </a:xfrm>
          <a:prstGeom prst="rect">
            <a:avLst/>
          </a:prstGeom>
          <a:noFill/>
          <a:ln/>
        </p:spPr>
        <p:txBody>
          <a:bodyPr wrap="square" lIns="0" tIns="0" rIns="0" bIns="0" rtlCol="0" anchor="ctr"/>
          <a:lstStyle/>
          <a:p>
            <a:pPr marL="0" indent="0">
              <a:buNone/>
            </a:pPr>
            <a:r>
              <a:rPr lang="en-US" sz="2200" b="1" dirty="0">
                <a:solidFill>
                  <a:srgbClr val="1E293B"/>
                </a:solidFill>
                <a:latin typeface="Arial" pitchFamily="34" charset="0"/>
                <a:ea typeface="Arial" pitchFamily="34" charset="-122"/>
                <a:cs typeface="Arial" pitchFamily="34" charset="-120"/>
              </a:rPr>
              <a:t>Agent 请求链路：从自然语言到安全执行</a:t>
            </a:r>
            <a:endParaRPr lang="en-US" sz="2200" dirty="0"/>
          </a:p>
        </p:txBody>
      </p:sp>
      <p:sp>
        <p:nvSpPr>
          <p:cNvPr id="6" name="Shape 4"/>
          <p:cNvSpPr/>
          <p:nvPr/>
        </p:nvSpPr>
        <p:spPr>
          <a:xfrm>
            <a:off x="365760" y="1554480"/>
            <a:ext cx="1554480" cy="2011680"/>
          </a:xfrm>
          <a:prstGeom prst="rect">
            <a:avLst/>
          </a:prstGeom>
          <a:solidFill>
            <a:srgbClr val="F1F5F9"/>
          </a:solidFill>
          <a:ln/>
        </p:spPr>
        <p:txBody>
          <a:bodyPr/>
          <a:lstStyle/>
          <a:p>
            <a:endParaRPr lang="zh-CN" altLang="en-US"/>
          </a:p>
        </p:txBody>
      </p:sp>
      <p:sp>
        <p:nvSpPr>
          <p:cNvPr id="7" name="Shape 5"/>
          <p:cNvSpPr/>
          <p:nvPr/>
        </p:nvSpPr>
        <p:spPr>
          <a:xfrm>
            <a:off x="868680" y="1737360"/>
            <a:ext cx="502920" cy="502920"/>
          </a:xfrm>
          <a:prstGeom prst="ellipse">
            <a:avLst/>
          </a:prstGeom>
          <a:solidFill>
            <a:srgbClr val="065A82"/>
          </a:solidFill>
          <a:ln/>
        </p:spPr>
        <p:txBody>
          <a:bodyPr/>
          <a:lstStyle/>
          <a:p>
            <a:endParaRPr lang="zh-CN" altLang="en-US"/>
          </a:p>
        </p:txBody>
      </p:sp>
      <p:sp>
        <p:nvSpPr>
          <p:cNvPr id="8" name="Text 6"/>
          <p:cNvSpPr/>
          <p:nvPr/>
        </p:nvSpPr>
        <p:spPr>
          <a:xfrm>
            <a:off x="868680" y="173736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9" name="Text 7"/>
          <p:cNvSpPr/>
          <p:nvPr/>
        </p:nvSpPr>
        <p:spPr>
          <a:xfrm>
            <a:off x="365760" y="2377440"/>
            <a:ext cx="1554480" cy="365760"/>
          </a:xfrm>
          <a:prstGeom prst="rect">
            <a:avLst/>
          </a:prstGeom>
          <a:noFill/>
          <a:ln/>
        </p:spPr>
        <p:txBody>
          <a:bodyPr wrap="square" lIns="0" tIns="0" rIns="0" bIns="0" rtlCol="0" anchor="ctr"/>
          <a:lstStyle/>
          <a:p>
            <a:pPr marL="0" indent="0" algn="ctr">
              <a:buNone/>
            </a:pPr>
            <a:r>
              <a:rPr lang="en-US" sz="1300" b="1" dirty="0">
                <a:solidFill>
                  <a:srgbClr val="065A82"/>
                </a:solidFill>
                <a:latin typeface="Arial" pitchFamily="34" charset="0"/>
                <a:ea typeface="Arial" pitchFamily="34" charset="-122"/>
                <a:cs typeface="Arial" pitchFamily="34" charset="-120"/>
              </a:rPr>
              <a:t>自然语言输入</a:t>
            </a:r>
            <a:endParaRPr lang="en-US" sz="1300" dirty="0"/>
          </a:p>
        </p:txBody>
      </p:sp>
      <p:sp>
        <p:nvSpPr>
          <p:cNvPr id="10" name="Text 8"/>
          <p:cNvSpPr/>
          <p:nvPr/>
        </p:nvSpPr>
        <p:spPr>
          <a:xfrm>
            <a:off x="365760" y="2743200"/>
            <a:ext cx="1554480" cy="457200"/>
          </a:xfrm>
          <a:prstGeom prst="rect">
            <a:avLst/>
          </a:prstGeom>
          <a:noFill/>
          <a:ln/>
        </p:spPr>
        <p:txBody>
          <a:bodyPr wrap="square" lIns="0" tIns="0" rIns="0" bIns="0" rtlCol="0" anchor="ctr"/>
          <a:lstStyle/>
          <a:p>
            <a:pPr marL="0" indent="0" algn="ctr">
              <a:buNone/>
            </a:pPr>
            <a:r>
              <a:rPr lang="en-US" sz="1100" dirty="0">
                <a:solidFill>
                  <a:srgbClr val="64748B"/>
                </a:solidFill>
                <a:latin typeface="Arial" pitchFamily="34" charset="0"/>
                <a:ea typeface="Arial" pitchFamily="34" charset="-122"/>
                <a:cs typeface="Arial" pitchFamily="34" charset="-120"/>
              </a:rPr>
              <a:t>用户发出业务请求</a:t>
            </a:r>
            <a:endParaRPr lang="en-US" sz="1100" dirty="0"/>
          </a:p>
        </p:txBody>
      </p:sp>
      <p:sp>
        <p:nvSpPr>
          <p:cNvPr id="11" name="Shape 9"/>
          <p:cNvSpPr/>
          <p:nvPr/>
        </p:nvSpPr>
        <p:spPr>
          <a:xfrm>
            <a:off x="1920240" y="2560320"/>
            <a:ext cx="182880" cy="0"/>
          </a:xfrm>
          <a:prstGeom prst="line">
            <a:avLst/>
          </a:prstGeom>
          <a:noFill/>
          <a:ln w="19050">
            <a:solidFill>
              <a:srgbClr val="94A3B8"/>
            </a:solidFill>
            <a:prstDash val="solid"/>
          </a:ln>
        </p:spPr>
        <p:txBody>
          <a:bodyPr/>
          <a:lstStyle/>
          <a:p>
            <a:endParaRPr lang="zh-CN" altLang="en-US"/>
          </a:p>
        </p:txBody>
      </p:sp>
      <p:sp>
        <p:nvSpPr>
          <p:cNvPr id="12" name="Shape 10"/>
          <p:cNvSpPr/>
          <p:nvPr/>
        </p:nvSpPr>
        <p:spPr>
          <a:xfrm>
            <a:off x="2103120" y="1554480"/>
            <a:ext cx="1554480" cy="2011680"/>
          </a:xfrm>
          <a:prstGeom prst="rect">
            <a:avLst/>
          </a:prstGeom>
          <a:solidFill>
            <a:srgbClr val="F1F5F9"/>
          </a:solidFill>
          <a:ln/>
        </p:spPr>
        <p:txBody>
          <a:bodyPr/>
          <a:lstStyle/>
          <a:p>
            <a:endParaRPr lang="zh-CN" altLang="en-US"/>
          </a:p>
        </p:txBody>
      </p:sp>
      <p:sp>
        <p:nvSpPr>
          <p:cNvPr id="13" name="Shape 11"/>
          <p:cNvSpPr/>
          <p:nvPr/>
        </p:nvSpPr>
        <p:spPr>
          <a:xfrm>
            <a:off x="2606040" y="1737360"/>
            <a:ext cx="502920" cy="502920"/>
          </a:xfrm>
          <a:prstGeom prst="ellipse">
            <a:avLst/>
          </a:prstGeom>
          <a:solidFill>
            <a:srgbClr val="22A699"/>
          </a:solidFill>
          <a:ln/>
        </p:spPr>
        <p:txBody>
          <a:bodyPr/>
          <a:lstStyle/>
          <a:p>
            <a:endParaRPr lang="zh-CN" altLang="en-US"/>
          </a:p>
        </p:txBody>
      </p:sp>
      <p:sp>
        <p:nvSpPr>
          <p:cNvPr id="14" name="Text 12"/>
          <p:cNvSpPr/>
          <p:nvPr/>
        </p:nvSpPr>
        <p:spPr>
          <a:xfrm>
            <a:off x="2606040" y="173736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5" name="Text 13"/>
          <p:cNvSpPr/>
          <p:nvPr/>
        </p:nvSpPr>
        <p:spPr>
          <a:xfrm>
            <a:off x="2103120" y="2377440"/>
            <a:ext cx="1554480" cy="365760"/>
          </a:xfrm>
          <a:prstGeom prst="rect">
            <a:avLst/>
          </a:prstGeom>
          <a:noFill/>
          <a:ln/>
        </p:spPr>
        <p:txBody>
          <a:bodyPr wrap="square" lIns="0" tIns="0" rIns="0" bIns="0" rtlCol="0" anchor="ctr"/>
          <a:lstStyle/>
          <a:p>
            <a:pPr marL="0" indent="0" algn="ctr">
              <a:buNone/>
            </a:pPr>
            <a:r>
              <a:rPr lang="en-US" sz="1300" b="1" dirty="0">
                <a:solidFill>
                  <a:srgbClr val="22A699"/>
                </a:solidFill>
                <a:latin typeface="Arial" pitchFamily="34" charset="0"/>
                <a:ea typeface="Arial" pitchFamily="34" charset="-122"/>
                <a:cs typeface="Arial" pitchFamily="34" charset="-120"/>
              </a:rPr>
              <a:t>意图识别</a:t>
            </a:r>
            <a:endParaRPr lang="en-US" sz="1300" dirty="0"/>
          </a:p>
        </p:txBody>
      </p:sp>
      <p:sp>
        <p:nvSpPr>
          <p:cNvPr id="16" name="Text 14"/>
          <p:cNvSpPr/>
          <p:nvPr/>
        </p:nvSpPr>
        <p:spPr>
          <a:xfrm>
            <a:off x="2103120" y="2743200"/>
            <a:ext cx="1554480" cy="457200"/>
          </a:xfrm>
          <a:prstGeom prst="rect">
            <a:avLst/>
          </a:prstGeom>
          <a:noFill/>
          <a:ln/>
        </p:spPr>
        <p:txBody>
          <a:bodyPr wrap="square" lIns="0" tIns="0" rIns="0" bIns="0" rtlCol="0" anchor="ctr"/>
          <a:lstStyle/>
          <a:p>
            <a:pPr marL="0" indent="0" algn="ctr">
              <a:buNone/>
            </a:pPr>
            <a:r>
              <a:rPr lang="en-US" sz="1100" dirty="0">
                <a:solidFill>
                  <a:srgbClr val="64748B"/>
                </a:solidFill>
                <a:latin typeface="Arial" pitchFamily="34" charset="0"/>
                <a:ea typeface="Arial" pitchFamily="34" charset="-122"/>
                <a:cs typeface="Arial" pitchFamily="34" charset="-120"/>
              </a:rPr>
              <a:t>LLM 解析用户意图</a:t>
            </a:r>
            <a:endParaRPr lang="en-US" sz="1100" dirty="0"/>
          </a:p>
        </p:txBody>
      </p:sp>
      <p:sp>
        <p:nvSpPr>
          <p:cNvPr id="18" name="Text 16"/>
          <p:cNvSpPr/>
          <p:nvPr/>
        </p:nvSpPr>
        <p:spPr>
          <a:xfrm>
            <a:off x="2468880" y="3200400"/>
            <a:ext cx="822960" cy="256032"/>
          </a:xfrm>
          <a:prstGeom prst="rect">
            <a:avLst/>
          </a:prstGeom>
          <a:noFill/>
          <a:ln/>
        </p:spPr>
        <p:txBody>
          <a:bodyPr wrap="square" lIns="0" tIns="0" rIns="0" bIns="0" rtlCol="0" anchor="ctr"/>
          <a:lstStyle/>
          <a:p>
            <a:pPr marL="0" indent="0" algn="ctr">
              <a:buNone/>
            </a:pPr>
            <a:r>
              <a:rPr lang="en-US" sz="1000" b="1" dirty="0">
                <a:solidFill>
                  <a:schemeClr val="bg1">
                    <a:lumMod val="85000"/>
                  </a:schemeClr>
                </a:solidFill>
                <a:latin typeface="Arial" pitchFamily="34" charset="0"/>
                <a:ea typeface="Arial" pitchFamily="34" charset="-122"/>
                <a:cs typeface="Arial" pitchFamily="34" charset="-120"/>
              </a:rPr>
              <a:t>软约束</a:t>
            </a:r>
            <a:endParaRPr lang="en-US" sz="1000" dirty="0">
              <a:solidFill>
                <a:schemeClr val="bg1">
                  <a:lumMod val="85000"/>
                </a:schemeClr>
              </a:solidFill>
            </a:endParaRPr>
          </a:p>
        </p:txBody>
      </p:sp>
      <p:sp>
        <p:nvSpPr>
          <p:cNvPr id="19" name="Shape 17"/>
          <p:cNvSpPr/>
          <p:nvPr/>
        </p:nvSpPr>
        <p:spPr>
          <a:xfrm>
            <a:off x="3657600" y="2560320"/>
            <a:ext cx="182880" cy="0"/>
          </a:xfrm>
          <a:prstGeom prst="line">
            <a:avLst/>
          </a:prstGeom>
          <a:noFill/>
          <a:ln w="19050">
            <a:solidFill>
              <a:srgbClr val="94A3B8"/>
            </a:solidFill>
            <a:prstDash val="solid"/>
          </a:ln>
        </p:spPr>
        <p:txBody>
          <a:bodyPr/>
          <a:lstStyle/>
          <a:p>
            <a:endParaRPr lang="zh-CN" altLang="en-US"/>
          </a:p>
        </p:txBody>
      </p:sp>
      <p:sp>
        <p:nvSpPr>
          <p:cNvPr id="20" name="Shape 18"/>
          <p:cNvSpPr/>
          <p:nvPr/>
        </p:nvSpPr>
        <p:spPr>
          <a:xfrm>
            <a:off x="3840480" y="1554480"/>
            <a:ext cx="1554480" cy="2011680"/>
          </a:xfrm>
          <a:prstGeom prst="rect">
            <a:avLst/>
          </a:prstGeom>
          <a:solidFill>
            <a:srgbClr val="F1F5F9"/>
          </a:solidFill>
          <a:ln>
            <a:solidFill>
              <a:schemeClr val="accent1"/>
            </a:solidFill>
          </a:ln>
        </p:spPr>
        <p:txBody>
          <a:bodyPr/>
          <a:lstStyle/>
          <a:p>
            <a:endParaRPr lang="zh-CN" altLang="en-US"/>
          </a:p>
        </p:txBody>
      </p:sp>
      <p:sp>
        <p:nvSpPr>
          <p:cNvPr id="21" name="Shape 19"/>
          <p:cNvSpPr/>
          <p:nvPr/>
        </p:nvSpPr>
        <p:spPr>
          <a:xfrm>
            <a:off x="4343400" y="1737360"/>
            <a:ext cx="502920" cy="502920"/>
          </a:xfrm>
          <a:prstGeom prst="ellipse">
            <a:avLst/>
          </a:prstGeom>
          <a:solidFill>
            <a:srgbClr val="065A82"/>
          </a:solidFill>
          <a:ln/>
        </p:spPr>
        <p:txBody>
          <a:bodyPr/>
          <a:lstStyle/>
          <a:p>
            <a:endParaRPr lang="zh-CN" altLang="en-US"/>
          </a:p>
        </p:txBody>
      </p:sp>
      <p:sp>
        <p:nvSpPr>
          <p:cNvPr id="22" name="Text 20"/>
          <p:cNvSpPr/>
          <p:nvPr/>
        </p:nvSpPr>
        <p:spPr>
          <a:xfrm>
            <a:off x="4343400" y="173736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23" name="Text 21"/>
          <p:cNvSpPr/>
          <p:nvPr/>
        </p:nvSpPr>
        <p:spPr>
          <a:xfrm>
            <a:off x="3840480" y="2377440"/>
            <a:ext cx="1554480" cy="365760"/>
          </a:xfrm>
          <a:prstGeom prst="rect">
            <a:avLst/>
          </a:prstGeom>
          <a:noFill/>
          <a:ln/>
        </p:spPr>
        <p:txBody>
          <a:bodyPr wrap="square" lIns="0" tIns="0" rIns="0" bIns="0" rtlCol="0" anchor="ctr"/>
          <a:lstStyle/>
          <a:p>
            <a:pPr marL="0" indent="0" algn="ctr">
              <a:buNone/>
            </a:pPr>
            <a:r>
              <a:rPr lang="en-US" sz="1300" b="1" dirty="0">
                <a:solidFill>
                  <a:srgbClr val="065A82"/>
                </a:solidFill>
                <a:latin typeface="Arial" pitchFamily="34" charset="0"/>
                <a:ea typeface="Arial" pitchFamily="34" charset="-122"/>
                <a:cs typeface="Arial" pitchFamily="34" charset="-120"/>
              </a:rPr>
              <a:t>MCP 工具查询</a:t>
            </a:r>
            <a:endParaRPr lang="en-US" sz="1300" dirty="0"/>
          </a:p>
        </p:txBody>
      </p:sp>
      <p:sp>
        <p:nvSpPr>
          <p:cNvPr id="24" name="Text 22"/>
          <p:cNvSpPr/>
          <p:nvPr/>
        </p:nvSpPr>
        <p:spPr>
          <a:xfrm>
            <a:off x="3840480" y="2743200"/>
            <a:ext cx="1554480" cy="457200"/>
          </a:xfrm>
          <a:prstGeom prst="rect">
            <a:avLst/>
          </a:prstGeom>
          <a:noFill/>
          <a:ln/>
        </p:spPr>
        <p:txBody>
          <a:bodyPr wrap="square" lIns="0" tIns="0" rIns="0" bIns="0" rtlCol="0" anchor="ctr"/>
          <a:lstStyle/>
          <a:p>
            <a:pPr marL="0" indent="0" algn="ctr">
              <a:buNone/>
            </a:pPr>
            <a:r>
              <a:rPr lang="en-US" sz="1100" dirty="0">
                <a:solidFill>
                  <a:srgbClr val="64748B"/>
                </a:solidFill>
                <a:latin typeface="Arial" pitchFamily="34" charset="0"/>
                <a:ea typeface="Arial" pitchFamily="34" charset="-122"/>
                <a:cs typeface="Arial" pitchFamily="34" charset="-120"/>
              </a:rPr>
              <a:t>获取本体定义的合法操作</a:t>
            </a:r>
            <a:endParaRPr lang="en-US" sz="1100" dirty="0"/>
          </a:p>
        </p:txBody>
      </p:sp>
      <p:sp>
        <p:nvSpPr>
          <p:cNvPr id="26" name="Text 24"/>
          <p:cNvSpPr/>
          <p:nvPr/>
        </p:nvSpPr>
        <p:spPr>
          <a:xfrm>
            <a:off x="4206240" y="3200400"/>
            <a:ext cx="822960" cy="256032"/>
          </a:xfrm>
          <a:prstGeom prst="rect">
            <a:avLst/>
          </a:prstGeom>
          <a:noFill/>
          <a:ln/>
        </p:spPr>
        <p:txBody>
          <a:bodyPr wrap="square" lIns="0" tIns="0" rIns="0" bIns="0" rtlCol="0" anchor="ctr"/>
          <a:lstStyle/>
          <a:p>
            <a:pPr marL="0" indent="0" algn="ctr">
              <a:buNone/>
            </a:pPr>
            <a:r>
              <a:rPr lang="en-US" sz="1000" b="1" dirty="0">
                <a:solidFill>
                  <a:schemeClr val="bg1">
                    <a:lumMod val="85000"/>
                  </a:schemeClr>
                </a:solidFill>
                <a:latin typeface="Arial" pitchFamily="34" charset="0"/>
                <a:ea typeface="Arial" pitchFamily="34" charset="-122"/>
                <a:cs typeface="Arial" pitchFamily="34" charset="-120"/>
              </a:rPr>
              <a:t>硬约束</a:t>
            </a:r>
            <a:endParaRPr lang="en-US" sz="1000" dirty="0">
              <a:solidFill>
                <a:schemeClr val="bg1">
                  <a:lumMod val="85000"/>
                </a:schemeClr>
              </a:solidFill>
            </a:endParaRPr>
          </a:p>
        </p:txBody>
      </p:sp>
      <p:sp>
        <p:nvSpPr>
          <p:cNvPr id="27" name="Shape 25"/>
          <p:cNvSpPr/>
          <p:nvPr/>
        </p:nvSpPr>
        <p:spPr>
          <a:xfrm>
            <a:off x="5394960" y="2560320"/>
            <a:ext cx="182880" cy="0"/>
          </a:xfrm>
          <a:prstGeom prst="line">
            <a:avLst/>
          </a:prstGeom>
          <a:noFill/>
          <a:ln w="19050">
            <a:solidFill>
              <a:srgbClr val="94A3B8"/>
            </a:solidFill>
            <a:prstDash val="solid"/>
          </a:ln>
        </p:spPr>
        <p:txBody>
          <a:bodyPr/>
          <a:lstStyle/>
          <a:p>
            <a:endParaRPr lang="zh-CN" altLang="en-US"/>
          </a:p>
        </p:txBody>
      </p:sp>
      <p:sp>
        <p:nvSpPr>
          <p:cNvPr id="28" name="Shape 26"/>
          <p:cNvSpPr/>
          <p:nvPr/>
        </p:nvSpPr>
        <p:spPr>
          <a:xfrm>
            <a:off x="5577840" y="1554480"/>
            <a:ext cx="1554480" cy="2011680"/>
          </a:xfrm>
          <a:prstGeom prst="rect">
            <a:avLst/>
          </a:prstGeom>
          <a:solidFill>
            <a:srgbClr val="F1F5F9"/>
          </a:solidFill>
          <a:ln>
            <a:solidFill>
              <a:schemeClr val="accent1"/>
            </a:solidFill>
          </a:ln>
        </p:spPr>
        <p:txBody>
          <a:bodyPr/>
          <a:lstStyle/>
          <a:p>
            <a:endParaRPr lang="zh-CN" altLang="en-US"/>
          </a:p>
        </p:txBody>
      </p:sp>
      <p:sp>
        <p:nvSpPr>
          <p:cNvPr id="29" name="Shape 27"/>
          <p:cNvSpPr/>
          <p:nvPr/>
        </p:nvSpPr>
        <p:spPr>
          <a:xfrm>
            <a:off x="6080760" y="1737360"/>
            <a:ext cx="502920" cy="502920"/>
          </a:xfrm>
          <a:prstGeom prst="ellipse">
            <a:avLst/>
          </a:prstGeom>
          <a:solidFill>
            <a:srgbClr val="E78C07"/>
          </a:solidFill>
          <a:ln/>
        </p:spPr>
        <p:txBody>
          <a:bodyPr/>
          <a:lstStyle/>
          <a:p>
            <a:endParaRPr lang="zh-CN" altLang="en-US"/>
          </a:p>
        </p:txBody>
      </p:sp>
      <p:sp>
        <p:nvSpPr>
          <p:cNvPr id="30" name="Text 28"/>
          <p:cNvSpPr/>
          <p:nvPr/>
        </p:nvSpPr>
        <p:spPr>
          <a:xfrm>
            <a:off x="6080760" y="173736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31" name="Text 29"/>
          <p:cNvSpPr/>
          <p:nvPr/>
        </p:nvSpPr>
        <p:spPr>
          <a:xfrm>
            <a:off x="5577840" y="2377440"/>
            <a:ext cx="1554480" cy="365760"/>
          </a:xfrm>
          <a:prstGeom prst="rect">
            <a:avLst/>
          </a:prstGeom>
          <a:noFill/>
          <a:ln/>
        </p:spPr>
        <p:txBody>
          <a:bodyPr wrap="square" lIns="0" tIns="0" rIns="0" bIns="0" rtlCol="0" anchor="ctr"/>
          <a:lstStyle/>
          <a:p>
            <a:pPr marL="0" indent="0" algn="ctr">
              <a:buNone/>
            </a:pPr>
            <a:r>
              <a:rPr lang="en-US" sz="1300" b="1" dirty="0">
                <a:solidFill>
                  <a:srgbClr val="E78C07"/>
                </a:solidFill>
                <a:latin typeface="Arial" pitchFamily="34" charset="0"/>
                <a:ea typeface="Arial" pitchFamily="34" charset="-122"/>
                <a:cs typeface="Arial" pitchFamily="34" charset="-120"/>
              </a:rPr>
              <a:t>合规校验</a:t>
            </a:r>
            <a:endParaRPr lang="en-US" sz="1300" dirty="0"/>
          </a:p>
        </p:txBody>
      </p:sp>
      <p:sp>
        <p:nvSpPr>
          <p:cNvPr id="32" name="Text 30"/>
          <p:cNvSpPr/>
          <p:nvPr/>
        </p:nvSpPr>
        <p:spPr>
          <a:xfrm>
            <a:off x="5577840" y="2743200"/>
            <a:ext cx="1554480" cy="457200"/>
          </a:xfrm>
          <a:prstGeom prst="rect">
            <a:avLst/>
          </a:prstGeom>
          <a:noFill/>
          <a:ln/>
        </p:spPr>
        <p:txBody>
          <a:bodyPr wrap="square" lIns="0" tIns="0" rIns="0" bIns="0" rtlCol="0" anchor="ctr"/>
          <a:lstStyle/>
          <a:p>
            <a:pPr marL="0" indent="0" algn="ctr">
              <a:buNone/>
            </a:pPr>
            <a:r>
              <a:rPr lang="en-US" sz="1100" dirty="0">
                <a:solidFill>
                  <a:srgbClr val="64748B"/>
                </a:solidFill>
                <a:latin typeface="Arial" pitchFamily="34" charset="0"/>
                <a:ea typeface="Arial" pitchFamily="34" charset="-122"/>
                <a:cs typeface="Arial" pitchFamily="34" charset="-120"/>
              </a:rPr>
              <a:t>权限 + 聚合根 + 前置条件</a:t>
            </a:r>
            <a:endParaRPr lang="en-US" sz="1100" dirty="0"/>
          </a:p>
        </p:txBody>
      </p:sp>
      <p:sp>
        <p:nvSpPr>
          <p:cNvPr id="34" name="Text 32"/>
          <p:cNvSpPr/>
          <p:nvPr/>
        </p:nvSpPr>
        <p:spPr>
          <a:xfrm>
            <a:off x="5943600" y="3200400"/>
            <a:ext cx="822960" cy="256032"/>
          </a:xfrm>
          <a:prstGeom prst="rect">
            <a:avLst/>
          </a:prstGeom>
          <a:noFill/>
          <a:ln/>
        </p:spPr>
        <p:txBody>
          <a:bodyPr wrap="square" lIns="0" tIns="0" rIns="0" bIns="0" rtlCol="0" anchor="ctr"/>
          <a:lstStyle/>
          <a:p>
            <a:pPr marL="0" indent="0" algn="ctr">
              <a:buNone/>
            </a:pPr>
            <a:r>
              <a:rPr lang="en-US" sz="1000" b="1" dirty="0">
                <a:solidFill>
                  <a:schemeClr val="bg1">
                    <a:lumMod val="85000"/>
                  </a:schemeClr>
                </a:solidFill>
                <a:latin typeface="Arial" pitchFamily="34" charset="0"/>
                <a:ea typeface="Arial" pitchFamily="34" charset="-122"/>
                <a:cs typeface="Arial" pitchFamily="34" charset="-120"/>
              </a:rPr>
              <a:t>校验层</a:t>
            </a:r>
            <a:endParaRPr lang="en-US" sz="1000" dirty="0">
              <a:solidFill>
                <a:schemeClr val="bg1">
                  <a:lumMod val="85000"/>
                </a:schemeClr>
              </a:solidFill>
            </a:endParaRPr>
          </a:p>
        </p:txBody>
      </p:sp>
      <p:sp>
        <p:nvSpPr>
          <p:cNvPr id="35" name="Shape 33"/>
          <p:cNvSpPr/>
          <p:nvPr/>
        </p:nvSpPr>
        <p:spPr>
          <a:xfrm>
            <a:off x="7132320" y="2560320"/>
            <a:ext cx="182880" cy="0"/>
          </a:xfrm>
          <a:prstGeom prst="line">
            <a:avLst/>
          </a:prstGeom>
          <a:noFill/>
          <a:ln w="19050">
            <a:solidFill>
              <a:srgbClr val="94A3B8"/>
            </a:solidFill>
            <a:prstDash val="solid"/>
          </a:ln>
        </p:spPr>
        <p:txBody>
          <a:bodyPr/>
          <a:lstStyle/>
          <a:p>
            <a:endParaRPr lang="zh-CN" altLang="en-US"/>
          </a:p>
        </p:txBody>
      </p:sp>
      <p:sp>
        <p:nvSpPr>
          <p:cNvPr id="36" name="Shape 34"/>
          <p:cNvSpPr/>
          <p:nvPr/>
        </p:nvSpPr>
        <p:spPr>
          <a:xfrm>
            <a:off x="7315200" y="1554480"/>
            <a:ext cx="1554480" cy="2011680"/>
          </a:xfrm>
          <a:prstGeom prst="rect">
            <a:avLst/>
          </a:prstGeom>
          <a:solidFill>
            <a:srgbClr val="F1F5F9"/>
          </a:solidFill>
          <a:ln>
            <a:solidFill>
              <a:schemeClr val="accent1"/>
            </a:solidFill>
          </a:ln>
        </p:spPr>
        <p:txBody>
          <a:bodyPr/>
          <a:lstStyle/>
          <a:p>
            <a:endParaRPr lang="zh-CN" altLang="en-US" dirty="0"/>
          </a:p>
        </p:txBody>
      </p:sp>
      <p:sp>
        <p:nvSpPr>
          <p:cNvPr id="37" name="Shape 35"/>
          <p:cNvSpPr/>
          <p:nvPr/>
        </p:nvSpPr>
        <p:spPr>
          <a:xfrm>
            <a:off x="7818120" y="1737360"/>
            <a:ext cx="502920" cy="502920"/>
          </a:xfrm>
          <a:prstGeom prst="ellipse">
            <a:avLst/>
          </a:prstGeom>
          <a:solidFill>
            <a:srgbClr val="107E3E"/>
          </a:solidFill>
          <a:ln/>
        </p:spPr>
        <p:txBody>
          <a:bodyPr/>
          <a:lstStyle/>
          <a:p>
            <a:endParaRPr lang="zh-CN" altLang="en-US"/>
          </a:p>
        </p:txBody>
      </p:sp>
      <p:sp>
        <p:nvSpPr>
          <p:cNvPr id="38" name="Text 36"/>
          <p:cNvSpPr/>
          <p:nvPr/>
        </p:nvSpPr>
        <p:spPr>
          <a:xfrm>
            <a:off x="7818120" y="173736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39" name="Text 37"/>
          <p:cNvSpPr/>
          <p:nvPr/>
        </p:nvSpPr>
        <p:spPr>
          <a:xfrm>
            <a:off x="7315200" y="2377440"/>
            <a:ext cx="1554480" cy="365760"/>
          </a:xfrm>
          <a:prstGeom prst="rect">
            <a:avLst/>
          </a:prstGeom>
          <a:noFill/>
          <a:ln/>
        </p:spPr>
        <p:txBody>
          <a:bodyPr wrap="square" lIns="0" tIns="0" rIns="0" bIns="0" rtlCol="0" anchor="ctr"/>
          <a:lstStyle/>
          <a:p>
            <a:pPr marL="0" indent="0" algn="ctr">
              <a:buNone/>
            </a:pPr>
            <a:r>
              <a:rPr lang="en-US" sz="1300" b="1" dirty="0">
                <a:solidFill>
                  <a:srgbClr val="107E3E"/>
                </a:solidFill>
                <a:latin typeface="Arial" pitchFamily="34" charset="0"/>
                <a:ea typeface="Arial" pitchFamily="34" charset="-122"/>
                <a:cs typeface="Arial" pitchFamily="34" charset="-120"/>
              </a:rPr>
              <a:t>安全执行</a:t>
            </a:r>
            <a:endParaRPr lang="en-US" sz="1300" dirty="0"/>
          </a:p>
        </p:txBody>
      </p:sp>
      <p:sp>
        <p:nvSpPr>
          <p:cNvPr id="40" name="Text 38"/>
          <p:cNvSpPr/>
          <p:nvPr/>
        </p:nvSpPr>
        <p:spPr>
          <a:xfrm>
            <a:off x="7315200" y="2743200"/>
            <a:ext cx="1554480" cy="457200"/>
          </a:xfrm>
          <a:prstGeom prst="rect">
            <a:avLst/>
          </a:prstGeom>
          <a:noFill/>
          <a:ln/>
        </p:spPr>
        <p:txBody>
          <a:bodyPr wrap="square" lIns="0" tIns="0" rIns="0" bIns="0" rtlCol="0" anchor="ctr"/>
          <a:lstStyle/>
          <a:p>
            <a:pPr marL="0" indent="0" algn="ctr">
              <a:buNone/>
            </a:pPr>
            <a:r>
              <a:rPr lang="en-US" sz="1100" dirty="0">
                <a:solidFill>
                  <a:srgbClr val="64748B"/>
                </a:solidFill>
                <a:latin typeface="Arial" pitchFamily="34" charset="0"/>
                <a:ea typeface="Arial" pitchFamily="34" charset="-122"/>
                <a:cs typeface="Arial" pitchFamily="34" charset="-120"/>
              </a:rPr>
              <a:t>调用业务系统 API</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A6EFFEE-F75C-8BB3-808C-11904403797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D7EB0C0-05D1-B594-6C99-6764EC8FBFBB}"/>
              </a:ext>
            </a:extLst>
          </p:cNvPr>
          <p:cNvSpPr/>
          <p:nvPr/>
        </p:nvSpPr>
        <p:spPr>
          <a:xfrm>
            <a:off x="0" y="0"/>
            <a:ext cx="9144000" cy="54864"/>
          </a:xfrm>
          <a:prstGeom prst="rect">
            <a:avLst/>
          </a:prstGeom>
          <a:solidFill>
            <a:srgbClr val="22A699"/>
          </a:solidFill>
          <a:ln/>
        </p:spPr>
        <p:txBody>
          <a:bodyPr/>
          <a:lstStyle/>
          <a:p>
            <a:endParaRPr lang="zh-CN" altLang="en-US"/>
          </a:p>
        </p:txBody>
      </p:sp>
      <p:sp>
        <p:nvSpPr>
          <p:cNvPr id="3" name="Shape 1">
            <a:extLst>
              <a:ext uri="{FF2B5EF4-FFF2-40B4-BE49-F238E27FC236}">
                <a16:creationId xmlns:a16="http://schemas.microsoft.com/office/drawing/2014/main" id="{783F141C-4C66-76B4-0D25-20130DA39397}"/>
              </a:ext>
            </a:extLst>
          </p:cNvPr>
          <p:cNvSpPr/>
          <p:nvPr/>
        </p:nvSpPr>
        <p:spPr>
          <a:xfrm>
            <a:off x="548640" y="274320"/>
            <a:ext cx="54864" cy="457200"/>
          </a:xfrm>
          <a:prstGeom prst="rect">
            <a:avLst/>
          </a:prstGeom>
          <a:solidFill>
            <a:srgbClr val="22A699"/>
          </a:solidFill>
          <a:ln/>
        </p:spPr>
        <p:txBody>
          <a:bodyPr/>
          <a:lstStyle/>
          <a:p>
            <a:endParaRPr lang="zh-CN" altLang="en-US"/>
          </a:p>
        </p:txBody>
      </p:sp>
      <p:sp>
        <p:nvSpPr>
          <p:cNvPr id="4" name="Text 2">
            <a:extLst>
              <a:ext uri="{FF2B5EF4-FFF2-40B4-BE49-F238E27FC236}">
                <a16:creationId xmlns:a16="http://schemas.microsoft.com/office/drawing/2014/main" id="{5775C386-34B3-3F4F-4B8E-9D005B6D42F2}"/>
              </a:ext>
            </a:extLst>
          </p:cNvPr>
          <p:cNvSpPr/>
          <p:nvPr/>
        </p:nvSpPr>
        <p:spPr>
          <a:xfrm>
            <a:off x="731520" y="274320"/>
            <a:ext cx="731520" cy="457200"/>
          </a:xfrm>
          <a:prstGeom prst="rect">
            <a:avLst/>
          </a:prstGeom>
          <a:noFill/>
          <a:ln/>
        </p:spPr>
        <p:txBody>
          <a:bodyPr wrap="square" lIns="0" tIns="0" rIns="0" bIns="0" rtlCol="0" anchor="ctr"/>
          <a:lstStyle/>
          <a:p>
            <a:pPr marL="0" indent="0">
              <a:buNone/>
            </a:pPr>
            <a:r>
              <a:rPr lang="en-US" sz="1800" b="1" dirty="0">
                <a:solidFill>
                  <a:srgbClr val="22A699"/>
                </a:solidFill>
                <a:latin typeface="Arial" pitchFamily="34" charset="0"/>
                <a:ea typeface="Arial" pitchFamily="34" charset="-122"/>
                <a:cs typeface="Arial" pitchFamily="34" charset="-120"/>
              </a:rPr>
              <a:t>03</a:t>
            </a:r>
            <a:endParaRPr lang="en-US" sz="1800" dirty="0"/>
          </a:p>
        </p:txBody>
      </p:sp>
      <p:sp>
        <p:nvSpPr>
          <p:cNvPr id="5" name="Text 3">
            <a:extLst>
              <a:ext uri="{FF2B5EF4-FFF2-40B4-BE49-F238E27FC236}">
                <a16:creationId xmlns:a16="http://schemas.microsoft.com/office/drawing/2014/main" id="{B3C049A8-E472-49F7-E385-3E90155C10F2}"/>
              </a:ext>
            </a:extLst>
          </p:cNvPr>
          <p:cNvSpPr/>
          <p:nvPr/>
        </p:nvSpPr>
        <p:spPr>
          <a:xfrm>
            <a:off x="548640" y="822960"/>
            <a:ext cx="8046720" cy="457200"/>
          </a:xfrm>
          <a:prstGeom prst="rect">
            <a:avLst/>
          </a:prstGeom>
          <a:noFill/>
          <a:ln/>
        </p:spPr>
        <p:txBody>
          <a:bodyPr wrap="square" lIns="0" tIns="0" rIns="0" bIns="0" rtlCol="0" anchor="ctr"/>
          <a:lstStyle/>
          <a:p>
            <a:pPr marL="0" indent="0">
              <a:buNone/>
            </a:pPr>
            <a:r>
              <a:rPr lang="en-US" sz="2200" b="1" dirty="0">
                <a:solidFill>
                  <a:srgbClr val="1E293B"/>
                </a:solidFill>
                <a:latin typeface="Arial" pitchFamily="34" charset="0"/>
                <a:ea typeface="Arial" pitchFamily="34" charset="-122"/>
                <a:cs typeface="Arial" pitchFamily="34" charset="-120"/>
              </a:rPr>
              <a:t>MCP Server </a:t>
            </a:r>
            <a:r>
              <a:rPr lang="zh-CN" altLang="en-US" sz="2200" b="1" dirty="0">
                <a:solidFill>
                  <a:srgbClr val="1E293B"/>
                </a:solidFill>
                <a:latin typeface="Arial" pitchFamily="34" charset="0"/>
                <a:ea typeface="Arial" pitchFamily="34" charset="-122"/>
                <a:cs typeface="Arial" pitchFamily="34" charset="-120"/>
              </a:rPr>
              <a:t>工具查询</a:t>
            </a:r>
            <a:endParaRPr lang="en-US" sz="2200" dirty="0"/>
          </a:p>
        </p:txBody>
      </p:sp>
      <p:sp>
        <p:nvSpPr>
          <p:cNvPr id="43" name="文本框 42">
            <a:extLst>
              <a:ext uri="{FF2B5EF4-FFF2-40B4-BE49-F238E27FC236}">
                <a16:creationId xmlns:a16="http://schemas.microsoft.com/office/drawing/2014/main" id="{4BF56189-FE8F-0C50-7E13-877DD95342F5}"/>
              </a:ext>
            </a:extLst>
          </p:cNvPr>
          <p:cNvSpPr txBox="1"/>
          <p:nvPr/>
        </p:nvSpPr>
        <p:spPr>
          <a:xfrm>
            <a:off x="404735" y="1344565"/>
            <a:ext cx="2520000" cy="338554"/>
          </a:xfrm>
          <a:prstGeom prst="rect">
            <a:avLst/>
          </a:prstGeom>
          <a:solidFill>
            <a:schemeClr val="accent4">
              <a:lumMod val="40000"/>
              <a:lumOff val="60000"/>
            </a:schemeClr>
          </a:solidFill>
          <a:ln>
            <a:noFill/>
          </a:ln>
        </p:spPr>
        <p:txBody>
          <a:bodyPr wrap="square">
            <a:spAutoFit/>
          </a:bodyPr>
          <a:lstStyle/>
          <a:p>
            <a:pPr algn="ctr"/>
            <a:r>
              <a:rPr lang="zh-CN" altLang="en-US" sz="1600" b="1" dirty="0"/>
              <a:t>为什么需要 </a:t>
            </a:r>
            <a:r>
              <a:rPr lang="en-US" altLang="zh-CN" sz="1600" b="1" dirty="0"/>
              <a:t>MCP Server</a:t>
            </a:r>
            <a:r>
              <a:rPr lang="zh-CN" altLang="en-US" sz="1600" b="1" dirty="0"/>
              <a:t>？</a:t>
            </a:r>
          </a:p>
        </p:txBody>
      </p:sp>
      <p:sp>
        <p:nvSpPr>
          <p:cNvPr id="45" name="文本框 44">
            <a:extLst>
              <a:ext uri="{FF2B5EF4-FFF2-40B4-BE49-F238E27FC236}">
                <a16:creationId xmlns:a16="http://schemas.microsoft.com/office/drawing/2014/main" id="{84D74F24-2F7C-ABB7-4462-2B3832B721BD}"/>
              </a:ext>
            </a:extLst>
          </p:cNvPr>
          <p:cNvSpPr txBox="1"/>
          <p:nvPr/>
        </p:nvSpPr>
        <p:spPr>
          <a:xfrm>
            <a:off x="404734" y="1830766"/>
            <a:ext cx="2520000" cy="2880000"/>
          </a:xfrm>
          <a:prstGeom prst="rect">
            <a:avLst/>
          </a:prstGeom>
          <a:noFill/>
          <a:ln>
            <a:solidFill>
              <a:schemeClr val="accent4">
                <a:lumMod val="40000"/>
                <a:lumOff val="60000"/>
              </a:schemeClr>
            </a:solidFill>
          </a:ln>
        </p:spPr>
        <p:txBody>
          <a:bodyPr wrap="square">
            <a:noAutofit/>
          </a:bodyPr>
          <a:lstStyle/>
          <a:p>
            <a:pPr marL="182563" indent="-182563">
              <a:lnSpc>
                <a:spcPct val="150000"/>
              </a:lnSpc>
              <a:buFont typeface="+mj-lt"/>
              <a:buAutoNum type="arabicPeriod"/>
              <a:tabLst>
                <a:tab pos="177800" algn="l"/>
              </a:tabLst>
            </a:pPr>
            <a:r>
              <a:rPr lang="zh-CN" altLang="en-US" sz="1000" b="1" dirty="0"/>
              <a:t>协议标准化：</a:t>
            </a:r>
            <a:r>
              <a:rPr lang="en-US" altLang="zh-CN" sz="1000" b="1" dirty="0"/>
              <a:t>Agent </a:t>
            </a:r>
            <a:r>
              <a:rPr lang="zh-CN" altLang="en-US" sz="1000" b="1" dirty="0"/>
              <a:t>只需理解 </a:t>
            </a:r>
            <a:r>
              <a:rPr lang="en-US" altLang="zh-CN" sz="1000" b="1" dirty="0"/>
              <a:t>MCP</a:t>
            </a:r>
            <a:r>
              <a:rPr lang="zh-CN" altLang="en-US" sz="1000" b="1" dirty="0"/>
              <a:t>，无需适配 </a:t>
            </a:r>
            <a:r>
              <a:rPr lang="en-US" altLang="zh-CN" sz="1000" b="1" dirty="0"/>
              <a:t>SQL</a:t>
            </a:r>
            <a:r>
              <a:rPr lang="zh-CN" altLang="en-US" sz="1000" b="1" dirty="0"/>
              <a:t>或精确字段</a:t>
            </a:r>
            <a:endParaRPr lang="en-US" altLang="zh-CN" sz="1000" b="1" dirty="0"/>
          </a:p>
          <a:p>
            <a:pPr marL="182563" indent="-182563">
              <a:lnSpc>
                <a:spcPct val="150000"/>
              </a:lnSpc>
              <a:buFont typeface="+mj-lt"/>
              <a:buAutoNum type="arabicPeriod"/>
              <a:tabLst>
                <a:tab pos="177800" algn="l"/>
              </a:tabLst>
            </a:pPr>
            <a:r>
              <a:rPr lang="zh-CN" altLang="en-US" sz="1000" b="1" dirty="0"/>
              <a:t>安全隔离：查询权限、敏感字段脱敏，在 </a:t>
            </a:r>
            <a:r>
              <a:rPr lang="en-US" altLang="zh-CN" sz="1000" b="1" dirty="0"/>
              <a:t>MCP </a:t>
            </a:r>
            <a:r>
              <a:rPr lang="zh-CN" altLang="en-US" sz="1000" b="1" dirty="0"/>
              <a:t>层统一控制                </a:t>
            </a:r>
            <a:endParaRPr lang="en-US" altLang="zh-CN" sz="1000" b="1" dirty="0"/>
          </a:p>
          <a:p>
            <a:pPr marL="182563" indent="-182563">
              <a:lnSpc>
                <a:spcPct val="150000"/>
              </a:lnSpc>
              <a:buFont typeface="+mj-lt"/>
              <a:buAutoNum type="arabicPeriod"/>
              <a:tabLst>
                <a:tab pos="177800" algn="l"/>
              </a:tabLst>
            </a:pPr>
            <a:r>
              <a:rPr lang="zh-CN" altLang="en-US" sz="1000" b="1" dirty="0"/>
              <a:t>抽象封装：将复杂图查询封装为高阶 </a:t>
            </a:r>
            <a:r>
              <a:rPr lang="en-US" altLang="zh-CN" sz="1000" b="1" dirty="0"/>
              <a:t>Tool</a:t>
            </a:r>
          </a:p>
          <a:p>
            <a:pPr marL="182563" indent="-182563">
              <a:lnSpc>
                <a:spcPct val="150000"/>
              </a:lnSpc>
              <a:buFont typeface="+mj-lt"/>
              <a:buAutoNum type="arabicPeriod"/>
              <a:tabLst>
                <a:tab pos="177800" algn="l"/>
              </a:tabLst>
            </a:pPr>
            <a:r>
              <a:rPr lang="zh-CN" altLang="en-US" sz="1000" b="1" dirty="0"/>
              <a:t>多源聚合：一个 </a:t>
            </a:r>
            <a:r>
              <a:rPr lang="en-US" altLang="zh-CN" sz="1000" b="1" dirty="0"/>
              <a:t>Tool </a:t>
            </a:r>
            <a:r>
              <a:rPr lang="zh-CN" altLang="en-US" sz="1000" b="1" dirty="0"/>
              <a:t>内部串联图库 </a:t>
            </a:r>
            <a:r>
              <a:rPr lang="en-US" altLang="zh-CN" sz="1000" b="1" dirty="0"/>
              <a:t>+ SQL + </a:t>
            </a:r>
            <a:r>
              <a:rPr lang="zh-CN" altLang="en-US" sz="1000" b="1" dirty="0"/>
              <a:t>向量检索</a:t>
            </a:r>
            <a:endParaRPr lang="en-US" altLang="zh-CN" sz="1000" b="1" dirty="0"/>
          </a:p>
          <a:p>
            <a:pPr marL="182563" indent="-182563">
              <a:lnSpc>
                <a:spcPct val="150000"/>
              </a:lnSpc>
              <a:buFont typeface="+mj-lt"/>
              <a:buAutoNum type="arabicPeriod"/>
              <a:tabLst>
                <a:tab pos="177800" algn="l"/>
              </a:tabLst>
            </a:pPr>
            <a:r>
              <a:rPr lang="zh-CN" altLang="en-US" sz="1000" b="1" dirty="0"/>
              <a:t>可观测性：统一日志、审计、监控</a:t>
            </a:r>
            <a:endParaRPr lang="en-US" altLang="zh-CN" sz="1000" b="1" dirty="0"/>
          </a:p>
        </p:txBody>
      </p:sp>
      <p:sp>
        <p:nvSpPr>
          <p:cNvPr id="46" name="文本框 45">
            <a:extLst>
              <a:ext uri="{FF2B5EF4-FFF2-40B4-BE49-F238E27FC236}">
                <a16:creationId xmlns:a16="http://schemas.microsoft.com/office/drawing/2014/main" id="{25A032CB-D114-020D-6A7A-8C8A275B0FC3}"/>
              </a:ext>
            </a:extLst>
          </p:cNvPr>
          <p:cNvSpPr txBox="1"/>
          <p:nvPr/>
        </p:nvSpPr>
        <p:spPr>
          <a:xfrm>
            <a:off x="3312000" y="1319630"/>
            <a:ext cx="2520000" cy="338554"/>
          </a:xfrm>
          <a:prstGeom prst="rect">
            <a:avLst/>
          </a:prstGeom>
          <a:solidFill>
            <a:schemeClr val="accent6">
              <a:lumMod val="40000"/>
              <a:lumOff val="60000"/>
            </a:schemeClr>
          </a:solidFill>
          <a:ln>
            <a:noFill/>
          </a:ln>
        </p:spPr>
        <p:txBody>
          <a:bodyPr wrap="square">
            <a:spAutoFit/>
          </a:bodyPr>
          <a:lstStyle/>
          <a:p>
            <a:pPr algn="ctr"/>
            <a:r>
              <a:rPr lang="en-US" altLang="zh-CN" sz="1600" b="1" dirty="0"/>
              <a:t>MCP Server</a:t>
            </a:r>
            <a:r>
              <a:rPr lang="zh-CN" altLang="en-US" sz="1600" b="1" dirty="0"/>
              <a:t>架构</a:t>
            </a:r>
          </a:p>
        </p:txBody>
      </p:sp>
      <p:sp>
        <p:nvSpPr>
          <p:cNvPr id="48" name="文本框 47">
            <a:extLst>
              <a:ext uri="{FF2B5EF4-FFF2-40B4-BE49-F238E27FC236}">
                <a16:creationId xmlns:a16="http://schemas.microsoft.com/office/drawing/2014/main" id="{6B0069F9-BB87-7D50-691D-613AEAA0997D}"/>
              </a:ext>
            </a:extLst>
          </p:cNvPr>
          <p:cNvSpPr txBox="1"/>
          <p:nvPr/>
        </p:nvSpPr>
        <p:spPr>
          <a:xfrm>
            <a:off x="3299085" y="1830768"/>
            <a:ext cx="2520000" cy="2880000"/>
          </a:xfrm>
          <a:prstGeom prst="rect">
            <a:avLst/>
          </a:prstGeom>
          <a:noFill/>
          <a:ln>
            <a:solidFill>
              <a:schemeClr val="accent6">
                <a:lumMod val="40000"/>
                <a:lumOff val="60000"/>
              </a:schemeClr>
            </a:solidFill>
          </a:ln>
        </p:spPr>
        <p:txBody>
          <a:bodyPr wrap="square">
            <a:noAutofit/>
          </a:bodyPr>
          <a:lstStyle/>
          <a:p>
            <a:pPr marL="182563" indent="-182563">
              <a:lnSpc>
                <a:spcPct val="150000"/>
              </a:lnSpc>
              <a:buFont typeface="+mj-lt"/>
              <a:buAutoNum type="arabicPeriod"/>
              <a:tabLst>
                <a:tab pos="177800" algn="l"/>
              </a:tabLst>
            </a:pPr>
            <a:r>
              <a:rPr lang="zh-CN" altLang="en-US" sz="1000" b="1" dirty="0"/>
              <a:t>用户请求 </a:t>
            </a:r>
            <a:r>
              <a:rPr lang="en-US" altLang="zh-CN" sz="1000" b="1" dirty="0">
                <a:sym typeface="Wingdings" panose="05000000000000000000" pitchFamily="2" charset="2"/>
              </a:rPr>
              <a:t> </a:t>
            </a:r>
            <a:r>
              <a:rPr lang="en-US" altLang="zh-CN" sz="1000" b="1" dirty="0"/>
              <a:t>AI Agent </a:t>
            </a:r>
            <a:r>
              <a:rPr lang="en-US" altLang="zh-CN" sz="1000" b="1" dirty="0">
                <a:sym typeface="Wingdings" panose="05000000000000000000" pitchFamily="2" charset="2"/>
              </a:rPr>
              <a:t> </a:t>
            </a:r>
            <a:r>
              <a:rPr lang="en-US" altLang="zh-CN" sz="1000" b="1" dirty="0"/>
              <a:t>LLM</a:t>
            </a:r>
            <a:r>
              <a:rPr lang="zh-CN" altLang="en-US" sz="1000" b="1" dirty="0"/>
              <a:t>大模型</a:t>
            </a:r>
          </a:p>
          <a:p>
            <a:pPr marL="182563" indent="-182563">
              <a:lnSpc>
                <a:spcPct val="150000"/>
              </a:lnSpc>
              <a:buFont typeface="+mj-lt"/>
              <a:buAutoNum type="arabicPeriod"/>
              <a:tabLst>
                <a:tab pos="177800" algn="l"/>
              </a:tabLst>
            </a:pPr>
            <a:r>
              <a:rPr lang="en-US" altLang="zh-CN" sz="1000" b="1" dirty="0"/>
              <a:t>MCP </a:t>
            </a:r>
            <a:r>
              <a:rPr lang="zh-CN" altLang="en-US" sz="1000" b="1" dirty="0"/>
              <a:t>协议 </a:t>
            </a:r>
            <a:r>
              <a:rPr lang="en-US" altLang="zh-CN" sz="1000" b="1" dirty="0"/>
              <a:t>(</a:t>
            </a:r>
            <a:r>
              <a:rPr lang="en-US" altLang="zh-CN" sz="1000" b="1" dirty="0" err="1"/>
              <a:t>stdio</a:t>
            </a:r>
            <a:r>
              <a:rPr lang="en-US" altLang="zh-CN" sz="1000" b="1" dirty="0"/>
              <a:t>/SSE)</a:t>
            </a:r>
          </a:p>
          <a:p>
            <a:pPr marL="182563" indent="-182563">
              <a:lnSpc>
                <a:spcPct val="150000"/>
              </a:lnSpc>
              <a:buFont typeface="+mj-lt"/>
              <a:buAutoNum type="arabicPeriod"/>
              <a:tabLst>
                <a:tab pos="177800" algn="l"/>
              </a:tabLst>
            </a:pPr>
            <a:r>
              <a:rPr lang="en-US" altLang="zh-CN" sz="1000" b="1" dirty="0"/>
              <a:t>MCP Server </a:t>
            </a:r>
            <a:r>
              <a:rPr lang="zh-CN" altLang="en-US" sz="1000" b="1" dirty="0"/>
              <a:t>网关层</a:t>
            </a:r>
          </a:p>
          <a:p>
            <a:pPr marL="266700" lvl="1">
              <a:lnSpc>
                <a:spcPct val="150000"/>
              </a:lnSpc>
              <a:tabLst>
                <a:tab pos="177800" algn="l"/>
              </a:tabLst>
            </a:pPr>
            <a:r>
              <a:rPr lang="en-US" altLang="zh-CN" sz="1000" dirty="0"/>
              <a:t>|-- </a:t>
            </a:r>
            <a:r>
              <a:rPr lang="zh-CN" altLang="en-US" sz="1000" dirty="0"/>
              <a:t>暴露 </a:t>
            </a:r>
            <a:r>
              <a:rPr lang="en-US" altLang="zh-CN" sz="1000" dirty="0"/>
              <a:t>Tools</a:t>
            </a:r>
          </a:p>
          <a:p>
            <a:pPr marL="266700" lvl="1">
              <a:lnSpc>
                <a:spcPct val="150000"/>
              </a:lnSpc>
              <a:tabLst>
                <a:tab pos="177800" algn="l"/>
              </a:tabLst>
            </a:pPr>
            <a:r>
              <a:rPr lang="en-US" altLang="zh-CN" sz="1000" dirty="0"/>
              <a:t>|-- </a:t>
            </a:r>
            <a:r>
              <a:rPr lang="zh-CN" altLang="en-US" sz="1000" dirty="0"/>
              <a:t>封装好的权限、审计、限流</a:t>
            </a:r>
          </a:p>
          <a:p>
            <a:pPr marL="266700" lvl="1">
              <a:lnSpc>
                <a:spcPct val="150000"/>
              </a:lnSpc>
              <a:tabLst>
                <a:tab pos="177800" algn="l"/>
              </a:tabLst>
            </a:pPr>
            <a:r>
              <a:rPr lang="en-US" altLang="zh-CN" sz="1000" dirty="0"/>
              <a:t>|-- </a:t>
            </a:r>
            <a:r>
              <a:rPr lang="zh-CN" altLang="en-US" sz="1000" dirty="0"/>
              <a:t>路由</a:t>
            </a:r>
          </a:p>
          <a:p>
            <a:pPr marL="182563" indent="-182563">
              <a:lnSpc>
                <a:spcPct val="150000"/>
              </a:lnSpc>
              <a:buFont typeface="+mj-lt"/>
              <a:buAutoNum type="arabicPeriod"/>
              <a:tabLst>
                <a:tab pos="177800" algn="l"/>
              </a:tabLst>
            </a:pPr>
            <a:r>
              <a:rPr lang="en-US" altLang="zh-CN" sz="1000" b="1" dirty="0"/>
              <a:t>MCP Server</a:t>
            </a:r>
          </a:p>
          <a:p>
            <a:pPr marL="266700" lvl="1">
              <a:lnSpc>
                <a:spcPct val="150000"/>
              </a:lnSpc>
              <a:tabLst>
                <a:tab pos="177800" algn="l"/>
              </a:tabLst>
            </a:pPr>
            <a:r>
              <a:rPr lang="en-US" altLang="zh-CN" sz="1000" dirty="0"/>
              <a:t>|---&gt; </a:t>
            </a:r>
            <a:r>
              <a:rPr lang="zh-CN" altLang="en-US" sz="1000" dirty="0"/>
              <a:t>本体语义检索</a:t>
            </a:r>
            <a:endParaRPr lang="en-US" altLang="zh-CN" sz="1000" dirty="0"/>
          </a:p>
          <a:p>
            <a:pPr marL="266700" lvl="1">
              <a:lnSpc>
                <a:spcPct val="150000"/>
              </a:lnSpc>
              <a:tabLst>
                <a:tab pos="177800" algn="l"/>
              </a:tabLst>
            </a:pPr>
            <a:r>
              <a:rPr lang="en-US" altLang="zh-CN" sz="1000" dirty="0"/>
              <a:t>|---&gt; </a:t>
            </a:r>
            <a:r>
              <a:rPr lang="zh-CN" altLang="en-US" sz="1000" dirty="0"/>
              <a:t>知识图谱</a:t>
            </a:r>
            <a:r>
              <a:rPr lang="en-US" altLang="zh-CN" sz="1000" dirty="0"/>
              <a:t>/</a:t>
            </a:r>
            <a:r>
              <a:rPr lang="zh-CN" altLang="en-US" sz="1000" dirty="0"/>
              <a:t>关系匹配</a:t>
            </a:r>
          </a:p>
          <a:p>
            <a:pPr marL="266700" lvl="1">
              <a:lnSpc>
                <a:spcPct val="150000"/>
              </a:lnSpc>
              <a:tabLst>
                <a:tab pos="177800" algn="l"/>
              </a:tabLst>
            </a:pPr>
            <a:r>
              <a:rPr lang="en-US" altLang="zh-CN" sz="1000" dirty="0"/>
              <a:t>|---&gt; </a:t>
            </a:r>
            <a:r>
              <a:rPr lang="zh-CN" altLang="en-US" sz="1000" dirty="0"/>
              <a:t>行为</a:t>
            </a:r>
            <a:r>
              <a:rPr lang="en-US" altLang="zh-CN" sz="1000" dirty="0"/>
              <a:t>API</a:t>
            </a:r>
            <a:r>
              <a:rPr lang="zh-CN" altLang="en-US" sz="1000" dirty="0"/>
              <a:t>（事务性业务数据）</a:t>
            </a:r>
          </a:p>
          <a:p>
            <a:pPr marL="266700" lvl="1">
              <a:lnSpc>
                <a:spcPct val="150000"/>
              </a:lnSpc>
              <a:tabLst>
                <a:tab pos="177800" algn="l"/>
              </a:tabLst>
            </a:pPr>
            <a:r>
              <a:rPr lang="en-US" altLang="zh-CN" sz="1000" dirty="0"/>
              <a:t>|---&gt; </a:t>
            </a:r>
            <a:r>
              <a:rPr lang="zh-CN" altLang="en-US" sz="1000" dirty="0"/>
              <a:t>规则</a:t>
            </a:r>
            <a:endParaRPr lang="en-US" altLang="zh-CN" sz="1000" dirty="0"/>
          </a:p>
          <a:p>
            <a:pPr marL="266700" lvl="1">
              <a:lnSpc>
                <a:spcPct val="150000"/>
              </a:lnSpc>
              <a:tabLst>
                <a:tab pos="177800" algn="l"/>
              </a:tabLst>
            </a:pPr>
            <a:r>
              <a:rPr lang="en-US" altLang="zh-CN" sz="1000" dirty="0"/>
              <a:t>|---&gt; </a:t>
            </a:r>
          </a:p>
          <a:p>
            <a:pPr marL="0" lvl="1">
              <a:lnSpc>
                <a:spcPct val="150000"/>
              </a:lnSpc>
              <a:tabLst>
                <a:tab pos="177800" algn="l"/>
              </a:tabLst>
            </a:pPr>
            <a:r>
              <a:rPr lang="zh-CN" altLang="en-US" sz="1000" b="1" dirty="0"/>
              <a:t>返回大模型</a:t>
            </a:r>
          </a:p>
        </p:txBody>
      </p:sp>
      <p:sp>
        <p:nvSpPr>
          <p:cNvPr id="49" name="文本框 48">
            <a:extLst>
              <a:ext uri="{FF2B5EF4-FFF2-40B4-BE49-F238E27FC236}">
                <a16:creationId xmlns:a16="http://schemas.microsoft.com/office/drawing/2014/main" id="{B3A56F74-9020-81D5-9FD2-20BC76D8764C}"/>
              </a:ext>
            </a:extLst>
          </p:cNvPr>
          <p:cNvSpPr txBox="1"/>
          <p:nvPr/>
        </p:nvSpPr>
        <p:spPr>
          <a:xfrm>
            <a:off x="6193437" y="1830768"/>
            <a:ext cx="2520000" cy="2880000"/>
          </a:xfrm>
          <a:prstGeom prst="rect">
            <a:avLst/>
          </a:prstGeom>
          <a:noFill/>
        </p:spPr>
        <p:txBody>
          <a:bodyPr wrap="square">
            <a:noAutofit/>
          </a:bodyPr>
          <a:lstStyle/>
          <a:p>
            <a:pPr>
              <a:lnSpc>
                <a:spcPct val="150000"/>
              </a:lnSpc>
            </a:pPr>
            <a:r>
              <a:rPr lang="en-US" altLang="zh-CN" sz="1000" b="1" dirty="0"/>
              <a:t>MCP Tool Schema </a:t>
            </a:r>
            <a:r>
              <a:rPr lang="zh-CN" altLang="en-US" sz="1000" b="1" dirty="0"/>
              <a:t>是 </a:t>
            </a:r>
            <a:r>
              <a:rPr lang="en-US" altLang="zh-CN" sz="1000" b="1" dirty="0"/>
              <a:t>MCP Server </a:t>
            </a:r>
            <a:r>
              <a:rPr lang="zh-CN" altLang="en-US" sz="1000" b="1" dirty="0"/>
              <a:t>对外暴露能力的接口说明书，包含：</a:t>
            </a:r>
          </a:p>
          <a:p>
            <a:pPr marL="228600" indent="-228600">
              <a:lnSpc>
                <a:spcPct val="150000"/>
              </a:lnSpc>
              <a:buFont typeface="+mj-lt"/>
              <a:buAutoNum type="arabicPeriod"/>
            </a:pPr>
            <a:r>
              <a:rPr lang="en-US" altLang="zh-CN" sz="1000" dirty="0"/>
              <a:t>name</a:t>
            </a:r>
            <a:r>
              <a:rPr lang="zh-CN" altLang="en-US" sz="1000" dirty="0"/>
              <a:t>：</a:t>
            </a:r>
            <a:r>
              <a:rPr lang="en-US" altLang="zh-CN" sz="1000" dirty="0"/>
              <a:t>Tool </a:t>
            </a:r>
            <a:r>
              <a:rPr lang="zh-CN" altLang="en-US" sz="1000" dirty="0"/>
              <a:t>名称</a:t>
            </a:r>
          </a:p>
          <a:p>
            <a:pPr marL="228600" indent="-228600">
              <a:lnSpc>
                <a:spcPct val="150000"/>
              </a:lnSpc>
              <a:buFont typeface="+mj-lt"/>
              <a:buAutoNum type="arabicPeriod"/>
            </a:pPr>
            <a:r>
              <a:rPr lang="en-US" altLang="zh-CN" sz="1000" dirty="0"/>
              <a:t>description</a:t>
            </a:r>
            <a:r>
              <a:rPr lang="zh-CN" altLang="en-US" sz="1000" dirty="0"/>
              <a:t>：功能描述（</a:t>
            </a:r>
            <a:r>
              <a:rPr lang="en-US" altLang="zh-CN" sz="1000" dirty="0"/>
              <a:t>LLM </a:t>
            </a:r>
            <a:r>
              <a:rPr lang="zh-CN" altLang="en-US" sz="1000" dirty="0"/>
              <a:t>靠这个决定是否调用）</a:t>
            </a:r>
          </a:p>
          <a:p>
            <a:pPr marL="228600" indent="-228600">
              <a:lnSpc>
                <a:spcPct val="150000"/>
              </a:lnSpc>
              <a:buFont typeface="+mj-lt"/>
              <a:buAutoNum type="arabicPeriod"/>
            </a:pPr>
            <a:r>
              <a:rPr lang="en-US" altLang="zh-CN" sz="1000" dirty="0"/>
              <a:t>parameters</a:t>
            </a:r>
            <a:r>
              <a:rPr lang="zh-CN" altLang="en-US" sz="1000" dirty="0"/>
              <a:t>：参数定义（类型、必填</a:t>
            </a:r>
            <a:r>
              <a:rPr lang="en-US" altLang="zh-CN" sz="1000" dirty="0"/>
              <a:t>/</a:t>
            </a:r>
            <a:r>
              <a:rPr lang="zh-CN" altLang="en-US" sz="1000" dirty="0"/>
              <a:t>选填、描述）</a:t>
            </a:r>
          </a:p>
          <a:p>
            <a:pPr marL="228600" indent="-228600">
              <a:lnSpc>
                <a:spcPct val="150000"/>
              </a:lnSpc>
              <a:buFont typeface="+mj-lt"/>
              <a:buAutoNum type="arabicPeriod"/>
            </a:pPr>
            <a:r>
              <a:rPr lang="en-US" altLang="zh-CN" sz="1000" dirty="0"/>
              <a:t>returns</a:t>
            </a:r>
            <a:r>
              <a:rPr lang="zh-CN" altLang="en-US" sz="1000" dirty="0"/>
              <a:t>：返回值结构</a:t>
            </a:r>
          </a:p>
        </p:txBody>
      </p:sp>
      <p:sp>
        <p:nvSpPr>
          <p:cNvPr id="50" name="文本框 49">
            <a:extLst>
              <a:ext uri="{FF2B5EF4-FFF2-40B4-BE49-F238E27FC236}">
                <a16:creationId xmlns:a16="http://schemas.microsoft.com/office/drawing/2014/main" id="{51DB8BAC-DDC8-FA64-E21D-8E219A206DC0}"/>
              </a:ext>
            </a:extLst>
          </p:cNvPr>
          <p:cNvSpPr txBox="1"/>
          <p:nvPr/>
        </p:nvSpPr>
        <p:spPr>
          <a:xfrm>
            <a:off x="6327521" y="1319630"/>
            <a:ext cx="2520000" cy="338554"/>
          </a:xfrm>
          <a:prstGeom prst="rect">
            <a:avLst/>
          </a:prstGeom>
          <a:solidFill>
            <a:schemeClr val="accent6">
              <a:lumMod val="40000"/>
              <a:lumOff val="60000"/>
            </a:schemeClr>
          </a:solidFill>
          <a:ln>
            <a:noFill/>
          </a:ln>
        </p:spPr>
        <p:txBody>
          <a:bodyPr wrap="square">
            <a:spAutoFit/>
          </a:bodyPr>
          <a:lstStyle/>
          <a:p>
            <a:pPr algn="ctr"/>
            <a:r>
              <a:rPr lang="en-US" altLang="zh-CN" sz="1600" b="1" dirty="0"/>
              <a:t>MCP Tool Schema</a:t>
            </a:r>
            <a:endParaRPr lang="zh-CN" altLang="en-US" sz="1600" b="1" dirty="0"/>
          </a:p>
        </p:txBody>
      </p:sp>
    </p:spTree>
    <p:extLst>
      <p:ext uri="{BB962C8B-B14F-4D97-AF65-F5344CB8AC3E}">
        <p14:creationId xmlns:p14="http://schemas.microsoft.com/office/powerpoint/2010/main" val="18957701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4">
            <a:extLst>
              <a:ext uri="{FF2B5EF4-FFF2-40B4-BE49-F238E27FC236}">
                <a16:creationId xmlns:a16="http://schemas.microsoft.com/office/drawing/2014/main" id="{F56730B6-394C-53E6-7CAF-13E4EE4668B7}"/>
              </a:ext>
            </a:extLst>
          </p:cNvPr>
          <p:cNvSpPr/>
          <p:nvPr/>
        </p:nvSpPr>
        <p:spPr>
          <a:xfrm>
            <a:off x="365760" y="1554480"/>
            <a:ext cx="1554480" cy="2011680"/>
          </a:xfrm>
          <a:prstGeom prst="rect">
            <a:avLst/>
          </a:prstGeom>
          <a:solidFill>
            <a:srgbClr val="F1F5F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5" name="Shape 5">
            <a:extLst>
              <a:ext uri="{FF2B5EF4-FFF2-40B4-BE49-F238E27FC236}">
                <a16:creationId xmlns:a16="http://schemas.microsoft.com/office/drawing/2014/main" id="{B0BB3FA4-8613-E11D-F4D0-B7DCD8ED9876}"/>
              </a:ext>
            </a:extLst>
          </p:cNvPr>
          <p:cNvSpPr/>
          <p:nvPr/>
        </p:nvSpPr>
        <p:spPr>
          <a:xfrm>
            <a:off x="868680" y="1737360"/>
            <a:ext cx="502920" cy="502920"/>
          </a:xfrm>
          <a:prstGeom prst="ellipse">
            <a:avLst/>
          </a:prstGeom>
          <a:solidFill>
            <a:srgbClr val="065A8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6" name="Text 6">
            <a:extLst>
              <a:ext uri="{FF2B5EF4-FFF2-40B4-BE49-F238E27FC236}">
                <a16:creationId xmlns:a16="http://schemas.microsoft.com/office/drawing/2014/main" id="{2F69C09E-D7C3-B1BC-099F-AC6A831E2684}"/>
              </a:ext>
            </a:extLst>
          </p:cNvPr>
          <p:cNvSpPr/>
          <p:nvPr/>
        </p:nvSpPr>
        <p:spPr>
          <a:xfrm>
            <a:off x="868680" y="1737360"/>
            <a:ext cx="50292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1</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7">
            <a:extLst>
              <a:ext uri="{FF2B5EF4-FFF2-40B4-BE49-F238E27FC236}">
                <a16:creationId xmlns:a16="http://schemas.microsoft.com/office/drawing/2014/main" id="{20D19570-958C-B2A2-CE52-8C90754B47F4}"/>
              </a:ext>
            </a:extLst>
          </p:cNvPr>
          <p:cNvSpPr/>
          <p:nvPr/>
        </p:nvSpPr>
        <p:spPr>
          <a:xfrm>
            <a:off x="365760" y="2377440"/>
            <a:ext cx="155448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65A82"/>
                </a:solidFill>
                <a:effectLst/>
                <a:uLnTx/>
                <a:uFillTx/>
                <a:latin typeface="Arial" pitchFamily="34" charset="0"/>
                <a:ea typeface="Arial" pitchFamily="34" charset="-122"/>
                <a:cs typeface="Arial" pitchFamily="34" charset="-120"/>
              </a:rPr>
              <a:t>自然语言输入</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8">
            <a:extLst>
              <a:ext uri="{FF2B5EF4-FFF2-40B4-BE49-F238E27FC236}">
                <a16:creationId xmlns:a16="http://schemas.microsoft.com/office/drawing/2014/main" id="{75D9C363-C4B0-5022-5FFC-18B309D3DBB0}"/>
              </a:ext>
            </a:extLst>
          </p:cNvPr>
          <p:cNvSpPr/>
          <p:nvPr/>
        </p:nvSpPr>
        <p:spPr>
          <a:xfrm>
            <a:off x="365760" y="2743200"/>
            <a:ext cx="155448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用户发出业务请求</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9">
            <a:extLst>
              <a:ext uri="{FF2B5EF4-FFF2-40B4-BE49-F238E27FC236}">
                <a16:creationId xmlns:a16="http://schemas.microsoft.com/office/drawing/2014/main" id="{B60E1C3F-EF08-D0B3-F033-5E7ABB59DD29}"/>
              </a:ext>
            </a:extLst>
          </p:cNvPr>
          <p:cNvSpPr/>
          <p:nvPr/>
        </p:nvSpPr>
        <p:spPr>
          <a:xfrm>
            <a:off x="1920240" y="2560320"/>
            <a:ext cx="182880" cy="0"/>
          </a:xfrm>
          <a:prstGeom prst="line">
            <a:avLst/>
          </a:prstGeom>
          <a:noFill/>
          <a:ln w="19050">
            <a:solidFill>
              <a:srgbClr val="94A3B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10" name="Shape 10">
            <a:extLst>
              <a:ext uri="{FF2B5EF4-FFF2-40B4-BE49-F238E27FC236}">
                <a16:creationId xmlns:a16="http://schemas.microsoft.com/office/drawing/2014/main" id="{3B5DC4F9-EE5A-22B4-B274-7099D485F7D3}"/>
              </a:ext>
            </a:extLst>
          </p:cNvPr>
          <p:cNvSpPr/>
          <p:nvPr/>
        </p:nvSpPr>
        <p:spPr>
          <a:xfrm>
            <a:off x="2103120" y="1554480"/>
            <a:ext cx="1554480" cy="2011680"/>
          </a:xfrm>
          <a:prstGeom prst="rect">
            <a:avLst/>
          </a:prstGeom>
          <a:solidFill>
            <a:srgbClr val="F1F5F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11" name="Shape 11">
            <a:extLst>
              <a:ext uri="{FF2B5EF4-FFF2-40B4-BE49-F238E27FC236}">
                <a16:creationId xmlns:a16="http://schemas.microsoft.com/office/drawing/2014/main" id="{AA441570-DB0A-E486-026B-E968F77895BA}"/>
              </a:ext>
            </a:extLst>
          </p:cNvPr>
          <p:cNvSpPr/>
          <p:nvPr/>
        </p:nvSpPr>
        <p:spPr>
          <a:xfrm>
            <a:off x="2606040" y="1737360"/>
            <a:ext cx="502920" cy="502920"/>
          </a:xfrm>
          <a:prstGeom prst="ellipse">
            <a:avLst/>
          </a:prstGeom>
          <a:solidFill>
            <a:srgbClr val="22A69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12" name="Text 12">
            <a:extLst>
              <a:ext uri="{FF2B5EF4-FFF2-40B4-BE49-F238E27FC236}">
                <a16:creationId xmlns:a16="http://schemas.microsoft.com/office/drawing/2014/main" id="{AEBE5B12-E7F7-DEB5-D9C6-AEB9A7559245}"/>
              </a:ext>
            </a:extLst>
          </p:cNvPr>
          <p:cNvSpPr/>
          <p:nvPr/>
        </p:nvSpPr>
        <p:spPr>
          <a:xfrm>
            <a:off x="2606040" y="1737360"/>
            <a:ext cx="50292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2</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3">
            <a:extLst>
              <a:ext uri="{FF2B5EF4-FFF2-40B4-BE49-F238E27FC236}">
                <a16:creationId xmlns:a16="http://schemas.microsoft.com/office/drawing/2014/main" id="{F28BA882-8D88-363E-E96C-919F1A822956}"/>
              </a:ext>
            </a:extLst>
          </p:cNvPr>
          <p:cNvSpPr/>
          <p:nvPr/>
        </p:nvSpPr>
        <p:spPr>
          <a:xfrm>
            <a:off x="2103120" y="2377440"/>
            <a:ext cx="155448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22A699"/>
                </a:solidFill>
                <a:effectLst/>
                <a:uLnTx/>
                <a:uFillTx/>
                <a:latin typeface="Arial" pitchFamily="34" charset="0"/>
                <a:ea typeface="Arial" pitchFamily="34" charset="-122"/>
                <a:cs typeface="Arial" pitchFamily="34" charset="-120"/>
              </a:rPr>
              <a:t>意图识别</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4">
            <a:extLst>
              <a:ext uri="{FF2B5EF4-FFF2-40B4-BE49-F238E27FC236}">
                <a16:creationId xmlns:a16="http://schemas.microsoft.com/office/drawing/2014/main" id="{D21BD263-9653-3BE6-8E6C-0DE264F6CBB4}"/>
              </a:ext>
            </a:extLst>
          </p:cNvPr>
          <p:cNvSpPr/>
          <p:nvPr/>
        </p:nvSpPr>
        <p:spPr>
          <a:xfrm>
            <a:off x="2103120" y="2743200"/>
            <a:ext cx="155448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LLM 解析用户意图</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5">
            <a:extLst>
              <a:ext uri="{FF2B5EF4-FFF2-40B4-BE49-F238E27FC236}">
                <a16:creationId xmlns:a16="http://schemas.microsoft.com/office/drawing/2014/main" id="{F142C2C3-1831-B9B1-F363-F61E2A0D2925}"/>
              </a:ext>
            </a:extLst>
          </p:cNvPr>
          <p:cNvSpPr/>
          <p:nvPr/>
        </p:nvSpPr>
        <p:spPr>
          <a:xfrm>
            <a:off x="2468880" y="3200400"/>
            <a:ext cx="822960" cy="256032"/>
          </a:xfrm>
          <a:prstGeom prst="rect">
            <a:avLst/>
          </a:prstGeom>
          <a:solidFill>
            <a:srgbClr val="22A69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16" name="Text 16">
            <a:extLst>
              <a:ext uri="{FF2B5EF4-FFF2-40B4-BE49-F238E27FC236}">
                <a16:creationId xmlns:a16="http://schemas.microsoft.com/office/drawing/2014/main" id="{AC30F6A2-7E48-8CC5-4B3A-6AE158C9567B}"/>
              </a:ext>
            </a:extLst>
          </p:cNvPr>
          <p:cNvSpPr/>
          <p:nvPr/>
        </p:nvSpPr>
        <p:spPr>
          <a:xfrm>
            <a:off x="2468880" y="3200400"/>
            <a:ext cx="82296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软约束</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7">
            <a:extLst>
              <a:ext uri="{FF2B5EF4-FFF2-40B4-BE49-F238E27FC236}">
                <a16:creationId xmlns:a16="http://schemas.microsoft.com/office/drawing/2014/main" id="{E0E9C568-FF49-458A-BEC8-FD03E9726149}"/>
              </a:ext>
            </a:extLst>
          </p:cNvPr>
          <p:cNvSpPr/>
          <p:nvPr/>
        </p:nvSpPr>
        <p:spPr>
          <a:xfrm>
            <a:off x="3657600" y="2560320"/>
            <a:ext cx="182880" cy="0"/>
          </a:xfrm>
          <a:prstGeom prst="line">
            <a:avLst/>
          </a:prstGeom>
          <a:noFill/>
          <a:ln w="19050">
            <a:solidFill>
              <a:srgbClr val="94A3B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18" name="Shape 18">
            <a:extLst>
              <a:ext uri="{FF2B5EF4-FFF2-40B4-BE49-F238E27FC236}">
                <a16:creationId xmlns:a16="http://schemas.microsoft.com/office/drawing/2014/main" id="{32288685-774C-C136-11FB-0BEE4C0274A9}"/>
              </a:ext>
            </a:extLst>
          </p:cNvPr>
          <p:cNvSpPr/>
          <p:nvPr/>
        </p:nvSpPr>
        <p:spPr>
          <a:xfrm>
            <a:off x="3840480" y="1554480"/>
            <a:ext cx="1554480" cy="2011680"/>
          </a:xfrm>
          <a:prstGeom prst="rect">
            <a:avLst/>
          </a:prstGeom>
          <a:solidFill>
            <a:srgbClr val="F1F5F9"/>
          </a:solidFill>
          <a:ln>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19" name="Shape 19">
            <a:extLst>
              <a:ext uri="{FF2B5EF4-FFF2-40B4-BE49-F238E27FC236}">
                <a16:creationId xmlns:a16="http://schemas.microsoft.com/office/drawing/2014/main" id="{AC3DF2C4-1766-E87B-35B2-EBDC76AA1BEE}"/>
              </a:ext>
            </a:extLst>
          </p:cNvPr>
          <p:cNvSpPr/>
          <p:nvPr/>
        </p:nvSpPr>
        <p:spPr>
          <a:xfrm>
            <a:off x="4343400" y="1737360"/>
            <a:ext cx="502920" cy="502920"/>
          </a:xfrm>
          <a:prstGeom prst="ellipse">
            <a:avLst/>
          </a:prstGeom>
          <a:solidFill>
            <a:srgbClr val="065A8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20" name="Text 20">
            <a:extLst>
              <a:ext uri="{FF2B5EF4-FFF2-40B4-BE49-F238E27FC236}">
                <a16:creationId xmlns:a16="http://schemas.microsoft.com/office/drawing/2014/main" id="{B4F20F80-32C0-4120-9A42-5C7B75980779}"/>
              </a:ext>
            </a:extLst>
          </p:cNvPr>
          <p:cNvSpPr/>
          <p:nvPr/>
        </p:nvSpPr>
        <p:spPr>
          <a:xfrm>
            <a:off x="4343400" y="1737360"/>
            <a:ext cx="50292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3</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21">
            <a:extLst>
              <a:ext uri="{FF2B5EF4-FFF2-40B4-BE49-F238E27FC236}">
                <a16:creationId xmlns:a16="http://schemas.microsoft.com/office/drawing/2014/main" id="{56E8127C-2959-13BE-340D-39D793382A0D}"/>
              </a:ext>
            </a:extLst>
          </p:cNvPr>
          <p:cNvSpPr/>
          <p:nvPr/>
        </p:nvSpPr>
        <p:spPr>
          <a:xfrm>
            <a:off x="3840480" y="2377440"/>
            <a:ext cx="155448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65A82"/>
                </a:solidFill>
                <a:effectLst/>
                <a:uLnTx/>
                <a:uFillTx/>
                <a:latin typeface="Arial" pitchFamily="34" charset="0"/>
                <a:ea typeface="Arial" pitchFamily="34" charset="-122"/>
                <a:cs typeface="Arial" pitchFamily="34" charset="-120"/>
              </a:rPr>
              <a:t>MCP 工具查询</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2">
            <a:extLst>
              <a:ext uri="{FF2B5EF4-FFF2-40B4-BE49-F238E27FC236}">
                <a16:creationId xmlns:a16="http://schemas.microsoft.com/office/drawing/2014/main" id="{C00D32A9-583B-E31D-0CDD-8AD19E2D5F73}"/>
              </a:ext>
            </a:extLst>
          </p:cNvPr>
          <p:cNvSpPr/>
          <p:nvPr/>
        </p:nvSpPr>
        <p:spPr>
          <a:xfrm>
            <a:off x="3840480" y="2743200"/>
            <a:ext cx="155448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获取本体定义的合法操作</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3">
            <a:extLst>
              <a:ext uri="{FF2B5EF4-FFF2-40B4-BE49-F238E27FC236}">
                <a16:creationId xmlns:a16="http://schemas.microsoft.com/office/drawing/2014/main" id="{D933DA16-AD57-2690-72A9-87227BCFAF42}"/>
              </a:ext>
            </a:extLst>
          </p:cNvPr>
          <p:cNvSpPr/>
          <p:nvPr/>
        </p:nvSpPr>
        <p:spPr>
          <a:xfrm>
            <a:off x="4206240" y="3200400"/>
            <a:ext cx="822960" cy="256032"/>
          </a:xfrm>
          <a:prstGeom prst="rect">
            <a:avLst/>
          </a:prstGeom>
          <a:solidFill>
            <a:srgbClr val="065A8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24" name="Text 24">
            <a:extLst>
              <a:ext uri="{FF2B5EF4-FFF2-40B4-BE49-F238E27FC236}">
                <a16:creationId xmlns:a16="http://schemas.microsoft.com/office/drawing/2014/main" id="{ED591E2F-1512-C1AD-B1C5-F1F29686D272}"/>
              </a:ext>
            </a:extLst>
          </p:cNvPr>
          <p:cNvSpPr/>
          <p:nvPr/>
        </p:nvSpPr>
        <p:spPr>
          <a:xfrm>
            <a:off x="4206240" y="3200400"/>
            <a:ext cx="82296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硬约束</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5">
            <a:extLst>
              <a:ext uri="{FF2B5EF4-FFF2-40B4-BE49-F238E27FC236}">
                <a16:creationId xmlns:a16="http://schemas.microsoft.com/office/drawing/2014/main" id="{23CA0321-47EA-95D0-0AF6-250C3470036D}"/>
              </a:ext>
            </a:extLst>
          </p:cNvPr>
          <p:cNvSpPr/>
          <p:nvPr/>
        </p:nvSpPr>
        <p:spPr>
          <a:xfrm>
            <a:off x="5394960" y="2560320"/>
            <a:ext cx="182880" cy="0"/>
          </a:xfrm>
          <a:prstGeom prst="line">
            <a:avLst/>
          </a:prstGeom>
          <a:noFill/>
          <a:ln w="19050">
            <a:solidFill>
              <a:srgbClr val="94A3B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26" name="Shape 26">
            <a:extLst>
              <a:ext uri="{FF2B5EF4-FFF2-40B4-BE49-F238E27FC236}">
                <a16:creationId xmlns:a16="http://schemas.microsoft.com/office/drawing/2014/main" id="{473C4EF5-B753-5523-9EE2-EEEE211895B7}"/>
              </a:ext>
            </a:extLst>
          </p:cNvPr>
          <p:cNvSpPr/>
          <p:nvPr/>
        </p:nvSpPr>
        <p:spPr>
          <a:xfrm>
            <a:off x="5577840" y="1554480"/>
            <a:ext cx="1554480" cy="2011680"/>
          </a:xfrm>
          <a:prstGeom prst="rect">
            <a:avLst/>
          </a:prstGeom>
          <a:solidFill>
            <a:srgbClr val="F1F5F9"/>
          </a:solidFill>
          <a:ln>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27" name="Shape 27">
            <a:extLst>
              <a:ext uri="{FF2B5EF4-FFF2-40B4-BE49-F238E27FC236}">
                <a16:creationId xmlns:a16="http://schemas.microsoft.com/office/drawing/2014/main" id="{FC6D89DA-CB17-4555-7281-449AD76BA534}"/>
              </a:ext>
            </a:extLst>
          </p:cNvPr>
          <p:cNvSpPr/>
          <p:nvPr/>
        </p:nvSpPr>
        <p:spPr>
          <a:xfrm>
            <a:off x="6080760" y="1737360"/>
            <a:ext cx="502920" cy="502920"/>
          </a:xfrm>
          <a:prstGeom prst="ellipse">
            <a:avLst/>
          </a:prstGeom>
          <a:solidFill>
            <a:srgbClr val="E78C07"/>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28" name="Text 28">
            <a:extLst>
              <a:ext uri="{FF2B5EF4-FFF2-40B4-BE49-F238E27FC236}">
                <a16:creationId xmlns:a16="http://schemas.microsoft.com/office/drawing/2014/main" id="{A2CC0F32-2FE7-4B41-F018-5CA96E8647CA}"/>
              </a:ext>
            </a:extLst>
          </p:cNvPr>
          <p:cNvSpPr/>
          <p:nvPr/>
        </p:nvSpPr>
        <p:spPr>
          <a:xfrm>
            <a:off x="6080760" y="1737360"/>
            <a:ext cx="50292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4</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9">
            <a:extLst>
              <a:ext uri="{FF2B5EF4-FFF2-40B4-BE49-F238E27FC236}">
                <a16:creationId xmlns:a16="http://schemas.microsoft.com/office/drawing/2014/main" id="{1CA1822E-1D40-A919-83CA-1CAADB5ADB09}"/>
              </a:ext>
            </a:extLst>
          </p:cNvPr>
          <p:cNvSpPr/>
          <p:nvPr/>
        </p:nvSpPr>
        <p:spPr>
          <a:xfrm>
            <a:off x="5577840" y="2377440"/>
            <a:ext cx="155448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E78C07"/>
                </a:solidFill>
                <a:effectLst/>
                <a:uLnTx/>
                <a:uFillTx/>
                <a:latin typeface="Arial" pitchFamily="34" charset="0"/>
                <a:ea typeface="Arial" pitchFamily="34" charset="-122"/>
                <a:cs typeface="Arial" pitchFamily="34" charset="-120"/>
              </a:rPr>
              <a:t>合规校验</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30">
            <a:extLst>
              <a:ext uri="{FF2B5EF4-FFF2-40B4-BE49-F238E27FC236}">
                <a16:creationId xmlns:a16="http://schemas.microsoft.com/office/drawing/2014/main" id="{4DF8F867-2422-B679-6C75-1E2ECE69FEF4}"/>
              </a:ext>
            </a:extLst>
          </p:cNvPr>
          <p:cNvSpPr/>
          <p:nvPr/>
        </p:nvSpPr>
        <p:spPr>
          <a:xfrm>
            <a:off x="5577840" y="2743200"/>
            <a:ext cx="155448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权限 + 聚合根 + 前置条件</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Shape 31">
            <a:extLst>
              <a:ext uri="{FF2B5EF4-FFF2-40B4-BE49-F238E27FC236}">
                <a16:creationId xmlns:a16="http://schemas.microsoft.com/office/drawing/2014/main" id="{200E3714-DF8B-B1A1-C095-061BE53A7A52}"/>
              </a:ext>
            </a:extLst>
          </p:cNvPr>
          <p:cNvSpPr/>
          <p:nvPr/>
        </p:nvSpPr>
        <p:spPr>
          <a:xfrm>
            <a:off x="5943600" y="3200400"/>
            <a:ext cx="822960" cy="256032"/>
          </a:xfrm>
          <a:prstGeom prst="rect">
            <a:avLst/>
          </a:prstGeom>
          <a:solidFill>
            <a:srgbClr val="E78C07"/>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32" name="Text 32">
            <a:extLst>
              <a:ext uri="{FF2B5EF4-FFF2-40B4-BE49-F238E27FC236}">
                <a16:creationId xmlns:a16="http://schemas.microsoft.com/office/drawing/2014/main" id="{FE7CE740-7D22-0036-CCF0-924DB74E5BBD}"/>
              </a:ext>
            </a:extLst>
          </p:cNvPr>
          <p:cNvSpPr/>
          <p:nvPr/>
        </p:nvSpPr>
        <p:spPr>
          <a:xfrm>
            <a:off x="5943600" y="3200400"/>
            <a:ext cx="82296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校验层</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Shape 33">
            <a:extLst>
              <a:ext uri="{FF2B5EF4-FFF2-40B4-BE49-F238E27FC236}">
                <a16:creationId xmlns:a16="http://schemas.microsoft.com/office/drawing/2014/main" id="{E4835057-07A2-9761-7B1E-DAFD43454DA6}"/>
              </a:ext>
            </a:extLst>
          </p:cNvPr>
          <p:cNvSpPr/>
          <p:nvPr/>
        </p:nvSpPr>
        <p:spPr>
          <a:xfrm>
            <a:off x="7132320" y="2560320"/>
            <a:ext cx="182880" cy="0"/>
          </a:xfrm>
          <a:prstGeom prst="line">
            <a:avLst/>
          </a:prstGeom>
          <a:noFill/>
          <a:ln w="19050">
            <a:solidFill>
              <a:srgbClr val="94A3B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34" name="Shape 34">
            <a:extLst>
              <a:ext uri="{FF2B5EF4-FFF2-40B4-BE49-F238E27FC236}">
                <a16:creationId xmlns:a16="http://schemas.microsoft.com/office/drawing/2014/main" id="{13C6E1CC-0B6C-A584-414A-5B147E14E4CF}"/>
              </a:ext>
            </a:extLst>
          </p:cNvPr>
          <p:cNvSpPr/>
          <p:nvPr/>
        </p:nvSpPr>
        <p:spPr>
          <a:xfrm>
            <a:off x="7315200" y="1554480"/>
            <a:ext cx="1554480" cy="2011680"/>
          </a:xfrm>
          <a:prstGeom prst="rect">
            <a:avLst/>
          </a:prstGeom>
          <a:solidFill>
            <a:srgbClr val="F1F5F9"/>
          </a:solidFill>
          <a:ln>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35" name="Shape 35">
            <a:extLst>
              <a:ext uri="{FF2B5EF4-FFF2-40B4-BE49-F238E27FC236}">
                <a16:creationId xmlns:a16="http://schemas.microsoft.com/office/drawing/2014/main" id="{21172558-CEBC-5273-DB6B-ECCE08B26A16}"/>
              </a:ext>
            </a:extLst>
          </p:cNvPr>
          <p:cNvSpPr/>
          <p:nvPr/>
        </p:nvSpPr>
        <p:spPr>
          <a:xfrm>
            <a:off x="7818120" y="1737360"/>
            <a:ext cx="502920" cy="502920"/>
          </a:xfrm>
          <a:prstGeom prst="ellipse">
            <a:avLst/>
          </a:prstGeom>
          <a:solidFill>
            <a:srgbClr val="107E3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36" name="Text 36">
            <a:extLst>
              <a:ext uri="{FF2B5EF4-FFF2-40B4-BE49-F238E27FC236}">
                <a16:creationId xmlns:a16="http://schemas.microsoft.com/office/drawing/2014/main" id="{7C42A15F-6003-8D6E-5401-C5B7D28942D7}"/>
              </a:ext>
            </a:extLst>
          </p:cNvPr>
          <p:cNvSpPr/>
          <p:nvPr/>
        </p:nvSpPr>
        <p:spPr>
          <a:xfrm>
            <a:off x="7818120" y="1737360"/>
            <a:ext cx="50292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5</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37">
            <a:extLst>
              <a:ext uri="{FF2B5EF4-FFF2-40B4-BE49-F238E27FC236}">
                <a16:creationId xmlns:a16="http://schemas.microsoft.com/office/drawing/2014/main" id="{3602B0ED-5ADD-4A17-279A-06E9975D8A0A}"/>
              </a:ext>
            </a:extLst>
          </p:cNvPr>
          <p:cNvSpPr/>
          <p:nvPr/>
        </p:nvSpPr>
        <p:spPr>
          <a:xfrm>
            <a:off x="7315200" y="2377440"/>
            <a:ext cx="155448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07E3E"/>
                </a:solidFill>
                <a:effectLst/>
                <a:uLnTx/>
                <a:uFillTx/>
                <a:latin typeface="Arial" pitchFamily="34" charset="0"/>
                <a:ea typeface="Arial" pitchFamily="34" charset="-122"/>
                <a:cs typeface="Arial" pitchFamily="34" charset="-120"/>
              </a:rPr>
              <a:t>安全执行</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38">
            <a:extLst>
              <a:ext uri="{FF2B5EF4-FFF2-40B4-BE49-F238E27FC236}">
                <a16:creationId xmlns:a16="http://schemas.microsoft.com/office/drawing/2014/main" id="{B9512927-A51B-21D3-3E29-906F693E20A3}"/>
              </a:ext>
            </a:extLst>
          </p:cNvPr>
          <p:cNvSpPr/>
          <p:nvPr/>
        </p:nvSpPr>
        <p:spPr>
          <a:xfrm>
            <a:off x="7315200" y="2743200"/>
            <a:ext cx="155448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调用业务系统 API</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9">
            <a:extLst>
              <a:ext uri="{FF2B5EF4-FFF2-40B4-BE49-F238E27FC236}">
                <a16:creationId xmlns:a16="http://schemas.microsoft.com/office/drawing/2014/main" id="{273268EA-5DBB-347B-F370-CC9120E9023E}"/>
              </a:ext>
            </a:extLst>
          </p:cNvPr>
          <p:cNvSpPr/>
          <p:nvPr/>
        </p:nvSpPr>
        <p:spPr>
          <a:xfrm>
            <a:off x="548640" y="4023360"/>
            <a:ext cx="804672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三通道纵深防御：软约束(意图识别) → 硬约束(MCP白名单) → 校验层(执行前验证)</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Shape 1">
            <a:extLst>
              <a:ext uri="{FF2B5EF4-FFF2-40B4-BE49-F238E27FC236}">
                <a16:creationId xmlns:a16="http://schemas.microsoft.com/office/drawing/2014/main" id="{082F6439-FDCA-C7A4-1139-912ED20B2CEE}"/>
              </a:ext>
            </a:extLst>
          </p:cNvPr>
          <p:cNvSpPr/>
          <p:nvPr/>
        </p:nvSpPr>
        <p:spPr>
          <a:xfrm>
            <a:off x="548640" y="274320"/>
            <a:ext cx="54864" cy="457200"/>
          </a:xfrm>
          <a:prstGeom prst="rect">
            <a:avLst/>
          </a:prstGeom>
          <a:solidFill>
            <a:srgbClr val="22A699"/>
          </a:solidFill>
          <a:ln/>
        </p:spPr>
        <p:txBody>
          <a:bodyPr/>
          <a:lstStyle/>
          <a:p>
            <a:endParaRPr lang="zh-CN" altLang="en-US"/>
          </a:p>
        </p:txBody>
      </p:sp>
      <p:sp>
        <p:nvSpPr>
          <p:cNvPr id="41" name="Text 2">
            <a:extLst>
              <a:ext uri="{FF2B5EF4-FFF2-40B4-BE49-F238E27FC236}">
                <a16:creationId xmlns:a16="http://schemas.microsoft.com/office/drawing/2014/main" id="{7C39A886-8086-E9E4-110C-08163E33D45D}"/>
              </a:ext>
            </a:extLst>
          </p:cNvPr>
          <p:cNvSpPr/>
          <p:nvPr/>
        </p:nvSpPr>
        <p:spPr>
          <a:xfrm>
            <a:off x="731520" y="274320"/>
            <a:ext cx="731520" cy="457200"/>
          </a:xfrm>
          <a:prstGeom prst="rect">
            <a:avLst/>
          </a:prstGeom>
          <a:noFill/>
          <a:ln/>
        </p:spPr>
        <p:txBody>
          <a:bodyPr wrap="square" lIns="0" tIns="0" rIns="0" bIns="0" rtlCol="0" anchor="ctr"/>
          <a:lstStyle/>
          <a:p>
            <a:pPr marL="0" indent="0">
              <a:buNone/>
            </a:pPr>
            <a:r>
              <a:rPr lang="en-US" sz="1800" b="1" dirty="0">
                <a:solidFill>
                  <a:srgbClr val="22A699"/>
                </a:solidFill>
                <a:latin typeface="Arial" pitchFamily="34" charset="0"/>
                <a:ea typeface="Arial" pitchFamily="34" charset="-122"/>
                <a:cs typeface="Arial" pitchFamily="34" charset="-120"/>
              </a:rPr>
              <a:t>03</a:t>
            </a:r>
            <a:endParaRPr lang="en-US" sz="1800" dirty="0"/>
          </a:p>
        </p:txBody>
      </p:sp>
      <p:sp>
        <p:nvSpPr>
          <p:cNvPr id="42" name="Text 3">
            <a:extLst>
              <a:ext uri="{FF2B5EF4-FFF2-40B4-BE49-F238E27FC236}">
                <a16:creationId xmlns:a16="http://schemas.microsoft.com/office/drawing/2014/main" id="{278B3BFC-9C69-DDDF-A582-9E2F91E60C6F}"/>
              </a:ext>
            </a:extLst>
          </p:cNvPr>
          <p:cNvSpPr/>
          <p:nvPr/>
        </p:nvSpPr>
        <p:spPr>
          <a:xfrm>
            <a:off x="548640" y="822960"/>
            <a:ext cx="8046720" cy="457200"/>
          </a:xfrm>
          <a:prstGeom prst="rect">
            <a:avLst/>
          </a:prstGeom>
          <a:noFill/>
          <a:ln/>
        </p:spPr>
        <p:txBody>
          <a:bodyPr wrap="square" lIns="0" tIns="0" rIns="0" bIns="0" rtlCol="0" anchor="ctr"/>
          <a:lstStyle/>
          <a:p>
            <a:pPr marL="0" indent="0">
              <a:buNone/>
            </a:pPr>
            <a:r>
              <a:rPr lang="zh-CN" altLang="en-US" sz="2200" b="1" dirty="0">
                <a:solidFill>
                  <a:srgbClr val="1E293B"/>
                </a:solidFill>
                <a:latin typeface="Arial" pitchFamily="34" charset="0"/>
                <a:ea typeface="Arial" pitchFamily="34" charset="-122"/>
                <a:cs typeface="Arial" pitchFamily="34" charset="-120"/>
              </a:rPr>
              <a:t>如何确保 </a:t>
            </a:r>
            <a:r>
              <a:rPr lang="en-US" altLang="zh-CN" sz="2200" b="1" dirty="0">
                <a:solidFill>
                  <a:srgbClr val="1E293B"/>
                </a:solidFill>
                <a:latin typeface="Arial" pitchFamily="34" charset="0"/>
                <a:ea typeface="Arial" pitchFamily="34" charset="-122"/>
                <a:cs typeface="Arial" pitchFamily="34" charset="-120"/>
              </a:rPr>
              <a:t>LLM </a:t>
            </a:r>
            <a:r>
              <a:rPr lang="zh-CN" altLang="en-US" sz="2200" b="1" dirty="0">
                <a:solidFill>
                  <a:srgbClr val="1E293B"/>
                </a:solidFill>
                <a:latin typeface="Arial" pitchFamily="34" charset="0"/>
                <a:ea typeface="Arial" pitchFamily="34" charset="-122"/>
                <a:cs typeface="Arial" pitchFamily="34" charset="-120"/>
              </a:rPr>
              <a:t>一定会调用？</a:t>
            </a:r>
          </a:p>
        </p:txBody>
      </p:sp>
    </p:spTree>
    <p:extLst>
      <p:ext uri="{BB962C8B-B14F-4D97-AF65-F5344CB8AC3E}">
        <p14:creationId xmlns:p14="http://schemas.microsoft.com/office/powerpoint/2010/main" val="28813124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9C6C2-D7DF-B140-6A5C-0BB54C3EBD7C}"/>
            </a:ext>
          </a:extLst>
        </p:cNvPr>
        <p:cNvGrpSpPr/>
        <p:nvPr/>
      </p:nvGrpSpPr>
      <p:grpSpPr>
        <a:xfrm>
          <a:off x="0" y="0"/>
          <a:ext cx="0" cy="0"/>
          <a:chOff x="0" y="0"/>
          <a:chExt cx="0" cy="0"/>
        </a:xfrm>
      </p:grpSpPr>
      <p:sp>
        <p:nvSpPr>
          <p:cNvPr id="40" name="Shape 1">
            <a:extLst>
              <a:ext uri="{FF2B5EF4-FFF2-40B4-BE49-F238E27FC236}">
                <a16:creationId xmlns:a16="http://schemas.microsoft.com/office/drawing/2014/main" id="{04FBACBB-62F5-7DCD-9A86-B7F8D77363F5}"/>
              </a:ext>
            </a:extLst>
          </p:cNvPr>
          <p:cNvSpPr/>
          <p:nvPr/>
        </p:nvSpPr>
        <p:spPr>
          <a:xfrm>
            <a:off x="548640" y="274320"/>
            <a:ext cx="54864" cy="457200"/>
          </a:xfrm>
          <a:prstGeom prst="rect">
            <a:avLst/>
          </a:prstGeom>
          <a:solidFill>
            <a:srgbClr val="22A699"/>
          </a:solidFill>
          <a:ln/>
        </p:spPr>
        <p:txBody>
          <a:bodyPr/>
          <a:lstStyle/>
          <a:p>
            <a:endParaRPr lang="zh-CN" altLang="en-US"/>
          </a:p>
        </p:txBody>
      </p:sp>
      <p:sp>
        <p:nvSpPr>
          <p:cNvPr id="41" name="Text 2">
            <a:extLst>
              <a:ext uri="{FF2B5EF4-FFF2-40B4-BE49-F238E27FC236}">
                <a16:creationId xmlns:a16="http://schemas.microsoft.com/office/drawing/2014/main" id="{C045ED0D-13BF-04E6-2DDD-B4B7FE49616D}"/>
              </a:ext>
            </a:extLst>
          </p:cNvPr>
          <p:cNvSpPr/>
          <p:nvPr/>
        </p:nvSpPr>
        <p:spPr>
          <a:xfrm>
            <a:off x="731520" y="274320"/>
            <a:ext cx="731520" cy="457200"/>
          </a:xfrm>
          <a:prstGeom prst="rect">
            <a:avLst/>
          </a:prstGeom>
          <a:noFill/>
          <a:ln/>
        </p:spPr>
        <p:txBody>
          <a:bodyPr wrap="square" lIns="0" tIns="0" rIns="0" bIns="0" rtlCol="0" anchor="ctr"/>
          <a:lstStyle/>
          <a:p>
            <a:pPr marL="0" indent="0">
              <a:buNone/>
            </a:pPr>
            <a:r>
              <a:rPr lang="en-US" sz="1800" b="1" dirty="0">
                <a:solidFill>
                  <a:srgbClr val="22A699"/>
                </a:solidFill>
                <a:latin typeface="Arial" pitchFamily="34" charset="0"/>
                <a:ea typeface="Arial" pitchFamily="34" charset="-122"/>
                <a:cs typeface="Arial" pitchFamily="34" charset="-120"/>
              </a:rPr>
              <a:t>03</a:t>
            </a:r>
            <a:endParaRPr lang="en-US" sz="1800" dirty="0"/>
          </a:p>
        </p:txBody>
      </p:sp>
      <p:sp>
        <p:nvSpPr>
          <p:cNvPr id="42" name="Text 3">
            <a:extLst>
              <a:ext uri="{FF2B5EF4-FFF2-40B4-BE49-F238E27FC236}">
                <a16:creationId xmlns:a16="http://schemas.microsoft.com/office/drawing/2014/main" id="{C59BF9FA-37D3-C743-FDD7-0E80263ADCCC}"/>
              </a:ext>
            </a:extLst>
          </p:cNvPr>
          <p:cNvSpPr/>
          <p:nvPr/>
        </p:nvSpPr>
        <p:spPr>
          <a:xfrm>
            <a:off x="548640" y="822960"/>
            <a:ext cx="8046720" cy="457200"/>
          </a:xfrm>
          <a:prstGeom prst="rect">
            <a:avLst/>
          </a:prstGeom>
          <a:noFill/>
          <a:ln/>
        </p:spPr>
        <p:txBody>
          <a:bodyPr wrap="square" lIns="0" tIns="0" rIns="0" bIns="0" rtlCol="0" anchor="ctr"/>
          <a:lstStyle/>
          <a:p>
            <a:pPr marL="0" indent="0">
              <a:buNone/>
            </a:pPr>
            <a:r>
              <a:rPr lang="zh-CN" altLang="en-US" sz="2200" b="1" dirty="0">
                <a:solidFill>
                  <a:srgbClr val="1E293B"/>
                </a:solidFill>
                <a:latin typeface="Arial" pitchFamily="34" charset="0"/>
                <a:ea typeface="Arial" pitchFamily="34" charset="-122"/>
                <a:cs typeface="Arial" pitchFamily="34" charset="-120"/>
              </a:rPr>
              <a:t>如何确保 </a:t>
            </a:r>
            <a:r>
              <a:rPr lang="en-US" altLang="zh-CN" sz="2200" b="1" dirty="0">
                <a:solidFill>
                  <a:srgbClr val="1E293B"/>
                </a:solidFill>
                <a:latin typeface="Arial" pitchFamily="34" charset="0"/>
                <a:ea typeface="Arial" pitchFamily="34" charset="-122"/>
                <a:cs typeface="Arial" pitchFamily="34" charset="-120"/>
              </a:rPr>
              <a:t>LLM </a:t>
            </a:r>
            <a:r>
              <a:rPr lang="zh-CN" altLang="en-US" sz="2200" b="1" dirty="0">
                <a:solidFill>
                  <a:srgbClr val="1E293B"/>
                </a:solidFill>
                <a:latin typeface="Arial" pitchFamily="34" charset="0"/>
                <a:ea typeface="Arial" pitchFamily="34" charset="-122"/>
                <a:cs typeface="Arial" pitchFamily="34" charset="-120"/>
              </a:rPr>
              <a:t>一定会调用？</a:t>
            </a:r>
          </a:p>
        </p:txBody>
      </p:sp>
      <p:sp>
        <p:nvSpPr>
          <p:cNvPr id="43" name="矩形 42">
            <a:extLst>
              <a:ext uri="{FF2B5EF4-FFF2-40B4-BE49-F238E27FC236}">
                <a16:creationId xmlns:a16="http://schemas.microsoft.com/office/drawing/2014/main" id="{52C38790-F4C7-3A8A-3D72-0881C6E524FC}"/>
              </a:ext>
            </a:extLst>
          </p:cNvPr>
          <p:cNvSpPr/>
          <p:nvPr/>
        </p:nvSpPr>
        <p:spPr>
          <a:xfrm>
            <a:off x="4572000" y="1295737"/>
            <a:ext cx="2276166" cy="491837"/>
          </a:xfrm>
          <a:prstGeom prst="rect">
            <a:avLst/>
          </a:prstGeom>
          <a:solidFill>
            <a:srgbClr val="29484D">
              <a:lumMod val="20000"/>
              <a:lumOff val="8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400" b="0" i="0" u="none" strike="noStrike" kern="0" cap="none" spc="0" normalizeH="0" baseline="0" noProof="0" dirty="0">
                <a:ln>
                  <a:noFill/>
                </a:ln>
                <a:solidFill>
                  <a:srgbClr val="4472C4"/>
                </a:solidFill>
                <a:effectLst/>
                <a:uLnTx/>
                <a:uFillTx/>
                <a:latin typeface="Microsoft YaHei" panose="020B0503020204020204" pitchFamily="34" charset="-122"/>
                <a:ea typeface="Microsoft YaHei" panose="020B0503020204020204" pitchFamily="34" charset="-122"/>
              </a:rPr>
              <a:t>自然语言</a:t>
            </a:r>
          </a:p>
        </p:txBody>
      </p:sp>
      <p:sp>
        <p:nvSpPr>
          <p:cNvPr id="44" name="矩形 43">
            <a:extLst>
              <a:ext uri="{FF2B5EF4-FFF2-40B4-BE49-F238E27FC236}">
                <a16:creationId xmlns:a16="http://schemas.microsoft.com/office/drawing/2014/main" id="{250712D5-2295-25F2-5F86-6E70F43A6B14}"/>
              </a:ext>
            </a:extLst>
          </p:cNvPr>
          <p:cNvSpPr/>
          <p:nvPr/>
        </p:nvSpPr>
        <p:spPr>
          <a:xfrm>
            <a:off x="4572000" y="2077996"/>
            <a:ext cx="2276166" cy="491837"/>
          </a:xfrm>
          <a:prstGeom prst="rect">
            <a:avLst/>
          </a:prstGeom>
          <a:solidFill>
            <a:srgbClr val="29484D">
              <a:lumMod val="20000"/>
              <a:lumOff val="8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000" b="0" i="0" u="none" strike="noStrike" kern="0" cap="none" spc="0" normalizeH="0" baseline="0" noProof="0" dirty="0">
                <a:ln>
                  <a:noFill/>
                </a:ln>
                <a:solidFill>
                  <a:srgbClr val="4472C4"/>
                </a:solidFill>
                <a:effectLst/>
                <a:uLnTx/>
                <a:uFillTx/>
                <a:latin typeface="Microsoft YaHei" panose="020B0503020204020204" pitchFamily="34" charset="-122"/>
                <a:ea typeface="Microsoft YaHei" panose="020B0503020204020204" pitchFamily="34" charset="-122"/>
              </a:rPr>
              <a:t>大模型</a:t>
            </a:r>
            <a:endParaRPr kumimoji="1" lang="en-US" altLang="zh-CN" sz="1000" b="0" i="0" u="none" strike="noStrike" kern="0" cap="none" spc="0" normalizeH="0" baseline="0" noProof="0" dirty="0">
              <a:ln>
                <a:noFill/>
              </a:ln>
              <a:solidFill>
                <a:srgbClr val="4472C4"/>
              </a:solidFill>
              <a:effectLst/>
              <a:uLnTx/>
              <a:uFillTx/>
              <a:latin typeface="Microsoft YaHei" panose="020B0503020204020204" pitchFamily="34" charset="-122"/>
              <a:ea typeface="Microsoft YaHei"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400" b="0" i="0" u="none" strike="noStrike" kern="0" cap="none" spc="0" normalizeH="0" baseline="0" noProof="0" dirty="0">
                <a:ln>
                  <a:noFill/>
                </a:ln>
                <a:solidFill>
                  <a:srgbClr val="4472C4"/>
                </a:solidFill>
                <a:effectLst/>
                <a:uLnTx/>
                <a:uFillTx/>
                <a:latin typeface="Microsoft YaHei" panose="020B0503020204020204" pitchFamily="34" charset="-122"/>
                <a:ea typeface="Microsoft YaHei" panose="020B0503020204020204" pitchFamily="34" charset="-122"/>
              </a:rPr>
              <a:t>意图识别</a:t>
            </a:r>
          </a:p>
        </p:txBody>
      </p:sp>
      <p:sp>
        <p:nvSpPr>
          <p:cNvPr id="45" name="矩形 44">
            <a:extLst>
              <a:ext uri="{FF2B5EF4-FFF2-40B4-BE49-F238E27FC236}">
                <a16:creationId xmlns:a16="http://schemas.microsoft.com/office/drawing/2014/main" id="{2E7FFD67-CC07-80FC-6095-0C5E02D4C223}"/>
              </a:ext>
            </a:extLst>
          </p:cNvPr>
          <p:cNvSpPr/>
          <p:nvPr/>
        </p:nvSpPr>
        <p:spPr>
          <a:xfrm>
            <a:off x="4572000" y="3642514"/>
            <a:ext cx="2276166" cy="491837"/>
          </a:xfrm>
          <a:prstGeom prst="rect">
            <a:avLst/>
          </a:prstGeom>
          <a:solidFill>
            <a:srgbClr val="29484D">
              <a:lumMod val="20000"/>
              <a:lumOff val="8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400" b="0" i="0" u="none" strike="noStrike" kern="0" cap="none" spc="0" normalizeH="0" baseline="0" noProof="0" dirty="0">
                <a:ln>
                  <a:noFill/>
                </a:ln>
                <a:solidFill>
                  <a:srgbClr val="4472C4"/>
                </a:solidFill>
                <a:effectLst/>
                <a:uLnTx/>
                <a:uFillTx/>
                <a:latin typeface="Microsoft YaHei" panose="020B0503020204020204" pitchFamily="34" charset="-122"/>
                <a:ea typeface="Microsoft YaHei" panose="020B0503020204020204" pitchFamily="34" charset="-122"/>
              </a:rPr>
              <a:t>调用工具</a:t>
            </a:r>
          </a:p>
        </p:txBody>
      </p:sp>
      <p:cxnSp>
        <p:nvCxnSpPr>
          <p:cNvPr id="46" name="直线箭头连接符 34">
            <a:extLst>
              <a:ext uri="{FF2B5EF4-FFF2-40B4-BE49-F238E27FC236}">
                <a16:creationId xmlns:a16="http://schemas.microsoft.com/office/drawing/2014/main" id="{9134EF8E-EFE4-3D9A-A104-8155006BF2F2}"/>
              </a:ext>
            </a:extLst>
          </p:cNvPr>
          <p:cNvCxnSpPr>
            <a:cxnSpLocks/>
            <a:stCxn id="43" idx="2"/>
            <a:endCxn id="44" idx="0"/>
          </p:cNvCxnSpPr>
          <p:nvPr/>
        </p:nvCxnSpPr>
        <p:spPr>
          <a:xfrm>
            <a:off x="5710083" y="1787574"/>
            <a:ext cx="0" cy="290422"/>
          </a:xfrm>
          <a:prstGeom prst="straightConnector1">
            <a:avLst/>
          </a:prstGeom>
          <a:noFill/>
          <a:ln w="12700" cap="flat" cmpd="sng" algn="ctr">
            <a:solidFill>
              <a:srgbClr val="29484D"/>
            </a:solidFill>
            <a:prstDash val="solid"/>
            <a:tailEnd type="triangle"/>
          </a:ln>
          <a:effectLst/>
        </p:spPr>
      </p:cxnSp>
      <p:sp>
        <p:nvSpPr>
          <p:cNvPr id="47" name="矩形 46">
            <a:extLst>
              <a:ext uri="{FF2B5EF4-FFF2-40B4-BE49-F238E27FC236}">
                <a16:creationId xmlns:a16="http://schemas.microsoft.com/office/drawing/2014/main" id="{9692EAB4-3CFC-C5B0-E5B2-1425F98378AE}"/>
              </a:ext>
            </a:extLst>
          </p:cNvPr>
          <p:cNvSpPr/>
          <p:nvPr/>
        </p:nvSpPr>
        <p:spPr>
          <a:xfrm>
            <a:off x="4572000" y="4424773"/>
            <a:ext cx="2276166" cy="491837"/>
          </a:xfrm>
          <a:prstGeom prst="rect">
            <a:avLst/>
          </a:prstGeom>
          <a:solidFill>
            <a:srgbClr val="29484D">
              <a:lumMod val="20000"/>
              <a:lumOff val="80000"/>
            </a:srgbClr>
          </a:solidFill>
          <a:ln w="12700" cap="flat" cmpd="sng" algn="ctr">
            <a:noFill/>
            <a:prstDash val="solid"/>
            <a:miter lim="800000"/>
          </a:ln>
          <a:effectLst/>
        </p:spPr>
        <p:txBody>
          <a:bodyPr rtlCol="0" anchor="ctr"/>
          <a:lstStyle/>
          <a:p>
            <a:pPr algn="ctr">
              <a:defRPr/>
            </a:pPr>
            <a:r>
              <a:rPr kumimoji="1" lang="zh-CN" altLang="en-US" sz="1400" kern="0" dirty="0">
                <a:solidFill>
                  <a:srgbClr val="4472C4"/>
                </a:solidFill>
                <a:latin typeface="Microsoft YaHei" panose="020B0503020204020204" pitchFamily="34" charset="-122"/>
                <a:ea typeface="Microsoft YaHei" panose="020B0503020204020204" pitchFamily="34" charset="-122"/>
              </a:rPr>
              <a:t>结果校验</a:t>
            </a:r>
          </a:p>
        </p:txBody>
      </p:sp>
      <p:cxnSp>
        <p:nvCxnSpPr>
          <p:cNvPr id="48" name="肘形连接符 107">
            <a:extLst>
              <a:ext uri="{FF2B5EF4-FFF2-40B4-BE49-F238E27FC236}">
                <a16:creationId xmlns:a16="http://schemas.microsoft.com/office/drawing/2014/main" id="{1566476E-BAFF-A702-958C-30E6F0093ACA}"/>
              </a:ext>
            </a:extLst>
          </p:cNvPr>
          <p:cNvCxnSpPr>
            <a:cxnSpLocks/>
            <a:stCxn id="60" idx="2"/>
            <a:endCxn id="45" idx="0"/>
          </p:cNvCxnSpPr>
          <p:nvPr/>
        </p:nvCxnSpPr>
        <p:spPr>
          <a:xfrm flipH="1">
            <a:off x="5710083" y="3352092"/>
            <a:ext cx="1" cy="290422"/>
          </a:xfrm>
          <a:prstGeom prst="straightConnector1">
            <a:avLst/>
          </a:prstGeom>
          <a:noFill/>
          <a:ln w="12700" cap="flat" cmpd="sng" algn="ctr">
            <a:solidFill>
              <a:srgbClr val="29484D"/>
            </a:solidFill>
            <a:prstDash val="solid"/>
            <a:tailEnd type="triangle"/>
          </a:ln>
          <a:effectLst/>
        </p:spPr>
      </p:cxnSp>
      <p:cxnSp>
        <p:nvCxnSpPr>
          <p:cNvPr id="49" name="直线箭头连接符 34">
            <a:extLst>
              <a:ext uri="{FF2B5EF4-FFF2-40B4-BE49-F238E27FC236}">
                <a16:creationId xmlns:a16="http://schemas.microsoft.com/office/drawing/2014/main" id="{776B0231-A659-9064-147D-242C32375C47}"/>
              </a:ext>
            </a:extLst>
          </p:cNvPr>
          <p:cNvCxnSpPr>
            <a:cxnSpLocks/>
            <a:stCxn id="44" idx="1"/>
            <a:endCxn id="43" idx="1"/>
          </p:cNvCxnSpPr>
          <p:nvPr/>
        </p:nvCxnSpPr>
        <p:spPr>
          <a:xfrm rot="10800000">
            <a:off x="4572000" y="1541657"/>
            <a:ext cx="12700" cy="782259"/>
          </a:xfrm>
          <a:prstGeom prst="bentConnector3">
            <a:avLst>
              <a:gd name="adj1" fmla="val 1800000"/>
            </a:avLst>
          </a:prstGeom>
          <a:noFill/>
          <a:ln w="9525" cap="flat" cmpd="sng" algn="ctr">
            <a:solidFill>
              <a:srgbClr val="EE8F62"/>
            </a:solidFill>
            <a:prstDash val="solid"/>
            <a:tailEnd type="triangle"/>
          </a:ln>
          <a:effectLst/>
        </p:spPr>
      </p:cxnSp>
      <p:sp>
        <p:nvSpPr>
          <p:cNvPr id="50" name="文本框 49">
            <a:extLst>
              <a:ext uri="{FF2B5EF4-FFF2-40B4-BE49-F238E27FC236}">
                <a16:creationId xmlns:a16="http://schemas.microsoft.com/office/drawing/2014/main" id="{E4C3C157-B6FD-D79D-987C-30D7AEA15485}"/>
              </a:ext>
            </a:extLst>
          </p:cNvPr>
          <p:cNvSpPr txBox="1"/>
          <p:nvPr/>
        </p:nvSpPr>
        <p:spPr>
          <a:xfrm>
            <a:off x="5252883" y="729512"/>
            <a:ext cx="914400" cy="275803"/>
          </a:xfrm>
          <a:prstGeom prst="rect">
            <a:avLst/>
          </a:prstGeom>
          <a:ln w="6350">
            <a:noFill/>
            <a:miter lim="800000"/>
          </a:ln>
        </p:spPr>
        <p:txBody>
          <a:bodyPr vert="horz" wrap="none" lIns="0" tIns="0" rIns="0" bIns="0" rtlCol="0">
            <a:noAutofit/>
          </a:bodyPr>
          <a:lstStyle/>
          <a:p>
            <a:pPr algn="ctr">
              <a:spcBef>
                <a:spcPts val="300"/>
              </a:spcBef>
              <a:spcAft>
                <a:spcPts val="300"/>
              </a:spcAft>
            </a:pPr>
            <a:r>
              <a:rPr lang="zh-CN" altLang="en-US" sz="1600" dirty="0">
                <a:solidFill>
                  <a:srgbClr val="000000"/>
                </a:solidFill>
                <a:latin typeface="华文楷体"/>
                <a:ea typeface="华文楷体"/>
              </a:rPr>
              <a:t>用户</a:t>
            </a:r>
          </a:p>
        </p:txBody>
      </p:sp>
      <p:sp>
        <p:nvSpPr>
          <p:cNvPr id="51" name="文本框 50">
            <a:extLst>
              <a:ext uri="{FF2B5EF4-FFF2-40B4-BE49-F238E27FC236}">
                <a16:creationId xmlns:a16="http://schemas.microsoft.com/office/drawing/2014/main" id="{6812D562-58DF-994F-7095-294BF75ACB90}"/>
              </a:ext>
            </a:extLst>
          </p:cNvPr>
          <p:cNvSpPr txBox="1"/>
          <p:nvPr/>
        </p:nvSpPr>
        <p:spPr>
          <a:xfrm>
            <a:off x="7455757" y="729512"/>
            <a:ext cx="914400" cy="275803"/>
          </a:xfrm>
          <a:prstGeom prst="rect">
            <a:avLst/>
          </a:prstGeom>
          <a:ln w="6350">
            <a:solidFill>
              <a:srgbClr val="29484D"/>
            </a:solidFill>
            <a:miter lim="800000"/>
          </a:ln>
        </p:spPr>
        <p:txBody>
          <a:bodyPr vert="horz" wrap="none" lIns="0" tIns="0" rIns="0" bIns="0" rtlCol="0" anchor="ctr">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zh-CN" altLang="en-US" sz="1200" b="0" i="0" u="none" strike="noStrike" kern="0" cap="none" spc="0" normalizeH="0" baseline="0" noProof="0" dirty="0">
                <a:ln>
                  <a:noFill/>
                </a:ln>
                <a:solidFill>
                  <a:srgbClr val="000000"/>
                </a:solidFill>
                <a:effectLst/>
                <a:uLnTx/>
                <a:uFillTx/>
                <a:latin typeface="华文楷体"/>
                <a:ea typeface="华文楷体"/>
              </a:rPr>
              <a:t>用户登录</a:t>
            </a:r>
          </a:p>
        </p:txBody>
      </p:sp>
      <p:cxnSp>
        <p:nvCxnSpPr>
          <p:cNvPr id="52" name="直接箭头连接符 51">
            <a:extLst>
              <a:ext uri="{FF2B5EF4-FFF2-40B4-BE49-F238E27FC236}">
                <a16:creationId xmlns:a16="http://schemas.microsoft.com/office/drawing/2014/main" id="{560C7184-9F3D-1D66-90AB-963004D70BA8}"/>
              </a:ext>
            </a:extLst>
          </p:cNvPr>
          <p:cNvCxnSpPr>
            <a:cxnSpLocks/>
            <a:stCxn id="50" idx="3"/>
            <a:endCxn id="51" idx="1"/>
          </p:cNvCxnSpPr>
          <p:nvPr/>
        </p:nvCxnSpPr>
        <p:spPr>
          <a:xfrm>
            <a:off x="6167283" y="867414"/>
            <a:ext cx="1288474" cy="0"/>
          </a:xfrm>
          <a:prstGeom prst="straightConnector1">
            <a:avLst/>
          </a:prstGeom>
          <a:noFill/>
          <a:ln w="10795" cap="flat" cmpd="sng" algn="ctr">
            <a:solidFill>
              <a:srgbClr val="35C3F7"/>
            </a:solidFill>
            <a:prstDash val="solid"/>
            <a:tailEnd type="triangle"/>
          </a:ln>
          <a:effectLst/>
        </p:spPr>
      </p:cxnSp>
      <p:sp>
        <p:nvSpPr>
          <p:cNvPr id="53" name="文本框 52">
            <a:extLst>
              <a:ext uri="{FF2B5EF4-FFF2-40B4-BE49-F238E27FC236}">
                <a16:creationId xmlns:a16="http://schemas.microsoft.com/office/drawing/2014/main" id="{FB301A61-D21A-501C-4F24-B1EE95D4246B}"/>
              </a:ext>
            </a:extLst>
          </p:cNvPr>
          <p:cNvSpPr txBox="1"/>
          <p:nvPr/>
        </p:nvSpPr>
        <p:spPr>
          <a:xfrm>
            <a:off x="7455757" y="1495588"/>
            <a:ext cx="914400" cy="275803"/>
          </a:xfrm>
          <a:prstGeom prst="rect">
            <a:avLst/>
          </a:prstGeom>
          <a:ln w="6350">
            <a:solidFill>
              <a:srgbClr val="29484D"/>
            </a:solidFill>
            <a:miter lim="800000"/>
          </a:ln>
        </p:spPr>
        <p:txBody>
          <a:bodyPr vert="horz" wrap="none" lIns="0" tIns="0" rIns="0" bIns="0" rtlCol="0" anchor="ctr">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zh-CN" altLang="en-US" sz="1200" b="0" i="0" u="none" strike="noStrike" kern="0" cap="none" spc="0" normalizeH="0" baseline="0" noProof="0" dirty="0">
                <a:ln>
                  <a:noFill/>
                </a:ln>
                <a:solidFill>
                  <a:srgbClr val="000000"/>
                </a:solidFill>
                <a:effectLst/>
                <a:uLnTx/>
                <a:uFillTx/>
                <a:latin typeface="华文楷体"/>
                <a:ea typeface="华文楷体"/>
              </a:rPr>
              <a:t>权限识别</a:t>
            </a:r>
          </a:p>
        </p:txBody>
      </p:sp>
      <p:cxnSp>
        <p:nvCxnSpPr>
          <p:cNvPr id="54" name="直线箭头连接符 34">
            <a:extLst>
              <a:ext uri="{FF2B5EF4-FFF2-40B4-BE49-F238E27FC236}">
                <a16:creationId xmlns:a16="http://schemas.microsoft.com/office/drawing/2014/main" id="{F68ECE18-28CE-7D7B-F18D-DE740CC85C20}"/>
              </a:ext>
            </a:extLst>
          </p:cNvPr>
          <p:cNvCxnSpPr>
            <a:cxnSpLocks/>
            <a:stCxn id="51" idx="2"/>
            <a:endCxn id="53" idx="0"/>
          </p:cNvCxnSpPr>
          <p:nvPr/>
        </p:nvCxnSpPr>
        <p:spPr>
          <a:xfrm>
            <a:off x="7912957" y="1005315"/>
            <a:ext cx="0" cy="490273"/>
          </a:xfrm>
          <a:prstGeom prst="straightConnector1">
            <a:avLst/>
          </a:prstGeom>
          <a:noFill/>
          <a:ln w="10795" cap="flat" cmpd="sng" algn="ctr">
            <a:solidFill>
              <a:srgbClr val="35C3F7"/>
            </a:solidFill>
            <a:prstDash val="solid"/>
            <a:tailEnd type="triangle"/>
          </a:ln>
          <a:effectLst/>
        </p:spPr>
      </p:cxnSp>
      <p:cxnSp>
        <p:nvCxnSpPr>
          <p:cNvPr id="55" name="直线箭头连接符 34">
            <a:extLst>
              <a:ext uri="{FF2B5EF4-FFF2-40B4-BE49-F238E27FC236}">
                <a16:creationId xmlns:a16="http://schemas.microsoft.com/office/drawing/2014/main" id="{47B20592-2E1B-60BF-6157-718962ED23A8}"/>
              </a:ext>
            </a:extLst>
          </p:cNvPr>
          <p:cNvCxnSpPr>
            <a:cxnSpLocks/>
          </p:cNvCxnSpPr>
          <p:nvPr/>
        </p:nvCxnSpPr>
        <p:spPr>
          <a:xfrm flipH="1">
            <a:off x="6848167" y="1616435"/>
            <a:ext cx="607590" cy="0"/>
          </a:xfrm>
          <a:prstGeom prst="straightConnector1">
            <a:avLst/>
          </a:prstGeom>
          <a:noFill/>
          <a:ln w="10795" cap="flat" cmpd="sng" algn="ctr">
            <a:solidFill>
              <a:srgbClr val="35C3F7"/>
            </a:solidFill>
            <a:prstDash val="solid"/>
            <a:tailEnd type="triangle"/>
          </a:ln>
          <a:effectLst/>
        </p:spPr>
      </p:cxnSp>
      <p:cxnSp>
        <p:nvCxnSpPr>
          <p:cNvPr id="56" name="直线箭头连接符 34">
            <a:extLst>
              <a:ext uri="{FF2B5EF4-FFF2-40B4-BE49-F238E27FC236}">
                <a16:creationId xmlns:a16="http://schemas.microsoft.com/office/drawing/2014/main" id="{E423F689-FBE0-9798-B1C2-92637B4F1A25}"/>
              </a:ext>
            </a:extLst>
          </p:cNvPr>
          <p:cNvCxnSpPr>
            <a:cxnSpLocks/>
            <a:stCxn id="50" idx="2"/>
            <a:endCxn id="43" idx="0"/>
          </p:cNvCxnSpPr>
          <p:nvPr/>
        </p:nvCxnSpPr>
        <p:spPr>
          <a:xfrm>
            <a:off x="5710083" y="1005315"/>
            <a:ext cx="0" cy="290422"/>
          </a:xfrm>
          <a:prstGeom prst="straightConnector1">
            <a:avLst/>
          </a:prstGeom>
          <a:noFill/>
          <a:ln w="12700" cap="flat" cmpd="sng" algn="ctr">
            <a:solidFill>
              <a:srgbClr val="29484D"/>
            </a:solidFill>
            <a:prstDash val="solid"/>
            <a:tailEnd type="triangle"/>
          </a:ln>
          <a:effectLst/>
        </p:spPr>
      </p:cxnSp>
      <p:sp>
        <p:nvSpPr>
          <p:cNvPr id="57" name="圆柱体 56">
            <a:extLst>
              <a:ext uri="{FF2B5EF4-FFF2-40B4-BE49-F238E27FC236}">
                <a16:creationId xmlns:a16="http://schemas.microsoft.com/office/drawing/2014/main" id="{B321E803-C4C0-9B38-ECF8-0DF4F8F532B4}"/>
              </a:ext>
            </a:extLst>
          </p:cNvPr>
          <p:cNvSpPr/>
          <p:nvPr/>
        </p:nvSpPr>
        <p:spPr>
          <a:xfrm>
            <a:off x="7432641" y="1951518"/>
            <a:ext cx="914400" cy="756250"/>
          </a:xfrm>
          <a:prstGeom prst="can">
            <a:avLst/>
          </a:prstGeom>
          <a:noFill/>
          <a:ln w="6350" cap="sq" cmpd="sng" algn="ctr">
            <a:solidFill>
              <a:srgbClr val="29484D"/>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zh-CN" altLang="en-US" sz="1600" b="0" i="0" u="none" strike="noStrike" kern="0" cap="none" spc="0" normalizeH="0" baseline="0" noProof="0" dirty="0" err="1">
              <a:ln>
                <a:noFill/>
              </a:ln>
              <a:solidFill>
                <a:srgbClr val="FFFFFF"/>
              </a:solidFill>
              <a:effectLst/>
              <a:uLnTx/>
              <a:uFillTx/>
              <a:latin typeface="华文楷体"/>
              <a:ea typeface="华文楷体"/>
              <a:cs typeface="+mn-cs"/>
            </a:endParaRPr>
          </a:p>
        </p:txBody>
      </p:sp>
      <p:cxnSp>
        <p:nvCxnSpPr>
          <p:cNvPr id="58" name="直线箭头连接符 34">
            <a:extLst>
              <a:ext uri="{FF2B5EF4-FFF2-40B4-BE49-F238E27FC236}">
                <a16:creationId xmlns:a16="http://schemas.microsoft.com/office/drawing/2014/main" id="{68B3B508-17BD-F31B-895E-60E77F5DF259}"/>
              </a:ext>
            </a:extLst>
          </p:cNvPr>
          <p:cNvCxnSpPr>
            <a:cxnSpLocks/>
            <a:stCxn id="57" idx="2"/>
            <a:endCxn id="44" idx="3"/>
          </p:cNvCxnSpPr>
          <p:nvPr/>
        </p:nvCxnSpPr>
        <p:spPr>
          <a:xfrm flipH="1" flipV="1">
            <a:off x="6848166" y="2323915"/>
            <a:ext cx="584475" cy="5728"/>
          </a:xfrm>
          <a:prstGeom prst="straightConnector1">
            <a:avLst/>
          </a:prstGeom>
          <a:noFill/>
          <a:ln w="10795" cap="flat" cmpd="sng" algn="ctr">
            <a:solidFill>
              <a:srgbClr val="35C3F7"/>
            </a:solidFill>
            <a:prstDash val="solid"/>
            <a:tailEnd type="triangle"/>
          </a:ln>
          <a:effectLst/>
        </p:spPr>
      </p:cxnSp>
      <p:sp>
        <p:nvSpPr>
          <p:cNvPr id="59" name="文本框 58">
            <a:extLst>
              <a:ext uri="{FF2B5EF4-FFF2-40B4-BE49-F238E27FC236}">
                <a16:creationId xmlns:a16="http://schemas.microsoft.com/office/drawing/2014/main" id="{ED0A61B5-86D5-0B10-0097-A853FBDA99A3}"/>
              </a:ext>
            </a:extLst>
          </p:cNvPr>
          <p:cNvSpPr txBox="1"/>
          <p:nvPr/>
        </p:nvSpPr>
        <p:spPr>
          <a:xfrm>
            <a:off x="7396982" y="2224716"/>
            <a:ext cx="914400" cy="301718"/>
          </a:xfrm>
          <a:prstGeom prst="rect">
            <a:avLst/>
          </a:prstGeom>
          <a:ln w="6350">
            <a:noFill/>
            <a:miter lim="800000"/>
          </a:ln>
        </p:spPr>
        <p:txBody>
          <a:bodyPr vert="horz" wrap="none" lIns="0" tIns="0" rIns="0" bIns="0" rtlCol="0" anchor="ctr">
            <a:noAutofit/>
          </a:bodyPr>
          <a:lstStyle/>
          <a:p>
            <a:pPr algn="ctr"/>
            <a:r>
              <a:rPr lang="en-US" altLang="zh-CN" sz="1200" dirty="0">
                <a:solidFill>
                  <a:srgbClr val="000000"/>
                </a:solidFill>
                <a:latin typeface="华文楷体"/>
                <a:ea typeface="华文楷体"/>
              </a:rPr>
              <a:t>Prompt</a:t>
            </a:r>
          </a:p>
          <a:p>
            <a:pPr algn="ctr"/>
            <a:r>
              <a:rPr lang="en-US" altLang="zh-CN" sz="1200" dirty="0">
                <a:solidFill>
                  <a:srgbClr val="000000"/>
                </a:solidFill>
                <a:latin typeface="华文楷体"/>
                <a:ea typeface="华文楷体"/>
              </a:rPr>
              <a:t>SKILL</a:t>
            </a:r>
            <a:endParaRPr lang="zh-CN" altLang="en-US" sz="1200" dirty="0">
              <a:solidFill>
                <a:srgbClr val="000000"/>
              </a:solidFill>
              <a:latin typeface="华文楷体"/>
              <a:ea typeface="华文楷体"/>
            </a:endParaRPr>
          </a:p>
        </p:txBody>
      </p:sp>
      <p:sp>
        <p:nvSpPr>
          <p:cNvPr id="60" name="矩形 59">
            <a:extLst>
              <a:ext uri="{FF2B5EF4-FFF2-40B4-BE49-F238E27FC236}">
                <a16:creationId xmlns:a16="http://schemas.microsoft.com/office/drawing/2014/main" id="{87C31F31-3340-E03F-774E-A8BE68BBA6D1}"/>
              </a:ext>
            </a:extLst>
          </p:cNvPr>
          <p:cNvSpPr/>
          <p:nvPr/>
        </p:nvSpPr>
        <p:spPr>
          <a:xfrm>
            <a:off x="4572001" y="2860255"/>
            <a:ext cx="2276165" cy="491837"/>
          </a:xfrm>
          <a:prstGeom prst="rect">
            <a:avLst/>
          </a:prstGeom>
          <a:solidFill>
            <a:srgbClr val="29484D">
              <a:lumMod val="20000"/>
              <a:lumOff val="8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400" kern="0" dirty="0">
                <a:solidFill>
                  <a:srgbClr val="4472C4"/>
                </a:solidFill>
                <a:latin typeface="Microsoft YaHei" panose="020B0503020204020204" pitchFamily="34" charset="-122"/>
                <a:ea typeface="Microsoft YaHei" panose="020B0503020204020204" pitchFamily="34" charset="-122"/>
              </a:rPr>
              <a:t>精确识别</a:t>
            </a:r>
            <a:r>
              <a:rPr kumimoji="1" lang="en-US" altLang="zh-CN" sz="1400" b="0" i="0" u="none" strike="noStrike" kern="0" cap="none" spc="0" normalizeH="0" baseline="0" noProof="0" dirty="0">
                <a:ln>
                  <a:noFill/>
                </a:ln>
                <a:solidFill>
                  <a:srgbClr val="4472C4"/>
                </a:solidFill>
                <a:effectLst/>
                <a:uLnTx/>
                <a:uFillTx/>
                <a:latin typeface="Microsoft YaHei" panose="020B0503020204020204" pitchFamily="34" charset="-122"/>
                <a:ea typeface="Microsoft YaHei" panose="020B0503020204020204" pitchFamily="34" charset="-122"/>
              </a:rPr>
              <a:t>Tool</a:t>
            </a:r>
            <a:r>
              <a:rPr kumimoji="1" lang="zh-CN" altLang="en-US" sz="1400" b="0" i="0" u="none" strike="noStrike" kern="0" cap="none" spc="0" normalizeH="0" baseline="0" noProof="0" dirty="0">
                <a:ln>
                  <a:noFill/>
                </a:ln>
                <a:solidFill>
                  <a:srgbClr val="4472C4"/>
                </a:solidFill>
                <a:effectLst/>
                <a:uLnTx/>
                <a:uFillTx/>
                <a:latin typeface="Microsoft YaHei" panose="020B0503020204020204" pitchFamily="34" charset="-122"/>
                <a:ea typeface="Microsoft YaHei" panose="020B0503020204020204" pitchFamily="34" charset="-122"/>
              </a:rPr>
              <a:t>及参数</a:t>
            </a:r>
          </a:p>
        </p:txBody>
      </p:sp>
      <p:sp>
        <p:nvSpPr>
          <p:cNvPr id="61" name="矩形: 圆角 60">
            <a:extLst>
              <a:ext uri="{FF2B5EF4-FFF2-40B4-BE49-F238E27FC236}">
                <a16:creationId xmlns:a16="http://schemas.microsoft.com/office/drawing/2014/main" id="{BD94D372-7F97-DB57-94CA-71F88A592A61}"/>
              </a:ext>
            </a:extLst>
          </p:cNvPr>
          <p:cNvSpPr/>
          <p:nvPr/>
        </p:nvSpPr>
        <p:spPr>
          <a:xfrm>
            <a:off x="7453946" y="3687937"/>
            <a:ext cx="893096" cy="180000"/>
          </a:xfrm>
          <a:prstGeom prst="roundRect">
            <a:avLst/>
          </a:prstGeom>
          <a:noFill/>
          <a:ln w="6350" cap="sq" cmpd="sng" algn="ctr">
            <a:solidFill>
              <a:srgbClr val="29484D"/>
            </a:solidFill>
            <a:prstDash val="solid"/>
            <a:miter lim="800000"/>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zh-CN" altLang="en-US" sz="1200" b="0" i="0" u="none" strike="noStrike" kern="0" cap="none" spc="0" normalizeH="0" baseline="0" noProof="0" dirty="0">
                <a:ln>
                  <a:noFill/>
                </a:ln>
                <a:solidFill>
                  <a:srgbClr val="000000"/>
                </a:solidFill>
                <a:effectLst/>
                <a:uLnTx/>
                <a:uFillTx/>
                <a:latin typeface="华文楷体"/>
                <a:ea typeface="华文楷体"/>
                <a:cs typeface="+mn-cs"/>
              </a:rPr>
              <a:t>数据检查</a:t>
            </a:r>
          </a:p>
        </p:txBody>
      </p:sp>
      <p:sp>
        <p:nvSpPr>
          <p:cNvPr id="62" name="矩形: 圆角 61">
            <a:extLst>
              <a:ext uri="{FF2B5EF4-FFF2-40B4-BE49-F238E27FC236}">
                <a16:creationId xmlns:a16="http://schemas.microsoft.com/office/drawing/2014/main" id="{809755AA-2C4F-C70F-91CF-EF0EA2E284B7}"/>
              </a:ext>
            </a:extLst>
          </p:cNvPr>
          <p:cNvSpPr/>
          <p:nvPr/>
        </p:nvSpPr>
        <p:spPr>
          <a:xfrm>
            <a:off x="7453946" y="3914482"/>
            <a:ext cx="893096" cy="180000"/>
          </a:xfrm>
          <a:prstGeom prst="roundRect">
            <a:avLst/>
          </a:prstGeom>
          <a:noFill/>
          <a:ln w="6350" cap="sq" cmpd="sng" algn="ctr">
            <a:solidFill>
              <a:srgbClr val="29484D"/>
            </a:solidFill>
            <a:prstDash val="solid"/>
            <a:miter lim="800000"/>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zh-CN" altLang="en-US" sz="1200" b="0" i="0" u="none" strike="noStrike" kern="0" cap="none" spc="0" normalizeH="0" baseline="0" noProof="0" dirty="0">
                <a:ln>
                  <a:noFill/>
                </a:ln>
                <a:solidFill>
                  <a:srgbClr val="000000"/>
                </a:solidFill>
                <a:effectLst/>
                <a:uLnTx/>
                <a:uFillTx/>
                <a:latin typeface="华文楷体"/>
                <a:ea typeface="华文楷体"/>
                <a:cs typeface="+mn-cs"/>
              </a:rPr>
              <a:t>调用插件</a:t>
            </a:r>
          </a:p>
        </p:txBody>
      </p:sp>
      <p:sp>
        <p:nvSpPr>
          <p:cNvPr id="63" name="矩形: 圆角 62">
            <a:extLst>
              <a:ext uri="{FF2B5EF4-FFF2-40B4-BE49-F238E27FC236}">
                <a16:creationId xmlns:a16="http://schemas.microsoft.com/office/drawing/2014/main" id="{5537C7B0-6F21-959E-EC98-3C45EC0ACA07}"/>
              </a:ext>
            </a:extLst>
          </p:cNvPr>
          <p:cNvSpPr/>
          <p:nvPr/>
        </p:nvSpPr>
        <p:spPr>
          <a:xfrm>
            <a:off x="7453946" y="4141028"/>
            <a:ext cx="893096" cy="180000"/>
          </a:xfrm>
          <a:prstGeom prst="roundRect">
            <a:avLst/>
          </a:prstGeom>
          <a:noFill/>
          <a:ln w="6350" cap="sq" cmpd="sng" algn="ctr">
            <a:solidFill>
              <a:srgbClr val="29484D"/>
            </a:solidFill>
            <a:prstDash val="solid"/>
            <a:miter lim="800000"/>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zh-CN" altLang="en-US" sz="1200" b="0" i="0" u="none" strike="noStrike" kern="0" cap="none" spc="0" normalizeH="0" baseline="0" noProof="0" dirty="0">
                <a:ln>
                  <a:noFill/>
                </a:ln>
                <a:solidFill>
                  <a:srgbClr val="000000"/>
                </a:solidFill>
                <a:effectLst/>
                <a:uLnTx/>
                <a:uFillTx/>
                <a:latin typeface="华文楷体"/>
                <a:ea typeface="华文楷体"/>
                <a:cs typeface="+mn-cs"/>
              </a:rPr>
              <a:t>调用接口</a:t>
            </a:r>
          </a:p>
        </p:txBody>
      </p:sp>
      <p:cxnSp>
        <p:nvCxnSpPr>
          <p:cNvPr id="64" name="连接符: 肘形 63">
            <a:extLst>
              <a:ext uri="{FF2B5EF4-FFF2-40B4-BE49-F238E27FC236}">
                <a16:creationId xmlns:a16="http://schemas.microsoft.com/office/drawing/2014/main" id="{8FF5F98A-640F-50AA-D363-F1D97CFBFB39}"/>
              </a:ext>
            </a:extLst>
          </p:cNvPr>
          <p:cNvCxnSpPr>
            <a:cxnSpLocks/>
            <a:stCxn id="45" idx="3"/>
            <a:endCxn id="61" idx="1"/>
          </p:cNvCxnSpPr>
          <p:nvPr/>
        </p:nvCxnSpPr>
        <p:spPr>
          <a:xfrm flipV="1">
            <a:off x="6848166" y="3777937"/>
            <a:ext cx="605780" cy="110496"/>
          </a:xfrm>
          <a:prstGeom prst="bentConnector3">
            <a:avLst/>
          </a:prstGeom>
          <a:noFill/>
          <a:ln w="6350" cap="flat" cmpd="sng" algn="ctr">
            <a:solidFill>
              <a:srgbClr val="35C3F7"/>
            </a:solidFill>
            <a:prstDash val="solid"/>
            <a:miter lim="800000"/>
            <a:tailEnd type="triangle"/>
          </a:ln>
          <a:effectLst/>
        </p:spPr>
      </p:cxnSp>
      <p:cxnSp>
        <p:nvCxnSpPr>
          <p:cNvPr id="65" name="连接符: 肘形 64">
            <a:extLst>
              <a:ext uri="{FF2B5EF4-FFF2-40B4-BE49-F238E27FC236}">
                <a16:creationId xmlns:a16="http://schemas.microsoft.com/office/drawing/2014/main" id="{B848A020-CA1B-053A-A6F1-B0FE44898040}"/>
              </a:ext>
            </a:extLst>
          </p:cNvPr>
          <p:cNvCxnSpPr>
            <a:cxnSpLocks/>
            <a:stCxn id="45" idx="3"/>
            <a:endCxn id="63" idx="1"/>
          </p:cNvCxnSpPr>
          <p:nvPr/>
        </p:nvCxnSpPr>
        <p:spPr>
          <a:xfrm>
            <a:off x="6848166" y="3888433"/>
            <a:ext cx="605780" cy="342595"/>
          </a:xfrm>
          <a:prstGeom prst="bentConnector3">
            <a:avLst/>
          </a:prstGeom>
          <a:noFill/>
          <a:ln w="6350" cap="flat" cmpd="sng" algn="ctr">
            <a:solidFill>
              <a:srgbClr val="35C3F7"/>
            </a:solidFill>
            <a:prstDash val="solid"/>
            <a:miter lim="800000"/>
            <a:tailEnd type="triangle"/>
          </a:ln>
          <a:effectLst/>
        </p:spPr>
      </p:cxnSp>
      <p:cxnSp>
        <p:nvCxnSpPr>
          <p:cNvPr id="66" name="直线箭头连接符 34">
            <a:extLst>
              <a:ext uri="{FF2B5EF4-FFF2-40B4-BE49-F238E27FC236}">
                <a16:creationId xmlns:a16="http://schemas.microsoft.com/office/drawing/2014/main" id="{6D14437E-A0CF-7492-FF8E-DC259DFA3E84}"/>
              </a:ext>
            </a:extLst>
          </p:cNvPr>
          <p:cNvCxnSpPr>
            <a:cxnSpLocks/>
            <a:stCxn id="45" idx="2"/>
            <a:endCxn id="47" idx="0"/>
          </p:cNvCxnSpPr>
          <p:nvPr/>
        </p:nvCxnSpPr>
        <p:spPr>
          <a:xfrm>
            <a:off x="5710083" y="4134351"/>
            <a:ext cx="0" cy="290422"/>
          </a:xfrm>
          <a:prstGeom prst="straightConnector1">
            <a:avLst/>
          </a:prstGeom>
          <a:noFill/>
          <a:ln w="10795" cap="flat" cmpd="sng" algn="ctr">
            <a:solidFill>
              <a:srgbClr val="35C3F7"/>
            </a:solidFill>
            <a:prstDash val="solid"/>
            <a:tailEnd type="triangle"/>
          </a:ln>
          <a:effectLst/>
        </p:spPr>
      </p:cxnSp>
      <p:sp>
        <p:nvSpPr>
          <p:cNvPr id="67" name="矩形: 圆角 66">
            <a:extLst>
              <a:ext uri="{FF2B5EF4-FFF2-40B4-BE49-F238E27FC236}">
                <a16:creationId xmlns:a16="http://schemas.microsoft.com/office/drawing/2014/main" id="{610535A1-5613-6C75-9551-66092ADD1E2F}"/>
              </a:ext>
            </a:extLst>
          </p:cNvPr>
          <p:cNvSpPr/>
          <p:nvPr/>
        </p:nvSpPr>
        <p:spPr>
          <a:xfrm>
            <a:off x="7453946" y="3461392"/>
            <a:ext cx="893096" cy="180000"/>
          </a:xfrm>
          <a:prstGeom prst="roundRect">
            <a:avLst/>
          </a:prstGeom>
          <a:noFill/>
          <a:ln w="6350" cap="sq" cmpd="sng" algn="ctr">
            <a:solidFill>
              <a:srgbClr val="29484D"/>
            </a:solidFill>
            <a:prstDash val="solid"/>
            <a:miter lim="800000"/>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lvl="0" algn="ctr">
              <a:defRPr/>
            </a:pPr>
            <a:r>
              <a:rPr lang="zh-CN" altLang="en-US" sz="1100" kern="0" dirty="0">
                <a:solidFill>
                  <a:srgbClr val="000000"/>
                </a:solidFill>
                <a:latin typeface="华文楷体"/>
                <a:ea typeface="华文楷体"/>
              </a:rPr>
              <a:t>权限检查</a:t>
            </a:r>
            <a:endParaRPr lang="en-US" altLang="zh-CN" sz="1100" kern="0" dirty="0">
              <a:solidFill>
                <a:srgbClr val="000000"/>
              </a:solidFill>
              <a:latin typeface="华文楷体"/>
              <a:ea typeface="华文楷体"/>
            </a:endParaRPr>
          </a:p>
        </p:txBody>
      </p:sp>
      <p:sp>
        <p:nvSpPr>
          <p:cNvPr id="68" name="矩形: 圆角 67">
            <a:extLst>
              <a:ext uri="{FF2B5EF4-FFF2-40B4-BE49-F238E27FC236}">
                <a16:creationId xmlns:a16="http://schemas.microsoft.com/office/drawing/2014/main" id="{1E18D659-A14C-371C-D483-2F9505DA9C42}"/>
              </a:ext>
            </a:extLst>
          </p:cNvPr>
          <p:cNvSpPr/>
          <p:nvPr/>
        </p:nvSpPr>
        <p:spPr>
          <a:xfrm>
            <a:off x="7453946" y="2930287"/>
            <a:ext cx="893096" cy="351559"/>
          </a:xfrm>
          <a:prstGeom prst="roundRect">
            <a:avLst/>
          </a:prstGeom>
          <a:noFill/>
          <a:ln w="6350" cap="sq" cmpd="sng" algn="ctr">
            <a:solidFill>
              <a:srgbClr val="29484D"/>
            </a:solidFill>
            <a:prstDash val="solid"/>
            <a:miter lim="800000"/>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800" b="0" i="0" u="none" strike="noStrike" kern="0" cap="none" spc="0" normalizeH="0" baseline="0" noProof="0" dirty="0">
                <a:ln>
                  <a:noFill/>
                </a:ln>
                <a:solidFill>
                  <a:srgbClr val="000000"/>
                </a:solidFill>
                <a:effectLst/>
                <a:uLnTx/>
                <a:uFillTx/>
                <a:latin typeface="华文楷体"/>
                <a:ea typeface="华文楷体"/>
                <a:cs typeface="+mn-cs"/>
              </a:rPr>
              <a:t>MCP Tool Schema</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800" b="0" i="0" u="none" strike="noStrike" kern="0" cap="none" spc="0" normalizeH="0" baseline="0" noProof="0" dirty="0">
                <a:ln>
                  <a:noFill/>
                </a:ln>
                <a:solidFill>
                  <a:srgbClr val="000000"/>
                </a:solidFill>
                <a:effectLst/>
                <a:uLnTx/>
                <a:uFillTx/>
                <a:latin typeface="华文楷体"/>
                <a:ea typeface="华文楷体"/>
                <a:cs typeface="+mn-cs"/>
              </a:rPr>
              <a:t>获取本体定义的合法操作</a:t>
            </a:r>
          </a:p>
        </p:txBody>
      </p:sp>
      <p:cxnSp>
        <p:nvCxnSpPr>
          <p:cNvPr id="69" name="直线箭头连接符 34">
            <a:extLst>
              <a:ext uri="{FF2B5EF4-FFF2-40B4-BE49-F238E27FC236}">
                <a16:creationId xmlns:a16="http://schemas.microsoft.com/office/drawing/2014/main" id="{5AB7167F-38BC-5EE1-B52D-41E067DA2147}"/>
              </a:ext>
            </a:extLst>
          </p:cNvPr>
          <p:cNvCxnSpPr>
            <a:cxnSpLocks/>
            <a:stCxn id="47" idx="1"/>
            <a:endCxn id="43" idx="1"/>
          </p:cNvCxnSpPr>
          <p:nvPr/>
        </p:nvCxnSpPr>
        <p:spPr>
          <a:xfrm rot="10800000">
            <a:off x="4572000" y="1541656"/>
            <a:ext cx="12700" cy="3129036"/>
          </a:xfrm>
          <a:prstGeom prst="bentConnector3">
            <a:avLst>
              <a:gd name="adj1" fmla="val 1800000"/>
            </a:avLst>
          </a:prstGeom>
          <a:noFill/>
          <a:ln w="9525" cap="flat" cmpd="sng" algn="ctr">
            <a:solidFill>
              <a:srgbClr val="EE8F62"/>
            </a:solidFill>
            <a:prstDash val="solid"/>
            <a:tailEnd type="triangle"/>
          </a:ln>
          <a:effectLst/>
        </p:spPr>
      </p:cxnSp>
      <p:cxnSp>
        <p:nvCxnSpPr>
          <p:cNvPr id="70" name="直线箭头连接符 34">
            <a:extLst>
              <a:ext uri="{FF2B5EF4-FFF2-40B4-BE49-F238E27FC236}">
                <a16:creationId xmlns:a16="http://schemas.microsoft.com/office/drawing/2014/main" id="{7FB26AE1-2494-10F2-DE56-5159E88C291B}"/>
              </a:ext>
            </a:extLst>
          </p:cNvPr>
          <p:cNvCxnSpPr>
            <a:cxnSpLocks/>
            <a:stCxn id="68" idx="1"/>
            <a:endCxn id="60" idx="3"/>
          </p:cNvCxnSpPr>
          <p:nvPr/>
        </p:nvCxnSpPr>
        <p:spPr>
          <a:xfrm flipH="1">
            <a:off x="6848166" y="3106067"/>
            <a:ext cx="605780" cy="107"/>
          </a:xfrm>
          <a:prstGeom prst="straightConnector1">
            <a:avLst/>
          </a:prstGeom>
          <a:noFill/>
          <a:ln w="10795" cap="flat" cmpd="sng" algn="ctr">
            <a:solidFill>
              <a:srgbClr val="35C3F7"/>
            </a:solidFill>
            <a:prstDash val="solid"/>
            <a:tailEnd type="triangle"/>
          </a:ln>
          <a:effectLst/>
        </p:spPr>
      </p:cxnSp>
      <p:cxnSp>
        <p:nvCxnSpPr>
          <p:cNvPr id="71" name="肘形连接符 107">
            <a:extLst>
              <a:ext uri="{FF2B5EF4-FFF2-40B4-BE49-F238E27FC236}">
                <a16:creationId xmlns:a16="http://schemas.microsoft.com/office/drawing/2014/main" id="{D9B590F2-D859-AD78-1E81-B6515B912A18}"/>
              </a:ext>
            </a:extLst>
          </p:cNvPr>
          <p:cNvCxnSpPr>
            <a:cxnSpLocks/>
            <a:stCxn id="44" idx="2"/>
            <a:endCxn id="60" idx="0"/>
          </p:cNvCxnSpPr>
          <p:nvPr/>
        </p:nvCxnSpPr>
        <p:spPr>
          <a:xfrm>
            <a:off x="5710083" y="2569833"/>
            <a:ext cx="1" cy="290422"/>
          </a:xfrm>
          <a:prstGeom prst="straightConnector1">
            <a:avLst/>
          </a:prstGeom>
          <a:noFill/>
          <a:ln w="12700" cap="flat" cmpd="sng" algn="ctr">
            <a:solidFill>
              <a:srgbClr val="29484D"/>
            </a:solidFill>
            <a:prstDash val="solid"/>
            <a:tailEnd type="triangle"/>
          </a:ln>
          <a:effectLst/>
        </p:spPr>
      </p:cxnSp>
      <p:cxnSp>
        <p:nvCxnSpPr>
          <p:cNvPr id="72" name="连接符: 肘形 71">
            <a:extLst>
              <a:ext uri="{FF2B5EF4-FFF2-40B4-BE49-F238E27FC236}">
                <a16:creationId xmlns:a16="http://schemas.microsoft.com/office/drawing/2014/main" id="{8BFA04EA-1F2E-215D-A22F-D1E189A21F3E}"/>
              </a:ext>
            </a:extLst>
          </p:cNvPr>
          <p:cNvCxnSpPr>
            <a:cxnSpLocks/>
            <a:stCxn id="45" idx="3"/>
            <a:endCxn id="62" idx="1"/>
          </p:cNvCxnSpPr>
          <p:nvPr/>
        </p:nvCxnSpPr>
        <p:spPr>
          <a:xfrm>
            <a:off x="6848166" y="3888433"/>
            <a:ext cx="605780" cy="116049"/>
          </a:xfrm>
          <a:prstGeom prst="bentConnector3">
            <a:avLst>
              <a:gd name="adj1" fmla="val 50000"/>
            </a:avLst>
          </a:prstGeom>
          <a:noFill/>
          <a:ln w="6350" cap="flat" cmpd="sng" algn="ctr">
            <a:solidFill>
              <a:srgbClr val="35C3F7"/>
            </a:solidFill>
            <a:prstDash val="solid"/>
            <a:miter lim="800000"/>
            <a:tailEnd type="triangle"/>
          </a:ln>
          <a:effectLst/>
        </p:spPr>
      </p:cxnSp>
      <p:cxnSp>
        <p:nvCxnSpPr>
          <p:cNvPr id="73" name="连接符: 肘形 72">
            <a:extLst>
              <a:ext uri="{FF2B5EF4-FFF2-40B4-BE49-F238E27FC236}">
                <a16:creationId xmlns:a16="http://schemas.microsoft.com/office/drawing/2014/main" id="{3D26850F-4B05-4378-2B4C-9ABBEE7AD070}"/>
              </a:ext>
            </a:extLst>
          </p:cNvPr>
          <p:cNvCxnSpPr>
            <a:cxnSpLocks/>
            <a:stCxn id="45" idx="3"/>
            <a:endCxn id="67" idx="1"/>
          </p:cNvCxnSpPr>
          <p:nvPr/>
        </p:nvCxnSpPr>
        <p:spPr>
          <a:xfrm flipV="1">
            <a:off x="6848166" y="3551392"/>
            <a:ext cx="605780" cy="337041"/>
          </a:xfrm>
          <a:prstGeom prst="bentConnector3">
            <a:avLst>
              <a:gd name="adj1" fmla="val 50000"/>
            </a:avLst>
          </a:prstGeom>
          <a:noFill/>
          <a:ln w="6350" cap="flat" cmpd="sng" algn="ctr">
            <a:solidFill>
              <a:srgbClr val="35C3F7"/>
            </a:solidFill>
            <a:prstDash val="solid"/>
            <a:miter lim="800000"/>
            <a:tailEnd type="triangle"/>
          </a:ln>
          <a:effectLst/>
        </p:spPr>
      </p:cxnSp>
      <p:grpSp>
        <p:nvGrpSpPr>
          <p:cNvPr id="80" name="组合 79">
            <a:extLst>
              <a:ext uri="{FF2B5EF4-FFF2-40B4-BE49-F238E27FC236}">
                <a16:creationId xmlns:a16="http://schemas.microsoft.com/office/drawing/2014/main" id="{4EA5DE55-BECF-24D8-C61E-1DA9A0627742}"/>
              </a:ext>
            </a:extLst>
          </p:cNvPr>
          <p:cNvGrpSpPr/>
          <p:nvPr/>
        </p:nvGrpSpPr>
        <p:grpSpPr>
          <a:xfrm>
            <a:off x="455866" y="1639264"/>
            <a:ext cx="3131917" cy="2446824"/>
            <a:chOff x="548640" y="1393359"/>
            <a:chExt cx="3131917" cy="2446824"/>
          </a:xfrm>
        </p:grpSpPr>
        <p:sp>
          <p:nvSpPr>
            <p:cNvPr id="3" name="文本框 2">
              <a:extLst>
                <a:ext uri="{FF2B5EF4-FFF2-40B4-BE49-F238E27FC236}">
                  <a16:creationId xmlns:a16="http://schemas.microsoft.com/office/drawing/2014/main" id="{7EC145D1-3D11-1F58-ECC9-72E25ACE29DE}"/>
                </a:ext>
              </a:extLst>
            </p:cNvPr>
            <p:cNvSpPr txBox="1"/>
            <p:nvPr/>
          </p:nvSpPr>
          <p:spPr>
            <a:xfrm>
              <a:off x="548640" y="1393359"/>
              <a:ext cx="3131917" cy="2446824"/>
            </a:xfrm>
            <a:prstGeom prst="rect">
              <a:avLst/>
            </a:prstGeom>
            <a:noFill/>
          </p:spPr>
          <p:txBody>
            <a:bodyPr wrap="square">
              <a:spAutoFit/>
            </a:bodyPr>
            <a:lstStyle/>
            <a:p>
              <a:r>
                <a:rPr lang="zh-CN" altLang="en-US" sz="900" dirty="0"/>
                <a:t>用户输入</a:t>
              </a:r>
            </a:p>
            <a:p>
              <a:endParaRPr lang="en-US" altLang="zh-CN" sz="900" dirty="0"/>
            </a:p>
            <a:p>
              <a:endParaRPr lang="en-US" altLang="zh-CN" sz="900" dirty="0"/>
            </a:p>
            <a:p>
              <a:r>
                <a:rPr lang="zh-CN" altLang="en-US" sz="900" dirty="0"/>
                <a:t>第一层：</a:t>
              </a:r>
              <a:r>
                <a:rPr lang="en-US" altLang="zh-CN" sz="900" dirty="0"/>
                <a:t>Prompt </a:t>
              </a:r>
              <a:r>
                <a:rPr lang="zh-CN" altLang="en-US" sz="900" dirty="0"/>
                <a:t>控制  ：软性引导，让 </a:t>
              </a:r>
              <a:r>
                <a:rPr lang="en-US" altLang="zh-CN" sz="900" dirty="0"/>
                <a:t>LLM </a:t>
              </a:r>
              <a:r>
                <a:rPr lang="zh-CN" altLang="en-US" sz="900" dirty="0"/>
                <a:t>倾向于调用</a:t>
              </a:r>
            </a:p>
            <a:p>
              <a:endParaRPr lang="en-US" altLang="zh-CN" sz="900" dirty="0"/>
            </a:p>
            <a:p>
              <a:endParaRPr lang="en-US" altLang="zh-CN" sz="900" dirty="0"/>
            </a:p>
            <a:p>
              <a:r>
                <a:rPr lang="zh-CN" altLang="en-US" sz="900" dirty="0"/>
                <a:t>第二层：</a:t>
              </a:r>
              <a:r>
                <a:rPr lang="en-US" altLang="zh-CN" sz="900" dirty="0"/>
                <a:t>API </a:t>
              </a:r>
              <a:r>
                <a:rPr lang="zh-CN" altLang="en-US" sz="900" dirty="0"/>
                <a:t>强制  ：</a:t>
              </a:r>
              <a:r>
                <a:rPr lang="en-US" altLang="zh-CN" sz="900" dirty="0"/>
                <a:t> </a:t>
              </a:r>
              <a:r>
                <a:rPr lang="en-US" altLang="zh-CN" sz="900" dirty="0" err="1"/>
                <a:t>tool_choice</a:t>
              </a:r>
              <a:r>
                <a:rPr lang="en-US" altLang="zh-CN" sz="900" dirty="0"/>
                <a:t>="required"</a:t>
              </a:r>
              <a:r>
                <a:rPr lang="zh-CN" altLang="en-US" sz="900" dirty="0"/>
                <a:t>，硬性阻断</a:t>
              </a:r>
            </a:p>
            <a:p>
              <a:endParaRPr lang="en-US" altLang="zh-CN" sz="900" dirty="0"/>
            </a:p>
            <a:p>
              <a:endParaRPr lang="en-US" altLang="zh-CN" sz="900" dirty="0"/>
            </a:p>
            <a:p>
              <a:r>
                <a:rPr lang="zh-CN" altLang="en-US" sz="900" dirty="0"/>
                <a:t>第三层：架构控制  ：</a:t>
              </a:r>
              <a:r>
                <a:rPr lang="en-US" altLang="zh-CN" sz="900" dirty="0"/>
                <a:t> </a:t>
              </a:r>
              <a:r>
                <a:rPr lang="zh-CN" altLang="en-US" sz="900" dirty="0"/>
                <a:t>代码状态机，</a:t>
              </a:r>
              <a:r>
                <a:rPr lang="en-US" altLang="zh-CN" sz="900" dirty="0"/>
                <a:t>LLM </a:t>
              </a:r>
              <a:r>
                <a:rPr lang="zh-CN" altLang="en-US" sz="900" dirty="0"/>
                <a:t>只生成参数</a:t>
              </a:r>
            </a:p>
            <a:p>
              <a:endParaRPr lang="en-US" altLang="zh-CN" sz="900" dirty="0"/>
            </a:p>
            <a:p>
              <a:endParaRPr lang="en-US" altLang="zh-CN" sz="900" dirty="0"/>
            </a:p>
            <a:p>
              <a:r>
                <a:rPr lang="zh-CN" altLang="en-US" sz="900" dirty="0"/>
                <a:t>第四层：校验兜底  ：</a:t>
              </a:r>
              <a:r>
                <a:rPr lang="en-US" altLang="zh-CN" sz="900" dirty="0"/>
                <a:t> </a:t>
              </a:r>
              <a:r>
                <a:rPr lang="zh-CN" altLang="en-US" sz="900" dirty="0"/>
                <a:t>事后审计，发现编造则拒绝</a:t>
              </a:r>
            </a:p>
            <a:p>
              <a:endParaRPr lang="en-US" altLang="zh-CN" sz="900" dirty="0"/>
            </a:p>
            <a:p>
              <a:endParaRPr lang="en-US" altLang="zh-CN" sz="900" dirty="0"/>
            </a:p>
            <a:p>
              <a:r>
                <a:rPr lang="zh-CN" altLang="en-US" sz="900" dirty="0"/>
                <a:t>通过 </a:t>
              </a:r>
              <a:r>
                <a:rPr lang="en-US" altLang="zh-CN" sz="900" dirty="0"/>
                <a:t>-&gt; </a:t>
              </a:r>
              <a:r>
                <a:rPr lang="zh-CN" altLang="en-US" sz="900" dirty="0"/>
                <a:t>输出</a:t>
              </a:r>
            </a:p>
            <a:p>
              <a:r>
                <a:rPr lang="zh-CN" altLang="en-US" sz="900" dirty="0"/>
                <a:t>未通过 </a:t>
              </a:r>
              <a:r>
                <a:rPr lang="en-US" altLang="zh-CN" sz="900" dirty="0"/>
                <a:t>-&gt; </a:t>
              </a:r>
              <a:r>
                <a:rPr lang="zh-CN" altLang="en-US" sz="900" dirty="0"/>
                <a:t>重试</a:t>
              </a:r>
              <a:r>
                <a:rPr lang="en-US" altLang="zh-CN" sz="900" dirty="0"/>
                <a:t>/</a:t>
              </a:r>
              <a:r>
                <a:rPr lang="zh-CN" altLang="en-US" sz="900" dirty="0"/>
                <a:t>人工</a:t>
              </a:r>
              <a:r>
                <a:rPr lang="en-US" altLang="zh-CN" sz="900" dirty="0"/>
                <a:t>/</a:t>
              </a:r>
              <a:r>
                <a:rPr lang="zh-CN" altLang="en-US" sz="900" dirty="0"/>
                <a:t>降级</a:t>
              </a:r>
            </a:p>
          </p:txBody>
        </p:sp>
        <p:cxnSp>
          <p:nvCxnSpPr>
            <p:cNvPr id="75" name="直接箭头连接符 74">
              <a:extLst>
                <a:ext uri="{FF2B5EF4-FFF2-40B4-BE49-F238E27FC236}">
                  <a16:creationId xmlns:a16="http://schemas.microsoft.com/office/drawing/2014/main" id="{B17C83E0-A7F5-F09E-88B6-C9B91B6CFD6E}"/>
                </a:ext>
              </a:extLst>
            </p:cNvPr>
            <p:cNvCxnSpPr>
              <a:cxnSpLocks/>
            </p:cNvCxnSpPr>
            <p:nvPr/>
          </p:nvCxnSpPr>
          <p:spPr>
            <a:xfrm>
              <a:off x="777240" y="1616435"/>
              <a:ext cx="0" cy="2306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直接箭头连接符 75">
              <a:extLst>
                <a:ext uri="{FF2B5EF4-FFF2-40B4-BE49-F238E27FC236}">
                  <a16:creationId xmlns:a16="http://schemas.microsoft.com/office/drawing/2014/main" id="{0B896FDF-6463-5A66-CAE9-015D89949190}"/>
                </a:ext>
              </a:extLst>
            </p:cNvPr>
            <p:cNvCxnSpPr>
              <a:cxnSpLocks/>
            </p:cNvCxnSpPr>
            <p:nvPr/>
          </p:nvCxnSpPr>
          <p:spPr>
            <a:xfrm>
              <a:off x="777240" y="2021518"/>
              <a:ext cx="0" cy="2306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直接箭头连接符 76">
              <a:extLst>
                <a:ext uri="{FF2B5EF4-FFF2-40B4-BE49-F238E27FC236}">
                  <a16:creationId xmlns:a16="http://schemas.microsoft.com/office/drawing/2014/main" id="{0AE3BFEF-314F-AC2D-1886-EC651ED34985}"/>
                </a:ext>
              </a:extLst>
            </p:cNvPr>
            <p:cNvCxnSpPr>
              <a:cxnSpLocks/>
            </p:cNvCxnSpPr>
            <p:nvPr/>
          </p:nvCxnSpPr>
          <p:spPr>
            <a:xfrm>
              <a:off x="777240" y="2426601"/>
              <a:ext cx="0" cy="2306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直接箭头连接符 77">
              <a:extLst>
                <a:ext uri="{FF2B5EF4-FFF2-40B4-BE49-F238E27FC236}">
                  <a16:creationId xmlns:a16="http://schemas.microsoft.com/office/drawing/2014/main" id="{635D5E2F-ED74-48A8-C386-2937BA8E9B99}"/>
                </a:ext>
              </a:extLst>
            </p:cNvPr>
            <p:cNvCxnSpPr>
              <a:cxnSpLocks/>
            </p:cNvCxnSpPr>
            <p:nvPr/>
          </p:nvCxnSpPr>
          <p:spPr>
            <a:xfrm>
              <a:off x="777240" y="2831684"/>
              <a:ext cx="0" cy="2306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直接箭头连接符 78">
              <a:extLst>
                <a:ext uri="{FF2B5EF4-FFF2-40B4-BE49-F238E27FC236}">
                  <a16:creationId xmlns:a16="http://schemas.microsoft.com/office/drawing/2014/main" id="{BC783C92-FA83-1E43-080C-1AACA179CD16}"/>
                </a:ext>
              </a:extLst>
            </p:cNvPr>
            <p:cNvCxnSpPr>
              <a:cxnSpLocks/>
            </p:cNvCxnSpPr>
            <p:nvPr/>
          </p:nvCxnSpPr>
          <p:spPr>
            <a:xfrm>
              <a:off x="777240" y="3236765"/>
              <a:ext cx="0" cy="2306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86" name="文本框 85">
            <a:extLst>
              <a:ext uri="{FF2B5EF4-FFF2-40B4-BE49-F238E27FC236}">
                <a16:creationId xmlns:a16="http://schemas.microsoft.com/office/drawing/2014/main" id="{653765FB-BF9B-4AF1-EDA8-251B5EB1BFDB}"/>
              </a:ext>
            </a:extLst>
          </p:cNvPr>
          <p:cNvSpPr txBox="1"/>
          <p:nvPr/>
        </p:nvSpPr>
        <p:spPr>
          <a:xfrm>
            <a:off x="5682231" y="3352092"/>
            <a:ext cx="646331" cy="230832"/>
          </a:xfrm>
          <a:prstGeom prst="rect">
            <a:avLst/>
          </a:prstGeom>
          <a:noFill/>
        </p:spPr>
        <p:txBody>
          <a:bodyPr wrap="none" rtlCol="0">
            <a:spAutoFit/>
          </a:bodyPr>
          <a:lstStyle/>
          <a:p>
            <a:r>
              <a:rPr lang="en-US" altLang="zh-CN" sz="900" dirty="0">
                <a:latin typeface="楷体" panose="02010609060101010101" pitchFamily="49" charset="-122"/>
                <a:ea typeface="楷体" panose="02010609060101010101" pitchFamily="49" charset="-122"/>
              </a:rPr>
              <a:t>Tool</a:t>
            </a:r>
            <a:r>
              <a:rPr lang="zh-CN" altLang="en-US" sz="900" dirty="0">
                <a:latin typeface="楷体" panose="02010609060101010101" pitchFamily="49" charset="-122"/>
                <a:ea typeface="楷体" panose="02010609060101010101" pitchFamily="49" charset="-122"/>
              </a:rPr>
              <a:t>参数</a:t>
            </a:r>
          </a:p>
        </p:txBody>
      </p:sp>
      <p:sp>
        <p:nvSpPr>
          <p:cNvPr id="88" name="文本框 87">
            <a:extLst>
              <a:ext uri="{FF2B5EF4-FFF2-40B4-BE49-F238E27FC236}">
                <a16:creationId xmlns:a16="http://schemas.microsoft.com/office/drawing/2014/main" id="{C16F21C0-FFF1-BEB4-E270-33C3797949F1}"/>
              </a:ext>
            </a:extLst>
          </p:cNvPr>
          <p:cNvSpPr txBox="1"/>
          <p:nvPr/>
        </p:nvSpPr>
        <p:spPr>
          <a:xfrm>
            <a:off x="3886200" y="4703190"/>
            <a:ext cx="800100" cy="215444"/>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800" b="0" i="0" u="none" strike="noStrike" kern="0" cap="none" spc="0" normalizeH="0" baseline="0" noProof="0" dirty="0">
                <a:ln>
                  <a:noFill/>
                </a:ln>
                <a:solidFill>
                  <a:srgbClr val="4472C4"/>
                </a:solidFill>
                <a:effectLst/>
                <a:uLnTx/>
                <a:uFillTx/>
                <a:latin typeface="Microsoft YaHei" panose="020B0503020204020204" pitchFamily="34" charset="-122"/>
                <a:ea typeface="Microsoft YaHei" panose="020B0503020204020204" pitchFamily="34" charset="-122"/>
              </a:rPr>
              <a:t>返回给用户</a:t>
            </a:r>
          </a:p>
        </p:txBody>
      </p:sp>
    </p:spTree>
    <p:extLst>
      <p:ext uri="{BB962C8B-B14F-4D97-AF65-F5344CB8AC3E}">
        <p14:creationId xmlns:p14="http://schemas.microsoft.com/office/powerpoint/2010/main" val="2821364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839E2-CAE0-3077-1906-770A00425431}"/>
            </a:ext>
          </a:extLst>
        </p:cNvPr>
        <p:cNvGrpSpPr/>
        <p:nvPr/>
      </p:nvGrpSpPr>
      <p:grpSpPr>
        <a:xfrm>
          <a:off x="0" y="0"/>
          <a:ext cx="0" cy="0"/>
          <a:chOff x="0" y="0"/>
          <a:chExt cx="0" cy="0"/>
        </a:xfrm>
      </p:grpSpPr>
      <p:sp>
        <p:nvSpPr>
          <p:cNvPr id="40" name="Shape 1">
            <a:extLst>
              <a:ext uri="{FF2B5EF4-FFF2-40B4-BE49-F238E27FC236}">
                <a16:creationId xmlns:a16="http://schemas.microsoft.com/office/drawing/2014/main" id="{438767E3-EA4F-10D4-D8AC-956B703FCF02}"/>
              </a:ext>
            </a:extLst>
          </p:cNvPr>
          <p:cNvSpPr/>
          <p:nvPr/>
        </p:nvSpPr>
        <p:spPr>
          <a:xfrm>
            <a:off x="548640" y="274320"/>
            <a:ext cx="54864" cy="457200"/>
          </a:xfrm>
          <a:prstGeom prst="rect">
            <a:avLst/>
          </a:prstGeom>
          <a:solidFill>
            <a:srgbClr val="22A699"/>
          </a:solidFill>
          <a:ln/>
        </p:spPr>
        <p:txBody>
          <a:bodyPr/>
          <a:lstStyle/>
          <a:p>
            <a:endParaRPr lang="zh-CN" altLang="en-US"/>
          </a:p>
        </p:txBody>
      </p:sp>
      <p:sp>
        <p:nvSpPr>
          <p:cNvPr id="41" name="Text 2">
            <a:extLst>
              <a:ext uri="{FF2B5EF4-FFF2-40B4-BE49-F238E27FC236}">
                <a16:creationId xmlns:a16="http://schemas.microsoft.com/office/drawing/2014/main" id="{48354C09-2CAB-9D35-0E8A-0D22DC87F85D}"/>
              </a:ext>
            </a:extLst>
          </p:cNvPr>
          <p:cNvSpPr/>
          <p:nvPr/>
        </p:nvSpPr>
        <p:spPr>
          <a:xfrm>
            <a:off x="731520" y="274320"/>
            <a:ext cx="731520" cy="457200"/>
          </a:xfrm>
          <a:prstGeom prst="rect">
            <a:avLst/>
          </a:prstGeom>
          <a:noFill/>
          <a:ln/>
        </p:spPr>
        <p:txBody>
          <a:bodyPr wrap="square" lIns="0" tIns="0" rIns="0" bIns="0" rtlCol="0" anchor="ctr"/>
          <a:lstStyle/>
          <a:p>
            <a:pPr marL="0" indent="0">
              <a:buNone/>
            </a:pPr>
            <a:r>
              <a:rPr lang="en-US" sz="1800" b="1" dirty="0">
                <a:solidFill>
                  <a:srgbClr val="22A699"/>
                </a:solidFill>
                <a:latin typeface="Arial" pitchFamily="34" charset="0"/>
                <a:ea typeface="Arial" pitchFamily="34" charset="-122"/>
                <a:cs typeface="Arial" pitchFamily="34" charset="-120"/>
              </a:rPr>
              <a:t>03</a:t>
            </a:r>
            <a:endParaRPr lang="en-US" sz="1800" dirty="0"/>
          </a:p>
        </p:txBody>
      </p:sp>
      <p:sp>
        <p:nvSpPr>
          <p:cNvPr id="42" name="Text 3">
            <a:extLst>
              <a:ext uri="{FF2B5EF4-FFF2-40B4-BE49-F238E27FC236}">
                <a16:creationId xmlns:a16="http://schemas.microsoft.com/office/drawing/2014/main" id="{5E1BC58F-6531-ED1A-6020-1B4A1D9A626F}"/>
              </a:ext>
            </a:extLst>
          </p:cNvPr>
          <p:cNvSpPr/>
          <p:nvPr/>
        </p:nvSpPr>
        <p:spPr>
          <a:xfrm>
            <a:off x="548640" y="822960"/>
            <a:ext cx="8046720" cy="457200"/>
          </a:xfrm>
          <a:prstGeom prst="rect">
            <a:avLst/>
          </a:prstGeom>
          <a:noFill/>
          <a:ln/>
        </p:spPr>
        <p:txBody>
          <a:bodyPr wrap="square" lIns="0" tIns="0" rIns="0" bIns="0" rtlCol="0" anchor="ctr"/>
          <a:lstStyle/>
          <a:p>
            <a:pPr marL="0" indent="0">
              <a:buNone/>
            </a:pPr>
            <a:r>
              <a:rPr lang="zh-CN" altLang="en-US" sz="2200" b="1" dirty="0">
                <a:solidFill>
                  <a:srgbClr val="1E293B"/>
                </a:solidFill>
                <a:latin typeface="Arial" pitchFamily="34" charset="0"/>
                <a:ea typeface="Arial" pitchFamily="34" charset="-122"/>
                <a:cs typeface="Arial" pitchFamily="34" charset="-120"/>
              </a:rPr>
              <a:t>如何确保 </a:t>
            </a:r>
            <a:r>
              <a:rPr lang="en-US" altLang="zh-CN" sz="2200" b="1" dirty="0">
                <a:solidFill>
                  <a:srgbClr val="1E293B"/>
                </a:solidFill>
                <a:latin typeface="Arial" pitchFamily="34" charset="0"/>
                <a:ea typeface="Arial" pitchFamily="34" charset="-122"/>
                <a:cs typeface="Arial" pitchFamily="34" charset="-120"/>
              </a:rPr>
              <a:t>LLM </a:t>
            </a:r>
            <a:r>
              <a:rPr lang="zh-CN" altLang="en-US" sz="2200" b="1" dirty="0">
                <a:solidFill>
                  <a:srgbClr val="1E293B"/>
                </a:solidFill>
                <a:latin typeface="Arial" pitchFamily="34" charset="0"/>
                <a:ea typeface="Arial" pitchFamily="34" charset="-122"/>
                <a:cs typeface="Arial" pitchFamily="34" charset="-120"/>
              </a:rPr>
              <a:t>一定会调用？</a:t>
            </a:r>
          </a:p>
        </p:txBody>
      </p:sp>
      <p:sp>
        <p:nvSpPr>
          <p:cNvPr id="43" name="矩形 42">
            <a:extLst>
              <a:ext uri="{FF2B5EF4-FFF2-40B4-BE49-F238E27FC236}">
                <a16:creationId xmlns:a16="http://schemas.microsoft.com/office/drawing/2014/main" id="{C21FC8D2-0BB7-3722-BFCA-3D9758F00E93}"/>
              </a:ext>
            </a:extLst>
          </p:cNvPr>
          <p:cNvSpPr/>
          <p:nvPr/>
        </p:nvSpPr>
        <p:spPr>
          <a:xfrm>
            <a:off x="4572000" y="1295737"/>
            <a:ext cx="2276166" cy="491837"/>
          </a:xfrm>
          <a:prstGeom prst="rect">
            <a:avLst/>
          </a:prstGeom>
          <a:solidFill>
            <a:srgbClr val="29484D">
              <a:lumMod val="20000"/>
              <a:lumOff val="8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400" b="0" i="0" u="none" strike="noStrike" kern="0" cap="none" spc="0" normalizeH="0" baseline="0" noProof="0" dirty="0">
                <a:ln>
                  <a:noFill/>
                </a:ln>
                <a:solidFill>
                  <a:srgbClr val="4472C4"/>
                </a:solidFill>
                <a:effectLst/>
                <a:uLnTx/>
                <a:uFillTx/>
                <a:latin typeface="Microsoft YaHei" panose="020B0503020204020204" pitchFamily="34" charset="-122"/>
                <a:ea typeface="Microsoft YaHei" panose="020B0503020204020204" pitchFamily="34" charset="-122"/>
              </a:rPr>
              <a:t>自然语言</a:t>
            </a:r>
          </a:p>
        </p:txBody>
      </p:sp>
      <p:sp>
        <p:nvSpPr>
          <p:cNvPr id="44" name="矩形 43">
            <a:extLst>
              <a:ext uri="{FF2B5EF4-FFF2-40B4-BE49-F238E27FC236}">
                <a16:creationId xmlns:a16="http://schemas.microsoft.com/office/drawing/2014/main" id="{214D5808-D88D-9400-B120-8607DF97AF10}"/>
              </a:ext>
            </a:extLst>
          </p:cNvPr>
          <p:cNvSpPr/>
          <p:nvPr/>
        </p:nvSpPr>
        <p:spPr>
          <a:xfrm>
            <a:off x="4572000" y="2077996"/>
            <a:ext cx="2276166" cy="4918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000" b="0" i="0" u="none" strike="noStrike" kern="0" cap="none" spc="0" normalizeH="0" baseline="0" noProof="0" dirty="0">
                <a:ln>
                  <a:noFill/>
                </a:ln>
                <a:solidFill>
                  <a:schemeClr val="bg1"/>
                </a:solidFill>
                <a:effectLst/>
                <a:uLnTx/>
                <a:uFillTx/>
                <a:latin typeface="Microsoft YaHei" panose="020B0503020204020204" pitchFamily="34" charset="-122"/>
                <a:ea typeface="Microsoft YaHei" panose="020B0503020204020204" pitchFamily="34" charset="-122"/>
              </a:rPr>
              <a:t>大模型</a:t>
            </a:r>
            <a:endParaRPr kumimoji="1" lang="en-US" altLang="zh-CN" sz="1000" b="0" i="0" u="none" strike="noStrike" kern="0" cap="none" spc="0" normalizeH="0" baseline="0" noProof="0" dirty="0">
              <a:ln>
                <a:noFill/>
              </a:ln>
              <a:solidFill>
                <a:schemeClr val="bg1"/>
              </a:solidFill>
              <a:effectLst/>
              <a:uLnTx/>
              <a:uFillTx/>
              <a:latin typeface="Microsoft YaHei" panose="020B0503020204020204" pitchFamily="34" charset="-122"/>
              <a:ea typeface="Microsoft YaHei"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400" b="0" i="0" u="none" strike="noStrike" kern="0" cap="none" spc="0" normalizeH="0" baseline="0" noProof="0" dirty="0">
                <a:ln>
                  <a:noFill/>
                </a:ln>
                <a:solidFill>
                  <a:schemeClr val="bg1"/>
                </a:solidFill>
                <a:effectLst/>
                <a:uLnTx/>
                <a:uFillTx/>
                <a:latin typeface="Microsoft YaHei" panose="020B0503020204020204" pitchFamily="34" charset="-122"/>
                <a:ea typeface="Microsoft YaHei" panose="020B0503020204020204" pitchFamily="34" charset="-122"/>
              </a:rPr>
              <a:t>意图识别</a:t>
            </a:r>
          </a:p>
        </p:txBody>
      </p:sp>
      <p:sp>
        <p:nvSpPr>
          <p:cNvPr id="45" name="矩形 44">
            <a:extLst>
              <a:ext uri="{FF2B5EF4-FFF2-40B4-BE49-F238E27FC236}">
                <a16:creationId xmlns:a16="http://schemas.microsoft.com/office/drawing/2014/main" id="{AF978C4B-F4C4-259C-3BC4-4F748C3AE2B6}"/>
              </a:ext>
            </a:extLst>
          </p:cNvPr>
          <p:cNvSpPr/>
          <p:nvPr/>
        </p:nvSpPr>
        <p:spPr>
          <a:xfrm>
            <a:off x="4572000" y="3642514"/>
            <a:ext cx="2276166" cy="491837"/>
          </a:xfrm>
          <a:prstGeom prst="rect">
            <a:avLst/>
          </a:prstGeom>
          <a:solidFill>
            <a:srgbClr val="29484D">
              <a:lumMod val="20000"/>
              <a:lumOff val="8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400" b="0" i="0" u="none" strike="noStrike" kern="0" cap="none" spc="0" normalizeH="0" baseline="0" noProof="0" dirty="0">
                <a:ln>
                  <a:noFill/>
                </a:ln>
                <a:solidFill>
                  <a:srgbClr val="4472C4"/>
                </a:solidFill>
                <a:effectLst/>
                <a:uLnTx/>
                <a:uFillTx/>
                <a:latin typeface="Microsoft YaHei" panose="020B0503020204020204" pitchFamily="34" charset="-122"/>
                <a:ea typeface="Microsoft YaHei" panose="020B0503020204020204" pitchFamily="34" charset="-122"/>
              </a:rPr>
              <a:t>调用工具</a:t>
            </a:r>
          </a:p>
        </p:txBody>
      </p:sp>
      <p:cxnSp>
        <p:nvCxnSpPr>
          <p:cNvPr id="46" name="直线箭头连接符 34">
            <a:extLst>
              <a:ext uri="{FF2B5EF4-FFF2-40B4-BE49-F238E27FC236}">
                <a16:creationId xmlns:a16="http://schemas.microsoft.com/office/drawing/2014/main" id="{3FD8F100-FAC6-1F86-77AF-E8441E229B6B}"/>
              </a:ext>
            </a:extLst>
          </p:cNvPr>
          <p:cNvCxnSpPr>
            <a:cxnSpLocks/>
            <a:stCxn id="43" idx="2"/>
            <a:endCxn id="44" idx="0"/>
          </p:cNvCxnSpPr>
          <p:nvPr/>
        </p:nvCxnSpPr>
        <p:spPr>
          <a:xfrm>
            <a:off x="5710083" y="1787574"/>
            <a:ext cx="0" cy="290422"/>
          </a:xfrm>
          <a:prstGeom prst="straightConnector1">
            <a:avLst/>
          </a:prstGeom>
          <a:noFill/>
          <a:ln w="12700" cap="flat" cmpd="sng" algn="ctr">
            <a:solidFill>
              <a:srgbClr val="29484D"/>
            </a:solidFill>
            <a:prstDash val="solid"/>
            <a:tailEnd type="triangle"/>
          </a:ln>
          <a:effectLst/>
        </p:spPr>
      </p:cxnSp>
      <p:sp>
        <p:nvSpPr>
          <p:cNvPr id="47" name="矩形 46">
            <a:extLst>
              <a:ext uri="{FF2B5EF4-FFF2-40B4-BE49-F238E27FC236}">
                <a16:creationId xmlns:a16="http://schemas.microsoft.com/office/drawing/2014/main" id="{273F5360-230B-629B-39D5-45028B92BDA3}"/>
              </a:ext>
            </a:extLst>
          </p:cNvPr>
          <p:cNvSpPr/>
          <p:nvPr/>
        </p:nvSpPr>
        <p:spPr>
          <a:xfrm>
            <a:off x="4572000" y="4424773"/>
            <a:ext cx="2276166" cy="491837"/>
          </a:xfrm>
          <a:prstGeom prst="rect">
            <a:avLst/>
          </a:prstGeom>
          <a:solidFill>
            <a:srgbClr val="29484D">
              <a:lumMod val="20000"/>
              <a:lumOff val="80000"/>
            </a:srgbClr>
          </a:solidFill>
          <a:ln w="12700" cap="flat" cmpd="sng" algn="ctr">
            <a:noFill/>
            <a:prstDash val="solid"/>
            <a:miter lim="800000"/>
          </a:ln>
          <a:effectLst/>
        </p:spPr>
        <p:txBody>
          <a:bodyPr rtlCol="0" anchor="ctr"/>
          <a:lstStyle/>
          <a:p>
            <a:pPr algn="ctr">
              <a:defRPr/>
            </a:pPr>
            <a:r>
              <a:rPr kumimoji="1" lang="zh-CN" altLang="en-US" sz="1400" kern="0" dirty="0">
                <a:solidFill>
                  <a:srgbClr val="4472C4"/>
                </a:solidFill>
                <a:latin typeface="Microsoft YaHei" panose="020B0503020204020204" pitchFamily="34" charset="-122"/>
                <a:ea typeface="Microsoft YaHei" panose="020B0503020204020204" pitchFamily="34" charset="-122"/>
              </a:rPr>
              <a:t>结果校验</a:t>
            </a:r>
          </a:p>
        </p:txBody>
      </p:sp>
      <p:cxnSp>
        <p:nvCxnSpPr>
          <p:cNvPr id="48" name="肘形连接符 107">
            <a:extLst>
              <a:ext uri="{FF2B5EF4-FFF2-40B4-BE49-F238E27FC236}">
                <a16:creationId xmlns:a16="http://schemas.microsoft.com/office/drawing/2014/main" id="{1A25084B-516B-FB80-5D08-F2559B18EE26}"/>
              </a:ext>
            </a:extLst>
          </p:cNvPr>
          <p:cNvCxnSpPr>
            <a:cxnSpLocks/>
            <a:stCxn id="60" idx="2"/>
            <a:endCxn id="45" idx="0"/>
          </p:cNvCxnSpPr>
          <p:nvPr/>
        </p:nvCxnSpPr>
        <p:spPr>
          <a:xfrm flipH="1">
            <a:off x="5710083" y="3352092"/>
            <a:ext cx="1" cy="290422"/>
          </a:xfrm>
          <a:prstGeom prst="straightConnector1">
            <a:avLst/>
          </a:prstGeom>
          <a:noFill/>
          <a:ln w="12700" cap="flat" cmpd="sng" algn="ctr">
            <a:solidFill>
              <a:srgbClr val="29484D"/>
            </a:solidFill>
            <a:prstDash val="solid"/>
            <a:tailEnd type="triangle"/>
          </a:ln>
          <a:effectLst/>
        </p:spPr>
      </p:cxnSp>
      <p:cxnSp>
        <p:nvCxnSpPr>
          <p:cNvPr id="49" name="直线箭头连接符 34">
            <a:extLst>
              <a:ext uri="{FF2B5EF4-FFF2-40B4-BE49-F238E27FC236}">
                <a16:creationId xmlns:a16="http://schemas.microsoft.com/office/drawing/2014/main" id="{444BE28B-FEAF-1298-7DD2-5A556737CC46}"/>
              </a:ext>
            </a:extLst>
          </p:cNvPr>
          <p:cNvCxnSpPr>
            <a:cxnSpLocks/>
            <a:stCxn id="44" idx="1"/>
            <a:endCxn id="43" idx="1"/>
          </p:cNvCxnSpPr>
          <p:nvPr/>
        </p:nvCxnSpPr>
        <p:spPr>
          <a:xfrm rot="10800000">
            <a:off x="4572000" y="1541657"/>
            <a:ext cx="12700" cy="782259"/>
          </a:xfrm>
          <a:prstGeom prst="bentConnector3">
            <a:avLst>
              <a:gd name="adj1" fmla="val 1800000"/>
            </a:avLst>
          </a:prstGeom>
          <a:noFill/>
          <a:ln w="9525" cap="flat" cmpd="sng" algn="ctr">
            <a:solidFill>
              <a:srgbClr val="EE8F62"/>
            </a:solidFill>
            <a:prstDash val="solid"/>
            <a:tailEnd type="triangle"/>
          </a:ln>
          <a:effectLst/>
        </p:spPr>
      </p:cxnSp>
      <p:sp>
        <p:nvSpPr>
          <p:cNvPr id="50" name="文本框 49">
            <a:extLst>
              <a:ext uri="{FF2B5EF4-FFF2-40B4-BE49-F238E27FC236}">
                <a16:creationId xmlns:a16="http://schemas.microsoft.com/office/drawing/2014/main" id="{A8B109F5-EAF7-D97B-558E-8233797DA420}"/>
              </a:ext>
            </a:extLst>
          </p:cNvPr>
          <p:cNvSpPr txBox="1"/>
          <p:nvPr/>
        </p:nvSpPr>
        <p:spPr>
          <a:xfrm>
            <a:off x="5252883" y="729512"/>
            <a:ext cx="914400" cy="275803"/>
          </a:xfrm>
          <a:prstGeom prst="rect">
            <a:avLst/>
          </a:prstGeom>
          <a:ln w="6350">
            <a:noFill/>
            <a:miter lim="800000"/>
          </a:ln>
        </p:spPr>
        <p:txBody>
          <a:bodyPr vert="horz" wrap="none" lIns="0" tIns="0" rIns="0" bIns="0" rtlCol="0">
            <a:noAutofit/>
          </a:bodyPr>
          <a:lstStyle/>
          <a:p>
            <a:pPr algn="ctr">
              <a:spcBef>
                <a:spcPts val="300"/>
              </a:spcBef>
              <a:spcAft>
                <a:spcPts val="300"/>
              </a:spcAft>
            </a:pPr>
            <a:r>
              <a:rPr lang="zh-CN" altLang="en-US" sz="1600" dirty="0">
                <a:solidFill>
                  <a:srgbClr val="000000"/>
                </a:solidFill>
                <a:latin typeface="华文楷体"/>
                <a:ea typeface="华文楷体"/>
              </a:rPr>
              <a:t>用户</a:t>
            </a:r>
          </a:p>
        </p:txBody>
      </p:sp>
      <p:sp>
        <p:nvSpPr>
          <p:cNvPr id="51" name="文本框 50">
            <a:extLst>
              <a:ext uri="{FF2B5EF4-FFF2-40B4-BE49-F238E27FC236}">
                <a16:creationId xmlns:a16="http://schemas.microsoft.com/office/drawing/2014/main" id="{BC91DE72-C562-8736-D917-58000E374EF7}"/>
              </a:ext>
            </a:extLst>
          </p:cNvPr>
          <p:cNvSpPr txBox="1"/>
          <p:nvPr/>
        </p:nvSpPr>
        <p:spPr>
          <a:xfrm>
            <a:off x="7455757" y="729512"/>
            <a:ext cx="914400" cy="275803"/>
          </a:xfrm>
          <a:prstGeom prst="rect">
            <a:avLst/>
          </a:prstGeom>
          <a:ln w="6350">
            <a:solidFill>
              <a:srgbClr val="29484D"/>
            </a:solidFill>
            <a:miter lim="800000"/>
          </a:ln>
        </p:spPr>
        <p:txBody>
          <a:bodyPr vert="horz" wrap="none" lIns="0" tIns="0" rIns="0" bIns="0" rtlCol="0" anchor="ctr">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zh-CN" altLang="en-US" sz="1200" b="0" i="0" u="none" strike="noStrike" kern="0" cap="none" spc="0" normalizeH="0" baseline="0" noProof="0" dirty="0">
                <a:ln>
                  <a:noFill/>
                </a:ln>
                <a:solidFill>
                  <a:srgbClr val="000000"/>
                </a:solidFill>
                <a:effectLst/>
                <a:uLnTx/>
                <a:uFillTx/>
                <a:latin typeface="华文楷体"/>
                <a:ea typeface="华文楷体"/>
              </a:rPr>
              <a:t>用户登录</a:t>
            </a:r>
          </a:p>
        </p:txBody>
      </p:sp>
      <p:cxnSp>
        <p:nvCxnSpPr>
          <p:cNvPr id="52" name="直接箭头连接符 51">
            <a:extLst>
              <a:ext uri="{FF2B5EF4-FFF2-40B4-BE49-F238E27FC236}">
                <a16:creationId xmlns:a16="http://schemas.microsoft.com/office/drawing/2014/main" id="{5BB622B9-3565-4DD6-2428-789175E1B598}"/>
              </a:ext>
            </a:extLst>
          </p:cNvPr>
          <p:cNvCxnSpPr>
            <a:cxnSpLocks/>
            <a:stCxn id="50" idx="3"/>
            <a:endCxn id="51" idx="1"/>
          </p:cNvCxnSpPr>
          <p:nvPr/>
        </p:nvCxnSpPr>
        <p:spPr>
          <a:xfrm>
            <a:off x="6167283" y="867414"/>
            <a:ext cx="1288474" cy="0"/>
          </a:xfrm>
          <a:prstGeom prst="straightConnector1">
            <a:avLst/>
          </a:prstGeom>
          <a:noFill/>
          <a:ln w="10795" cap="flat" cmpd="sng" algn="ctr">
            <a:solidFill>
              <a:srgbClr val="35C3F7"/>
            </a:solidFill>
            <a:prstDash val="solid"/>
            <a:tailEnd type="triangle"/>
          </a:ln>
          <a:effectLst/>
        </p:spPr>
      </p:cxnSp>
      <p:sp>
        <p:nvSpPr>
          <p:cNvPr id="53" name="文本框 52">
            <a:extLst>
              <a:ext uri="{FF2B5EF4-FFF2-40B4-BE49-F238E27FC236}">
                <a16:creationId xmlns:a16="http://schemas.microsoft.com/office/drawing/2014/main" id="{3EB85071-E695-81CD-4E58-116316032827}"/>
              </a:ext>
            </a:extLst>
          </p:cNvPr>
          <p:cNvSpPr txBox="1"/>
          <p:nvPr/>
        </p:nvSpPr>
        <p:spPr>
          <a:xfrm>
            <a:off x="7455757" y="1495588"/>
            <a:ext cx="914400" cy="275803"/>
          </a:xfrm>
          <a:prstGeom prst="rect">
            <a:avLst/>
          </a:prstGeom>
          <a:ln w="6350">
            <a:solidFill>
              <a:srgbClr val="29484D"/>
            </a:solidFill>
            <a:miter lim="800000"/>
          </a:ln>
        </p:spPr>
        <p:txBody>
          <a:bodyPr vert="horz" wrap="none" lIns="0" tIns="0" rIns="0" bIns="0" rtlCol="0" anchor="ctr">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zh-CN" altLang="en-US" sz="1200" b="0" i="0" u="none" strike="noStrike" kern="0" cap="none" spc="0" normalizeH="0" baseline="0" noProof="0" dirty="0">
                <a:ln>
                  <a:noFill/>
                </a:ln>
                <a:solidFill>
                  <a:srgbClr val="000000"/>
                </a:solidFill>
                <a:effectLst/>
                <a:uLnTx/>
                <a:uFillTx/>
                <a:latin typeface="华文楷体"/>
                <a:ea typeface="华文楷体"/>
              </a:rPr>
              <a:t>权限识别</a:t>
            </a:r>
          </a:p>
        </p:txBody>
      </p:sp>
      <p:cxnSp>
        <p:nvCxnSpPr>
          <p:cNvPr id="54" name="直线箭头连接符 34">
            <a:extLst>
              <a:ext uri="{FF2B5EF4-FFF2-40B4-BE49-F238E27FC236}">
                <a16:creationId xmlns:a16="http://schemas.microsoft.com/office/drawing/2014/main" id="{00A5A612-5AAF-6630-07C0-08DB2050FD0B}"/>
              </a:ext>
            </a:extLst>
          </p:cNvPr>
          <p:cNvCxnSpPr>
            <a:cxnSpLocks/>
            <a:stCxn id="51" idx="2"/>
            <a:endCxn id="53" idx="0"/>
          </p:cNvCxnSpPr>
          <p:nvPr/>
        </p:nvCxnSpPr>
        <p:spPr>
          <a:xfrm>
            <a:off x="7912957" y="1005315"/>
            <a:ext cx="0" cy="490273"/>
          </a:xfrm>
          <a:prstGeom prst="straightConnector1">
            <a:avLst/>
          </a:prstGeom>
          <a:noFill/>
          <a:ln w="10795" cap="flat" cmpd="sng" algn="ctr">
            <a:solidFill>
              <a:srgbClr val="35C3F7"/>
            </a:solidFill>
            <a:prstDash val="solid"/>
            <a:tailEnd type="triangle"/>
          </a:ln>
          <a:effectLst/>
        </p:spPr>
      </p:cxnSp>
      <p:cxnSp>
        <p:nvCxnSpPr>
          <p:cNvPr id="55" name="直线箭头连接符 34">
            <a:extLst>
              <a:ext uri="{FF2B5EF4-FFF2-40B4-BE49-F238E27FC236}">
                <a16:creationId xmlns:a16="http://schemas.microsoft.com/office/drawing/2014/main" id="{85090AF8-7EB5-82B3-BB99-48895D506E4F}"/>
              </a:ext>
            </a:extLst>
          </p:cNvPr>
          <p:cNvCxnSpPr>
            <a:cxnSpLocks/>
          </p:cNvCxnSpPr>
          <p:nvPr/>
        </p:nvCxnSpPr>
        <p:spPr>
          <a:xfrm flipH="1">
            <a:off x="6848167" y="1616435"/>
            <a:ext cx="607590" cy="0"/>
          </a:xfrm>
          <a:prstGeom prst="straightConnector1">
            <a:avLst/>
          </a:prstGeom>
          <a:noFill/>
          <a:ln w="10795" cap="flat" cmpd="sng" algn="ctr">
            <a:solidFill>
              <a:srgbClr val="35C3F7"/>
            </a:solidFill>
            <a:prstDash val="solid"/>
            <a:tailEnd type="triangle"/>
          </a:ln>
          <a:effectLst/>
        </p:spPr>
      </p:cxnSp>
      <p:cxnSp>
        <p:nvCxnSpPr>
          <p:cNvPr id="56" name="直线箭头连接符 34">
            <a:extLst>
              <a:ext uri="{FF2B5EF4-FFF2-40B4-BE49-F238E27FC236}">
                <a16:creationId xmlns:a16="http://schemas.microsoft.com/office/drawing/2014/main" id="{005E48BF-95EC-72B9-78E7-76A93ED9275D}"/>
              </a:ext>
            </a:extLst>
          </p:cNvPr>
          <p:cNvCxnSpPr>
            <a:cxnSpLocks/>
            <a:stCxn id="50" idx="2"/>
            <a:endCxn id="43" idx="0"/>
          </p:cNvCxnSpPr>
          <p:nvPr/>
        </p:nvCxnSpPr>
        <p:spPr>
          <a:xfrm>
            <a:off x="5710083" y="1005315"/>
            <a:ext cx="0" cy="290422"/>
          </a:xfrm>
          <a:prstGeom prst="straightConnector1">
            <a:avLst/>
          </a:prstGeom>
          <a:noFill/>
          <a:ln w="12700" cap="flat" cmpd="sng" algn="ctr">
            <a:solidFill>
              <a:srgbClr val="29484D"/>
            </a:solidFill>
            <a:prstDash val="solid"/>
            <a:tailEnd type="triangle"/>
          </a:ln>
          <a:effectLst/>
        </p:spPr>
      </p:cxnSp>
      <p:sp>
        <p:nvSpPr>
          <p:cNvPr id="57" name="圆柱体 56">
            <a:extLst>
              <a:ext uri="{FF2B5EF4-FFF2-40B4-BE49-F238E27FC236}">
                <a16:creationId xmlns:a16="http://schemas.microsoft.com/office/drawing/2014/main" id="{C2A8F20B-20B5-15F8-7F1A-8993ED632D60}"/>
              </a:ext>
            </a:extLst>
          </p:cNvPr>
          <p:cNvSpPr/>
          <p:nvPr/>
        </p:nvSpPr>
        <p:spPr>
          <a:xfrm>
            <a:off x="7432641" y="1951518"/>
            <a:ext cx="914400" cy="756250"/>
          </a:xfrm>
          <a:prstGeom prst="can">
            <a:avLst/>
          </a:prstGeom>
          <a:noFill/>
          <a:ln w="6350" cap="sq" cmpd="sng" algn="ctr">
            <a:solidFill>
              <a:srgbClr val="29484D"/>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zh-CN" altLang="en-US" sz="1600" b="0" i="0" u="none" strike="noStrike" kern="0" cap="none" spc="0" normalizeH="0" baseline="0" noProof="0" dirty="0" err="1">
              <a:ln>
                <a:noFill/>
              </a:ln>
              <a:solidFill>
                <a:srgbClr val="FFFFFF"/>
              </a:solidFill>
              <a:effectLst/>
              <a:uLnTx/>
              <a:uFillTx/>
              <a:latin typeface="华文楷体"/>
              <a:ea typeface="华文楷体"/>
              <a:cs typeface="+mn-cs"/>
            </a:endParaRPr>
          </a:p>
        </p:txBody>
      </p:sp>
      <p:cxnSp>
        <p:nvCxnSpPr>
          <p:cNvPr id="58" name="直线箭头连接符 34">
            <a:extLst>
              <a:ext uri="{FF2B5EF4-FFF2-40B4-BE49-F238E27FC236}">
                <a16:creationId xmlns:a16="http://schemas.microsoft.com/office/drawing/2014/main" id="{0760FDD4-6ABD-4810-C134-1D8EF0E15416}"/>
              </a:ext>
            </a:extLst>
          </p:cNvPr>
          <p:cNvCxnSpPr>
            <a:cxnSpLocks/>
            <a:stCxn id="57" idx="2"/>
            <a:endCxn id="44" idx="3"/>
          </p:cNvCxnSpPr>
          <p:nvPr/>
        </p:nvCxnSpPr>
        <p:spPr>
          <a:xfrm flipH="1" flipV="1">
            <a:off x="6848166" y="2323915"/>
            <a:ext cx="584475" cy="5728"/>
          </a:xfrm>
          <a:prstGeom prst="straightConnector1">
            <a:avLst/>
          </a:prstGeom>
          <a:noFill/>
          <a:ln w="10795" cap="flat" cmpd="sng" algn="ctr">
            <a:solidFill>
              <a:srgbClr val="35C3F7"/>
            </a:solidFill>
            <a:prstDash val="solid"/>
            <a:tailEnd type="triangle"/>
          </a:ln>
          <a:effectLst/>
        </p:spPr>
      </p:cxnSp>
      <p:sp>
        <p:nvSpPr>
          <p:cNvPr id="59" name="文本框 58">
            <a:extLst>
              <a:ext uri="{FF2B5EF4-FFF2-40B4-BE49-F238E27FC236}">
                <a16:creationId xmlns:a16="http://schemas.microsoft.com/office/drawing/2014/main" id="{691FB124-11AF-A602-2CF8-78082C3790A7}"/>
              </a:ext>
            </a:extLst>
          </p:cNvPr>
          <p:cNvSpPr txBox="1"/>
          <p:nvPr/>
        </p:nvSpPr>
        <p:spPr>
          <a:xfrm>
            <a:off x="7396982" y="2224716"/>
            <a:ext cx="914400" cy="301718"/>
          </a:xfrm>
          <a:prstGeom prst="rect">
            <a:avLst/>
          </a:prstGeom>
          <a:ln w="6350">
            <a:noFill/>
            <a:miter lim="800000"/>
          </a:ln>
        </p:spPr>
        <p:txBody>
          <a:bodyPr vert="horz" wrap="none" lIns="0" tIns="0" rIns="0" bIns="0" rtlCol="0" anchor="ctr">
            <a:noAutofit/>
          </a:bodyPr>
          <a:lstStyle/>
          <a:p>
            <a:pPr algn="ctr"/>
            <a:r>
              <a:rPr lang="en-US" altLang="zh-CN" sz="1200" dirty="0">
                <a:solidFill>
                  <a:srgbClr val="000000"/>
                </a:solidFill>
                <a:latin typeface="华文楷体"/>
                <a:ea typeface="华文楷体"/>
              </a:rPr>
              <a:t>Prompt</a:t>
            </a:r>
          </a:p>
          <a:p>
            <a:pPr algn="ctr"/>
            <a:r>
              <a:rPr lang="en-US" altLang="zh-CN" sz="1200" dirty="0">
                <a:solidFill>
                  <a:srgbClr val="000000"/>
                </a:solidFill>
                <a:latin typeface="华文楷体"/>
                <a:ea typeface="华文楷体"/>
              </a:rPr>
              <a:t>SKILL</a:t>
            </a:r>
            <a:endParaRPr lang="zh-CN" altLang="en-US" sz="1200" dirty="0">
              <a:solidFill>
                <a:srgbClr val="000000"/>
              </a:solidFill>
              <a:latin typeface="华文楷体"/>
              <a:ea typeface="华文楷体"/>
            </a:endParaRPr>
          </a:p>
        </p:txBody>
      </p:sp>
      <p:sp>
        <p:nvSpPr>
          <p:cNvPr id="60" name="矩形 59">
            <a:extLst>
              <a:ext uri="{FF2B5EF4-FFF2-40B4-BE49-F238E27FC236}">
                <a16:creationId xmlns:a16="http://schemas.microsoft.com/office/drawing/2014/main" id="{9FEEB460-1A2F-B4AC-3FF6-90124FF5070D}"/>
              </a:ext>
            </a:extLst>
          </p:cNvPr>
          <p:cNvSpPr/>
          <p:nvPr/>
        </p:nvSpPr>
        <p:spPr>
          <a:xfrm>
            <a:off x="4572001" y="2860255"/>
            <a:ext cx="2276165" cy="491837"/>
          </a:xfrm>
          <a:prstGeom prst="rect">
            <a:avLst/>
          </a:prstGeom>
          <a:solidFill>
            <a:srgbClr val="29484D">
              <a:lumMod val="20000"/>
              <a:lumOff val="8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400" kern="0" dirty="0">
                <a:solidFill>
                  <a:srgbClr val="4472C4"/>
                </a:solidFill>
                <a:latin typeface="Microsoft YaHei" panose="020B0503020204020204" pitchFamily="34" charset="-122"/>
                <a:ea typeface="Microsoft YaHei" panose="020B0503020204020204" pitchFamily="34" charset="-122"/>
              </a:rPr>
              <a:t>精确识别</a:t>
            </a:r>
            <a:r>
              <a:rPr kumimoji="1" lang="en-US" altLang="zh-CN" sz="1400" b="0" i="0" u="none" strike="noStrike" kern="0" cap="none" spc="0" normalizeH="0" baseline="0" noProof="0" dirty="0">
                <a:ln>
                  <a:noFill/>
                </a:ln>
                <a:solidFill>
                  <a:srgbClr val="4472C4"/>
                </a:solidFill>
                <a:effectLst/>
                <a:uLnTx/>
                <a:uFillTx/>
                <a:latin typeface="Microsoft YaHei" panose="020B0503020204020204" pitchFamily="34" charset="-122"/>
                <a:ea typeface="Microsoft YaHei" panose="020B0503020204020204" pitchFamily="34" charset="-122"/>
              </a:rPr>
              <a:t>Tool</a:t>
            </a:r>
            <a:r>
              <a:rPr kumimoji="1" lang="zh-CN" altLang="en-US" sz="1400" b="0" i="0" u="none" strike="noStrike" kern="0" cap="none" spc="0" normalizeH="0" baseline="0" noProof="0" dirty="0">
                <a:ln>
                  <a:noFill/>
                </a:ln>
                <a:solidFill>
                  <a:srgbClr val="4472C4"/>
                </a:solidFill>
                <a:effectLst/>
                <a:uLnTx/>
                <a:uFillTx/>
                <a:latin typeface="Microsoft YaHei" panose="020B0503020204020204" pitchFamily="34" charset="-122"/>
                <a:ea typeface="Microsoft YaHei" panose="020B0503020204020204" pitchFamily="34" charset="-122"/>
              </a:rPr>
              <a:t>及参数</a:t>
            </a:r>
          </a:p>
        </p:txBody>
      </p:sp>
      <p:sp>
        <p:nvSpPr>
          <p:cNvPr id="61" name="矩形: 圆角 60">
            <a:extLst>
              <a:ext uri="{FF2B5EF4-FFF2-40B4-BE49-F238E27FC236}">
                <a16:creationId xmlns:a16="http://schemas.microsoft.com/office/drawing/2014/main" id="{63F7DE85-6552-FB76-84EB-A4FF46979853}"/>
              </a:ext>
            </a:extLst>
          </p:cNvPr>
          <p:cNvSpPr/>
          <p:nvPr/>
        </p:nvSpPr>
        <p:spPr>
          <a:xfrm>
            <a:off x="7453946" y="3687937"/>
            <a:ext cx="893096" cy="180000"/>
          </a:xfrm>
          <a:prstGeom prst="roundRect">
            <a:avLst/>
          </a:prstGeom>
          <a:noFill/>
          <a:ln w="6350" cap="sq" cmpd="sng" algn="ctr">
            <a:solidFill>
              <a:srgbClr val="29484D"/>
            </a:solidFill>
            <a:prstDash val="solid"/>
            <a:miter lim="800000"/>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zh-CN" altLang="en-US" sz="1200" b="0" i="0" u="none" strike="noStrike" kern="0" cap="none" spc="0" normalizeH="0" baseline="0" noProof="0" dirty="0">
                <a:ln>
                  <a:noFill/>
                </a:ln>
                <a:solidFill>
                  <a:srgbClr val="000000"/>
                </a:solidFill>
                <a:effectLst/>
                <a:uLnTx/>
                <a:uFillTx/>
                <a:latin typeface="华文楷体"/>
                <a:ea typeface="华文楷体"/>
                <a:cs typeface="+mn-cs"/>
              </a:rPr>
              <a:t>数据检查</a:t>
            </a:r>
          </a:p>
        </p:txBody>
      </p:sp>
      <p:sp>
        <p:nvSpPr>
          <p:cNvPr id="62" name="矩形: 圆角 61">
            <a:extLst>
              <a:ext uri="{FF2B5EF4-FFF2-40B4-BE49-F238E27FC236}">
                <a16:creationId xmlns:a16="http://schemas.microsoft.com/office/drawing/2014/main" id="{3C1029C1-3822-1E36-DED9-5914B27BA4ED}"/>
              </a:ext>
            </a:extLst>
          </p:cNvPr>
          <p:cNvSpPr/>
          <p:nvPr/>
        </p:nvSpPr>
        <p:spPr>
          <a:xfrm>
            <a:off x="7453946" y="3914482"/>
            <a:ext cx="893096" cy="180000"/>
          </a:xfrm>
          <a:prstGeom prst="roundRect">
            <a:avLst/>
          </a:prstGeom>
          <a:noFill/>
          <a:ln w="6350" cap="sq" cmpd="sng" algn="ctr">
            <a:solidFill>
              <a:srgbClr val="29484D"/>
            </a:solidFill>
            <a:prstDash val="solid"/>
            <a:miter lim="800000"/>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zh-CN" altLang="en-US" sz="1200" b="0" i="0" u="none" strike="noStrike" kern="0" cap="none" spc="0" normalizeH="0" baseline="0" noProof="0" dirty="0">
                <a:ln>
                  <a:noFill/>
                </a:ln>
                <a:solidFill>
                  <a:srgbClr val="000000"/>
                </a:solidFill>
                <a:effectLst/>
                <a:uLnTx/>
                <a:uFillTx/>
                <a:latin typeface="华文楷体"/>
                <a:ea typeface="华文楷体"/>
                <a:cs typeface="+mn-cs"/>
              </a:rPr>
              <a:t>调用插件</a:t>
            </a:r>
          </a:p>
        </p:txBody>
      </p:sp>
      <p:sp>
        <p:nvSpPr>
          <p:cNvPr id="63" name="矩形: 圆角 62">
            <a:extLst>
              <a:ext uri="{FF2B5EF4-FFF2-40B4-BE49-F238E27FC236}">
                <a16:creationId xmlns:a16="http://schemas.microsoft.com/office/drawing/2014/main" id="{05689D62-94F5-8665-0956-A34CA4BE73B8}"/>
              </a:ext>
            </a:extLst>
          </p:cNvPr>
          <p:cNvSpPr/>
          <p:nvPr/>
        </p:nvSpPr>
        <p:spPr>
          <a:xfrm>
            <a:off x="7453946" y="4141028"/>
            <a:ext cx="893096" cy="180000"/>
          </a:xfrm>
          <a:prstGeom prst="roundRect">
            <a:avLst/>
          </a:prstGeom>
          <a:noFill/>
          <a:ln w="6350" cap="sq" cmpd="sng" algn="ctr">
            <a:solidFill>
              <a:srgbClr val="29484D"/>
            </a:solidFill>
            <a:prstDash val="solid"/>
            <a:miter lim="800000"/>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zh-CN" altLang="en-US" sz="1200" b="0" i="0" u="none" strike="noStrike" kern="0" cap="none" spc="0" normalizeH="0" baseline="0" noProof="0" dirty="0">
                <a:ln>
                  <a:noFill/>
                </a:ln>
                <a:solidFill>
                  <a:srgbClr val="000000"/>
                </a:solidFill>
                <a:effectLst/>
                <a:uLnTx/>
                <a:uFillTx/>
                <a:latin typeface="华文楷体"/>
                <a:ea typeface="华文楷体"/>
                <a:cs typeface="+mn-cs"/>
              </a:rPr>
              <a:t>调用接口</a:t>
            </a:r>
          </a:p>
        </p:txBody>
      </p:sp>
      <p:cxnSp>
        <p:nvCxnSpPr>
          <p:cNvPr id="64" name="连接符: 肘形 63">
            <a:extLst>
              <a:ext uri="{FF2B5EF4-FFF2-40B4-BE49-F238E27FC236}">
                <a16:creationId xmlns:a16="http://schemas.microsoft.com/office/drawing/2014/main" id="{80651B3D-AE93-86B0-6B32-CE1893A1CBAA}"/>
              </a:ext>
            </a:extLst>
          </p:cNvPr>
          <p:cNvCxnSpPr>
            <a:cxnSpLocks/>
            <a:stCxn id="45" idx="3"/>
            <a:endCxn id="61" idx="1"/>
          </p:cNvCxnSpPr>
          <p:nvPr/>
        </p:nvCxnSpPr>
        <p:spPr>
          <a:xfrm flipV="1">
            <a:off x="6848166" y="3777937"/>
            <a:ext cx="605780" cy="110496"/>
          </a:xfrm>
          <a:prstGeom prst="bentConnector3">
            <a:avLst/>
          </a:prstGeom>
          <a:noFill/>
          <a:ln w="6350" cap="flat" cmpd="sng" algn="ctr">
            <a:solidFill>
              <a:srgbClr val="35C3F7"/>
            </a:solidFill>
            <a:prstDash val="solid"/>
            <a:miter lim="800000"/>
            <a:tailEnd type="triangle"/>
          </a:ln>
          <a:effectLst/>
        </p:spPr>
      </p:cxnSp>
      <p:cxnSp>
        <p:nvCxnSpPr>
          <p:cNvPr id="65" name="连接符: 肘形 64">
            <a:extLst>
              <a:ext uri="{FF2B5EF4-FFF2-40B4-BE49-F238E27FC236}">
                <a16:creationId xmlns:a16="http://schemas.microsoft.com/office/drawing/2014/main" id="{0D8E7539-28B6-0BC1-C3C9-C9AD2D8A29A3}"/>
              </a:ext>
            </a:extLst>
          </p:cNvPr>
          <p:cNvCxnSpPr>
            <a:cxnSpLocks/>
            <a:stCxn id="45" idx="3"/>
            <a:endCxn id="63" idx="1"/>
          </p:cNvCxnSpPr>
          <p:nvPr/>
        </p:nvCxnSpPr>
        <p:spPr>
          <a:xfrm>
            <a:off x="6848166" y="3888433"/>
            <a:ext cx="605780" cy="342595"/>
          </a:xfrm>
          <a:prstGeom prst="bentConnector3">
            <a:avLst/>
          </a:prstGeom>
          <a:noFill/>
          <a:ln w="6350" cap="flat" cmpd="sng" algn="ctr">
            <a:solidFill>
              <a:srgbClr val="35C3F7"/>
            </a:solidFill>
            <a:prstDash val="solid"/>
            <a:miter lim="800000"/>
            <a:tailEnd type="triangle"/>
          </a:ln>
          <a:effectLst/>
        </p:spPr>
      </p:cxnSp>
      <p:cxnSp>
        <p:nvCxnSpPr>
          <p:cNvPr id="66" name="直线箭头连接符 34">
            <a:extLst>
              <a:ext uri="{FF2B5EF4-FFF2-40B4-BE49-F238E27FC236}">
                <a16:creationId xmlns:a16="http://schemas.microsoft.com/office/drawing/2014/main" id="{2004967D-BFCA-4C44-9F26-2BA5329EA912}"/>
              </a:ext>
            </a:extLst>
          </p:cNvPr>
          <p:cNvCxnSpPr>
            <a:cxnSpLocks/>
            <a:stCxn id="45" idx="2"/>
            <a:endCxn id="47" idx="0"/>
          </p:cNvCxnSpPr>
          <p:nvPr/>
        </p:nvCxnSpPr>
        <p:spPr>
          <a:xfrm>
            <a:off x="5710083" y="4134351"/>
            <a:ext cx="0" cy="290422"/>
          </a:xfrm>
          <a:prstGeom prst="straightConnector1">
            <a:avLst/>
          </a:prstGeom>
          <a:noFill/>
          <a:ln w="10795" cap="flat" cmpd="sng" algn="ctr">
            <a:solidFill>
              <a:srgbClr val="35C3F7"/>
            </a:solidFill>
            <a:prstDash val="solid"/>
            <a:tailEnd type="triangle"/>
          </a:ln>
          <a:effectLst/>
        </p:spPr>
      </p:cxnSp>
      <p:sp>
        <p:nvSpPr>
          <p:cNvPr id="67" name="矩形: 圆角 66">
            <a:extLst>
              <a:ext uri="{FF2B5EF4-FFF2-40B4-BE49-F238E27FC236}">
                <a16:creationId xmlns:a16="http://schemas.microsoft.com/office/drawing/2014/main" id="{2D85DAA6-A59D-CA30-8B53-FDE731266956}"/>
              </a:ext>
            </a:extLst>
          </p:cNvPr>
          <p:cNvSpPr/>
          <p:nvPr/>
        </p:nvSpPr>
        <p:spPr>
          <a:xfrm>
            <a:off x="7453946" y="3461392"/>
            <a:ext cx="893096" cy="180000"/>
          </a:xfrm>
          <a:prstGeom prst="roundRect">
            <a:avLst/>
          </a:prstGeom>
          <a:noFill/>
          <a:ln w="6350" cap="sq" cmpd="sng" algn="ctr">
            <a:solidFill>
              <a:srgbClr val="29484D"/>
            </a:solidFill>
            <a:prstDash val="solid"/>
            <a:miter lim="800000"/>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lvl="0" algn="ctr">
              <a:defRPr/>
            </a:pPr>
            <a:r>
              <a:rPr lang="zh-CN" altLang="en-US" sz="1100" kern="0" dirty="0">
                <a:solidFill>
                  <a:srgbClr val="000000"/>
                </a:solidFill>
                <a:latin typeface="华文楷体"/>
                <a:ea typeface="华文楷体"/>
              </a:rPr>
              <a:t>权限检查</a:t>
            </a:r>
            <a:endParaRPr lang="en-US" altLang="zh-CN" sz="1100" kern="0" dirty="0">
              <a:solidFill>
                <a:srgbClr val="000000"/>
              </a:solidFill>
              <a:latin typeface="华文楷体"/>
              <a:ea typeface="华文楷体"/>
            </a:endParaRPr>
          </a:p>
        </p:txBody>
      </p:sp>
      <p:sp>
        <p:nvSpPr>
          <p:cNvPr id="68" name="矩形: 圆角 67">
            <a:extLst>
              <a:ext uri="{FF2B5EF4-FFF2-40B4-BE49-F238E27FC236}">
                <a16:creationId xmlns:a16="http://schemas.microsoft.com/office/drawing/2014/main" id="{3E0A0F11-A40B-4FA0-7830-9185508AD7C6}"/>
              </a:ext>
            </a:extLst>
          </p:cNvPr>
          <p:cNvSpPr/>
          <p:nvPr/>
        </p:nvSpPr>
        <p:spPr>
          <a:xfrm>
            <a:off x="7453946" y="2930287"/>
            <a:ext cx="893096" cy="351559"/>
          </a:xfrm>
          <a:prstGeom prst="roundRect">
            <a:avLst/>
          </a:prstGeom>
          <a:noFill/>
          <a:ln w="6350" cap="sq" cmpd="sng" algn="ctr">
            <a:solidFill>
              <a:srgbClr val="29484D"/>
            </a:solidFill>
            <a:prstDash val="solid"/>
            <a:miter lim="800000"/>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800" b="0" i="0" u="none" strike="noStrike" kern="0" cap="none" spc="0" normalizeH="0" baseline="0" noProof="0" dirty="0">
                <a:ln>
                  <a:noFill/>
                </a:ln>
                <a:solidFill>
                  <a:srgbClr val="000000"/>
                </a:solidFill>
                <a:effectLst/>
                <a:uLnTx/>
                <a:uFillTx/>
                <a:latin typeface="华文楷体"/>
                <a:ea typeface="华文楷体"/>
                <a:cs typeface="+mn-cs"/>
              </a:rPr>
              <a:t>MCP Tool Schema</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800" b="0" i="0" u="none" strike="noStrike" kern="0" cap="none" spc="0" normalizeH="0" baseline="0" noProof="0" dirty="0">
                <a:ln>
                  <a:noFill/>
                </a:ln>
                <a:solidFill>
                  <a:srgbClr val="000000"/>
                </a:solidFill>
                <a:effectLst/>
                <a:uLnTx/>
                <a:uFillTx/>
                <a:latin typeface="华文楷体"/>
                <a:ea typeface="华文楷体"/>
                <a:cs typeface="+mn-cs"/>
              </a:rPr>
              <a:t>获取本体定义的合法操作</a:t>
            </a:r>
          </a:p>
        </p:txBody>
      </p:sp>
      <p:cxnSp>
        <p:nvCxnSpPr>
          <p:cNvPr id="69" name="直线箭头连接符 34">
            <a:extLst>
              <a:ext uri="{FF2B5EF4-FFF2-40B4-BE49-F238E27FC236}">
                <a16:creationId xmlns:a16="http://schemas.microsoft.com/office/drawing/2014/main" id="{FACF2F8B-CD6E-4910-2057-3D98A496F5D7}"/>
              </a:ext>
            </a:extLst>
          </p:cNvPr>
          <p:cNvCxnSpPr>
            <a:cxnSpLocks/>
            <a:stCxn id="47" idx="1"/>
            <a:endCxn id="43" idx="1"/>
          </p:cNvCxnSpPr>
          <p:nvPr/>
        </p:nvCxnSpPr>
        <p:spPr>
          <a:xfrm rot="10800000">
            <a:off x="4572000" y="1541656"/>
            <a:ext cx="12700" cy="3129036"/>
          </a:xfrm>
          <a:prstGeom prst="bentConnector3">
            <a:avLst>
              <a:gd name="adj1" fmla="val 1800000"/>
            </a:avLst>
          </a:prstGeom>
          <a:noFill/>
          <a:ln w="9525" cap="flat" cmpd="sng" algn="ctr">
            <a:solidFill>
              <a:srgbClr val="EE8F62"/>
            </a:solidFill>
            <a:prstDash val="solid"/>
            <a:tailEnd type="triangle"/>
          </a:ln>
          <a:effectLst/>
        </p:spPr>
      </p:cxnSp>
      <p:cxnSp>
        <p:nvCxnSpPr>
          <p:cNvPr id="70" name="直线箭头连接符 34">
            <a:extLst>
              <a:ext uri="{FF2B5EF4-FFF2-40B4-BE49-F238E27FC236}">
                <a16:creationId xmlns:a16="http://schemas.microsoft.com/office/drawing/2014/main" id="{085BFDE1-D83F-6E4A-A103-582DD0020A2F}"/>
              </a:ext>
            </a:extLst>
          </p:cNvPr>
          <p:cNvCxnSpPr>
            <a:cxnSpLocks/>
            <a:stCxn id="68" idx="1"/>
            <a:endCxn id="60" idx="3"/>
          </p:cNvCxnSpPr>
          <p:nvPr/>
        </p:nvCxnSpPr>
        <p:spPr>
          <a:xfrm flipH="1">
            <a:off x="6848166" y="3106067"/>
            <a:ext cx="605780" cy="107"/>
          </a:xfrm>
          <a:prstGeom prst="straightConnector1">
            <a:avLst/>
          </a:prstGeom>
          <a:noFill/>
          <a:ln w="10795" cap="flat" cmpd="sng" algn="ctr">
            <a:solidFill>
              <a:srgbClr val="35C3F7"/>
            </a:solidFill>
            <a:prstDash val="solid"/>
            <a:tailEnd type="triangle"/>
          </a:ln>
          <a:effectLst/>
        </p:spPr>
      </p:cxnSp>
      <p:cxnSp>
        <p:nvCxnSpPr>
          <p:cNvPr id="71" name="肘形连接符 107">
            <a:extLst>
              <a:ext uri="{FF2B5EF4-FFF2-40B4-BE49-F238E27FC236}">
                <a16:creationId xmlns:a16="http://schemas.microsoft.com/office/drawing/2014/main" id="{30586FD7-14DA-968E-7775-741DCCB15458}"/>
              </a:ext>
            </a:extLst>
          </p:cNvPr>
          <p:cNvCxnSpPr>
            <a:cxnSpLocks/>
            <a:stCxn id="44" idx="2"/>
            <a:endCxn id="60" idx="0"/>
          </p:cNvCxnSpPr>
          <p:nvPr/>
        </p:nvCxnSpPr>
        <p:spPr>
          <a:xfrm>
            <a:off x="5710083" y="2569833"/>
            <a:ext cx="1" cy="290422"/>
          </a:xfrm>
          <a:prstGeom prst="straightConnector1">
            <a:avLst/>
          </a:prstGeom>
          <a:noFill/>
          <a:ln w="12700" cap="flat" cmpd="sng" algn="ctr">
            <a:solidFill>
              <a:srgbClr val="29484D"/>
            </a:solidFill>
            <a:prstDash val="solid"/>
            <a:tailEnd type="triangle"/>
          </a:ln>
          <a:effectLst/>
        </p:spPr>
      </p:cxnSp>
      <p:cxnSp>
        <p:nvCxnSpPr>
          <p:cNvPr id="72" name="连接符: 肘形 71">
            <a:extLst>
              <a:ext uri="{FF2B5EF4-FFF2-40B4-BE49-F238E27FC236}">
                <a16:creationId xmlns:a16="http://schemas.microsoft.com/office/drawing/2014/main" id="{0B7BD007-9DAE-B089-0471-3642BCD4AD9A}"/>
              </a:ext>
            </a:extLst>
          </p:cNvPr>
          <p:cNvCxnSpPr>
            <a:cxnSpLocks/>
            <a:stCxn id="45" idx="3"/>
            <a:endCxn id="62" idx="1"/>
          </p:cNvCxnSpPr>
          <p:nvPr/>
        </p:nvCxnSpPr>
        <p:spPr>
          <a:xfrm>
            <a:off x="6848166" y="3888433"/>
            <a:ext cx="605780" cy="116049"/>
          </a:xfrm>
          <a:prstGeom prst="bentConnector3">
            <a:avLst>
              <a:gd name="adj1" fmla="val 50000"/>
            </a:avLst>
          </a:prstGeom>
          <a:noFill/>
          <a:ln w="6350" cap="flat" cmpd="sng" algn="ctr">
            <a:solidFill>
              <a:srgbClr val="35C3F7"/>
            </a:solidFill>
            <a:prstDash val="solid"/>
            <a:miter lim="800000"/>
            <a:tailEnd type="triangle"/>
          </a:ln>
          <a:effectLst/>
        </p:spPr>
      </p:cxnSp>
      <p:cxnSp>
        <p:nvCxnSpPr>
          <p:cNvPr id="73" name="连接符: 肘形 72">
            <a:extLst>
              <a:ext uri="{FF2B5EF4-FFF2-40B4-BE49-F238E27FC236}">
                <a16:creationId xmlns:a16="http://schemas.microsoft.com/office/drawing/2014/main" id="{75D87910-FE1B-5968-30B8-6F7120BF68BC}"/>
              </a:ext>
            </a:extLst>
          </p:cNvPr>
          <p:cNvCxnSpPr>
            <a:cxnSpLocks/>
            <a:stCxn id="45" idx="3"/>
            <a:endCxn id="67" idx="1"/>
          </p:cNvCxnSpPr>
          <p:nvPr/>
        </p:nvCxnSpPr>
        <p:spPr>
          <a:xfrm flipV="1">
            <a:off x="6848166" y="3551392"/>
            <a:ext cx="605780" cy="337041"/>
          </a:xfrm>
          <a:prstGeom prst="bentConnector3">
            <a:avLst>
              <a:gd name="adj1" fmla="val 50000"/>
            </a:avLst>
          </a:prstGeom>
          <a:noFill/>
          <a:ln w="6350" cap="flat" cmpd="sng" algn="ctr">
            <a:solidFill>
              <a:srgbClr val="35C3F7"/>
            </a:solidFill>
            <a:prstDash val="solid"/>
            <a:miter lim="800000"/>
            <a:tailEnd type="triangle"/>
          </a:ln>
          <a:effectLst/>
        </p:spPr>
      </p:cxnSp>
      <p:sp>
        <p:nvSpPr>
          <p:cNvPr id="3" name="文本框 2">
            <a:extLst>
              <a:ext uri="{FF2B5EF4-FFF2-40B4-BE49-F238E27FC236}">
                <a16:creationId xmlns:a16="http://schemas.microsoft.com/office/drawing/2014/main" id="{26B9AB44-A690-5FC7-FD4C-B33CA0EE78BD}"/>
              </a:ext>
            </a:extLst>
          </p:cNvPr>
          <p:cNvSpPr txBox="1"/>
          <p:nvPr/>
        </p:nvSpPr>
        <p:spPr>
          <a:xfrm>
            <a:off x="428024" y="1712185"/>
            <a:ext cx="3432771" cy="2169825"/>
          </a:xfrm>
          <a:prstGeom prst="rect">
            <a:avLst/>
          </a:prstGeom>
          <a:noFill/>
        </p:spPr>
        <p:txBody>
          <a:bodyPr wrap="square">
            <a:spAutoFit/>
          </a:bodyPr>
          <a:lstStyle/>
          <a:p>
            <a:pPr>
              <a:lnSpc>
                <a:spcPct val="150000"/>
              </a:lnSpc>
            </a:pPr>
            <a:r>
              <a:rPr lang="zh-CN" altLang="en-US" sz="1200" dirty="0"/>
              <a:t>核心策略：让 </a:t>
            </a:r>
            <a:r>
              <a:rPr lang="en-US" altLang="zh-CN" sz="1200" dirty="0"/>
              <a:t>LLM </a:t>
            </a:r>
            <a:r>
              <a:rPr lang="zh-CN" altLang="en-US" sz="1200" dirty="0"/>
              <a:t>先思考工具，再思考答案。</a:t>
            </a:r>
          </a:p>
          <a:p>
            <a:pPr>
              <a:lnSpc>
                <a:spcPct val="150000"/>
              </a:lnSpc>
            </a:pPr>
            <a:r>
              <a:rPr lang="zh-CN" altLang="en-US" sz="1200" dirty="0"/>
              <a:t>系统提示要求：</a:t>
            </a:r>
          </a:p>
          <a:p>
            <a:pPr marL="171450" indent="-171450">
              <a:lnSpc>
                <a:spcPct val="150000"/>
              </a:lnSpc>
              <a:buFont typeface="Arial" panose="020B0604020202020204" pitchFamily="34" charset="0"/>
              <a:buChar char="•"/>
            </a:pPr>
            <a:r>
              <a:rPr lang="zh-CN" altLang="en-US" sz="1200" dirty="0"/>
              <a:t>收到输入后，先在 </a:t>
            </a:r>
            <a:r>
              <a:rPr lang="en-US" altLang="zh-CN" sz="1200" dirty="0"/>
              <a:t>thinking </a:t>
            </a:r>
            <a:r>
              <a:rPr lang="zh-CN" altLang="en-US" sz="1200" dirty="0"/>
              <a:t>标签内完成思考</a:t>
            </a:r>
          </a:p>
          <a:p>
            <a:pPr marL="171450" indent="-171450">
              <a:lnSpc>
                <a:spcPct val="150000"/>
              </a:lnSpc>
              <a:buFont typeface="Arial" panose="020B0604020202020204" pitchFamily="34" charset="0"/>
              <a:buChar char="•"/>
            </a:pPr>
            <a:r>
              <a:rPr lang="zh-CN" altLang="en-US" sz="1200" dirty="0"/>
              <a:t>完成思考后，必须输出 </a:t>
            </a:r>
            <a:r>
              <a:rPr lang="en-US" altLang="zh-CN" sz="1200" dirty="0" err="1"/>
              <a:t>tool_call</a:t>
            </a:r>
            <a:r>
              <a:rPr lang="en-US" altLang="zh-CN" sz="1200" dirty="0"/>
              <a:t> </a:t>
            </a:r>
            <a:r>
              <a:rPr lang="zh-CN" altLang="en-US" sz="1200" dirty="0"/>
              <a:t>标签（或者超过</a:t>
            </a:r>
            <a:r>
              <a:rPr lang="en-US" altLang="zh-CN" sz="1200" dirty="0"/>
              <a:t>Agent</a:t>
            </a:r>
            <a:r>
              <a:rPr lang="zh-CN" altLang="en-US" sz="1200" dirty="0"/>
              <a:t>工作范围，提示用户）</a:t>
            </a:r>
          </a:p>
          <a:p>
            <a:pPr marL="171450" indent="-171450">
              <a:lnSpc>
                <a:spcPct val="150000"/>
              </a:lnSpc>
              <a:buFont typeface="Arial" panose="020B0604020202020204" pitchFamily="34" charset="0"/>
              <a:buChar char="•"/>
            </a:pPr>
            <a:r>
              <a:rPr lang="zh-CN" altLang="en-US" sz="1200" dirty="0"/>
              <a:t>只有在收到 </a:t>
            </a:r>
            <a:r>
              <a:rPr lang="en-US" altLang="zh-CN" sz="1200" dirty="0" err="1"/>
              <a:t>tool_result</a:t>
            </a:r>
            <a:r>
              <a:rPr lang="en-US" altLang="zh-CN" sz="1200" dirty="0"/>
              <a:t> </a:t>
            </a:r>
            <a:r>
              <a:rPr lang="zh-CN" altLang="en-US" sz="1200" dirty="0"/>
              <a:t>后，才能输出 </a:t>
            </a:r>
            <a:r>
              <a:rPr lang="en-US" altLang="zh-CN" sz="1200" dirty="0"/>
              <a:t>answer</a:t>
            </a:r>
          </a:p>
          <a:p>
            <a:pPr marL="171450" indent="-171450">
              <a:lnSpc>
                <a:spcPct val="150000"/>
              </a:lnSpc>
              <a:buFont typeface="Arial" panose="020B0604020202020204" pitchFamily="34" charset="0"/>
              <a:buChar char="•"/>
            </a:pPr>
            <a:r>
              <a:rPr lang="zh-CN" altLang="en-US" sz="1200" dirty="0"/>
              <a:t>工具返回错误时，必须输出 </a:t>
            </a:r>
            <a:r>
              <a:rPr lang="en-US" altLang="zh-CN" sz="1200" dirty="0"/>
              <a:t>error</a:t>
            </a:r>
            <a:r>
              <a:rPr lang="zh-CN" altLang="en-US" sz="1200" dirty="0"/>
              <a:t>，禁止编造</a:t>
            </a:r>
            <a:endParaRPr lang="en-US" altLang="zh-CN" sz="1200" dirty="0"/>
          </a:p>
          <a:p>
            <a:endParaRPr lang="zh-CN" altLang="en-US" sz="900" dirty="0"/>
          </a:p>
        </p:txBody>
      </p:sp>
      <p:sp>
        <p:nvSpPr>
          <p:cNvPr id="86" name="文本框 85">
            <a:extLst>
              <a:ext uri="{FF2B5EF4-FFF2-40B4-BE49-F238E27FC236}">
                <a16:creationId xmlns:a16="http://schemas.microsoft.com/office/drawing/2014/main" id="{DB7B4F0D-DE02-1004-A772-1509D718D89F}"/>
              </a:ext>
            </a:extLst>
          </p:cNvPr>
          <p:cNvSpPr txBox="1"/>
          <p:nvPr/>
        </p:nvSpPr>
        <p:spPr>
          <a:xfrm>
            <a:off x="5682231" y="3352092"/>
            <a:ext cx="646331" cy="230832"/>
          </a:xfrm>
          <a:prstGeom prst="rect">
            <a:avLst/>
          </a:prstGeom>
          <a:noFill/>
        </p:spPr>
        <p:txBody>
          <a:bodyPr wrap="none" rtlCol="0">
            <a:spAutoFit/>
          </a:bodyPr>
          <a:lstStyle/>
          <a:p>
            <a:r>
              <a:rPr lang="en-US" altLang="zh-CN" sz="900" dirty="0">
                <a:latin typeface="楷体" panose="02010609060101010101" pitchFamily="49" charset="-122"/>
                <a:ea typeface="楷体" panose="02010609060101010101" pitchFamily="49" charset="-122"/>
              </a:rPr>
              <a:t>Tool</a:t>
            </a:r>
            <a:r>
              <a:rPr lang="zh-CN" altLang="en-US" sz="900" dirty="0">
                <a:latin typeface="楷体" panose="02010609060101010101" pitchFamily="49" charset="-122"/>
                <a:ea typeface="楷体" panose="02010609060101010101" pitchFamily="49" charset="-122"/>
              </a:rPr>
              <a:t>参数</a:t>
            </a:r>
          </a:p>
        </p:txBody>
      </p:sp>
      <p:sp>
        <p:nvSpPr>
          <p:cNvPr id="88" name="文本框 87">
            <a:extLst>
              <a:ext uri="{FF2B5EF4-FFF2-40B4-BE49-F238E27FC236}">
                <a16:creationId xmlns:a16="http://schemas.microsoft.com/office/drawing/2014/main" id="{4477E2F4-44DE-378E-379D-2A7D1BA8D07C}"/>
              </a:ext>
            </a:extLst>
          </p:cNvPr>
          <p:cNvSpPr txBox="1"/>
          <p:nvPr/>
        </p:nvSpPr>
        <p:spPr>
          <a:xfrm>
            <a:off x="3886200" y="4703190"/>
            <a:ext cx="800100" cy="215444"/>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800" b="0" i="0" u="none" strike="noStrike" kern="0" cap="none" spc="0" normalizeH="0" baseline="0" noProof="0" dirty="0">
                <a:ln>
                  <a:noFill/>
                </a:ln>
                <a:solidFill>
                  <a:srgbClr val="4472C4"/>
                </a:solidFill>
                <a:effectLst/>
                <a:uLnTx/>
                <a:uFillTx/>
                <a:latin typeface="Microsoft YaHei" panose="020B0503020204020204" pitchFamily="34" charset="-122"/>
                <a:ea typeface="Microsoft YaHei" panose="020B0503020204020204" pitchFamily="34" charset="-122"/>
              </a:rPr>
              <a:t>返回给用户</a:t>
            </a:r>
          </a:p>
        </p:txBody>
      </p:sp>
      <p:sp>
        <p:nvSpPr>
          <p:cNvPr id="4" name="文本框 3">
            <a:extLst>
              <a:ext uri="{FF2B5EF4-FFF2-40B4-BE49-F238E27FC236}">
                <a16:creationId xmlns:a16="http://schemas.microsoft.com/office/drawing/2014/main" id="{44AE796F-BF63-325A-5157-93DF4E6BF79B}"/>
              </a:ext>
            </a:extLst>
          </p:cNvPr>
          <p:cNvSpPr txBox="1"/>
          <p:nvPr/>
        </p:nvSpPr>
        <p:spPr>
          <a:xfrm>
            <a:off x="432126" y="1250451"/>
            <a:ext cx="3819325" cy="369332"/>
          </a:xfrm>
          <a:prstGeom prst="rect">
            <a:avLst/>
          </a:prstGeom>
          <a:noFill/>
        </p:spPr>
        <p:txBody>
          <a:bodyPr wrap="square">
            <a:spAutoFit/>
          </a:bodyPr>
          <a:lstStyle/>
          <a:p>
            <a:r>
              <a:rPr lang="zh-CN" altLang="en-US" dirty="0"/>
              <a:t>第一层：</a:t>
            </a:r>
            <a:r>
              <a:rPr lang="en-US" altLang="zh-CN" dirty="0"/>
              <a:t>Prompt </a:t>
            </a:r>
            <a:r>
              <a:rPr lang="zh-CN" altLang="en-US" dirty="0"/>
              <a:t>控制</a:t>
            </a:r>
          </a:p>
        </p:txBody>
      </p:sp>
    </p:spTree>
    <p:extLst>
      <p:ext uri="{BB962C8B-B14F-4D97-AF65-F5344CB8AC3E}">
        <p14:creationId xmlns:p14="http://schemas.microsoft.com/office/powerpoint/2010/main" val="28501851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24E6A-CB02-00A1-C84C-1DB3BF78B87A}"/>
            </a:ext>
          </a:extLst>
        </p:cNvPr>
        <p:cNvGrpSpPr/>
        <p:nvPr/>
      </p:nvGrpSpPr>
      <p:grpSpPr>
        <a:xfrm>
          <a:off x="0" y="0"/>
          <a:ext cx="0" cy="0"/>
          <a:chOff x="0" y="0"/>
          <a:chExt cx="0" cy="0"/>
        </a:xfrm>
      </p:grpSpPr>
      <p:sp>
        <p:nvSpPr>
          <p:cNvPr id="40" name="Shape 1">
            <a:extLst>
              <a:ext uri="{FF2B5EF4-FFF2-40B4-BE49-F238E27FC236}">
                <a16:creationId xmlns:a16="http://schemas.microsoft.com/office/drawing/2014/main" id="{0CB68E10-3E48-948E-947A-202BA9BC0D6F}"/>
              </a:ext>
            </a:extLst>
          </p:cNvPr>
          <p:cNvSpPr/>
          <p:nvPr/>
        </p:nvSpPr>
        <p:spPr>
          <a:xfrm>
            <a:off x="548640" y="274320"/>
            <a:ext cx="54864" cy="457200"/>
          </a:xfrm>
          <a:prstGeom prst="rect">
            <a:avLst/>
          </a:prstGeom>
          <a:solidFill>
            <a:srgbClr val="22A699"/>
          </a:solidFill>
          <a:ln/>
        </p:spPr>
        <p:txBody>
          <a:bodyPr/>
          <a:lstStyle/>
          <a:p>
            <a:endParaRPr lang="zh-CN" altLang="en-US"/>
          </a:p>
        </p:txBody>
      </p:sp>
      <p:sp>
        <p:nvSpPr>
          <p:cNvPr id="41" name="Text 2">
            <a:extLst>
              <a:ext uri="{FF2B5EF4-FFF2-40B4-BE49-F238E27FC236}">
                <a16:creationId xmlns:a16="http://schemas.microsoft.com/office/drawing/2014/main" id="{E18371EC-C6EE-7F01-6B31-03D804086BE5}"/>
              </a:ext>
            </a:extLst>
          </p:cNvPr>
          <p:cNvSpPr/>
          <p:nvPr/>
        </p:nvSpPr>
        <p:spPr>
          <a:xfrm>
            <a:off x="731520" y="274320"/>
            <a:ext cx="731520" cy="457200"/>
          </a:xfrm>
          <a:prstGeom prst="rect">
            <a:avLst/>
          </a:prstGeom>
          <a:noFill/>
          <a:ln/>
        </p:spPr>
        <p:txBody>
          <a:bodyPr wrap="square" lIns="0" tIns="0" rIns="0" bIns="0" rtlCol="0" anchor="ctr"/>
          <a:lstStyle/>
          <a:p>
            <a:pPr marL="0" indent="0">
              <a:buNone/>
            </a:pPr>
            <a:r>
              <a:rPr lang="en-US" sz="1800" b="1" dirty="0">
                <a:solidFill>
                  <a:srgbClr val="22A699"/>
                </a:solidFill>
                <a:latin typeface="Arial" pitchFamily="34" charset="0"/>
                <a:ea typeface="Arial" pitchFamily="34" charset="-122"/>
                <a:cs typeface="Arial" pitchFamily="34" charset="-120"/>
              </a:rPr>
              <a:t>03</a:t>
            </a:r>
            <a:endParaRPr lang="en-US" sz="1800" dirty="0"/>
          </a:p>
        </p:txBody>
      </p:sp>
      <p:sp>
        <p:nvSpPr>
          <p:cNvPr id="42" name="Text 3">
            <a:extLst>
              <a:ext uri="{FF2B5EF4-FFF2-40B4-BE49-F238E27FC236}">
                <a16:creationId xmlns:a16="http://schemas.microsoft.com/office/drawing/2014/main" id="{B2EBB7DF-3BF6-C03A-C792-9736F2011EFE}"/>
              </a:ext>
            </a:extLst>
          </p:cNvPr>
          <p:cNvSpPr/>
          <p:nvPr/>
        </p:nvSpPr>
        <p:spPr>
          <a:xfrm>
            <a:off x="548640" y="822960"/>
            <a:ext cx="8046720" cy="457200"/>
          </a:xfrm>
          <a:prstGeom prst="rect">
            <a:avLst/>
          </a:prstGeom>
          <a:noFill/>
          <a:ln/>
        </p:spPr>
        <p:txBody>
          <a:bodyPr wrap="square" lIns="0" tIns="0" rIns="0" bIns="0" rtlCol="0" anchor="ctr"/>
          <a:lstStyle/>
          <a:p>
            <a:pPr marL="0" indent="0">
              <a:buNone/>
            </a:pPr>
            <a:r>
              <a:rPr lang="zh-CN" altLang="en-US" sz="2200" b="1" dirty="0">
                <a:solidFill>
                  <a:srgbClr val="1E293B"/>
                </a:solidFill>
                <a:latin typeface="Arial" pitchFamily="34" charset="0"/>
                <a:ea typeface="Arial" pitchFamily="34" charset="-122"/>
                <a:cs typeface="Arial" pitchFamily="34" charset="-120"/>
              </a:rPr>
              <a:t>如何确保 </a:t>
            </a:r>
            <a:r>
              <a:rPr lang="en-US" altLang="zh-CN" sz="2200" b="1" dirty="0">
                <a:solidFill>
                  <a:srgbClr val="1E293B"/>
                </a:solidFill>
                <a:latin typeface="Arial" pitchFamily="34" charset="0"/>
                <a:ea typeface="Arial" pitchFamily="34" charset="-122"/>
                <a:cs typeface="Arial" pitchFamily="34" charset="-120"/>
              </a:rPr>
              <a:t>LLM </a:t>
            </a:r>
            <a:r>
              <a:rPr lang="zh-CN" altLang="en-US" sz="2200" b="1" dirty="0">
                <a:solidFill>
                  <a:srgbClr val="1E293B"/>
                </a:solidFill>
                <a:latin typeface="Arial" pitchFamily="34" charset="0"/>
                <a:ea typeface="Arial" pitchFamily="34" charset="-122"/>
                <a:cs typeface="Arial" pitchFamily="34" charset="-120"/>
              </a:rPr>
              <a:t>一定会调用？</a:t>
            </a:r>
          </a:p>
        </p:txBody>
      </p:sp>
      <p:sp>
        <p:nvSpPr>
          <p:cNvPr id="43" name="矩形 42">
            <a:extLst>
              <a:ext uri="{FF2B5EF4-FFF2-40B4-BE49-F238E27FC236}">
                <a16:creationId xmlns:a16="http://schemas.microsoft.com/office/drawing/2014/main" id="{5795B06D-5B90-81A1-301E-43152AB83EA6}"/>
              </a:ext>
            </a:extLst>
          </p:cNvPr>
          <p:cNvSpPr/>
          <p:nvPr/>
        </p:nvSpPr>
        <p:spPr>
          <a:xfrm>
            <a:off x="4572000" y="1295737"/>
            <a:ext cx="2276166" cy="491837"/>
          </a:xfrm>
          <a:prstGeom prst="rect">
            <a:avLst/>
          </a:prstGeom>
          <a:solidFill>
            <a:srgbClr val="29484D">
              <a:lumMod val="20000"/>
              <a:lumOff val="8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400" b="0" i="0" u="none" strike="noStrike" kern="0" cap="none" spc="0" normalizeH="0" baseline="0" noProof="0" dirty="0">
                <a:ln>
                  <a:noFill/>
                </a:ln>
                <a:solidFill>
                  <a:srgbClr val="4472C4"/>
                </a:solidFill>
                <a:effectLst/>
                <a:uLnTx/>
                <a:uFillTx/>
                <a:latin typeface="Microsoft YaHei" panose="020B0503020204020204" pitchFamily="34" charset="-122"/>
                <a:ea typeface="Microsoft YaHei" panose="020B0503020204020204" pitchFamily="34" charset="-122"/>
              </a:rPr>
              <a:t>自然语言</a:t>
            </a:r>
          </a:p>
        </p:txBody>
      </p:sp>
      <p:sp>
        <p:nvSpPr>
          <p:cNvPr id="44" name="矩形 43">
            <a:extLst>
              <a:ext uri="{FF2B5EF4-FFF2-40B4-BE49-F238E27FC236}">
                <a16:creationId xmlns:a16="http://schemas.microsoft.com/office/drawing/2014/main" id="{6C7C364C-3C58-F07D-305D-B102B06B5345}"/>
              </a:ext>
            </a:extLst>
          </p:cNvPr>
          <p:cNvSpPr/>
          <p:nvPr/>
        </p:nvSpPr>
        <p:spPr>
          <a:xfrm>
            <a:off x="4572000" y="2077996"/>
            <a:ext cx="2276166" cy="491837"/>
          </a:xfrm>
          <a:prstGeom prst="rect">
            <a:avLst/>
          </a:prstGeom>
          <a:solidFill>
            <a:srgbClr val="29484D">
              <a:lumMod val="20000"/>
              <a:lumOff val="80000"/>
            </a:srgbClr>
          </a:solidFill>
          <a:ln w="12700" cap="flat" cmpd="sng" algn="ctr">
            <a:noFill/>
            <a:prstDash val="solid"/>
            <a:miter lim="800000"/>
          </a:ln>
          <a:effectLst/>
        </p:spPr>
        <p:txBody>
          <a:bodyPr rtlCol="0" anchor="ctr"/>
          <a:lstStyle/>
          <a:p>
            <a:pPr algn="ctr"/>
            <a:r>
              <a:rPr kumimoji="1" lang="zh-CN" altLang="en-US" sz="1100" kern="0" dirty="0">
                <a:solidFill>
                  <a:srgbClr val="4472C4"/>
                </a:solidFill>
                <a:latin typeface="Microsoft YaHei" panose="020B0503020204020204" pitchFamily="34" charset="-122"/>
                <a:ea typeface="Microsoft YaHei" panose="020B0503020204020204" pitchFamily="34" charset="-122"/>
              </a:rPr>
              <a:t>大模型</a:t>
            </a:r>
            <a:endParaRPr kumimoji="1" lang="en-US" altLang="zh-CN" sz="1100" kern="0" dirty="0">
              <a:solidFill>
                <a:srgbClr val="4472C4"/>
              </a:solidFill>
              <a:latin typeface="Microsoft YaHei" panose="020B0503020204020204" pitchFamily="34" charset="-122"/>
              <a:ea typeface="Microsoft YaHei" panose="020B0503020204020204" pitchFamily="34" charset="-122"/>
            </a:endParaRPr>
          </a:p>
          <a:p>
            <a:pPr algn="ctr"/>
            <a:r>
              <a:rPr kumimoji="1" lang="zh-CN" altLang="en-US" sz="1400" kern="0" dirty="0">
                <a:solidFill>
                  <a:srgbClr val="4472C4"/>
                </a:solidFill>
                <a:latin typeface="Microsoft YaHei" panose="020B0503020204020204" pitchFamily="34" charset="-122"/>
                <a:ea typeface="Microsoft YaHei" panose="020B0503020204020204" pitchFamily="34" charset="-122"/>
              </a:rPr>
              <a:t>意图识别</a:t>
            </a:r>
          </a:p>
        </p:txBody>
      </p:sp>
      <p:sp>
        <p:nvSpPr>
          <p:cNvPr id="45" name="矩形 44">
            <a:extLst>
              <a:ext uri="{FF2B5EF4-FFF2-40B4-BE49-F238E27FC236}">
                <a16:creationId xmlns:a16="http://schemas.microsoft.com/office/drawing/2014/main" id="{3BE4E971-A415-1D95-75DF-5236C113B089}"/>
              </a:ext>
            </a:extLst>
          </p:cNvPr>
          <p:cNvSpPr/>
          <p:nvPr/>
        </p:nvSpPr>
        <p:spPr>
          <a:xfrm>
            <a:off x="4572000" y="3642514"/>
            <a:ext cx="2276166" cy="491837"/>
          </a:xfrm>
          <a:prstGeom prst="rect">
            <a:avLst/>
          </a:prstGeom>
          <a:solidFill>
            <a:srgbClr val="29484D">
              <a:lumMod val="20000"/>
              <a:lumOff val="8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400" b="0" i="0" u="none" strike="noStrike" kern="0" cap="none" spc="0" normalizeH="0" baseline="0" noProof="0" dirty="0">
                <a:ln>
                  <a:noFill/>
                </a:ln>
                <a:solidFill>
                  <a:srgbClr val="4472C4"/>
                </a:solidFill>
                <a:effectLst/>
                <a:uLnTx/>
                <a:uFillTx/>
                <a:latin typeface="Microsoft YaHei" panose="020B0503020204020204" pitchFamily="34" charset="-122"/>
                <a:ea typeface="Microsoft YaHei" panose="020B0503020204020204" pitchFamily="34" charset="-122"/>
              </a:rPr>
              <a:t>调用工具</a:t>
            </a:r>
          </a:p>
        </p:txBody>
      </p:sp>
      <p:cxnSp>
        <p:nvCxnSpPr>
          <p:cNvPr id="46" name="直线箭头连接符 34">
            <a:extLst>
              <a:ext uri="{FF2B5EF4-FFF2-40B4-BE49-F238E27FC236}">
                <a16:creationId xmlns:a16="http://schemas.microsoft.com/office/drawing/2014/main" id="{64F77778-0822-CF92-1613-07AF341BCC84}"/>
              </a:ext>
            </a:extLst>
          </p:cNvPr>
          <p:cNvCxnSpPr>
            <a:cxnSpLocks/>
            <a:stCxn id="43" idx="2"/>
            <a:endCxn id="44" idx="0"/>
          </p:cNvCxnSpPr>
          <p:nvPr/>
        </p:nvCxnSpPr>
        <p:spPr>
          <a:xfrm>
            <a:off x="5710083" y="1787574"/>
            <a:ext cx="0" cy="290422"/>
          </a:xfrm>
          <a:prstGeom prst="straightConnector1">
            <a:avLst/>
          </a:prstGeom>
          <a:noFill/>
          <a:ln w="12700" cap="flat" cmpd="sng" algn="ctr">
            <a:solidFill>
              <a:srgbClr val="29484D"/>
            </a:solidFill>
            <a:prstDash val="solid"/>
            <a:tailEnd type="triangle"/>
          </a:ln>
          <a:effectLst/>
        </p:spPr>
      </p:cxnSp>
      <p:sp>
        <p:nvSpPr>
          <p:cNvPr id="47" name="矩形 46">
            <a:extLst>
              <a:ext uri="{FF2B5EF4-FFF2-40B4-BE49-F238E27FC236}">
                <a16:creationId xmlns:a16="http://schemas.microsoft.com/office/drawing/2014/main" id="{72350119-747C-4313-5CD4-8B4AB2DB2216}"/>
              </a:ext>
            </a:extLst>
          </p:cNvPr>
          <p:cNvSpPr/>
          <p:nvPr/>
        </p:nvSpPr>
        <p:spPr>
          <a:xfrm>
            <a:off x="4572000" y="4424773"/>
            <a:ext cx="2276166" cy="491837"/>
          </a:xfrm>
          <a:prstGeom prst="rect">
            <a:avLst/>
          </a:prstGeom>
          <a:solidFill>
            <a:srgbClr val="29484D">
              <a:lumMod val="20000"/>
              <a:lumOff val="80000"/>
            </a:srgbClr>
          </a:solidFill>
          <a:ln w="12700" cap="flat" cmpd="sng" algn="ctr">
            <a:noFill/>
            <a:prstDash val="solid"/>
            <a:miter lim="800000"/>
          </a:ln>
          <a:effectLst/>
        </p:spPr>
        <p:txBody>
          <a:bodyPr rtlCol="0" anchor="ctr"/>
          <a:lstStyle/>
          <a:p>
            <a:pPr algn="ctr">
              <a:defRPr/>
            </a:pPr>
            <a:r>
              <a:rPr kumimoji="1" lang="zh-CN" altLang="en-US" sz="1400" kern="0" dirty="0">
                <a:solidFill>
                  <a:srgbClr val="4472C4"/>
                </a:solidFill>
                <a:latin typeface="Microsoft YaHei" panose="020B0503020204020204" pitchFamily="34" charset="-122"/>
                <a:ea typeface="Microsoft YaHei" panose="020B0503020204020204" pitchFamily="34" charset="-122"/>
              </a:rPr>
              <a:t>结果校验</a:t>
            </a:r>
          </a:p>
        </p:txBody>
      </p:sp>
      <p:cxnSp>
        <p:nvCxnSpPr>
          <p:cNvPr id="48" name="肘形连接符 107">
            <a:extLst>
              <a:ext uri="{FF2B5EF4-FFF2-40B4-BE49-F238E27FC236}">
                <a16:creationId xmlns:a16="http://schemas.microsoft.com/office/drawing/2014/main" id="{809B1A9C-442D-FF40-C423-A0B81EB228D7}"/>
              </a:ext>
            </a:extLst>
          </p:cNvPr>
          <p:cNvCxnSpPr>
            <a:cxnSpLocks/>
            <a:stCxn id="60" idx="2"/>
            <a:endCxn id="45" idx="0"/>
          </p:cNvCxnSpPr>
          <p:nvPr/>
        </p:nvCxnSpPr>
        <p:spPr>
          <a:xfrm flipH="1">
            <a:off x="5710083" y="3352092"/>
            <a:ext cx="1" cy="290422"/>
          </a:xfrm>
          <a:prstGeom prst="straightConnector1">
            <a:avLst/>
          </a:prstGeom>
          <a:noFill/>
          <a:ln w="12700" cap="flat" cmpd="sng" algn="ctr">
            <a:solidFill>
              <a:srgbClr val="29484D"/>
            </a:solidFill>
            <a:prstDash val="solid"/>
            <a:tailEnd type="triangle"/>
          </a:ln>
          <a:effectLst/>
        </p:spPr>
      </p:cxnSp>
      <p:cxnSp>
        <p:nvCxnSpPr>
          <p:cNvPr id="49" name="直线箭头连接符 34">
            <a:extLst>
              <a:ext uri="{FF2B5EF4-FFF2-40B4-BE49-F238E27FC236}">
                <a16:creationId xmlns:a16="http://schemas.microsoft.com/office/drawing/2014/main" id="{E34B371B-ED02-5C45-5D05-BF15F6F13F4A}"/>
              </a:ext>
            </a:extLst>
          </p:cNvPr>
          <p:cNvCxnSpPr>
            <a:cxnSpLocks/>
            <a:stCxn id="44" idx="1"/>
            <a:endCxn id="43" idx="1"/>
          </p:cNvCxnSpPr>
          <p:nvPr/>
        </p:nvCxnSpPr>
        <p:spPr>
          <a:xfrm rot="10800000">
            <a:off x="4572000" y="1541657"/>
            <a:ext cx="12700" cy="782259"/>
          </a:xfrm>
          <a:prstGeom prst="bentConnector3">
            <a:avLst>
              <a:gd name="adj1" fmla="val 1800000"/>
            </a:avLst>
          </a:prstGeom>
          <a:noFill/>
          <a:ln w="9525" cap="flat" cmpd="sng" algn="ctr">
            <a:solidFill>
              <a:srgbClr val="EE8F62"/>
            </a:solidFill>
            <a:prstDash val="solid"/>
            <a:tailEnd type="triangle"/>
          </a:ln>
          <a:effectLst/>
        </p:spPr>
      </p:cxnSp>
      <p:sp>
        <p:nvSpPr>
          <p:cNvPr id="50" name="文本框 49">
            <a:extLst>
              <a:ext uri="{FF2B5EF4-FFF2-40B4-BE49-F238E27FC236}">
                <a16:creationId xmlns:a16="http://schemas.microsoft.com/office/drawing/2014/main" id="{DA7B5CA0-35C6-FED4-37B5-74FAD597F900}"/>
              </a:ext>
            </a:extLst>
          </p:cNvPr>
          <p:cNvSpPr txBox="1"/>
          <p:nvPr/>
        </p:nvSpPr>
        <p:spPr>
          <a:xfrm>
            <a:off x="5252883" y="729512"/>
            <a:ext cx="914400" cy="275803"/>
          </a:xfrm>
          <a:prstGeom prst="rect">
            <a:avLst/>
          </a:prstGeom>
          <a:ln w="6350">
            <a:noFill/>
            <a:miter lim="800000"/>
          </a:ln>
        </p:spPr>
        <p:txBody>
          <a:bodyPr vert="horz" wrap="none" lIns="0" tIns="0" rIns="0" bIns="0" rtlCol="0">
            <a:noAutofit/>
          </a:bodyPr>
          <a:lstStyle/>
          <a:p>
            <a:pPr algn="ctr">
              <a:spcBef>
                <a:spcPts val="300"/>
              </a:spcBef>
              <a:spcAft>
                <a:spcPts val="300"/>
              </a:spcAft>
            </a:pPr>
            <a:r>
              <a:rPr lang="zh-CN" altLang="en-US" sz="1600" dirty="0">
                <a:solidFill>
                  <a:srgbClr val="000000"/>
                </a:solidFill>
                <a:latin typeface="华文楷体"/>
                <a:ea typeface="华文楷体"/>
              </a:rPr>
              <a:t>用户</a:t>
            </a:r>
          </a:p>
        </p:txBody>
      </p:sp>
      <p:sp>
        <p:nvSpPr>
          <p:cNvPr id="51" name="文本框 50">
            <a:extLst>
              <a:ext uri="{FF2B5EF4-FFF2-40B4-BE49-F238E27FC236}">
                <a16:creationId xmlns:a16="http://schemas.microsoft.com/office/drawing/2014/main" id="{D8B9E9B5-2906-C63D-FEA8-68DCF198596E}"/>
              </a:ext>
            </a:extLst>
          </p:cNvPr>
          <p:cNvSpPr txBox="1"/>
          <p:nvPr/>
        </p:nvSpPr>
        <p:spPr>
          <a:xfrm>
            <a:off x="7455757" y="729512"/>
            <a:ext cx="914400" cy="275803"/>
          </a:xfrm>
          <a:prstGeom prst="rect">
            <a:avLst/>
          </a:prstGeom>
          <a:ln w="6350">
            <a:solidFill>
              <a:srgbClr val="29484D"/>
            </a:solidFill>
            <a:miter lim="800000"/>
          </a:ln>
        </p:spPr>
        <p:txBody>
          <a:bodyPr vert="horz" wrap="none" lIns="0" tIns="0" rIns="0" bIns="0" rtlCol="0" anchor="ctr">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zh-CN" altLang="en-US" sz="1200" b="0" i="0" u="none" strike="noStrike" kern="0" cap="none" spc="0" normalizeH="0" baseline="0" noProof="0" dirty="0">
                <a:ln>
                  <a:noFill/>
                </a:ln>
                <a:solidFill>
                  <a:srgbClr val="000000"/>
                </a:solidFill>
                <a:effectLst/>
                <a:uLnTx/>
                <a:uFillTx/>
                <a:latin typeface="华文楷体"/>
                <a:ea typeface="华文楷体"/>
              </a:rPr>
              <a:t>用户登录</a:t>
            </a:r>
          </a:p>
        </p:txBody>
      </p:sp>
      <p:cxnSp>
        <p:nvCxnSpPr>
          <p:cNvPr id="52" name="直接箭头连接符 51">
            <a:extLst>
              <a:ext uri="{FF2B5EF4-FFF2-40B4-BE49-F238E27FC236}">
                <a16:creationId xmlns:a16="http://schemas.microsoft.com/office/drawing/2014/main" id="{209FEB95-9C99-BE48-EAA1-79D12C998D67}"/>
              </a:ext>
            </a:extLst>
          </p:cNvPr>
          <p:cNvCxnSpPr>
            <a:cxnSpLocks/>
            <a:stCxn id="50" idx="3"/>
            <a:endCxn id="51" idx="1"/>
          </p:cNvCxnSpPr>
          <p:nvPr/>
        </p:nvCxnSpPr>
        <p:spPr>
          <a:xfrm>
            <a:off x="6167283" y="867414"/>
            <a:ext cx="1288474" cy="0"/>
          </a:xfrm>
          <a:prstGeom prst="straightConnector1">
            <a:avLst/>
          </a:prstGeom>
          <a:noFill/>
          <a:ln w="10795" cap="flat" cmpd="sng" algn="ctr">
            <a:solidFill>
              <a:srgbClr val="35C3F7"/>
            </a:solidFill>
            <a:prstDash val="solid"/>
            <a:tailEnd type="triangle"/>
          </a:ln>
          <a:effectLst/>
        </p:spPr>
      </p:cxnSp>
      <p:sp>
        <p:nvSpPr>
          <p:cNvPr id="53" name="文本框 52">
            <a:extLst>
              <a:ext uri="{FF2B5EF4-FFF2-40B4-BE49-F238E27FC236}">
                <a16:creationId xmlns:a16="http://schemas.microsoft.com/office/drawing/2014/main" id="{44282368-E163-3099-74E0-FDD2FD88231A}"/>
              </a:ext>
            </a:extLst>
          </p:cNvPr>
          <p:cNvSpPr txBox="1"/>
          <p:nvPr/>
        </p:nvSpPr>
        <p:spPr>
          <a:xfrm>
            <a:off x="7455757" y="1495588"/>
            <a:ext cx="914400" cy="275803"/>
          </a:xfrm>
          <a:prstGeom prst="rect">
            <a:avLst/>
          </a:prstGeom>
          <a:ln w="6350">
            <a:solidFill>
              <a:srgbClr val="29484D"/>
            </a:solidFill>
            <a:miter lim="800000"/>
          </a:ln>
        </p:spPr>
        <p:txBody>
          <a:bodyPr vert="horz" wrap="none" lIns="0" tIns="0" rIns="0" bIns="0" rtlCol="0" anchor="ctr">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zh-CN" altLang="en-US" sz="1200" b="0" i="0" u="none" strike="noStrike" kern="0" cap="none" spc="0" normalizeH="0" baseline="0" noProof="0" dirty="0">
                <a:ln>
                  <a:noFill/>
                </a:ln>
                <a:solidFill>
                  <a:srgbClr val="000000"/>
                </a:solidFill>
                <a:effectLst/>
                <a:uLnTx/>
                <a:uFillTx/>
                <a:latin typeface="华文楷体"/>
                <a:ea typeface="华文楷体"/>
              </a:rPr>
              <a:t>权限识别</a:t>
            </a:r>
          </a:p>
        </p:txBody>
      </p:sp>
      <p:cxnSp>
        <p:nvCxnSpPr>
          <p:cNvPr id="54" name="直线箭头连接符 34">
            <a:extLst>
              <a:ext uri="{FF2B5EF4-FFF2-40B4-BE49-F238E27FC236}">
                <a16:creationId xmlns:a16="http://schemas.microsoft.com/office/drawing/2014/main" id="{51697349-1719-CD96-31FB-D9BB7CA7C3C0}"/>
              </a:ext>
            </a:extLst>
          </p:cNvPr>
          <p:cNvCxnSpPr>
            <a:cxnSpLocks/>
            <a:stCxn id="51" idx="2"/>
            <a:endCxn id="53" idx="0"/>
          </p:cNvCxnSpPr>
          <p:nvPr/>
        </p:nvCxnSpPr>
        <p:spPr>
          <a:xfrm>
            <a:off x="7912957" y="1005315"/>
            <a:ext cx="0" cy="490273"/>
          </a:xfrm>
          <a:prstGeom prst="straightConnector1">
            <a:avLst/>
          </a:prstGeom>
          <a:noFill/>
          <a:ln w="10795" cap="flat" cmpd="sng" algn="ctr">
            <a:solidFill>
              <a:srgbClr val="35C3F7"/>
            </a:solidFill>
            <a:prstDash val="solid"/>
            <a:tailEnd type="triangle"/>
          </a:ln>
          <a:effectLst/>
        </p:spPr>
      </p:cxnSp>
      <p:cxnSp>
        <p:nvCxnSpPr>
          <p:cNvPr id="55" name="直线箭头连接符 34">
            <a:extLst>
              <a:ext uri="{FF2B5EF4-FFF2-40B4-BE49-F238E27FC236}">
                <a16:creationId xmlns:a16="http://schemas.microsoft.com/office/drawing/2014/main" id="{DEDCF349-893B-4FAB-9A2E-E14B2F6675E7}"/>
              </a:ext>
            </a:extLst>
          </p:cNvPr>
          <p:cNvCxnSpPr>
            <a:cxnSpLocks/>
          </p:cNvCxnSpPr>
          <p:nvPr/>
        </p:nvCxnSpPr>
        <p:spPr>
          <a:xfrm flipH="1">
            <a:off x="6848167" y="1616435"/>
            <a:ext cx="607590" cy="0"/>
          </a:xfrm>
          <a:prstGeom prst="straightConnector1">
            <a:avLst/>
          </a:prstGeom>
          <a:noFill/>
          <a:ln w="10795" cap="flat" cmpd="sng" algn="ctr">
            <a:solidFill>
              <a:srgbClr val="35C3F7"/>
            </a:solidFill>
            <a:prstDash val="solid"/>
            <a:tailEnd type="triangle"/>
          </a:ln>
          <a:effectLst/>
        </p:spPr>
      </p:cxnSp>
      <p:cxnSp>
        <p:nvCxnSpPr>
          <p:cNvPr id="56" name="直线箭头连接符 34">
            <a:extLst>
              <a:ext uri="{FF2B5EF4-FFF2-40B4-BE49-F238E27FC236}">
                <a16:creationId xmlns:a16="http://schemas.microsoft.com/office/drawing/2014/main" id="{68C8DCDD-F7CF-F877-F91D-2705832239DD}"/>
              </a:ext>
            </a:extLst>
          </p:cNvPr>
          <p:cNvCxnSpPr>
            <a:cxnSpLocks/>
            <a:stCxn id="50" idx="2"/>
            <a:endCxn id="43" idx="0"/>
          </p:cNvCxnSpPr>
          <p:nvPr/>
        </p:nvCxnSpPr>
        <p:spPr>
          <a:xfrm>
            <a:off x="5710083" y="1005315"/>
            <a:ext cx="0" cy="290422"/>
          </a:xfrm>
          <a:prstGeom prst="straightConnector1">
            <a:avLst/>
          </a:prstGeom>
          <a:noFill/>
          <a:ln w="12700" cap="flat" cmpd="sng" algn="ctr">
            <a:solidFill>
              <a:srgbClr val="29484D"/>
            </a:solidFill>
            <a:prstDash val="solid"/>
            <a:tailEnd type="triangle"/>
          </a:ln>
          <a:effectLst/>
        </p:spPr>
      </p:cxnSp>
      <p:sp>
        <p:nvSpPr>
          <p:cNvPr id="57" name="圆柱体 56">
            <a:extLst>
              <a:ext uri="{FF2B5EF4-FFF2-40B4-BE49-F238E27FC236}">
                <a16:creationId xmlns:a16="http://schemas.microsoft.com/office/drawing/2014/main" id="{4FD4C9C1-5D39-33B3-B50F-C727D3FA95CB}"/>
              </a:ext>
            </a:extLst>
          </p:cNvPr>
          <p:cNvSpPr/>
          <p:nvPr/>
        </p:nvSpPr>
        <p:spPr>
          <a:xfrm>
            <a:off x="7432641" y="1951518"/>
            <a:ext cx="914400" cy="756250"/>
          </a:xfrm>
          <a:prstGeom prst="can">
            <a:avLst/>
          </a:prstGeom>
          <a:noFill/>
          <a:ln w="6350" cap="sq" cmpd="sng" algn="ctr">
            <a:solidFill>
              <a:srgbClr val="29484D"/>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zh-CN" altLang="en-US" sz="1600" b="0" i="0" u="none" strike="noStrike" kern="0" cap="none" spc="0" normalizeH="0" baseline="0" noProof="0" dirty="0" err="1">
              <a:ln>
                <a:noFill/>
              </a:ln>
              <a:solidFill>
                <a:srgbClr val="FFFFFF"/>
              </a:solidFill>
              <a:effectLst/>
              <a:uLnTx/>
              <a:uFillTx/>
              <a:latin typeface="华文楷体"/>
              <a:ea typeface="华文楷体"/>
              <a:cs typeface="+mn-cs"/>
            </a:endParaRPr>
          </a:p>
        </p:txBody>
      </p:sp>
      <p:cxnSp>
        <p:nvCxnSpPr>
          <p:cNvPr id="58" name="直线箭头连接符 34">
            <a:extLst>
              <a:ext uri="{FF2B5EF4-FFF2-40B4-BE49-F238E27FC236}">
                <a16:creationId xmlns:a16="http://schemas.microsoft.com/office/drawing/2014/main" id="{A476CC8F-99FF-7950-6986-4DE03AEC6BA1}"/>
              </a:ext>
            </a:extLst>
          </p:cNvPr>
          <p:cNvCxnSpPr>
            <a:cxnSpLocks/>
            <a:stCxn id="57" idx="2"/>
            <a:endCxn id="44" idx="3"/>
          </p:cNvCxnSpPr>
          <p:nvPr/>
        </p:nvCxnSpPr>
        <p:spPr>
          <a:xfrm flipH="1" flipV="1">
            <a:off x="6848166" y="2323915"/>
            <a:ext cx="584475" cy="5728"/>
          </a:xfrm>
          <a:prstGeom prst="straightConnector1">
            <a:avLst/>
          </a:prstGeom>
          <a:noFill/>
          <a:ln w="10795" cap="flat" cmpd="sng" algn="ctr">
            <a:solidFill>
              <a:srgbClr val="35C3F7"/>
            </a:solidFill>
            <a:prstDash val="solid"/>
            <a:tailEnd type="triangle"/>
          </a:ln>
          <a:effectLst/>
        </p:spPr>
      </p:cxnSp>
      <p:sp>
        <p:nvSpPr>
          <p:cNvPr id="59" name="文本框 58">
            <a:extLst>
              <a:ext uri="{FF2B5EF4-FFF2-40B4-BE49-F238E27FC236}">
                <a16:creationId xmlns:a16="http://schemas.microsoft.com/office/drawing/2014/main" id="{D635B2C3-05EE-EE58-74DF-62066E4CEC8E}"/>
              </a:ext>
            </a:extLst>
          </p:cNvPr>
          <p:cNvSpPr txBox="1"/>
          <p:nvPr/>
        </p:nvSpPr>
        <p:spPr>
          <a:xfrm>
            <a:off x="7396982" y="2224716"/>
            <a:ext cx="914400" cy="301718"/>
          </a:xfrm>
          <a:prstGeom prst="rect">
            <a:avLst/>
          </a:prstGeom>
          <a:ln w="6350">
            <a:noFill/>
            <a:miter lim="800000"/>
          </a:ln>
        </p:spPr>
        <p:txBody>
          <a:bodyPr vert="horz" wrap="none" lIns="0" tIns="0" rIns="0" bIns="0" rtlCol="0" anchor="ctr">
            <a:noAutofit/>
          </a:bodyPr>
          <a:lstStyle/>
          <a:p>
            <a:pPr algn="ctr"/>
            <a:r>
              <a:rPr lang="en-US" altLang="zh-CN" sz="1200" dirty="0">
                <a:solidFill>
                  <a:srgbClr val="000000"/>
                </a:solidFill>
                <a:latin typeface="华文楷体"/>
                <a:ea typeface="华文楷体"/>
              </a:rPr>
              <a:t>Prompt</a:t>
            </a:r>
          </a:p>
          <a:p>
            <a:pPr algn="ctr"/>
            <a:r>
              <a:rPr lang="en-US" altLang="zh-CN" sz="1200" dirty="0">
                <a:solidFill>
                  <a:srgbClr val="000000"/>
                </a:solidFill>
                <a:latin typeface="华文楷体"/>
                <a:ea typeface="华文楷体"/>
              </a:rPr>
              <a:t>SKILL</a:t>
            </a:r>
            <a:endParaRPr lang="zh-CN" altLang="en-US" sz="1200" dirty="0">
              <a:solidFill>
                <a:srgbClr val="000000"/>
              </a:solidFill>
              <a:latin typeface="华文楷体"/>
              <a:ea typeface="华文楷体"/>
            </a:endParaRPr>
          </a:p>
        </p:txBody>
      </p:sp>
      <p:sp>
        <p:nvSpPr>
          <p:cNvPr id="60" name="矩形 59">
            <a:extLst>
              <a:ext uri="{FF2B5EF4-FFF2-40B4-BE49-F238E27FC236}">
                <a16:creationId xmlns:a16="http://schemas.microsoft.com/office/drawing/2014/main" id="{D31482C2-07D7-2C52-56B9-D917488B6360}"/>
              </a:ext>
            </a:extLst>
          </p:cNvPr>
          <p:cNvSpPr/>
          <p:nvPr/>
        </p:nvSpPr>
        <p:spPr>
          <a:xfrm>
            <a:off x="4572001" y="2860255"/>
            <a:ext cx="2276165" cy="491837"/>
          </a:xfrm>
          <a:prstGeom prst="rect">
            <a:avLst/>
          </a:prstGeom>
          <a:solidFill>
            <a:schemeClr val="accent1"/>
          </a:solidFill>
          <a:ln w="12700" cap="flat" cmpd="sng" algn="ctr">
            <a:noFill/>
            <a:prstDash val="solid"/>
            <a:miter lim="800000"/>
          </a:ln>
          <a:effectLst/>
        </p:spPr>
        <p:txBody>
          <a:bodyPr rtlCol="0" anchor="ctr"/>
          <a:lstStyle/>
          <a:p>
            <a:pPr algn="ctr"/>
            <a:r>
              <a:rPr kumimoji="1" lang="zh-CN" altLang="en-US" sz="1400" kern="0" dirty="0">
                <a:solidFill>
                  <a:schemeClr val="bg1"/>
                </a:solidFill>
                <a:latin typeface="Microsoft YaHei" panose="020B0503020204020204" pitchFamily="34" charset="-122"/>
                <a:ea typeface="Microsoft YaHei" panose="020B0503020204020204" pitchFamily="34" charset="-122"/>
              </a:rPr>
              <a:t>精确识别</a:t>
            </a:r>
            <a:r>
              <a:rPr kumimoji="1" lang="en-US" altLang="zh-CN" sz="1400" kern="0" dirty="0">
                <a:solidFill>
                  <a:schemeClr val="bg1"/>
                </a:solidFill>
                <a:latin typeface="Microsoft YaHei" panose="020B0503020204020204" pitchFamily="34" charset="-122"/>
                <a:ea typeface="Microsoft YaHei" panose="020B0503020204020204" pitchFamily="34" charset="-122"/>
              </a:rPr>
              <a:t>Tool</a:t>
            </a:r>
            <a:r>
              <a:rPr kumimoji="1" lang="zh-CN" altLang="en-US" sz="1400" kern="0" dirty="0">
                <a:solidFill>
                  <a:schemeClr val="bg1"/>
                </a:solidFill>
                <a:latin typeface="Microsoft YaHei" panose="020B0503020204020204" pitchFamily="34" charset="-122"/>
                <a:ea typeface="Microsoft YaHei" panose="020B0503020204020204" pitchFamily="34" charset="-122"/>
              </a:rPr>
              <a:t>及参数</a:t>
            </a:r>
          </a:p>
        </p:txBody>
      </p:sp>
      <p:sp>
        <p:nvSpPr>
          <p:cNvPr id="61" name="矩形: 圆角 60">
            <a:extLst>
              <a:ext uri="{FF2B5EF4-FFF2-40B4-BE49-F238E27FC236}">
                <a16:creationId xmlns:a16="http://schemas.microsoft.com/office/drawing/2014/main" id="{EDF3AE30-BAC9-DC60-E08F-0940E84F3D54}"/>
              </a:ext>
            </a:extLst>
          </p:cNvPr>
          <p:cNvSpPr/>
          <p:nvPr/>
        </p:nvSpPr>
        <p:spPr>
          <a:xfrm>
            <a:off x="7453946" y="3687937"/>
            <a:ext cx="893096" cy="180000"/>
          </a:xfrm>
          <a:prstGeom prst="roundRect">
            <a:avLst/>
          </a:prstGeom>
          <a:noFill/>
          <a:ln w="6350" cap="sq" cmpd="sng" algn="ctr">
            <a:solidFill>
              <a:srgbClr val="29484D"/>
            </a:solidFill>
            <a:prstDash val="solid"/>
            <a:miter lim="800000"/>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zh-CN" altLang="en-US" sz="1200" b="0" i="0" u="none" strike="noStrike" kern="0" cap="none" spc="0" normalizeH="0" baseline="0" noProof="0" dirty="0">
                <a:ln>
                  <a:noFill/>
                </a:ln>
                <a:solidFill>
                  <a:srgbClr val="000000"/>
                </a:solidFill>
                <a:effectLst/>
                <a:uLnTx/>
                <a:uFillTx/>
                <a:latin typeface="华文楷体"/>
                <a:ea typeface="华文楷体"/>
                <a:cs typeface="+mn-cs"/>
              </a:rPr>
              <a:t>数据检查</a:t>
            </a:r>
          </a:p>
        </p:txBody>
      </p:sp>
      <p:sp>
        <p:nvSpPr>
          <p:cNvPr id="62" name="矩形: 圆角 61">
            <a:extLst>
              <a:ext uri="{FF2B5EF4-FFF2-40B4-BE49-F238E27FC236}">
                <a16:creationId xmlns:a16="http://schemas.microsoft.com/office/drawing/2014/main" id="{E647B301-B8A7-85B6-00CE-D6DE488E50E3}"/>
              </a:ext>
            </a:extLst>
          </p:cNvPr>
          <p:cNvSpPr/>
          <p:nvPr/>
        </p:nvSpPr>
        <p:spPr>
          <a:xfrm>
            <a:off x="7453946" y="3914482"/>
            <a:ext cx="893096" cy="180000"/>
          </a:xfrm>
          <a:prstGeom prst="roundRect">
            <a:avLst/>
          </a:prstGeom>
          <a:noFill/>
          <a:ln w="6350" cap="sq" cmpd="sng" algn="ctr">
            <a:solidFill>
              <a:srgbClr val="29484D"/>
            </a:solidFill>
            <a:prstDash val="solid"/>
            <a:miter lim="800000"/>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zh-CN" altLang="en-US" sz="1200" b="0" i="0" u="none" strike="noStrike" kern="0" cap="none" spc="0" normalizeH="0" baseline="0" noProof="0" dirty="0">
                <a:ln>
                  <a:noFill/>
                </a:ln>
                <a:solidFill>
                  <a:srgbClr val="000000"/>
                </a:solidFill>
                <a:effectLst/>
                <a:uLnTx/>
                <a:uFillTx/>
                <a:latin typeface="华文楷体"/>
                <a:ea typeface="华文楷体"/>
                <a:cs typeface="+mn-cs"/>
              </a:rPr>
              <a:t>调用插件</a:t>
            </a:r>
          </a:p>
        </p:txBody>
      </p:sp>
      <p:sp>
        <p:nvSpPr>
          <p:cNvPr id="63" name="矩形: 圆角 62">
            <a:extLst>
              <a:ext uri="{FF2B5EF4-FFF2-40B4-BE49-F238E27FC236}">
                <a16:creationId xmlns:a16="http://schemas.microsoft.com/office/drawing/2014/main" id="{2782CE6F-0ADB-BB7E-E731-6221468D0D60}"/>
              </a:ext>
            </a:extLst>
          </p:cNvPr>
          <p:cNvSpPr/>
          <p:nvPr/>
        </p:nvSpPr>
        <p:spPr>
          <a:xfrm>
            <a:off x="7453946" y="4141028"/>
            <a:ext cx="893096" cy="180000"/>
          </a:xfrm>
          <a:prstGeom prst="roundRect">
            <a:avLst/>
          </a:prstGeom>
          <a:noFill/>
          <a:ln w="6350" cap="sq" cmpd="sng" algn="ctr">
            <a:solidFill>
              <a:srgbClr val="29484D"/>
            </a:solidFill>
            <a:prstDash val="solid"/>
            <a:miter lim="800000"/>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zh-CN" altLang="en-US" sz="1200" b="0" i="0" u="none" strike="noStrike" kern="0" cap="none" spc="0" normalizeH="0" baseline="0" noProof="0" dirty="0">
                <a:ln>
                  <a:noFill/>
                </a:ln>
                <a:solidFill>
                  <a:srgbClr val="000000"/>
                </a:solidFill>
                <a:effectLst/>
                <a:uLnTx/>
                <a:uFillTx/>
                <a:latin typeface="华文楷体"/>
                <a:ea typeface="华文楷体"/>
                <a:cs typeface="+mn-cs"/>
              </a:rPr>
              <a:t>调用接口</a:t>
            </a:r>
          </a:p>
        </p:txBody>
      </p:sp>
      <p:cxnSp>
        <p:nvCxnSpPr>
          <p:cNvPr id="64" name="连接符: 肘形 63">
            <a:extLst>
              <a:ext uri="{FF2B5EF4-FFF2-40B4-BE49-F238E27FC236}">
                <a16:creationId xmlns:a16="http://schemas.microsoft.com/office/drawing/2014/main" id="{E988EDF8-6D76-BF43-329A-5758F201F718}"/>
              </a:ext>
            </a:extLst>
          </p:cNvPr>
          <p:cNvCxnSpPr>
            <a:cxnSpLocks/>
            <a:stCxn id="45" idx="3"/>
            <a:endCxn id="61" idx="1"/>
          </p:cNvCxnSpPr>
          <p:nvPr/>
        </p:nvCxnSpPr>
        <p:spPr>
          <a:xfrm flipV="1">
            <a:off x="6848166" y="3777937"/>
            <a:ext cx="605780" cy="110496"/>
          </a:xfrm>
          <a:prstGeom prst="bentConnector3">
            <a:avLst/>
          </a:prstGeom>
          <a:noFill/>
          <a:ln w="6350" cap="flat" cmpd="sng" algn="ctr">
            <a:solidFill>
              <a:srgbClr val="35C3F7"/>
            </a:solidFill>
            <a:prstDash val="solid"/>
            <a:miter lim="800000"/>
            <a:tailEnd type="triangle"/>
          </a:ln>
          <a:effectLst/>
        </p:spPr>
      </p:cxnSp>
      <p:cxnSp>
        <p:nvCxnSpPr>
          <p:cNvPr id="65" name="连接符: 肘形 64">
            <a:extLst>
              <a:ext uri="{FF2B5EF4-FFF2-40B4-BE49-F238E27FC236}">
                <a16:creationId xmlns:a16="http://schemas.microsoft.com/office/drawing/2014/main" id="{3CB0A40B-5DC9-E3F1-489E-CF12465CEFA0}"/>
              </a:ext>
            </a:extLst>
          </p:cNvPr>
          <p:cNvCxnSpPr>
            <a:cxnSpLocks/>
            <a:stCxn id="45" idx="3"/>
            <a:endCxn id="63" idx="1"/>
          </p:cNvCxnSpPr>
          <p:nvPr/>
        </p:nvCxnSpPr>
        <p:spPr>
          <a:xfrm>
            <a:off x="6848166" y="3888433"/>
            <a:ext cx="605780" cy="342595"/>
          </a:xfrm>
          <a:prstGeom prst="bentConnector3">
            <a:avLst/>
          </a:prstGeom>
          <a:noFill/>
          <a:ln w="6350" cap="flat" cmpd="sng" algn="ctr">
            <a:solidFill>
              <a:srgbClr val="35C3F7"/>
            </a:solidFill>
            <a:prstDash val="solid"/>
            <a:miter lim="800000"/>
            <a:tailEnd type="triangle"/>
          </a:ln>
          <a:effectLst/>
        </p:spPr>
      </p:cxnSp>
      <p:cxnSp>
        <p:nvCxnSpPr>
          <p:cNvPr id="66" name="直线箭头连接符 34">
            <a:extLst>
              <a:ext uri="{FF2B5EF4-FFF2-40B4-BE49-F238E27FC236}">
                <a16:creationId xmlns:a16="http://schemas.microsoft.com/office/drawing/2014/main" id="{E911E5CB-2E47-325C-D44B-6C7C96769376}"/>
              </a:ext>
            </a:extLst>
          </p:cNvPr>
          <p:cNvCxnSpPr>
            <a:cxnSpLocks/>
            <a:stCxn id="45" idx="2"/>
            <a:endCxn id="47" idx="0"/>
          </p:cNvCxnSpPr>
          <p:nvPr/>
        </p:nvCxnSpPr>
        <p:spPr>
          <a:xfrm>
            <a:off x="5710083" y="4134351"/>
            <a:ext cx="0" cy="290422"/>
          </a:xfrm>
          <a:prstGeom prst="straightConnector1">
            <a:avLst/>
          </a:prstGeom>
          <a:noFill/>
          <a:ln w="10795" cap="flat" cmpd="sng" algn="ctr">
            <a:solidFill>
              <a:srgbClr val="35C3F7"/>
            </a:solidFill>
            <a:prstDash val="solid"/>
            <a:tailEnd type="triangle"/>
          </a:ln>
          <a:effectLst/>
        </p:spPr>
      </p:cxnSp>
      <p:sp>
        <p:nvSpPr>
          <p:cNvPr id="67" name="矩形: 圆角 66">
            <a:extLst>
              <a:ext uri="{FF2B5EF4-FFF2-40B4-BE49-F238E27FC236}">
                <a16:creationId xmlns:a16="http://schemas.microsoft.com/office/drawing/2014/main" id="{56F208F8-4E4C-E2E4-C232-ACB11FA14987}"/>
              </a:ext>
            </a:extLst>
          </p:cNvPr>
          <p:cNvSpPr/>
          <p:nvPr/>
        </p:nvSpPr>
        <p:spPr>
          <a:xfrm>
            <a:off x="7453946" y="3461392"/>
            <a:ext cx="893096" cy="180000"/>
          </a:xfrm>
          <a:prstGeom prst="roundRect">
            <a:avLst/>
          </a:prstGeom>
          <a:noFill/>
          <a:ln w="6350" cap="sq" cmpd="sng" algn="ctr">
            <a:solidFill>
              <a:srgbClr val="29484D"/>
            </a:solidFill>
            <a:prstDash val="solid"/>
            <a:miter lim="800000"/>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lvl="0" algn="ctr">
              <a:defRPr/>
            </a:pPr>
            <a:r>
              <a:rPr lang="zh-CN" altLang="en-US" sz="1100" kern="0" dirty="0">
                <a:solidFill>
                  <a:srgbClr val="000000"/>
                </a:solidFill>
                <a:latin typeface="华文楷体"/>
                <a:ea typeface="华文楷体"/>
              </a:rPr>
              <a:t>权限检查</a:t>
            </a:r>
            <a:endParaRPr lang="en-US" altLang="zh-CN" sz="1100" kern="0" dirty="0">
              <a:solidFill>
                <a:srgbClr val="000000"/>
              </a:solidFill>
              <a:latin typeface="华文楷体"/>
              <a:ea typeface="华文楷体"/>
            </a:endParaRPr>
          </a:p>
        </p:txBody>
      </p:sp>
      <p:sp>
        <p:nvSpPr>
          <p:cNvPr id="68" name="矩形: 圆角 67">
            <a:extLst>
              <a:ext uri="{FF2B5EF4-FFF2-40B4-BE49-F238E27FC236}">
                <a16:creationId xmlns:a16="http://schemas.microsoft.com/office/drawing/2014/main" id="{6F6CB858-D362-EC5B-C05A-583DDD41100D}"/>
              </a:ext>
            </a:extLst>
          </p:cNvPr>
          <p:cNvSpPr/>
          <p:nvPr/>
        </p:nvSpPr>
        <p:spPr>
          <a:xfrm>
            <a:off x="7453946" y="2930287"/>
            <a:ext cx="893096" cy="351559"/>
          </a:xfrm>
          <a:prstGeom prst="roundRect">
            <a:avLst/>
          </a:prstGeom>
          <a:noFill/>
          <a:ln w="6350" cap="sq" cmpd="sng" algn="ctr">
            <a:solidFill>
              <a:srgbClr val="29484D"/>
            </a:solidFill>
            <a:prstDash val="solid"/>
            <a:miter lim="800000"/>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800" b="0" i="0" u="none" strike="noStrike" kern="0" cap="none" spc="0" normalizeH="0" baseline="0" noProof="0" dirty="0">
                <a:ln>
                  <a:noFill/>
                </a:ln>
                <a:solidFill>
                  <a:srgbClr val="000000"/>
                </a:solidFill>
                <a:effectLst/>
                <a:uLnTx/>
                <a:uFillTx/>
                <a:latin typeface="华文楷体"/>
                <a:ea typeface="华文楷体"/>
                <a:cs typeface="+mn-cs"/>
              </a:rPr>
              <a:t>MCP Tool Schema</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800" b="0" i="0" u="none" strike="noStrike" kern="0" cap="none" spc="0" normalizeH="0" baseline="0" noProof="0" dirty="0">
                <a:ln>
                  <a:noFill/>
                </a:ln>
                <a:solidFill>
                  <a:srgbClr val="000000"/>
                </a:solidFill>
                <a:effectLst/>
                <a:uLnTx/>
                <a:uFillTx/>
                <a:latin typeface="华文楷体"/>
                <a:ea typeface="华文楷体"/>
                <a:cs typeface="+mn-cs"/>
              </a:rPr>
              <a:t>获取本体定义的合法操作</a:t>
            </a:r>
          </a:p>
        </p:txBody>
      </p:sp>
      <p:cxnSp>
        <p:nvCxnSpPr>
          <p:cNvPr id="69" name="直线箭头连接符 34">
            <a:extLst>
              <a:ext uri="{FF2B5EF4-FFF2-40B4-BE49-F238E27FC236}">
                <a16:creationId xmlns:a16="http://schemas.microsoft.com/office/drawing/2014/main" id="{7BF2E9B2-BEB5-A391-6457-3ACC50ED5F29}"/>
              </a:ext>
            </a:extLst>
          </p:cNvPr>
          <p:cNvCxnSpPr>
            <a:cxnSpLocks/>
            <a:stCxn id="47" idx="1"/>
            <a:endCxn id="43" idx="1"/>
          </p:cNvCxnSpPr>
          <p:nvPr/>
        </p:nvCxnSpPr>
        <p:spPr>
          <a:xfrm rot="10800000">
            <a:off x="4572000" y="1541656"/>
            <a:ext cx="12700" cy="3129036"/>
          </a:xfrm>
          <a:prstGeom prst="bentConnector3">
            <a:avLst>
              <a:gd name="adj1" fmla="val 1800000"/>
            </a:avLst>
          </a:prstGeom>
          <a:noFill/>
          <a:ln w="9525" cap="flat" cmpd="sng" algn="ctr">
            <a:solidFill>
              <a:srgbClr val="EE8F62"/>
            </a:solidFill>
            <a:prstDash val="solid"/>
            <a:tailEnd type="triangle"/>
          </a:ln>
          <a:effectLst/>
        </p:spPr>
      </p:cxnSp>
      <p:cxnSp>
        <p:nvCxnSpPr>
          <p:cNvPr id="70" name="直线箭头连接符 34">
            <a:extLst>
              <a:ext uri="{FF2B5EF4-FFF2-40B4-BE49-F238E27FC236}">
                <a16:creationId xmlns:a16="http://schemas.microsoft.com/office/drawing/2014/main" id="{1E251BE4-C72C-B080-C347-8E33EC1DBBDC}"/>
              </a:ext>
            </a:extLst>
          </p:cNvPr>
          <p:cNvCxnSpPr>
            <a:cxnSpLocks/>
            <a:stCxn id="68" idx="1"/>
            <a:endCxn id="60" idx="3"/>
          </p:cNvCxnSpPr>
          <p:nvPr/>
        </p:nvCxnSpPr>
        <p:spPr>
          <a:xfrm flipH="1">
            <a:off x="6848166" y="3106067"/>
            <a:ext cx="605780" cy="107"/>
          </a:xfrm>
          <a:prstGeom prst="straightConnector1">
            <a:avLst/>
          </a:prstGeom>
          <a:noFill/>
          <a:ln w="10795" cap="flat" cmpd="sng" algn="ctr">
            <a:solidFill>
              <a:srgbClr val="35C3F7"/>
            </a:solidFill>
            <a:prstDash val="solid"/>
            <a:tailEnd type="triangle"/>
          </a:ln>
          <a:effectLst/>
        </p:spPr>
      </p:cxnSp>
      <p:cxnSp>
        <p:nvCxnSpPr>
          <p:cNvPr id="71" name="肘形连接符 107">
            <a:extLst>
              <a:ext uri="{FF2B5EF4-FFF2-40B4-BE49-F238E27FC236}">
                <a16:creationId xmlns:a16="http://schemas.microsoft.com/office/drawing/2014/main" id="{95C3F550-EDF3-16D6-832B-9C7BC589EF59}"/>
              </a:ext>
            </a:extLst>
          </p:cNvPr>
          <p:cNvCxnSpPr>
            <a:cxnSpLocks/>
            <a:stCxn id="44" idx="2"/>
            <a:endCxn id="60" idx="0"/>
          </p:cNvCxnSpPr>
          <p:nvPr/>
        </p:nvCxnSpPr>
        <p:spPr>
          <a:xfrm>
            <a:off x="5710083" y="2569833"/>
            <a:ext cx="1" cy="290422"/>
          </a:xfrm>
          <a:prstGeom prst="straightConnector1">
            <a:avLst/>
          </a:prstGeom>
          <a:noFill/>
          <a:ln w="12700" cap="flat" cmpd="sng" algn="ctr">
            <a:solidFill>
              <a:srgbClr val="29484D"/>
            </a:solidFill>
            <a:prstDash val="solid"/>
            <a:tailEnd type="triangle"/>
          </a:ln>
          <a:effectLst/>
        </p:spPr>
      </p:cxnSp>
      <p:cxnSp>
        <p:nvCxnSpPr>
          <p:cNvPr id="72" name="连接符: 肘形 71">
            <a:extLst>
              <a:ext uri="{FF2B5EF4-FFF2-40B4-BE49-F238E27FC236}">
                <a16:creationId xmlns:a16="http://schemas.microsoft.com/office/drawing/2014/main" id="{8673869E-3505-B9E8-9DF1-A87396DB2E48}"/>
              </a:ext>
            </a:extLst>
          </p:cNvPr>
          <p:cNvCxnSpPr>
            <a:cxnSpLocks/>
            <a:stCxn id="45" idx="3"/>
            <a:endCxn id="62" idx="1"/>
          </p:cNvCxnSpPr>
          <p:nvPr/>
        </p:nvCxnSpPr>
        <p:spPr>
          <a:xfrm>
            <a:off x="6848166" y="3888433"/>
            <a:ext cx="605780" cy="116049"/>
          </a:xfrm>
          <a:prstGeom prst="bentConnector3">
            <a:avLst>
              <a:gd name="adj1" fmla="val 50000"/>
            </a:avLst>
          </a:prstGeom>
          <a:noFill/>
          <a:ln w="6350" cap="flat" cmpd="sng" algn="ctr">
            <a:solidFill>
              <a:srgbClr val="35C3F7"/>
            </a:solidFill>
            <a:prstDash val="solid"/>
            <a:miter lim="800000"/>
            <a:tailEnd type="triangle"/>
          </a:ln>
          <a:effectLst/>
        </p:spPr>
      </p:cxnSp>
      <p:cxnSp>
        <p:nvCxnSpPr>
          <p:cNvPr id="73" name="连接符: 肘形 72">
            <a:extLst>
              <a:ext uri="{FF2B5EF4-FFF2-40B4-BE49-F238E27FC236}">
                <a16:creationId xmlns:a16="http://schemas.microsoft.com/office/drawing/2014/main" id="{7FE3C597-5F09-2CAA-E03D-658F1F503A79}"/>
              </a:ext>
            </a:extLst>
          </p:cNvPr>
          <p:cNvCxnSpPr>
            <a:cxnSpLocks/>
            <a:stCxn id="45" idx="3"/>
            <a:endCxn id="67" idx="1"/>
          </p:cNvCxnSpPr>
          <p:nvPr/>
        </p:nvCxnSpPr>
        <p:spPr>
          <a:xfrm flipV="1">
            <a:off x="6848166" y="3551392"/>
            <a:ext cx="605780" cy="337041"/>
          </a:xfrm>
          <a:prstGeom prst="bentConnector3">
            <a:avLst>
              <a:gd name="adj1" fmla="val 50000"/>
            </a:avLst>
          </a:prstGeom>
          <a:noFill/>
          <a:ln w="6350" cap="flat" cmpd="sng" algn="ctr">
            <a:solidFill>
              <a:srgbClr val="35C3F7"/>
            </a:solidFill>
            <a:prstDash val="solid"/>
            <a:miter lim="800000"/>
            <a:tailEnd type="triangle"/>
          </a:ln>
          <a:effectLst/>
        </p:spPr>
      </p:cxnSp>
      <p:sp>
        <p:nvSpPr>
          <p:cNvPr id="3" name="文本框 2">
            <a:extLst>
              <a:ext uri="{FF2B5EF4-FFF2-40B4-BE49-F238E27FC236}">
                <a16:creationId xmlns:a16="http://schemas.microsoft.com/office/drawing/2014/main" id="{0A4AC927-83DF-1B84-DEC9-4859FAFA111D}"/>
              </a:ext>
            </a:extLst>
          </p:cNvPr>
          <p:cNvSpPr txBox="1"/>
          <p:nvPr/>
        </p:nvSpPr>
        <p:spPr>
          <a:xfrm>
            <a:off x="428024" y="1712185"/>
            <a:ext cx="3432771" cy="1725729"/>
          </a:xfrm>
          <a:prstGeom prst="rect">
            <a:avLst/>
          </a:prstGeom>
          <a:noFill/>
        </p:spPr>
        <p:txBody>
          <a:bodyPr wrap="square">
            <a:spAutoFit/>
          </a:bodyPr>
          <a:lstStyle/>
          <a:p>
            <a:pPr>
              <a:lnSpc>
                <a:spcPct val="150000"/>
              </a:lnSpc>
            </a:pPr>
            <a:r>
              <a:rPr lang="zh-CN" altLang="en-US" sz="1200" dirty="0"/>
              <a:t>方式 </a:t>
            </a:r>
            <a:r>
              <a:rPr lang="en-US" altLang="zh-CN" sz="1200" dirty="0"/>
              <a:t>A</a:t>
            </a:r>
            <a:r>
              <a:rPr lang="zh-CN" altLang="en-US" sz="1200" dirty="0"/>
              <a:t>：强制调用任意工具</a:t>
            </a:r>
          </a:p>
          <a:p>
            <a:pPr>
              <a:lnSpc>
                <a:spcPct val="150000"/>
              </a:lnSpc>
            </a:pPr>
            <a:r>
              <a:rPr lang="en-US" altLang="zh-CN" sz="1200" dirty="0" err="1"/>
              <a:t>tool_choice</a:t>
            </a:r>
            <a:r>
              <a:rPr lang="en-US" altLang="zh-CN" sz="1200" dirty="0"/>
              <a:t>="required“</a:t>
            </a:r>
          </a:p>
          <a:p>
            <a:pPr>
              <a:lnSpc>
                <a:spcPct val="150000"/>
              </a:lnSpc>
            </a:pPr>
            <a:endParaRPr lang="en-US" altLang="zh-CN" sz="1200" dirty="0"/>
          </a:p>
          <a:p>
            <a:pPr>
              <a:lnSpc>
                <a:spcPct val="150000"/>
              </a:lnSpc>
            </a:pPr>
            <a:r>
              <a:rPr lang="zh-CN" altLang="en-US" sz="1200" dirty="0"/>
              <a:t>方式 </a:t>
            </a:r>
            <a:r>
              <a:rPr lang="en-US" altLang="zh-CN" sz="1200" dirty="0"/>
              <a:t>B</a:t>
            </a:r>
            <a:r>
              <a:rPr lang="zh-CN" altLang="en-US" sz="1200" dirty="0"/>
              <a:t>：强制调用特定工具</a:t>
            </a:r>
          </a:p>
          <a:p>
            <a:pPr>
              <a:lnSpc>
                <a:spcPct val="150000"/>
              </a:lnSpc>
            </a:pPr>
            <a:r>
              <a:rPr lang="en-US" altLang="zh-CN" sz="1200" dirty="0" err="1"/>
              <a:t>tool_choice</a:t>
            </a:r>
            <a:r>
              <a:rPr lang="en-US" altLang="zh-CN" sz="1200" dirty="0"/>
              <a:t>={"type": "function", "function": {"name": "</a:t>
            </a:r>
            <a:r>
              <a:rPr lang="en-US" altLang="zh-CN" sz="1200" dirty="0" err="1"/>
              <a:t>ontology_intent_parse</a:t>
            </a:r>
            <a:r>
              <a:rPr lang="en-US" altLang="zh-CN" sz="1200" dirty="0"/>
              <a:t>"}}</a:t>
            </a:r>
            <a:endParaRPr lang="zh-CN" altLang="en-US" sz="900" dirty="0"/>
          </a:p>
        </p:txBody>
      </p:sp>
      <p:sp>
        <p:nvSpPr>
          <p:cNvPr id="86" name="文本框 85">
            <a:extLst>
              <a:ext uri="{FF2B5EF4-FFF2-40B4-BE49-F238E27FC236}">
                <a16:creationId xmlns:a16="http://schemas.microsoft.com/office/drawing/2014/main" id="{0B247CA8-A6A6-57CB-54FF-C65F0C1D34AE}"/>
              </a:ext>
            </a:extLst>
          </p:cNvPr>
          <p:cNvSpPr txBox="1"/>
          <p:nvPr/>
        </p:nvSpPr>
        <p:spPr>
          <a:xfrm>
            <a:off x="5682231" y="3352092"/>
            <a:ext cx="646331" cy="230832"/>
          </a:xfrm>
          <a:prstGeom prst="rect">
            <a:avLst/>
          </a:prstGeom>
          <a:noFill/>
        </p:spPr>
        <p:txBody>
          <a:bodyPr wrap="none" rtlCol="0">
            <a:spAutoFit/>
          </a:bodyPr>
          <a:lstStyle/>
          <a:p>
            <a:r>
              <a:rPr lang="en-US" altLang="zh-CN" sz="900" dirty="0">
                <a:latin typeface="楷体" panose="02010609060101010101" pitchFamily="49" charset="-122"/>
                <a:ea typeface="楷体" panose="02010609060101010101" pitchFamily="49" charset="-122"/>
              </a:rPr>
              <a:t>Tool</a:t>
            </a:r>
            <a:r>
              <a:rPr lang="zh-CN" altLang="en-US" sz="900" dirty="0">
                <a:latin typeface="楷体" panose="02010609060101010101" pitchFamily="49" charset="-122"/>
                <a:ea typeface="楷体" panose="02010609060101010101" pitchFamily="49" charset="-122"/>
              </a:rPr>
              <a:t>参数</a:t>
            </a:r>
          </a:p>
        </p:txBody>
      </p:sp>
      <p:sp>
        <p:nvSpPr>
          <p:cNvPr id="88" name="文本框 87">
            <a:extLst>
              <a:ext uri="{FF2B5EF4-FFF2-40B4-BE49-F238E27FC236}">
                <a16:creationId xmlns:a16="http://schemas.microsoft.com/office/drawing/2014/main" id="{AC89DFEF-5DE6-4614-8DAC-80D3197D0DA0}"/>
              </a:ext>
            </a:extLst>
          </p:cNvPr>
          <p:cNvSpPr txBox="1"/>
          <p:nvPr/>
        </p:nvSpPr>
        <p:spPr>
          <a:xfrm>
            <a:off x="3886200" y="4703190"/>
            <a:ext cx="800100" cy="215444"/>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800" b="0" i="0" u="none" strike="noStrike" kern="0" cap="none" spc="0" normalizeH="0" baseline="0" noProof="0" dirty="0">
                <a:ln>
                  <a:noFill/>
                </a:ln>
                <a:solidFill>
                  <a:srgbClr val="4472C4"/>
                </a:solidFill>
                <a:effectLst/>
                <a:uLnTx/>
                <a:uFillTx/>
                <a:latin typeface="Microsoft YaHei" panose="020B0503020204020204" pitchFamily="34" charset="-122"/>
                <a:ea typeface="Microsoft YaHei" panose="020B0503020204020204" pitchFamily="34" charset="-122"/>
              </a:rPr>
              <a:t>返回给用户</a:t>
            </a:r>
          </a:p>
        </p:txBody>
      </p:sp>
      <p:sp>
        <p:nvSpPr>
          <p:cNvPr id="4" name="文本框 3">
            <a:extLst>
              <a:ext uri="{FF2B5EF4-FFF2-40B4-BE49-F238E27FC236}">
                <a16:creationId xmlns:a16="http://schemas.microsoft.com/office/drawing/2014/main" id="{A666857C-4614-B865-BBC3-093D6966F7FE}"/>
              </a:ext>
            </a:extLst>
          </p:cNvPr>
          <p:cNvSpPr txBox="1"/>
          <p:nvPr/>
        </p:nvSpPr>
        <p:spPr>
          <a:xfrm>
            <a:off x="432126" y="1250451"/>
            <a:ext cx="3819325" cy="369332"/>
          </a:xfrm>
          <a:prstGeom prst="rect">
            <a:avLst/>
          </a:prstGeom>
          <a:noFill/>
        </p:spPr>
        <p:txBody>
          <a:bodyPr wrap="square">
            <a:spAutoFit/>
          </a:bodyPr>
          <a:lstStyle/>
          <a:p>
            <a:r>
              <a:rPr lang="zh-CN" altLang="en-US" dirty="0"/>
              <a:t>第二层：</a:t>
            </a:r>
            <a:r>
              <a:rPr lang="en-US" altLang="zh-CN" dirty="0"/>
              <a:t>API </a:t>
            </a:r>
            <a:r>
              <a:rPr lang="zh-CN" altLang="en-US" dirty="0"/>
              <a:t>强制</a:t>
            </a:r>
          </a:p>
        </p:txBody>
      </p:sp>
    </p:spTree>
    <p:extLst>
      <p:ext uri="{BB962C8B-B14F-4D97-AF65-F5344CB8AC3E}">
        <p14:creationId xmlns:p14="http://schemas.microsoft.com/office/powerpoint/2010/main" val="31689504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0A613-BE14-09DF-943F-0E47330F0896}"/>
            </a:ext>
          </a:extLst>
        </p:cNvPr>
        <p:cNvGrpSpPr/>
        <p:nvPr/>
      </p:nvGrpSpPr>
      <p:grpSpPr>
        <a:xfrm>
          <a:off x="0" y="0"/>
          <a:ext cx="0" cy="0"/>
          <a:chOff x="0" y="0"/>
          <a:chExt cx="0" cy="0"/>
        </a:xfrm>
      </p:grpSpPr>
      <p:sp>
        <p:nvSpPr>
          <p:cNvPr id="40" name="Shape 1">
            <a:extLst>
              <a:ext uri="{FF2B5EF4-FFF2-40B4-BE49-F238E27FC236}">
                <a16:creationId xmlns:a16="http://schemas.microsoft.com/office/drawing/2014/main" id="{F71D6029-6763-C41F-628F-0E5467DFC432}"/>
              </a:ext>
            </a:extLst>
          </p:cNvPr>
          <p:cNvSpPr/>
          <p:nvPr/>
        </p:nvSpPr>
        <p:spPr>
          <a:xfrm>
            <a:off x="548640" y="274320"/>
            <a:ext cx="54864" cy="457200"/>
          </a:xfrm>
          <a:prstGeom prst="rect">
            <a:avLst/>
          </a:prstGeom>
          <a:solidFill>
            <a:srgbClr val="22A699"/>
          </a:solidFill>
          <a:ln/>
        </p:spPr>
        <p:txBody>
          <a:bodyPr/>
          <a:lstStyle/>
          <a:p>
            <a:endParaRPr lang="zh-CN" altLang="en-US"/>
          </a:p>
        </p:txBody>
      </p:sp>
      <p:sp>
        <p:nvSpPr>
          <p:cNvPr id="41" name="Text 2">
            <a:extLst>
              <a:ext uri="{FF2B5EF4-FFF2-40B4-BE49-F238E27FC236}">
                <a16:creationId xmlns:a16="http://schemas.microsoft.com/office/drawing/2014/main" id="{69886DDC-227D-D459-DB80-96F3B9050E0D}"/>
              </a:ext>
            </a:extLst>
          </p:cNvPr>
          <p:cNvSpPr/>
          <p:nvPr/>
        </p:nvSpPr>
        <p:spPr>
          <a:xfrm>
            <a:off x="731520" y="274320"/>
            <a:ext cx="731520" cy="457200"/>
          </a:xfrm>
          <a:prstGeom prst="rect">
            <a:avLst/>
          </a:prstGeom>
          <a:noFill/>
          <a:ln/>
        </p:spPr>
        <p:txBody>
          <a:bodyPr wrap="square" lIns="0" tIns="0" rIns="0" bIns="0" rtlCol="0" anchor="ctr"/>
          <a:lstStyle/>
          <a:p>
            <a:pPr marL="0" indent="0">
              <a:buNone/>
            </a:pPr>
            <a:r>
              <a:rPr lang="en-US" sz="1800" b="1" dirty="0">
                <a:solidFill>
                  <a:srgbClr val="22A699"/>
                </a:solidFill>
                <a:latin typeface="Arial" pitchFamily="34" charset="0"/>
                <a:ea typeface="Arial" pitchFamily="34" charset="-122"/>
                <a:cs typeface="Arial" pitchFamily="34" charset="-120"/>
              </a:rPr>
              <a:t>03</a:t>
            </a:r>
            <a:endParaRPr lang="en-US" sz="1800" dirty="0"/>
          </a:p>
        </p:txBody>
      </p:sp>
      <p:sp>
        <p:nvSpPr>
          <p:cNvPr id="42" name="Text 3">
            <a:extLst>
              <a:ext uri="{FF2B5EF4-FFF2-40B4-BE49-F238E27FC236}">
                <a16:creationId xmlns:a16="http://schemas.microsoft.com/office/drawing/2014/main" id="{E7B601A2-125B-08FE-9DE0-BFFD3C0C2150}"/>
              </a:ext>
            </a:extLst>
          </p:cNvPr>
          <p:cNvSpPr/>
          <p:nvPr/>
        </p:nvSpPr>
        <p:spPr>
          <a:xfrm>
            <a:off x="548640" y="822960"/>
            <a:ext cx="8046720" cy="457200"/>
          </a:xfrm>
          <a:prstGeom prst="rect">
            <a:avLst/>
          </a:prstGeom>
          <a:noFill/>
          <a:ln/>
        </p:spPr>
        <p:txBody>
          <a:bodyPr wrap="square" lIns="0" tIns="0" rIns="0" bIns="0" rtlCol="0" anchor="ctr"/>
          <a:lstStyle/>
          <a:p>
            <a:pPr marL="0" indent="0">
              <a:buNone/>
            </a:pPr>
            <a:r>
              <a:rPr lang="zh-CN" altLang="en-US" sz="2200" b="1" dirty="0">
                <a:solidFill>
                  <a:srgbClr val="1E293B"/>
                </a:solidFill>
                <a:latin typeface="Arial" pitchFamily="34" charset="0"/>
                <a:ea typeface="Arial" pitchFamily="34" charset="-122"/>
                <a:cs typeface="Arial" pitchFamily="34" charset="-120"/>
              </a:rPr>
              <a:t>如何确保 </a:t>
            </a:r>
            <a:r>
              <a:rPr lang="en-US" altLang="zh-CN" sz="2200" b="1" dirty="0">
                <a:solidFill>
                  <a:srgbClr val="1E293B"/>
                </a:solidFill>
                <a:latin typeface="Arial" pitchFamily="34" charset="0"/>
                <a:ea typeface="Arial" pitchFamily="34" charset="-122"/>
                <a:cs typeface="Arial" pitchFamily="34" charset="-120"/>
              </a:rPr>
              <a:t>LLM </a:t>
            </a:r>
            <a:r>
              <a:rPr lang="zh-CN" altLang="en-US" sz="2200" b="1" dirty="0">
                <a:solidFill>
                  <a:srgbClr val="1E293B"/>
                </a:solidFill>
                <a:latin typeface="Arial" pitchFamily="34" charset="0"/>
                <a:ea typeface="Arial" pitchFamily="34" charset="-122"/>
                <a:cs typeface="Arial" pitchFamily="34" charset="-120"/>
              </a:rPr>
              <a:t>一定会调用？</a:t>
            </a:r>
          </a:p>
        </p:txBody>
      </p:sp>
      <p:sp>
        <p:nvSpPr>
          <p:cNvPr id="43" name="矩形 42">
            <a:extLst>
              <a:ext uri="{FF2B5EF4-FFF2-40B4-BE49-F238E27FC236}">
                <a16:creationId xmlns:a16="http://schemas.microsoft.com/office/drawing/2014/main" id="{8FF74B29-4234-2B9B-5725-F397512D2812}"/>
              </a:ext>
            </a:extLst>
          </p:cNvPr>
          <p:cNvSpPr/>
          <p:nvPr/>
        </p:nvSpPr>
        <p:spPr>
          <a:xfrm>
            <a:off x="4572000" y="1295737"/>
            <a:ext cx="2276166" cy="491837"/>
          </a:xfrm>
          <a:prstGeom prst="rect">
            <a:avLst/>
          </a:prstGeom>
          <a:solidFill>
            <a:srgbClr val="29484D">
              <a:lumMod val="20000"/>
              <a:lumOff val="8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400" b="0" i="0" u="none" strike="noStrike" kern="0" cap="none" spc="0" normalizeH="0" baseline="0" noProof="0" dirty="0">
                <a:ln>
                  <a:noFill/>
                </a:ln>
                <a:solidFill>
                  <a:srgbClr val="4472C4"/>
                </a:solidFill>
                <a:effectLst/>
                <a:uLnTx/>
                <a:uFillTx/>
                <a:latin typeface="Microsoft YaHei" panose="020B0503020204020204" pitchFamily="34" charset="-122"/>
                <a:ea typeface="Microsoft YaHei" panose="020B0503020204020204" pitchFamily="34" charset="-122"/>
              </a:rPr>
              <a:t>自然语言</a:t>
            </a:r>
          </a:p>
        </p:txBody>
      </p:sp>
      <p:sp>
        <p:nvSpPr>
          <p:cNvPr id="44" name="矩形 43">
            <a:extLst>
              <a:ext uri="{FF2B5EF4-FFF2-40B4-BE49-F238E27FC236}">
                <a16:creationId xmlns:a16="http://schemas.microsoft.com/office/drawing/2014/main" id="{1BE55A1B-4266-8B13-A94E-84EC1D920BA7}"/>
              </a:ext>
            </a:extLst>
          </p:cNvPr>
          <p:cNvSpPr/>
          <p:nvPr/>
        </p:nvSpPr>
        <p:spPr>
          <a:xfrm>
            <a:off x="4572000" y="2077996"/>
            <a:ext cx="2276166" cy="491837"/>
          </a:xfrm>
          <a:prstGeom prst="rect">
            <a:avLst/>
          </a:prstGeom>
          <a:solidFill>
            <a:srgbClr val="29484D">
              <a:lumMod val="20000"/>
              <a:lumOff val="80000"/>
            </a:srgbClr>
          </a:solidFill>
          <a:ln w="12700" cap="flat" cmpd="sng" algn="ctr">
            <a:noFill/>
            <a:prstDash val="solid"/>
            <a:miter lim="800000"/>
          </a:ln>
          <a:effectLst/>
        </p:spPr>
        <p:txBody>
          <a:bodyPr rtlCol="0" anchor="ctr"/>
          <a:lstStyle/>
          <a:p>
            <a:pPr algn="ctr"/>
            <a:r>
              <a:rPr kumimoji="1" lang="zh-CN" altLang="en-US" sz="1100" kern="0" dirty="0">
                <a:solidFill>
                  <a:srgbClr val="4472C4"/>
                </a:solidFill>
                <a:latin typeface="Microsoft YaHei" panose="020B0503020204020204" pitchFamily="34" charset="-122"/>
                <a:ea typeface="Microsoft YaHei" panose="020B0503020204020204" pitchFamily="34" charset="-122"/>
              </a:rPr>
              <a:t>大模型</a:t>
            </a:r>
            <a:endParaRPr kumimoji="1" lang="en-US" altLang="zh-CN" sz="1100" kern="0" dirty="0">
              <a:solidFill>
                <a:srgbClr val="4472C4"/>
              </a:solidFill>
              <a:latin typeface="Microsoft YaHei" panose="020B0503020204020204" pitchFamily="34" charset="-122"/>
              <a:ea typeface="Microsoft YaHei" panose="020B0503020204020204" pitchFamily="34" charset="-122"/>
            </a:endParaRPr>
          </a:p>
          <a:p>
            <a:pPr algn="ctr"/>
            <a:r>
              <a:rPr kumimoji="1" lang="zh-CN" altLang="en-US" sz="1400" kern="0" dirty="0">
                <a:solidFill>
                  <a:srgbClr val="4472C4"/>
                </a:solidFill>
                <a:latin typeface="Microsoft YaHei" panose="020B0503020204020204" pitchFamily="34" charset="-122"/>
                <a:ea typeface="Microsoft YaHei" panose="020B0503020204020204" pitchFamily="34" charset="-122"/>
              </a:rPr>
              <a:t>意图识别</a:t>
            </a:r>
          </a:p>
        </p:txBody>
      </p:sp>
      <p:sp>
        <p:nvSpPr>
          <p:cNvPr id="45" name="矩形 44">
            <a:extLst>
              <a:ext uri="{FF2B5EF4-FFF2-40B4-BE49-F238E27FC236}">
                <a16:creationId xmlns:a16="http://schemas.microsoft.com/office/drawing/2014/main" id="{8B21D8DA-F8BA-4169-17BF-4EED945FCBB4}"/>
              </a:ext>
            </a:extLst>
          </p:cNvPr>
          <p:cNvSpPr/>
          <p:nvPr/>
        </p:nvSpPr>
        <p:spPr>
          <a:xfrm>
            <a:off x="4572000" y="3642514"/>
            <a:ext cx="2276166" cy="491837"/>
          </a:xfrm>
          <a:prstGeom prst="rect">
            <a:avLst/>
          </a:prstGeom>
          <a:solidFill>
            <a:schemeClr val="accent1"/>
          </a:solidFill>
          <a:ln w="12700" cap="flat" cmpd="sng" algn="ctr">
            <a:noFill/>
            <a:prstDash val="solid"/>
            <a:miter lim="800000"/>
          </a:ln>
          <a:effectLst/>
        </p:spPr>
        <p:txBody>
          <a:bodyPr rtlCol="0" anchor="ctr"/>
          <a:lstStyle/>
          <a:p>
            <a:pPr algn="ctr"/>
            <a:r>
              <a:rPr kumimoji="1" lang="zh-CN" altLang="en-US" sz="1400" kern="0" dirty="0">
                <a:solidFill>
                  <a:schemeClr val="bg1"/>
                </a:solidFill>
                <a:latin typeface="Microsoft YaHei" panose="020B0503020204020204" pitchFamily="34" charset="-122"/>
                <a:ea typeface="Microsoft YaHei" panose="020B0503020204020204" pitchFamily="34" charset="-122"/>
              </a:rPr>
              <a:t>调用工具</a:t>
            </a:r>
          </a:p>
        </p:txBody>
      </p:sp>
      <p:cxnSp>
        <p:nvCxnSpPr>
          <p:cNvPr id="46" name="直线箭头连接符 34">
            <a:extLst>
              <a:ext uri="{FF2B5EF4-FFF2-40B4-BE49-F238E27FC236}">
                <a16:creationId xmlns:a16="http://schemas.microsoft.com/office/drawing/2014/main" id="{D2364FB0-7E73-D060-26F5-CEB9FFB5B881}"/>
              </a:ext>
            </a:extLst>
          </p:cNvPr>
          <p:cNvCxnSpPr>
            <a:cxnSpLocks/>
            <a:stCxn id="43" idx="2"/>
            <a:endCxn id="44" idx="0"/>
          </p:cNvCxnSpPr>
          <p:nvPr/>
        </p:nvCxnSpPr>
        <p:spPr>
          <a:xfrm>
            <a:off x="5710083" y="1787574"/>
            <a:ext cx="0" cy="290422"/>
          </a:xfrm>
          <a:prstGeom prst="straightConnector1">
            <a:avLst/>
          </a:prstGeom>
          <a:noFill/>
          <a:ln w="12700" cap="flat" cmpd="sng" algn="ctr">
            <a:solidFill>
              <a:srgbClr val="29484D"/>
            </a:solidFill>
            <a:prstDash val="solid"/>
            <a:tailEnd type="triangle"/>
          </a:ln>
          <a:effectLst/>
        </p:spPr>
      </p:cxnSp>
      <p:sp>
        <p:nvSpPr>
          <p:cNvPr id="47" name="矩形 46">
            <a:extLst>
              <a:ext uri="{FF2B5EF4-FFF2-40B4-BE49-F238E27FC236}">
                <a16:creationId xmlns:a16="http://schemas.microsoft.com/office/drawing/2014/main" id="{9AC3DFC5-7EF5-892E-38D9-98B198346B12}"/>
              </a:ext>
            </a:extLst>
          </p:cNvPr>
          <p:cNvSpPr/>
          <p:nvPr/>
        </p:nvSpPr>
        <p:spPr>
          <a:xfrm>
            <a:off x="4572000" y="4424773"/>
            <a:ext cx="2276166" cy="491837"/>
          </a:xfrm>
          <a:prstGeom prst="rect">
            <a:avLst/>
          </a:prstGeom>
          <a:solidFill>
            <a:srgbClr val="29484D">
              <a:lumMod val="20000"/>
              <a:lumOff val="80000"/>
            </a:srgbClr>
          </a:solidFill>
          <a:ln w="12700" cap="flat" cmpd="sng" algn="ctr">
            <a:noFill/>
            <a:prstDash val="solid"/>
            <a:miter lim="800000"/>
          </a:ln>
          <a:effectLst/>
        </p:spPr>
        <p:txBody>
          <a:bodyPr rtlCol="0" anchor="ctr"/>
          <a:lstStyle/>
          <a:p>
            <a:pPr algn="ctr">
              <a:defRPr/>
            </a:pPr>
            <a:r>
              <a:rPr kumimoji="1" lang="zh-CN" altLang="en-US" sz="1400" kern="0" dirty="0">
                <a:solidFill>
                  <a:srgbClr val="4472C4"/>
                </a:solidFill>
                <a:latin typeface="Microsoft YaHei" panose="020B0503020204020204" pitchFamily="34" charset="-122"/>
                <a:ea typeface="Microsoft YaHei" panose="020B0503020204020204" pitchFamily="34" charset="-122"/>
              </a:rPr>
              <a:t>结果校验</a:t>
            </a:r>
          </a:p>
        </p:txBody>
      </p:sp>
      <p:cxnSp>
        <p:nvCxnSpPr>
          <p:cNvPr id="48" name="肘形连接符 107">
            <a:extLst>
              <a:ext uri="{FF2B5EF4-FFF2-40B4-BE49-F238E27FC236}">
                <a16:creationId xmlns:a16="http://schemas.microsoft.com/office/drawing/2014/main" id="{61955220-7C1A-967D-612F-DF83A4AB30FA}"/>
              </a:ext>
            </a:extLst>
          </p:cNvPr>
          <p:cNvCxnSpPr>
            <a:cxnSpLocks/>
            <a:stCxn id="60" idx="2"/>
            <a:endCxn id="45" idx="0"/>
          </p:cNvCxnSpPr>
          <p:nvPr/>
        </p:nvCxnSpPr>
        <p:spPr>
          <a:xfrm flipH="1">
            <a:off x="5710083" y="3352092"/>
            <a:ext cx="1" cy="290422"/>
          </a:xfrm>
          <a:prstGeom prst="straightConnector1">
            <a:avLst/>
          </a:prstGeom>
          <a:noFill/>
          <a:ln w="12700" cap="flat" cmpd="sng" algn="ctr">
            <a:solidFill>
              <a:srgbClr val="29484D"/>
            </a:solidFill>
            <a:prstDash val="solid"/>
            <a:tailEnd type="triangle"/>
          </a:ln>
          <a:effectLst/>
        </p:spPr>
      </p:cxnSp>
      <p:cxnSp>
        <p:nvCxnSpPr>
          <p:cNvPr id="49" name="直线箭头连接符 34">
            <a:extLst>
              <a:ext uri="{FF2B5EF4-FFF2-40B4-BE49-F238E27FC236}">
                <a16:creationId xmlns:a16="http://schemas.microsoft.com/office/drawing/2014/main" id="{C7EFD28C-8899-F9B1-FEC8-C4242CBC2CA7}"/>
              </a:ext>
            </a:extLst>
          </p:cNvPr>
          <p:cNvCxnSpPr>
            <a:cxnSpLocks/>
            <a:stCxn id="44" idx="1"/>
            <a:endCxn id="43" idx="1"/>
          </p:cNvCxnSpPr>
          <p:nvPr/>
        </p:nvCxnSpPr>
        <p:spPr>
          <a:xfrm rot="10800000">
            <a:off x="4572000" y="1541657"/>
            <a:ext cx="12700" cy="782259"/>
          </a:xfrm>
          <a:prstGeom prst="bentConnector3">
            <a:avLst>
              <a:gd name="adj1" fmla="val 1800000"/>
            </a:avLst>
          </a:prstGeom>
          <a:noFill/>
          <a:ln w="9525" cap="flat" cmpd="sng" algn="ctr">
            <a:solidFill>
              <a:srgbClr val="EE8F62"/>
            </a:solidFill>
            <a:prstDash val="solid"/>
            <a:tailEnd type="triangle"/>
          </a:ln>
          <a:effectLst/>
        </p:spPr>
      </p:cxnSp>
      <p:sp>
        <p:nvSpPr>
          <p:cNvPr id="50" name="文本框 49">
            <a:extLst>
              <a:ext uri="{FF2B5EF4-FFF2-40B4-BE49-F238E27FC236}">
                <a16:creationId xmlns:a16="http://schemas.microsoft.com/office/drawing/2014/main" id="{BED9AC7E-A2FC-0BF2-374E-65DD5A2B0737}"/>
              </a:ext>
            </a:extLst>
          </p:cNvPr>
          <p:cNvSpPr txBox="1"/>
          <p:nvPr/>
        </p:nvSpPr>
        <p:spPr>
          <a:xfrm>
            <a:off x="5252883" y="729512"/>
            <a:ext cx="914400" cy="275803"/>
          </a:xfrm>
          <a:prstGeom prst="rect">
            <a:avLst/>
          </a:prstGeom>
          <a:ln w="6350">
            <a:noFill/>
            <a:miter lim="800000"/>
          </a:ln>
        </p:spPr>
        <p:txBody>
          <a:bodyPr vert="horz" wrap="none" lIns="0" tIns="0" rIns="0" bIns="0" rtlCol="0">
            <a:noAutofit/>
          </a:bodyPr>
          <a:lstStyle/>
          <a:p>
            <a:pPr algn="ctr">
              <a:spcBef>
                <a:spcPts val="300"/>
              </a:spcBef>
              <a:spcAft>
                <a:spcPts val="300"/>
              </a:spcAft>
            </a:pPr>
            <a:r>
              <a:rPr lang="zh-CN" altLang="en-US" sz="1600" dirty="0">
                <a:solidFill>
                  <a:srgbClr val="000000"/>
                </a:solidFill>
                <a:latin typeface="华文楷体"/>
                <a:ea typeface="华文楷体"/>
              </a:rPr>
              <a:t>用户</a:t>
            </a:r>
          </a:p>
        </p:txBody>
      </p:sp>
      <p:sp>
        <p:nvSpPr>
          <p:cNvPr id="51" name="文本框 50">
            <a:extLst>
              <a:ext uri="{FF2B5EF4-FFF2-40B4-BE49-F238E27FC236}">
                <a16:creationId xmlns:a16="http://schemas.microsoft.com/office/drawing/2014/main" id="{FBD84E99-1758-28F3-AC09-3E888D83822F}"/>
              </a:ext>
            </a:extLst>
          </p:cNvPr>
          <p:cNvSpPr txBox="1"/>
          <p:nvPr/>
        </p:nvSpPr>
        <p:spPr>
          <a:xfrm>
            <a:off x="7455757" y="729512"/>
            <a:ext cx="914400" cy="275803"/>
          </a:xfrm>
          <a:prstGeom prst="rect">
            <a:avLst/>
          </a:prstGeom>
          <a:ln w="6350">
            <a:solidFill>
              <a:srgbClr val="29484D"/>
            </a:solidFill>
            <a:miter lim="800000"/>
          </a:ln>
        </p:spPr>
        <p:txBody>
          <a:bodyPr vert="horz" wrap="none" lIns="0" tIns="0" rIns="0" bIns="0" rtlCol="0" anchor="ctr">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zh-CN" altLang="en-US" sz="1200" b="0" i="0" u="none" strike="noStrike" kern="0" cap="none" spc="0" normalizeH="0" baseline="0" noProof="0" dirty="0">
                <a:ln>
                  <a:noFill/>
                </a:ln>
                <a:solidFill>
                  <a:srgbClr val="000000"/>
                </a:solidFill>
                <a:effectLst/>
                <a:uLnTx/>
                <a:uFillTx/>
                <a:latin typeface="华文楷体"/>
                <a:ea typeface="华文楷体"/>
              </a:rPr>
              <a:t>用户登录</a:t>
            </a:r>
          </a:p>
        </p:txBody>
      </p:sp>
      <p:cxnSp>
        <p:nvCxnSpPr>
          <p:cNvPr id="52" name="直接箭头连接符 51">
            <a:extLst>
              <a:ext uri="{FF2B5EF4-FFF2-40B4-BE49-F238E27FC236}">
                <a16:creationId xmlns:a16="http://schemas.microsoft.com/office/drawing/2014/main" id="{F14E3C89-E6A2-C4FA-4247-01430EC2C334}"/>
              </a:ext>
            </a:extLst>
          </p:cNvPr>
          <p:cNvCxnSpPr>
            <a:cxnSpLocks/>
            <a:stCxn id="50" idx="3"/>
            <a:endCxn id="51" idx="1"/>
          </p:cNvCxnSpPr>
          <p:nvPr/>
        </p:nvCxnSpPr>
        <p:spPr>
          <a:xfrm>
            <a:off x="6167283" y="867414"/>
            <a:ext cx="1288474" cy="0"/>
          </a:xfrm>
          <a:prstGeom prst="straightConnector1">
            <a:avLst/>
          </a:prstGeom>
          <a:noFill/>
          <a:ln w="10795" cap="flat" cmpd="sng" algn="ctr">
            <a:solidFill>
              <a:srgbClr val="35C3F7"/>
            </a:solidFill>
            <a:prstDash val="solid"/>
            <a:tailEnd type="triangle"/>
          </a:ln>
          <a:effectLst/>
        </p:spPr>
      </p:cxnSp>
      <p:sp>
        <p:nvSpPr>
          <p:cNvPr id="53" name="文本框 52">
            <a:extLst>
              <a:ext uri="{FF2B5EF4-FFF2-40B4-BE49-F238E27FC236}">
                <a16:creationId xmlns:a16="http://schemas.microsoft.com/office/drawing/2014/main" id="{36CE2043-6A7B-FE90-C6B6-F7E0ECE4F480}"/>
              </a:ext>
            </a:extLst>
          </p:cNvPr>
          <p:cNvSpPr txBox="1"/>
          <p:nvPr/>
        </p:nvSpPr>
        <p:spPr>
          <a:xfrm>
            <a:off x="7455757" y="1495588"/>
            <a:ext cx="914400" cy="275803"/>
          </a:xfrm>
          <a:prstGeom prst="rect">
            <a:avLst/>
          </a:prstGeom>
          <a:ln w="6350">
            <a:solidFill>
              <a:srgbClr val="29484D"/>
            </a:solidFill>
            <a:miter lim="800000"/>
          </a:ln>
        </p:spPr>
        <p:txBody>
          <a:bodyPr vert="horz" wrap="none" lIns="0" tIns="0" rIns="0" bIns="0" rtlCol="0" anchor="ctr">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zh-CN" altLang="en-US" sz="1200" b="0" i="0" u="none" strike="noStrike" kern="0" cap="none" spc="0" normalizeH="0" baseline="0" noProof="0" dirty="0">
                <a:ln>
                  <a:noFill/>
                </a:ln>
                <a:solidFill>
                  <a:srgbClr val="000000"/>
                </a:solidFill>
                <a:effectLst/>
                <a:uLnTx/>
                <a:uFillTx/>
                <a:latin typeface="华文楷体"/>
                <a:ea typeface="华文楷体"/>
              </a:rPr>
              <a:t>权限识别</a:t>
            </a:r>
          </a:p>
        </p:txBody>
      </p:sp>
      <p:cxnSp>
        <p:nvCxnSpPr>
          <p:cNvPr id="54" name="直线箭头连接符 34">
            <a:extLst>
              <a:ext uri="{FF2B5EF4-FFF2-40B4-BE49-F238E27FC236}">
                <a16:creationId xmlns:a16="http://schemas.microsoft.com/office/drawing/2014/main" id="{614A0184-EEB2-BB02-109E-70DF12F50049}"/>
              </a:ext>
            </a:extLst>
          </p:cNvPr>
          <p:cNvCxnSpPr>
            <a:cxnSpLocks/>
            <a:stCxn id="51" idx="2"/>
            <a:endCxn id="53" idx="0"/>
          </p:cNvCxnSpPr>
          <p:nvPr/>
        </p:nvCxnSpPr>
        <p:spPr>
          <a:xfrm>
            <a:off x="7912957" y="1005315"/>
            <a:ext cx="0" cy="490273"/>
          </a:xfrm>
          <a:prstGeom prst="straightConnector1">
            <a:avLst/>
          </a:prstGeom>
          <a:noFill/>
          <a:ln w="10795" cap="flat" cmpd="sng" algn="ctr">
            <a:solidFill>
              <a:srgbClr val="35C3F7"/>
            </a:solidFill>
            <a:prstDash val="solid"/>
            <a:tailEnd type="triangle"/>
          </a:ln>
          <a:effectLst/>
        </p:spPr>
      </p:cxnSp>
      <p:cxnSp>
        <p:nvCxnSpPr>
          <p:cNvPr id="55" name="直线箭头连接符 34">
            <a:extLst>
              <a:ext uri="{FF2B5EF4-FFF2-40B4-BE49-F238E27FC236}">
                <a16:creationId xmlns:a16="http://schemas.microsoft.com/office/drawing/2014/main" id="{BF97C7AD-0EA7-F437-69E3-8C977DA81BC7}"/>
              </a:ext>
            </a:extLst>
          </p:cNvPr>
          <p:cNvCxnSpPr>
            <a:cxnSpLocks/>
          </p:cNvCxnSpPr>
          <p:nvPr/>
        </p:nvCxnSpPr>
        <p:spPr>
          <a:xfrm flipH="1">
            <a:off x="6848167" y="1616435"/>
            <a:ext cx="607590" cy="0"/>
          </a:xfrm>
          <a:prstGeom prst="straightConnector1">
            <a:avLst/>
          </a:prstGeom>
          <a:noFill/>
          <a:ln w="10795" cap="flat" cmpd="sng" algn="ctr">
            <a:solidFill>
              <a:srgbClr val="35C3F7"/>
            </a:solidFill>
            <a:prstDash val="solid"/>
            <a:tailEnd type="triangle"/>
          </a:ln>
          <a:effectLst/>
        </p:spPr>
      </p:cxnSp>
      <p:cxnSp>
        <p:nvCxnSpPr>
          <p:cNvPr id="56" name="直线箭头连接符 34">
            <a:extLst>
              <a:ext uri="{FF2B5EF4-FFF2-40B4-BE49-F238E27FC236}">
                <a16:creationId xmlns:a16="http://schemas.microsoft.com/office/drawing/2014/main" id="{FD48D8A4-CF31-C0DF-7510-BEC5A76C0ABB}"/>
              </a:ext>
            </a:extLst>
          </p:cNvPr>
          <p:cNvCxnSpPr>
            <a:cxnSpLocks/>
            <a:stCxn id="50" idx="2"/>
            <a:endCxn id="43" idx="0"/>
          </p:cNvCxnSpPr>
          <p:nvPr/>
        </p:nvCxnSpPr>
        <p:spPr>
          <a:xfrm>
            <a:off x="5710083" y="1005315"/>
            <a:ext cx="0" cy="290422"/>
          </a:xfrm>
          <a:prstGeom prst="straightConnector1">
            <a:avLst/>
          </a:prstGeom>
          <a:noFill/>
          <a:ln w="12700" cap="flat" cmpd="sng" algn="ctr">
            <a:solidFill>
              <a:srgbClr val="29484D"/>
            </a:solidFill>
            <a:prstDash val="solid"/>
            <a:tailEnd type="triangle"/>
          </a:ln>
          <a:effectLst/>
        </p:spPr>
      </p:cxnSp>
      <p:sp>
        <p:nvSpPr>
          <p:cNvPr id="57" name="圆柱体 56">
            <a:extLst>
              <a:ext uri="{FF2B5EF4-FFF2-40B4-BE49-F238E27FC236}">
                <a16:creationId xmlns:a16="http://schemas.microsoft.com/office/drawing/2014/main" id="{BB8E251D-60B7-5956-71E4-293BCE77DA8A}"/>
              </a:ext>
            </a:extLst>
          </p:cNvPr>
          <p:cNvSpPr/>
          <p:nvPr/>
        </p:nvSpPr>
        <p:spPr>
          <a:xfrm>
            <a:off x="7432641" y="1951518"/>
            <a:ext cx="914400" cy="756250"/>
          </a:xfrm>
          <a:prstGeom prst="can">
            <a:avLst/>
          </a:prstGeom>
          <a:noFill/>
          <a:ln w="6350" cap="sq" cmpd="sng" algn="ctr">
            <a:solidFill>
              <a:srgbClr val="29484D"/>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zh-CN" altLang="en-US" sz="1600" b="0" i="0" u="none" strike="noStrike" kern="0" cap="none" spc="0" normalizeH="0" baseline="0" noProof="0" dirty="0" err="1">
              <a:ln>
                <a:noFill/>
              </a:ln>
              <a:solidFill>
                <a:srgbClr val="FFFFFF"/>
              </a:solidFill>
              <a:effectLst/>
              <a:uLnTx/>
              <a:uFillTx/>
              <a:latin typeface="华文楷体"/>
              <a:ea typeface="华文楷体"/>
              <a:cs typeface="+mn-cs"/>
            </a:endParaRPr>
          </a:p>
        </p:txBody>
      </p:sp>
      <p:cxnSp>
        <p:nvCxnSpPr>
          <p:cNvPr id="58" name="直线箭头连接符 34">
            <a:extLst>
              <a:ext uri="{FF2B5EF4-FFF2-40B4-BE49-F238E27FC236}">
                <a16:creationId xmlns:a16="http://schemas.microsoft.com/office/drawing/2014/main" id="{94AE6FF6-D693-E1EC-F357-5931EB32C6EE}"/>
              </a:ext>
            </a:extLst>
          </p:cNvPr>
          <p:cNvCxnSpPr>
            <a:cxnSpLocks/>
            <a:stCxn id="57" idx="2"/>
            <a:endCxn id="44" idx="3"/>
          </p:cNvCxnSpPr>
          <p:nvPr/>
        </p:nvCxnSpPr>
        <p:spPr>
          <a:xfrm flipH="1" flipV="1">
            <a:off x="6848166" y="2323915"/>
            <a:ext cx="584475" cy="5728"/>
          </a:xfrm>
          <a:prstGeom prst="straightConnector1">
            <a:avLst/>
          </a:prstGeom>
          <a:noFill/>
          <a:ln w="10795" cap="flat" cmpd="sng" algn="ctr">
            <a:solidFill>
              <a:srgbClr val="35C3F7"/>
            </a:solidFill>
            <a:prstDash val="solid"/>
            <a:tailEnd type="triangle"/>
          </a:ln>
          <a:effectLst/>
        </p:spPr>
      </p:cxnSp>
      <p:sp>
        <p:nvSpPr>
          <p:cNvPr id="59" name="文本框 58">
            <a:extLst>
              <a:ext uri="{FF2B5EF4-FFF2-40B4-BE49-F238E27FC236}">
                <a16:creationId xmlns:a16="http://schemas.microsoft.com/office/drawing/2014/main" id="{520C91F0-BAE9-C598-E02B-C49015571076}"/>
              </a:ext>
            </a:extLst>
          </p:cNvPr>
          <p:cNvSpPr txBox="1"/>
          <p:nvPr/>
        </p:nvSpPr>
        <p:spPr>
          <a:xfrm>
            <a:off x="7396982" y="2224716"/>
            <a:ext cx="914400" cy="301718"/>
          </a:xfrm>
          <a:prstGeom prst="rect">
            <a:avLst/>
          </a:prstGeom>
          <a:ln w="6350">
            <a:noFill/>
            <a:miter lim="800000"/>
          </a:ln>
        </p:spPr>
        <p:txBody>
          <a:bodyPr vert="horz" wrap="none" lIns="0" tIns="0" rIns="0" bIns="0" rtlCol="0" anchor="ctr">
            <a:noAutofit/>
          </a:bodyPr>
          <a:lstStyle/>
          <a:p>
            <a:pPr algn="ctr"/>
            <a:r>
              <a:rPr lang="en-US" altLang="zh-CN" sz="1200" dirty="0">
                <a:solidFill>
                  <a:srgbClr val="000000"/>
                </a:solidFill>
                <a:latin typeface="华文楷体"/>
                <a:ea typeface="华文楷体"/>
              </a:rPr>
              <a:t>Prompt</a:t>
            </a:r>
          </a:p>
          <a:p>
            <a:pPr algn="ctr"/>
            <a:r>
              <a:rPr lang="en-US" altLang="zh-CN" sz="1200" dirty="0">
                <a:solidFill>
                  <a:srgbClr val="000000"/>
                </a:solidFill>
                <a:latin typeface="华文楷体"/>
                <a:ea typeface="华文楷体"/>
              </a:rPr>
              <a:t>SKILL</a:t>
            </a:r>
            <a:endParaRPr lang="zh-CN" altLang="en-US" sz="1200" dirty="0">
              <a:solidFill>
                <a:srgbClr val="000000"/>
              </a:solidFill>
              <a:latin typeface="华文楷体"/>
              <a:ea typeface="华文楷体"/>
            </a:endParaRPr>
          </a:p>
        </p:txBody>
      </p:sp>
      <p:sp>
        <p:nvSpPr>
          <p:cNvPr id="60" name="矩形 59">
            <a:extLst>
              <a:ext uri="{FF2B5EF4-FFF2-40B4-BE49-F238E27FC236}">
                <a16:creationId xmlns:a16="http://schemas.microsoft.com/office/drawing/2014/main" id="{A4BB1E1E-4AC2-047F-AEEC-8E20D956D53A}"/>
              </a:ext>
            </a:extLst>
          </p:cNvPr>
          <p:cNvSpPr/>
          <p:nvPr/>
        </p:nvSpPr>
        <p:spPr>
          <a:xfrm>
            <a:off x="4572001" y="2860255"/>
            <a:ext cx="2276165" cy="491837"/>
          </a:xfrm>
          <a:prstGeom prst="rect">
            <a:avLst/>
          </a:prstGeom>
          <a:solidFill>
            <a:srgbClr val="29484D">
              <a:lumMod val="20000"/>
              <a:lumOff val="80000"/>
            </a:srgbClr>
          </a:solidFill>
          <a:ln w="12700" cap="flat" cmpd="sng" algn="ctr">
            <a:noFill/>
            <a:prstDash val="solid"/>
            <a:miter lim="800000"/>
          </a:ln>
          <a:effectLst/>
        </p:spPr>
        <p:txBody>
          <a:bodyPr rtlCol="0" anchor="ctr"/>
          <a:lstStyle/>
          <a:p>
            <a:pPr algn="ctr"/>
            <a:r>
              <a:rPr kumimoji="1" lang="zh-CN" altLang="en-US" sz="1400" kern="0">
                <a:solidFill>
                  <a:srgbClr val="4472C4"/>
                </a:solidFill>
                <a:latin typeface="Microsoft YaHei" panose="020B0503020204020204" pitchFamily="34" charset="-122"/>
                <a:ea typeface="Microsoft YaHei" panose="020B0503020204020204" pitchFamily="34" charset="-122"/>
              </a:rPr>
              <a:t>精确识别</a:t>
            </a:r>
            <a:r>
              <a:rPr kumimoji="1" lang="en-US" altLang="zh-CN" sz="1400" kern="0" dirty="0">
                <a:solidFill>
                  <a:srgbClr val="4472C4"/>
                </a:solidFill>
                <a:latin typeface="Microsoft YaHei" panose="020B0503020204020204" pitchFamily="34" charset="-122"/>
                <a:ea typeface="Microsoft YaHei" panose="020B0503020204020204" pitchFamily="34" charset="-122"/>
              </a:rPr>
              <a:t>Tool</a:t>
            </a:r>
            <a:r>
              <a:rPr kumimoji="1" lang="zh-CN" altLang="en-US" sz="1400" kern="0" dirty="0">
                <a:solidFill>
                  <a:srgbClr val="4472C4"/>
                </a:solidFill>
                <a:latin typeface="Microsoft YaHei" panose="020B0503020204020204" pitchFamily="34" charset="-122"/>
                <a:ea typeface="Microsoft YaHei" panose="020B0503020204020204" pitchFamily="34" charset="-122"/>
              </a:rPr>
              <a:t>及参数</a:t>
            </a:r>
          </a:p>
        </p:txBody>
      </p:sp>
      <p:sp>
        <p:nvSpPr>
          <p:cNvPr id="61" name="矩形: 圆角 60">
            <a:extLst>
              <a:ext uri="{FF2B5EF4-FFF2-40B4-BE49-F238E27FC236}">
                <a16:creationId xmlns:a16="http://schemas.microsoft.com/office/drawing/2014/main" id="{EA30421A-7542-275B-AC68-BB1D2001E57E}"/>
              </a:ext>
            </a:extLst>
          </p:cNvPr>
          <p:cNvSpPr/>
          <p:nvPr/>
        </p:nvSpPr>
        <p:spPr>
          <a:xfrm>
            <a:off x="7453946" y="3687937"/>
            <a:ext cx="893096" cy="180000"/>
          </a:xfrm>
          <a:prstGeom prst="roundRect">
            <a:avLst/>
          </a:prstGeom>
          <a:noFill/>
          <a:ln w="6350" cap="sq" cmpd="sng" algn="ctr">
            <a:solidFill>
              <a:srgbClr val="29484D"/>
            </a:solidFill>
            <a:prstDash val="solid"/>
            <a:miter lim="800000"/>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zh-CN" altLang="en-US" sz="1200" b="0" i="0" u="none" strike="noStrike" kern="0" cap="none" spc="0" normalizeH="0" baseline="0" noProof="0" dirty="0">
                <a:ln>
                  <a:noFill/>
                </a:ln>
                <a:solidFill>
                  <a:srgbClr val="000000"/>
                </a:solidFill>
                <a:effectLst/>
                <a:uLnTx/>
                <a:uFillTx/>
                <a:latin typeface="华文楷体"/>
                <a:ea typeface="华文楷体"/>
                <a:cs typeface="+mn-cs"/>
              </a:rPr>
              <a:t>数据检查</a:t>
            </a:r>
          </a:p>
        </p:txBody>
      </p:sp>
      <p:sp>
        <p:nvSpPr>
          <p:cNvPr id="62" name="矩形: 圆角 61">
            <a:extLst>
              <a:ext uri="{FF2B5EF4-FFF2-40B4-BE49-F238E27FC236}">
                <a16:creationId xmlns:a16="http://schemas.microsoft.com/office/drawing/2014/main" id="{BF49AFCB-C69D-7C77-1ECB-7D78FBF466F4}"/>
              </a:ext>
            </a:extLst>
          </p:cNvPr>
          <p:cNvSpPr/>
          <p:nvPr/>
        </p:nvSpPr>
        <p:spPr>
          <a:xfrm>
            <a:off x="7453946" y="3914482"/>
            <a:ext cx="893096" cy="180000"/>
          </a:xfrm>
          <a:prstGeom prst="roundRect">
            <a:avLst/>
          </a:prstGeom>
          <a:noFill/>
          <a:ln w="6350" cap="sq" cmpd="sng" algn="ctr">
            <a:solidFill>
              <a:srgbClr val="29484D"/>
            </a:solidFill>
            <a:prstDash val="solid"/>
            <a:miter lim="800000"/>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zh-CN" altLang="en-US" sz="1200" b="0" i="0" u="none" strike="noStrike" kern="0" cap="none" spc="0" normalizeH="0" baseline="0" noProof="0" dirty="0">
                <a:ln>
                  <a:noFill/>
                </a:ln>
                <a:solidFill>
                  <a:srgbClr val="000000"/>
                </a:solidFill>
                <a:effectLst/>
                <a:uLnTx/>
                <a:uFillTx/>
                <a:latin typeface="华文楷体"/>
                <a:ea typeface="华文楷体"/>
                <a:cs typeface="+mn-cs"/>
              </a:rPr>
              <a:t>调用插件</a:t>
            </a:r>
          </a:p>
        </p:txBody>
      </p:sp>
      <p:sp>
        <p:nvSpPr>
          <p:cNvPr id="63" name="矩形: 圆角 62">
            <a:extLst>
              <a:ext uri="{FF2B5EF4-FFF2-40B4-BE49-F238E27FC236}">
                <a16:creationId xmlns:a16="http://schemas.microsoft.com/office/drawing/2014/main" id="{092E7F1C-401E-AA0F-D238-1A2E60B568D0}"/>
              </a:ext>
            </a:extLst>
          </p:cNvPr>
          <p:cNvSpPr/>
          <p:nvPr/>
        </p:nvSpPr>
        <p:spPr>
          <a:xfrm>
            <a:off x="7453946" y="4141028"/>
            <a:ext cx="893096" cy="180000"/>
          </a:xfrm>
          <a:prstGeom prst="roundRect">
            <a:avLst/>
          </a:prstGeom>
          <a:noFill/>
          <a:ln w="6350" cap="sq" cmpd="sng" algn="ctr">
            <a:solidFill>
              <a:srgbClr val="29484D"/>
            </a:solidFill>
            <a:prstDash val="solid"/>
            <a:miter lim="800000"/>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zh-CN" altLang="en-US" sz="1200" b="0" i="0" u="none" strike="noStrike" kern="0" cap="none" spc="0" normalizeH="0" baseline="0" noProof="0" dirty="0">
                <a:ln>
                  <a:noFill/>
                </a:ln>
                <a:solidFill>
                  <a:srgbClr val="000000"/>
                </a:solidFill>
                <a:effectLst/>
                <a:uLnTx/>
                <a:uFillTx/>
                <a:latin typeface="华文楷体"/>
                <a:ea typeface="华文楷体"/>
                <a:cs typeface="+mn-cs"/>
              </a:rPr>
              <a:t>调用接口</a:t>
            </a:r>
          </a:p>
        </p:txBody>
      </p:sp>
      <p:cxnSp>
        <p:nvCxnSpPr>
          <p:cNvPr id="64" name="连接符: 肘形 63">
            <a:extLst>
              <a:ext uri="{FF2B5EF4-FFF2-40B4-BE49-F238E27FC236}">
                <a16:creationId xmlns:a16="http://schemas.microsoft.com/office/drawing/2014/main" id="{CE746228-2D55-A3F7-2EC8-7ED3FE995200}"/>
              </a:ext>
            </a:extLst>
          </p:cNvPr>
          <p:cNvCxnSpPr>
            <a:cxnSpLocks/>
            <a:stCxn id="45" idx="3"/>
            <a:endCxn id="61" idx="1"/>
          </p:cNvCxnSpPr>
          <p:nvPr/>
        </p:nvCxnSpPr>
        <p:spPr>
          <a:xfrm flipV="1">
            <a:off x="6848166" y="3777937"/>
            <a:ext cx="605780" cy="110496"/>
          </a:xfrm>
          <a:prstGeom prst="bentConnector3">
            <a:avLst/>
          </a:prstGeom>
          <a:noFill/>
          <a:ln w="6350" cap="flat" cmpd="sng" algn="ctr">
            <a:solidFill>
              <a:srgbClr val="35C3F7"/>
            </a:solidFill>
            <a:prstDash val="solid"/>
            <a:miter lim="800000"/>
            <a:tailEnd type="triangle"/>
          </a:ln>
          <a:effectLst/>
        </p:spPr>
      </p:cxnSp>
      <p:cxnSp>
        <p:nvCxnSpPr>
          <p:cNvPr id="65" name="连接符: 肘形 64">
            <a:extLst>
              <a:ext uri="{FF2B5EF4-FFF2-40B4-BE49-F238E27FC236}">
                <a16:creationId xmlns:a16="http://schemas.microsoft.com/office/drawing/2014/main" id="{4CB72B69-F37B-7B63-6754-3D759D199F73}"/>
              </a:ext>
            </a:extLst>
          </p:cNvPr>
          <p:cNvCxnSpPr>
            <a:cxnSpLocks/>
            <a:stCxn id="45" idx="3"/>
            <a:endCxn id="63" idx="1"/>
          </p:cNvCxnSpPr>
          <p:nvPr/>
        </p:nvCxnSpPr>
        <p:spPr>
          <a:xfrm>
            <a:off x="6848166" y="3888433"/>
            <a:ext cx="605780" cy="342595"/>
          </a:xfrm>
          <a:prstGeom prst="bentConnector3">
            <a:avLst/>
          </a:prstGeom>
          <a:noFill/>
          <a:ln w="6350" cap="flat" cmpd="sng" algn="ctr">
            <a:solidFill>
              <a:srgbClr val="35C3F7"/>
            </a:solidFill>
            <a:prstDash val="solid"/>
            <a:miter lim="800000"/>
            <a:tailEnd type="triangle"/>
          </a:ln>
          <a:effectLst/>
        </p:spPr>
      </p:cxnSp>
      <p:cxnSp>
        <p:nvCxnSpPr>
          <p:cNvPr id="66" name="直线箭头连接符 34">
            <a:extLst>
              <a:ext uri="{FF2B5EF4-FFF2-40B4-BE49-F238E27FC236}">
                <a16:creationId xmlns:a16="http://schemas.microsoft.com/office/drawing/2014/main" id="{2A4AB228-B238-1E20-1C57-9B50B6372F6B}"/>
              </a:ext>
            </a:extLst>
          </p:cNvPr>
          <p:cNvCxnSpPr>
            <a:cxnSpLocks/>
            <a:stCxn id="45" idx="2"/>
            <a:endCxn id="47" idx="0"/>
          </p:cNvCxnSpPr>
          <p:nvPr/>
        </p:nvCxnSpPr>
        <p:spPr>
          <a:xfrm>
            <a:off x="5710083" y="4134351"/>
            <a:ext cx="0" cy="290422"/>
          </a:xfrm>
          <a:prstGeom prst="straightConnector1">
            <a:avLst/>
          </a:prstGeom>
          <a:noFill/>
          <a:ln w="10795" cap="flat" cmpd="sng" algn="ctr">
            <a:solidFill>
              <a:srgbClr val="35C3F7"/>
            </a:solidFill>
            <a:prstDash val="solid"/>
            <a:tailEnd type="triangle"/>
          </a:ln>
          <a:effectLst/>
        </p:spPr>
      </p:cxnSp>
      <p:sp>
        <p:nvSpPr>
          <p:cNvPr id="67" name="矩形: 圆角 66">
            <a:extLst>
              <a:ext uri="{FF2B5EF4-FFF2-40B4-BE49-F238E27FC236}">
                <a16:creationId xmlns:a16="http://schemas.microsoft.com/office/drawing/2014/main" id="{0D2FF571-FF21-832E-74F5-1B564E18D9C8}"/>
              </a:ext>
            </a:extLst>
          </p:cNvPr>
          <p:cNvSpPr/>
          <p:nvPr/>
        </p:nvSpPr>
        <p:spPr>
          <a:xfrm>
            <a:off x="7453946" y="3461392"/>
            <a:ext cx="893096" cy="180000"/>
          </a:xfrm>
          <a:prstGeom prst="roundRect">
            <a:avLst/>
          </a:prstGeom>
          <a:noFill/>
          <a:ln w="6350" cap="sq" cmpd="sng" algn="ctr">
            <a:solidFill>
              <a:srgbClr val="29484D"/>
            </a:solidFill>
            <a:prstDash val="solid"/>
            <a:miter lim="800000"/>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100" b="0" i="0" u="none" strike="noStrike" kern="0" cap="none" spc="0" normalizeH="0" baseline="0" noProof="0" dirty="0">
                <a:ln>
                  <a:noFill/>
                </a:ln>
                <a:solidFill>
                  <a:srgbClr val="000000"/>
                </a:solidFill>
                <a:effectLst/>
                <a:uLnTx/>
                <a:uFillTx/>
                <a:latin typeface="华文楷体"/>
                <a:ea typeface="华文楷体"/>
                <a:cs typeface="+mn-cs"/>
              </a:rPr>
              <a:t>权限检查</a:t>
            </a:r>
            <a:endParaRPr kumimoji="0" lang="en-US" altLang="zh-CN" sz="1100" b="0" i="0" u="none" strike="noStrike" kern="0" cap="none" spc="0" normalizeH="0" baseline="0" noProof="0" dirty="0">
              <a:ln>
                <a:noFill/>
              </a:ln>
              <a:solidFill>
                <a:srgbClr val="000000"/>
              </a:solidFill>
              <a:effectLst/>
              <a:uLnTx/>
              <a:uFillTx/>
              <a:latin typeface="华文楷体"/>
              <a:ea typeface="华文楷体"/>
              <a:cs typeface="+mn-cs"/>
            </a:endParaRPr>
          </a:p>
        </p:txBody>
      </p:sp>
      <p:sp>
        <p:nvSpPr>
          <p:cNvPr id="68" name="矩形: 圆角 67">
            <a:extLst>
              <a:ext uri="{FF2B5EF4-FFF2-40B4-BE49-F238E27FC236}">
                <a16:creationId xmlns:a16="http://schemas.microsoft.com/office/drawing/2014/main" id="{9248370F-782E-851C-694E-84A005372371}"/>
              </a:ext>
            </a:extLst>
          </p:cNvPr>
          <p:cNvSpPr/>
          <p:nvPr/>
        </p:nvSpPr>
        <p:spPr>
          <a:xfrm>
            <a:off x="7453946" y="2930287"/>
            <a:ext cx="893096" cy="351559"/>
          </a:xfrm>
          <a:prstGeom prst="roundRect">
            <a:avLst/>
          </a:prstGeom>
          <a:noFill/>
          <a:ln w="6350" cap="sq" cmpd="sng" algn="ctr">
            <a:solidFill>
              <a:srgbClr val="29484D"/>
            </a:solidFill>
            <a:prstDash val="solid"/>
            <a:miter lim="800000"/>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800" b="0" i="0" u="none" strike="noStrike" kern="0" cap="none" spc="0" normalizeH="0" baseline="0" noProof="0" dirty="0">
                <a:ln>
                  <a:noFill/>
                </a:ln>
                <a:solidFill>
                  <a:srgbClr val="000000"/>
                </a:solidFill>
                <a:effectLst/>
                <a:uLnTx/>
                <a:uFillTx/>
                <a:latin typeface="华文楷体"/>
                <a:ea typeface="华文楷体"/>
                <a:cs typeface="+mn-cs"/>
              </a:rPr>
              <a:t>MCP Tool Schema</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800" b="0" i="0" u="none" strike="noStrike" kern="0" cap="none" spc="0" normalizeH="0" baseline="0" noProof="0" dirty="0">
                <a:ln>
                  <a:noFill/>
                </a:ln>
                <a:solidFill>
                  <a:srgbClr val="000000"/>
                </a:solidFill>
                <a:effectLst/>
                <a:uLnTx/>
                <a:uFillTx/>
                <a:latin typeface="华文楷体"/>
                <a:ea typeface="华文楷体"/>
                <a:cs typeface="+mn-cs"/>
              </a:rPr>
              <a:t>获取本体定义的合法操作</a:t>
            </a:r>
          </a:p>
        </p:txBody>
      </p:sp>
      <p:cxnSp>
        <p:nvCxnSpPr>
          <p:cNvPr id="69" name="直线箭头连接符 34">
            <a:extLst>
              <a:ext uri="{FF2B5EF4-FFF2-40B4-BE49-F238E27FC236}">
                <a16:creationId xmlns:a16="http://schemas.microsoft.com/office/drawing/2014/main" id="{81C331B5-E5A1-16C3-05B6-1247557F67D6}"/>
              </a:ext>
            </a:extLst>
          </p:cNvPr>
          <p:cNvCxnSpPr>
            <a:cxnSpLocks/>
            <a:stCxn id="47" idx="1"/>
            <a:endCxn id="43" idx="1"/>
          </p:cNvCxnSpPr>
          <p:nvPr/>
        </p:nvCxnSpPr>
        <p:spPr>
          <a:xfrm rot="10800000">
            <a:off x="4572000" y="1541656"/>
            <a:ext cx="12700" cy="3129036"/>
          </a:xfrm>
          <a:prstGeom prst="bentConnector3">
            <a:avLst>
              <a:gd name="adj1" fmla="val 1800000"/>
            </a:avLst>
          </a:prstGeom>
          <a:noFill/>
          <a:ln w="9525" cap="flat" cmpd="sng" algn="ctr">
            <a:solidFill>
              <a:srgbClr val="EE8F62"/>
            </a:solidFill>
            <a:prstDash val="solid"/>
            <a:tailEnd type="triangle"/>
          </a:ln>
          <a:effectLst/>
        </p:spPr>
      </p:cxnSp>
      <p:cxnSp>
        <p:nvCxnSpPr>
          <p:cNvPr id="70" name="直线箭头连接符 34">
            <a:extLst>
              <a:ext uri="{FF2B5EF4-FFF2-40B4-BE49-F238E27FC236}">
                <a16:creationId xmlns:a16="http://schemas.microsoft.com/office/drawing/2014/main" id="{A89448D7-BD9B-7BF1-ABE8-C9ABF79DEC4B}"/>
              </a:ext>
            </a:extLst>
          </p:cNvPr>
          <p:cNvCxnSpPr>
            <a:cxnSpLocks/>
            <a:stCxn id="68" idx="1"/>
            <a:endCxn id="60" idx="3"/>
          </p:cNvCxnSpPr>
          <p:nvPr/>
        </p:nvCxnSpPr>
        <p:spPr>
          <a:xfrm flipH="1">
            <a:off x="6848166" y="3106067"/>
            <a:ext cx="605780" cy="107"/>
          </a:xfrm>
          <a:prstGeom prst="straightConnector1">
            <a:avLst/>
          </a:prstGeom>
          <a:noFill/>
          <a:ln w="10795" cap="flat" cmpd="sng" algn="ctr">
            <a:solidFill>
              <a:srgbClr val="35C3F7"/>
            </a:solidFill>
            <a:prstDash val="solid"/>
            <a:tailEnd type="triangle"/>
          </a:ln>
          <a:effectLst/>
        </p:spPr>
      </p:cxnSp>
      <p:cxnSp>
        <p:nvCxnSpPr>
          <p:cNvPr id="71" name="肘形连接符 107">
            <a:extLst>
              <a:ext uri="{FF2B5EF4-FFF2-40B4-BE49-F238E27FC236}">
                <a16:creationId xmlns:a16="http://schemas.microsoft.com/office/drawing/2014/main" id="{AA763ACA-1AA3-26FF-2CF7-8BF7C119EB67}"/>
              </a:ext>
            </a:extLst>
          </p:cNvPr>
          <p:cNvCxnSpPr>
            <a:cxnSpLocks/>
            <a:stCxn id="44" idx="2"/>
            <a:endCxn id="60" idx="0"/>
          </p:cNvCxnSpPr>
          <p:nvPr/>
        </p:nvCxnSpPr>
        <p:spPr>
          <a:xfrm>
            <a:off x="5710083" y="2569833"/>
            <a:ext cx="1" cy="290422"/>
          </a:xfrm>
          <a:prstGeom prst="straightConnector1">
            <a:avLst/>
          </a:prstGeom>
          <a:noFill/>
          <a:ln w="12700" cap="flat" cmpd="sng" algn="ctr">
            <a:solidFill>
              <a:srgbClr val="29484D"/>
            </a:solidFill>
            <a:prstDash val="solid"/>
            <a:tailEnd type="triangle"/>
          </a:ln>
          <a:effectLst/>
        </p:spPr>
      </p:cxnSp>
      <p:cxnSp>
        <p:nvCxnSpPr>
          <p:cNvPr id="72" name="连接符: 肘形 71">
            <a:extLst>
              <a:ext uri="{FF2B5EF4-FFF2-40B4-BE49-F238E27FC236}">
                <a16:creationId xmlns:a16="http://schemas.microsoft.com/office/drawing/2014/main" id="{03FC2A5D-F02B-831F-CB8C-881B9BD91BAF}"/>
              </a:ext>
            </a:extLst>
          </p:cNvPr>
          <p:cNvCxnSpPr>
            <a:cxnSpLocks/>
            <a:stCxn id="45" idx="3"/>
            <a:endCxn id="62" idx="1"/>
          </p:cNvCxnSpPr>
          <p:nvPr/>
        </p:nvCxnSpPr>
        <p:spPr>
          <a:xfrm>
            <a:off x="6848166" y="3888433"/>
            <a:ext cx="605780" cy="116049"/>
          </a:xfrm>
          <a:prstGeom prst="bentConnector3">
            <a:avLst>
              <a:gd name="adj1" fmla="val 50000"/>
            </a:avLst>
          </a:prstGeom>
          <a:noFill/>
          <a:ln w="6350" cap="flat" cmpd="sng" algn="ctr">
            <a:solidFill>
              <a:srgbClr val="35C3F7"/>
            </a:solidFill>
            <a:prstDash val="solid"/>
            <a:miter lim="800000"/>
            <a:tailEnd type="triangle"/>
          </a:ln>
          <a:effectLst/>
        </p:spPr>
      </p:cxnSp>
      <p:cxnSp>
        <p:nvCxnSpPr>
          <p:cNvPr id="73" name="连接符: 肘形 72">
            <a:extLst>
              <a:ext uri="{FF2B5EF4-FFF2-40B4-BE49-F238E27FC236}">
                <a16:creationId xmlns:a16="http://schemas.microsoft.com/office/drawing/2014/main" id="{736DDD69-5262-29EE-0D82-395B57DFD22B}"/>
              </a:ext>
            </a:extLst>
          </p:cNvPr>
          <p:cNvCxnSpPr>
            <a:cxnSpLocks/>
            <a:stCxn id="45" idx="3"/>
            <a:endCxn id="67" idx="1"/>
          </p:cNvCxnSpPr>
          <p:nvPr/>
        </p:nvCxnSpPr>
        <p:spPr>
          <a:xfrm flipV="1">
            <a:off x="6848166" y="3551392"/>
            <a:ext cx="605780" cy="337041"/>
          </a:xfrm>
          <a:prstGeom prst="bentConnector3">
            <a:avLst>
              <a:gd name="adj1" fmla="val 50000"/>
            </a:avLst>
          </a:prstGeom>
          <a:noFill/>
          <a:ln w="6350" cap="flat" cmpd="sng" algn="ctr">
            <a:solidFill>
              <a:srgbClr val="35C3F7"/>
            </a:solidFill>
            <a:prstDash val="solid"/>
            <a:miter lim="800000"/>
            <a:tailEnd type="triangle"/>
          </a:ln>
          <a:effectLst/>
        </p:spPr>
      </p:cxnSp>
      <p:sp>
        <p:nvSpPr>
          <p:cNvPr id="3" name="文本框 2">
            <a:extLst>
              <a:ext uri="{FF2B5EF4-FFF2-40B4-BE49-F238E27FC236}">
                <a16:creationId xmlns:a16="http://schemas.microsoft.com/office/drawing/2014/main" id="{573AD17E-3B77-E64E-3D0C-E17D6D03672A}"/>
              </a:ext>
            </a:extLst>
          </p:cNvPr>
          <p:cNvSpPr txBox="1"/>
          <p:nvPr/>
        </p:nvSpPr>
        <p:spPr>
          <a:xfrm>
            <a:off x="428024" y="1712185"/>
            <a:ext cx="3624371" cy="2280048"/>
          </a:xfrm>
          <a:prstGeom prst="rect">
            <a:avLst/>
          </a:prstGeom>
          <a:noFill/>
        </p:spPr>
        <p:txBody>
          <a:bodyPr wrap="square">
            <a:spAutoFit/>
          </a:bodyPr>
          <a:lstStyle/>
          <a:p>
            <a:pPr>
              <a:lnSpc>
                <a:spcPct val="150000"/>
              </a:lnSpc>
            </a:pPr>
            <a:r>
              <a:rPr lang="en-US" altLang="zh-CN" sz="1200" dirty="0"/>
              <a:t>process() </a:t>
            </a:r>
            <a:r>
              <a:rPr lang="zh-CN" altLang="en-US" sz="1200" dirty="0"/>
              <a:t>是状态机，</a:t>
            </a:r>
            <a:r>
              <a:rPr lang="en-US" altLang="zh-CN" sz="1200" dirty="0"/>
              <a:t>LLM </a:t>
            </a:r>
            <a:r>
              <a:rPr lang="zh-CN" altLang="en-US" sz="1200" dirty="0"/>
              <a:t>无法跳过阶段：</a:t>
            </a:r>
          </a:p>
          <a:p>
            <a:pPr marL="228600" indent="-228600">
              <a:lnSpc>
                <a:spcPct val="150000"/>
              </a:lnSpc>
              <a:buFont typeface="+mj-ea"/>
              <a:buAutoNum type="circleNumDbPlain"/>
            </a:pPr>
            <a:r>
              <a:rPr lang="zh-CN" altLang="en-US" sz="1200" dirty="0"/>
              <a:t>意图解析（代码强制调用，</a:t>
            </a:r>
            <a:r>
              <a:rPr lang="en-US" altLang="zh-CN" sz="1200" dirty="0"/>
              <a:t>LLM </a:t>
            </a:r>
            <a:r>
              <a:rPr lang="zh-CN" altLang="en-US" sz="1200" dirty="0"/>
              <a:t>只负责生成参数）</a:t>
            </a:r>
          </a:p>
          <a:p>
            <a:pPr marL="228600" indent="-228600">
              <a:lnSpc>
                <a:spcPct val="150000"/>
              </a:lnSpc>
              <a:buFont typeface="+mj-ea"/>
              <a:buAutoNum type="circleNumDbPlain"/>
            </a:pPr>
            <a:r>
              <a:rPr lang="zh-CN" altLang="en-US" sz="1200" dirty="0"/>
              <a:t>规划验证（代码决定调用，</a:t>
            </a:r>
            <a:r>
              <a:rPr lang="en-US" altLang="zh-CN" sz="1200" dirty="0"/>
              <a:t>LLM </a:t>
            </a:r>
            <a:r>
              <a:rPr lang="zh-CN" altLang="en-US" sz="1200" dirty="0"/>
              <a:t>生成参数）</a:t>
            </a:r>
          </a:p>
          <a:p>
            <a:pPr marL="228600" indent="-228600">
              <a:lnSpc>
                <a:spcPct val="150000"/>
              </a:lnSpc>
              <a:buFont typeface="+mj-ea"/>
              <a:buAutoNum type="circleNumDbPlain"/>
            </a:pPr>
            <a:r>
              <a:rPr lang="zh-CN" altLang="en-US" sz="1200" dirty="0"/>
              <a:t>数据查询（代码按规划调用，</a:t>
            </a:r>
            <a:r>
              <a:rPr lang="en-US" altLang="zh-CN" sz="1200" dirty="0"/>
              <a:t>LLM </a:t>
            </a:r>
            <a:r>
              <a:rPr lang="zh-CN" altLang="en-US" sz="1200" dirty="0"/>
              <a:t>不参与）</a:t>
            </a:r>
          </a:p>
          <a:p>
            <a:pPr marL="228600" indent="-228600">
              <a:lnSpc>
                <a:spcPct val="150000"/>
              </a:lnSpc>
              <a:buFont typeface="+mj-ea"/>
              <a:buAutoNum type="circleNumDbPlain"/>
            </a:pPr>
            <a:r>
              <a:rPr lang="zh-CN" altLang="en-US" sz="1200" dirty="0"/>
              <a:t>规则推理（代码强制调用，</a:t>
            </a:r>
            <a:r>
              <a:rPr lang="en-US" altLang="zh-CN" sz="1200" dirty="0"/>
              <a:t>LLM </a:t>
            </a:r>
            <a:r>
              <a:rPr lang="zh-CN" altLang="en-US" sz="1200" dirty="0"/>
              <a:t>生成参数）</a:t>
            </a:r>
          </a:p>
          <a:p>
            <a:pPr marL="228600" indent="-228600">
              <a:lnSpc>
                <a:spcPct val="150000"/>
              </a:lnSpc>
              <a:buFont typeface="+mj-ea"/>
              <a:buAutoNum type="circleNumDbPlain"/>
            </a:pPr>
            <a:r>
              <a:rPr lang="zh-CN" altLang="en-US" sz="1200" dirty="0"/>
              <a:t>生成回答（</a:t>
            </a:r>
            <a:r>
              <a:rPr lang="en-US" altLang="zh-CN" sz="1200" dirty="0"/>
              <a:t>LLM </a:t>
            </a:r>
            <a:r>
              <a:rPr lang="zh-CN" altLang="en-US" sz="1200" dirty="0"/>
              <a:t>必须有结论才能生成回答）</a:t>
            </a:r>
          </a:p>
          <a:p>
            <a:pPr>
              <a:lnSpc>
                <a:spcPct val="150000"/>
              </a:lnSpc>
            </a:pPr>
            <a:r>
              <a:rPr lang="zh-CN" altLang="en-US" sz="1200" dirty="0"/>
              <a:t>关键设计：</a:t>
            </a:r>
            <a:r>
              <a:rPr lang="en-US" altLang="zh-CN" sz="1200" dirty="0"/>
              <a:t>LLM </a:t>
            </a:r>
            <a:r>
              <a:rPr lang="zh-CN" altLang="en-US" sz="1200" dirty="0"/>
              <a:t>的角色被限制为参数生成器和最终表达器。</a:t>
            </a:r>
            <a:endParaRPr lang="zh-CN" altLang="en-US" sz="900" dirty="0"/>
          </a:p>
        </p:txBody>
      </p:sp>
      <p:sp>
        <p:nvSpPr>
          <p:cNvPr id="86" name="文本框 85">
            <a:extLst>
              <a:ext uri="{FF2B5EF4-FFF2-40B4-BE49-F238E27FC236}">
                <a16:creationId xmlns:a16="http://schemas.microsoft.com/office/drawing/2014/main" id="{3DB9F373-D49D-14B4-F5B2-60801905A756}"/>
              </a:ext>
            </a:extLst>
          </p:cNvPr>
          <p:cNvSpPr txBox="1"/>
          <p:nvPr/>
        </p:nvSpPr>
        <p:spPr>
          <a:xfrm>
            <a:off x="5682231" y="3352092"/>
            <a:ext cx="646331" cy="230832"/>
          </a:xfrm>
          <a:prstGeom prst="rect">
            <a:avLst/>
          </a:prstGeom>
          <a:noFill/>
        </p:spPr>
        <p:txBody>
          <a:bodyPr wrap="none" rtlCol="0">
            <a:spAutoFit/>
          </a:bodyPr>
          <a:lstStyle/>
          <a:p>
            <a:r>
              <a:rPr lang="en-US" altLang="zh-CN" sz="900" dirty="0">
                <a:latin typeface="楷体" panose="02010609060101010101" pitchFamily="49" charset="-122"/>
                <a:ea typeface="楷体" panose="02010609060101010101" pitchFamily="49" charset="-122"/>
              </a:rPr>
              <a:t>Tool</a:t>
            </a:r>
            <a:r>
              <a:rPr lang="zh-CN" altLang="en-US" sz="900" dirty="0">
                <a:latin typeface="楷体" panose="02010609060101010101" pitchFamily="49" charset="-122"/>
                <a:ea typeface="楷体" panose="02010609060101010101" pitchFamily="49" charset="-122"/>
              </a:rPr>
              <a:t>参数</a:t>
            </a:r>
          </a:p>
        </p:txBody>
      </p:sp>
      <p:sp>
        <p:nvSpPr>
          <p:cNvPr id="88" name="文本框 87">
            <a:extLst>
              <a:ext uri="{FF2B5EF4-FFF2-40B4-BE49-F238E27FC236}">
                <a16:creationId xmlns:a16="http://schemas.microsoft.com/office/drawing/2014/main" id="{5D5AD949-9D91-C755-EE3D-611C41EF89BE}"/>
              </a:ext>
            </a:extLst>
          </p:cNvPr>
          <p:cNvSpPr txBox="1"/>
          <p:nvPr/>
        </p:nvSpPr>
        <p:spPr>
          <a:xfrm>
            <a:off x="3886200" y="4703190"/>
            <a:ext cx="800100" cy="215444"/>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800" b="0" i="0" u="none" strike="noStrike" kern="0" cap="none" spc="0" normalizeH="0" baseline="0" noProof="0" dirty="0">
                <a:ln>
                  <a:noFill/>
                </a:ln>
                <a:solidFill>
                  <a:srgbClr val="4472C4"/>
                </a:solidFill>
                <a:effectLst/>
                <a:uLnTx/>
                <a:uFillTx/>
                <a:latin typeface="Microsoft YaHei" panose="020B0503020204020204" pitchFamily="34" charset="-122"/>
                <a:ea typeface="Microsoft YaHei" panose="020B0503020204020204" pitchFamily="34" charset="-122"/>
              </a:rPr>
              <a:t>返回给用户</a:t>
            </a:r>
          </a:p>
        </p:txBody>
      </p:sp>
      <p:sp>
        <p:nvSpPr>
          <p:cNvPr id="4" name="文本框 3">
            <a:extLst>
              <a:ext uri="{FF2B5EF4-FFF2-40B4-BE49-F238E27FC236}">
                <a16:creationId xmlns:a16="http://schemas.microsoft.com/office/drawing/2014/main" id="{75E772B7-14A7-FE47-06C9-88FAE7CDE18D}"/>
              </a:ext>
            </a:extLst>
          </p:cNvPr>
          <p:cNvSpPr txBox="1"/>
          <p:nvPr/>
        </p:nvSpPr>
        <p:spPr>
          <a:xfrm>
            <a:off x="432126" y="1250451"/>
            <a:ext cx="3819325" cy="369332"/>
          </a:xfrm>
          <a:prstGeom prst="rect">
            <a:avLst/>
          </a:prstGeom>
          <a:noFill/>
        </p:spPr>
        <p:txBody>
          <a:bodyPr wrap="square">
            <a:spAutoFit/>
          </a:bodyPr>
          <a:lstStyle/>
          <a:p>
            <a:r>
              <a:rPr lang="zh-CN" altLang="en-US" dirty="0"/>
              <a:t>第三层：架构控制</a:t>
            </a:r>
          </a:p>
        </p:txBody>
      </p:sp>
    </p:spTree>
    <p:extLst>
      <p:ext uri="{BB962C8B-B14F-4D97-AF65-F5344CB8AC3E}">
        <p14:creationId xmlns:p14="http://schemas.microsoft.com/office/powerpoint/2010/main" val="38180998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F7F75-7EA3-68C4-4A44-0D38EAF2C364}"/>
            </a:ext>
          </a:extLst>
        </p:cNvPr>
        <p:cNvGrpSpPr/>
        <p:nvPr/>
      </p:nvGrpSpPr>
      <p:grpSpPr>
        <a:xfrm>
          <a:off x="0" y="0"/>
          <a:ext cx="0" cy="0"/>
          <a:chOff x="0" y="0"/>
          <a:chExt cx="0" cy="0"/>
        </a:xfrm>
      </p:grpSpPr>
      <p:sp>
        <p:nvSpPr>
          <p:cNvPr id="40" name="Shape 1">
            <a:extLst>
              <a:ext uri="{FF2B5EF4-FFF2-40B4-BE49-F238E27FC236}">
                <a16:creationId xmlns:a16="http://schemas.microsoft.com/office/drawing/2014/main" id="{1FA58D15-077D-0794-C320-F3BA6FF2A91A}"/>
              </a:ext>
            </a:extLst>
          </p:cNvPr>
          <p:cNvSpPr/>
          <p:nvPr/>
        </p:nvSpPr>
        <p:spPr>
          <a:xfrm>
            <a:off x="548640" y="274320"/>
            <a:ext cx="54864" cy="457200"/>
          </a:xfrm>
          <a:prstGeom prst="rect">
            <a:avLst/>
          </a:prstGeom>
          <a:solidFill>
            <a:srgbClr val="22A699"/>
          </a:solidFill>
          <a:ln/>
        </p:spPr>
        <p:txBody>
          <a:bodyPr/>
          <a:lstStyle/>
          <a:p>
            <a:endParaRPr lang="zh-CN" altLang="en-US"/>
          </a:p>
        </p:txBody>
      </p:sp>
      <p:sp>
        <p:nvSpPr>
          <p:cNvPr id="41" name="Text 2">
            <a:extLst>
              <a:ext uri="{FF2B5EF4-FFF2-40B4-BE49-F238E27FC236}">
                <a16:creationId xmlns:a16="http://schemas.microsoft.com/office/drawing/2014/main" id="{65430D8F-4E7C-8DB0-1488-4E3D5483AF8B}"/>
              </a:ext>
            </a:extLst>
          </p:cNvPr>
          <p:cNvSpPr/>
          <p:nvPr/>
        </p:nvSpPr>
        <p:spPr>
          <a:xfrm>
            <a:off x="731520" y="274320"/>
            <a:ext cx="731520" cy="457200"/>
          </a:xfrm>
          <a:prstGeom prst="rect">
            <a:avLst/>
          </a:prstGeom>
          <a:noFill/>
          <a:ln/>
        </p:spPr>
        <p:txBody>
          <a:bodyPr wrap="square" lIns="0" tIns="0" rIns="0" bIns="0" rtlCol="0" anchor="ctr"/>
          <a:lstStyle/>
          <a:p>
            <a:pPr marL="0" indent="0">
              <a:buNone/>
            </a:pPr>
            <a:r>
              <a:rPr lang="en-US" sz="1800" b="1" dirty="0">
                <a:solidFill>
                  <a:srgbClr val="22A699"/>
                </a:solidFill>
                <a:latin typeface="Arial" pitchFamily="34" charset="0"/>
                <a:ea typeface="Arial" pitchFamily="34" charset="-122"/>
                <a:cs typeface="Arial" pitchFamily="34" charset="-120"/>
              </a:rPr>
              <a:t>03</a:t>
            </a:r>
            <a:endParaRPr lang="en-US" sz="1800" dirty="0"/>
          </a:p>
        </p:txBody>
      </p:sp>
      <p:sp>
        <p:nvSpPr>
          <p:cNvPr id="42" name="Text 3">
            <a:extLst>
              <a:ext uri="{FF2B5EF4-FFF2-40B4-BE49-F238E27FC236}">
                <a16:creationId xmlns:a16="http://schemas.microsoft.com/office/drawing/2014/main" id="{5F9C2674-BEF4-E84C-6E76-BF65C1C1E463}"/>
              </a:ext>
            </a:extLst>
          </p:cNvPr>
          <p:cNvSpPr/>
          <p:nvPr/>
        </p:nvSpPr>
        <p:spPr>
          <a:xfrm>
            <a:off x="548640" y="822960"/>
            <a:ext cx="8046720" cy="457200"/>
          </a:xfrm>
          <a:prstGeom prst="rect">
            <a:avLst/>
          </a:prstGeom>
          <a:noFill/>
          <a:ln/>
        </p:spPr>
        <p:txBody>
          <a:bodyPr wrap="square" lIns="0" tIns="0" rIns="0" bIns="0" rtlCol="0" anchor="ctr"/>
          <a:lstStyle/>
          <a:p>
            <a:pPr marL="0" indent="0">
              <a:buNone/>
            </a:pPr>
            <a:r>
              <a:rPr lang="zh-CN" altLang="en-US" sz="2200" b="1" dirty="0">
                <a:solidFill>
                  <a:srgbClr val="1E293B"/>
                </a:solidFill>
                <a:latin typeface="Arial" pitchFamily="34" charset="0"/>
                <a:ea typeface="Arial" pitchFamily="34" charset="-122"/>
                <a:cs typeface="Arial" pitchFamily="34" charset="-120"/>
              </a:rPr>
              <a:t>如何确保 </a:t>
            </a:r>
            <a:r>
              <a:rPr lang="en-US" altLang="zh-CN" sz="2200" b="1" dirty="0">
                <a:solidFill>
                  <a:srgbClr val="1E293B"/>
                </a:solidFill>
                <a:latin typeface="Arial" pitchFamily="34" charset="0"/>
                <a:ea typeface="Arial" pitchFamily="34" charset="-122"/>
                <a:cs typeface="Arial" pitchFamily="34" charset="-120"/>
              </a:rPr>
              <a:t>LLM </a:t>
            </a:r>
            <a:r>
              <a:rPr lang="zh-CN" altLang="en-US" sz="2200" b="1" dirty="0">
                <a:solidFill>
                  <a:srgbClr val="1E293B"/>
                </a:solidFill>
                <a:latin typeface="Arial" pitchFamily="34" charset="0"/>
                <a:ea typeface="Arial" pitchFamily="34" charset="-122"/>
                <a:cs typeface="Arial" pitchFamily="34" charset="-120"/>
              </a:rPr>
              <a:t>一定会调用？</a:t>
            </a:r>
          </a:p>
        </p:txBody>
      </p:sp>
      <p:sp>
        <p:nvSpPr>
          <p:cNvPr id="43" name="矩形 42">
            <a:extLst>
              <a:ext uri="{FF2B5EF4-FFF2-40B4-BE49-F238E27FC236}">
                <a16:creationId xmlns:a16="http://schemas.microsoft.com/office/drawing/2014/main" id="{09835391-9A42-8E6E-161A-FD71A7E33250}"/>
              </a:ext>
            </a:extLst>
          </p:cNvPr>
          <p:cNvSpPr/>
          <p:nvPr/>
        </p:nvSpPr>
        <p:spPr>
          <a:xfrm>
            <a:off x="4572000" y="1295737"/>
            <a:ext cx="2276166" cy="491837"/>
          </a:xfrm>
          <a:prstGeom prst="rect">
            <a:avLst/>
          </a:prstGeom>
          <a:solidFill>
            <a:srgbClr val="29484D">
              <a:lumMod val="20000"/>
              <a:lumOff val="8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400" b="0" i="0" u="none" strike="noStrike" kern="0" cap="none" spc="0" normalizeH="0" baseline="0" noProof="0" dirty="0">
                <a:ln>
                  <a:noFill/>
                </a:ln>
                <a:solidFill>
                  <a:srgbClr val="4472C4"/>
                </a:solidFill>
                <a:effectLst/>
                <a:uLnTx/>
                <a:uFillTx/>
                <a:latin typeface="Microsoft YaHei" panose="020B0503020204020204" pitchFamily="34" charset="-122"/>
                <a:ea typeface="Microsoft YaHei" panose="020B0503020204020204" pitchFamily="34" charset="-122"/>
              </a:rPr>
              <a:t>自然语言</a:t>
            </a:r>
          </a:p>
        </p:txBody>
      </p:sp>
      <p:sp>
        <p:nvSpPr>
          <p:cNvPr id="44" name="矩形 43">
            <a:extLst>
              <a:ext uri="{FF2B5EF4-FFF2-40B4-BE49-F238E27FC236}">
                <a16:creationId xmlns:a16="http://schemas.microsoft.com/office/drawing/2014/main" id="{FC7548C5-EC62-63CD-520F-57DED0E60E8D}"/>
              </a:ext>
            </a:extLst>
          </p:cNvPr>
          <p:cNvSpPr/>
          <p:nvPr/>
        </p:nvSpPr>
        <p:spPr>
          <a:xfrm>
            <a:off x="4572000" y="2077996"/>
            <a:ext cx="2276166" cy="491837"/>
          </a:xfrm>
          <a:prstGeom prst="rect">
            <a:avLst/>
          </a:prstGeom>
          <a:solidFill>
            <a:srgbClr val="29484D">
              <a:lumMod val="20000"/>
              <a:lumOff val="80000"/>
            </a:srgbClr>
          </a:solidFill>
          <a:ln w="12700" cap="flat" cmpd="sng" algn="ctr">
            <a:noFill/>
            <a:prstDash val="solid"/>
            <a:miter lim="800000"/>
          </a:ln>
          <a:effectLst/>
        </p:spPr>
        <p:txBody>
          <a:bodyPr rtlCol="0" anchor="ctr"/>
          <a:lstStyle/>
          <a:p>
            <a:pPr algn="ctr"/>
            <a:r>
              <a:rPr kumimoji="1" lang="zh-CN" altLang="en-US" sz="1100" kern="0" dirty="0">
                <a:solidFill>
                  <a:srgbClr val="4472C4"/>
                </a:solidFill>
                <a:latin typeface="Microsoft YaHei" panose="020B0503020204020204" pitchFamily="34" charset="-122"/>
                <a:ea typeface="Microsoft YaHei" panose="020B0503020204020204" pitchFamily="34" charset="-122"/>
              </a:rPr>
              <a:t>大模型</a:t>
            </a:r>
            <a:endParaRPr kumimoji="1" lang="en-US" altLang="zh-CN" sz="1100" kern="0" dirty="0">
              <a:solidFill>
                <a:srgbClr val="4472C4"/>
              </a:solidFill>
              <a:latin typeface="Microsoft YaHei" panose="020B0503020204020204" pitchFamily="34" charset="-122"/>
              <a:ea typeface="Microsoft YaHei" panose="020B0503020204020204" pitchFamily="34" charset="-122"/>
            </a:endParaRPr>
          </a:p>
          <a:p>
            <a:pPr algn="ctr"/>
            <a:r>
              <a:rPr kumimoji="1" lang="zh-CN" altLang="en-US" sz="1400" kern="0" dirty="0">
                <a:solidFill>
                  <a:srgbClr val="4472C4"/>
                </a:solidFill>
                <a:latin typeface="Microsoft YaHei" panose="020B0503020204020204" pitchFamily="34" charset="-122"/>
                <a:ea typeface="Microsoft YaHei" panose="020B0503020204020204" pitchFamily="34" charset="-122"/>
              </a:rPr>
              <a:t>意图识别</a:t>
            </a:r>
          </a:p>
        </p:txBody>
      </p:sp>
      <p:sp>
        <p:nvSpPr>
          <p:cNvPr id="45" name="矩形 44">
            <a:extLst>
              <a:ext uri="{FF2B5EF4-FFF2-40B4-BE49-F238E27FC236}">
                <a16:creationId xmlns:a16="http://schemas.microsoft.com/office/drawing/2014/main" id="{2677DAE2-CEDC-36FF-56D8-A5CAF5F5A426}"/>
              </a:ext>
            </a:extLst>
          </p:cNvPr>
          <p:cNvSpPr/>
          <p:nvPr/>
        </p:nvSpPr>
        <p:spPr>
          <a:xfrm>
            <a:off x="4572000" y="3642514"/>
            <a:ext cx="2276166" cy="491837"/>
          </a:xfrm>
          <a:prstGeom prst="rect">
            <a:avLst/>
          </a:prstGeom>
          <a:solidFill>
            <a:srgbClr val="29484D">
              <a:lumMod val="20000"/>
              <a:lumOff val="8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400" b="0" i="0" u="none" strike="noStrike" kern="0" cap="none" spc="0" normalizeH="0" baseline="0" noProof="0" dirty="0">
                <a:ln>
                  <a:noFill/>
                </a:ln>
                <a:solidFill>
                  <a:srgbClr val="4472C4"/>
                </a:solidFill>
                <a:effectLst/>
                <a:uLnTx/>
                <a:uFillTx/>
                <a:latin typeface="Microsoft YaHei" panose="020B0503020204020204" pitchFamily="34" charset="-122"/>
                <a:ea typeface="Microsoft YaHei" panose="020B0503020204020204" pitchFamily="34" charset="-122"/>
              </a:rPr>
              <a:t>调用工具</a:t>
            </a:r>
          </a:p>
        </p:txBody>
      </p:sp>
      <p:cxnSp>
        <p:nvCxnSpPr>
          <p:cNvPr id="46" name="直线箭头连接符 34">
            <a:extLst>
              <a:ext uri="{FF2B5EF4-FFF2-40B4-BE49-F238E27FC236}">
                <a16:creationId xmlns:a16="http://schemas.microsoft.com/office/drawing/2014/main" id="{F6005530-8EAD-4214-A861-4812767BBFE5}"/>
              </a:ext>
            </a:extLst>
          </p:cNvPr>
          <p:cNvCxnSpPr>
            <a:cxnSpLocks/>
            <a:stCxn id="43" idx="2"/>
            <a:endCxn id="44" idx="0"/>
          </p:cNvCxnSpPr>
          <p:nvPr/>
        </p:nvCxnSpPr>
        <p:spPr>
          <a:xfrm>
            <a:off x="5710083" y="1787574"/>
            <a:ext cx="0" cy="290422"/>
          </a:xfrm>
          <a:prstGeom prst="straightConnector1">
            <a:avLst/>
          </a:prstGeom>
          <a:noFill/>
          <a:ln w="12700" cap="flat" cmpd="sng" algn="ctr">
            <a:solidFill>
              <a:srgbClr val="29484D"/>
            </a:solidFill>
            <a:prstDash val="solid"/>
            <a:tailEnd type="triangle"/>
          </a:ln>
          <a:effectLst/>
        </p:spPr>
      </p:cxnSp>
      <p:sp>
        <p:nvSpPr>
          <p:cNvPr id="47" name="矩形 46">
            <a:extLst>
              <a:ext uri="{FF2B5EF4-FFF2-40B4-BE49-F238E27FC236}">
                <a16:creationId xmlns:a16="http://schemas.microsoft.com/office/drawing/2014/main" id="{FA88D7E9-D2BE-BC4E-899A-709485FD4C24}"/>
              </a:ext>
            </a:extLst>
          </p:cNvPr>
          <p:cNvSpPr/>
          <p:nvPr/>
        </p:nvSpPr>
        <p:spPr>
          <a:xfrm>
            <a:off x="4572000" y="4424773"/>
            <a:ext cx="2276166" cy="491837"/>
          </a:xfrm>
          <a:prstGeom prst="rect">
            <a:avLst/>
          </a:prstGeom>
          <a:solidFill>
            <a:schemeClr val="accent1"/>
          </a:solidFill>
          <a:ln w="12700" cap="flat" cmpd="sng" algn="ctr">
            <a:noFill/>
            <a:prstDash val="solid"/>
            <a:miter lim="800000"/>
          </a:ln>
          <a:effectLst/>
        </p:spPr>
        <p:txBody>
          <a:bodyPr rtlCol="0" anchor="ctr"/>
          <a:lstStyle/>
          <a:p>
            <a:pPr algn="ctr"/>
            <a:r>
              <a:rPr kumimoji="1" lang="zh-CN" altLang="en-US" sz="1400" kern="0" dirty="0">
                <a:solidFill>
                  <a:schemeClr val="bg1"/>
                </a:solidFill>
                <a:latin typeface="Microsoft YaHei" panose="020B0503020204020204" pitchFamily="34" charset="-122"/>
                <a:ea typeface="Microsoft YaHei" panose="020B0503020204020204" pitchFamily="34" charset="-122"/>
              </a:rPr>
              <a:t>结果校验</a:t>
            </a:r>
          </a:p>
        </p:txBody>
      </p:sp>
      <p:cxnSp>
        <p:nvCxnSpPr>
          <p:cNvPr id="48" name="肘形连接符 107">
            <a:extLst>
              <a:ext uri="{FF2B5EF4-FFF2-40B4-BE49-F238E27FC236}">
                <a16:creationId xmlns:a16="http://schemas.microsoft.com/office/drawing/2014/main" id="{D0B6E7DD-D65C-B0B0-94DE-7BCFB76CABE1}"/>
              </a:ext>
            </a:extLst>
          </p:cNvPr>
          <p:cNvCxnSpPr>
            <a:cxnSpLocks/>
            <a:stCxn id="60" idx="2"/>
            <a:endCxn id="45" idx="0"/>
          </p:cNvCxnSpPr>
          <p:nvPr/>
        </p:nvCxnSpPr>
        <p:spPr>
          <a:xfrm flipH="1">
            <a:off x="5710083" y="3352092"/>
            <a:ext cx="1" cy="290422"/>
          </a:xfrm>
          <a:prstGeom prst="straightConnector1">
            <a:avLst/>
          </a:prstGeom>
          <a:noFill/>
          <a:ln w="12700" cap="flat" cmpd="sng" algn="ctr">
            <a:solidFill>
              <a:srgbClr val="29484D"/>
            </a:solidFill>
            <a:prstDash val="solid"/>
            <a:tailEnd type="triangle"/>
          </a:ln>
          <a:effectLst/>
        </p:spPr>
      </p:cxnSp>
      <p:cxnSp>
        <p:nvCxnSpPr>
          <p:cNvPr id="49" name="直线箭头连接符 34">
            <a:extLst>
              <a:ext uri="{FF2B5EF4-FFF2-40B4-BE49-F238E27FC236}">
                <a16:creationId xmlns:a16="http://schemas.microsoft.com/office/drawing/2014/main" id="{4E73EEA8-688A-D238-5E56-E1C4AD141B03}"/>
              </a:ext>
            </a:extLst>
          </p:cNvPr>
          <p:cNvCxnSpPr>
            <a:cxnSpLocks/>
            <a:stCxn id="44" idx="1"/>
            <a:endCxn id="43" idx="1"/>
          </p:cNvCxnSpPr>
          <p:nvPr/>
        </p:nvCxnSpPr>
        <p:spPr>
          <a:xfrm rot="10800000">
            <a:off x="4572000" y="1541657"/>
            <a:ext cx="12700" cy="782259"/>
          </a:xfrm>
          <a:prstGeom prst="bentConnector3">
            <a:avLst>
              <a:gd name="adj1" fmla="val 1800000"/>
            </a:avLst>
          </a:prstGeom>
          <a:noFill/>
          <a:ln w="9525" cap="flat" cmpd="sng" algn="ctr">
            <a:solidFill>
              <a:srgbClr val="EE8F62"/>
            </a:solidFill>
            <a:prstDash val="solid"/>
            <a:tailEnd type="triangle"/>
          </a:ln>
          <a:effectLst/>
        </p:spPr>
      </p:cxnSp>
      <p:sp>
        <p:nvSpPr>
          <p:cNvPr id="50" name="文本框 49">
            <a:extLst>
              <a:ext uri="{FF2B5EF4-FFF2-40B4-BE49-F238E27FC236}">
                <a16:creationId xmlns:a16="http://schemas.microsoft.com/office/drawing/2014/main" id="{82A18722-46F1-6DA4-B4FB-DB88434B817C}"/>
              </a:ext>
            </a:extLst>
          </p:cNvPr>
          <p:cNvSpPr txBox="1"/>
          <p:nvPr/>
        </p:nvSpPr>
        <p:spPr>
          <a:xfrm>
            <a:off x="5252883" y="729512"/>
            <a:ext cx="914400" cy="275803"/>
          </a:xfrm>
          <a:prstGeom prst="rect">
            <a:avLst/>
          </a:prstGeom>
          <a:ln w="6350">
            <a:noFill/>
            <a:miter lim="800000"/>
          </a:ln>
        </p:spPr>
        <p:txBody>
          <a:bodyPr vert="horz" wrap="none" lIns="0" tIns="0" rIns="0" bIns="0" rtlCol="0">
            <a:noAutofit/>
          </a:bodyPr>
          <a:lstStyle/>
          <a:p>
            <a:pPr algn="ctr">
              <a:spcBef>
                <a:spcPts val="300"/>
              </a:spcBef>
              <a:spcAft>
                <a:spcPts val="300"/>
              </a:spcAft>
            </a:pPr>
            <a:r>
              <a:rPr lang="zh-CN" altLang="en-US" sz="1600" dirty="0">
                <a:solidFill>
                  <a:srgbClr val="000000"/>
                </a:solidFill>
                <a:latin typeface="华文楷体"/>
                <a:ea typeface="华文楷体"/>
              </a:rPr>
              <a:t>用户</a:t>
            </a:r>
          </a:p>
        </p:txBody>
      </p:sp>
      <p:sp>
        <p:nvSpPr>
          <p:cNvPr id="51" name="文本框 50">
            <a:extLst>
              <a:ext uri="{FF2B5EF4-FFF2-40B4-BE49-F238E27FC236}">
                <a16:creationId xmlns:a16="http://schemas.microsoft.com/office/drawing/2014/main" id="{AAE05E0F-EF16-B14C-D313-8FEC3E17CC14}"/>
              </a:ext>
            </a:extLst>
          </p:cNvPr>
          <p:cNvSpPr txBox="1"/>
          <p:nvPr/>
        </p:nvSpPr>
        <p:spPr>
          <a:xfrm>
            <a:off x="7455757" y="729512"/>
            <a:ext cx="914400" cy="275803"/>
          </a:xfrm>
          <a:prstGeom prst="rect">
            <a:avLst/>
          </a:prstGeom>
          <a:ln w="6350">
            <a:solidFill>
              <a:srgbClr val="29484D"/>
            </a:solidFill>
            <a:miter lim="800000"/>
          </a:ln>
        </p:spPr>
        <p:txBody>
          <a:bodyPr vert="horz" wrap="none" lIns="0" tIns="0" rIns="0" bIns="0" rtlCol="0" anchor="ctr">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zh-CN" altLang="en-US" sz="1200" b="0" i="0" u="none" strike="noStrike" kern="0" cap="none" spc="0" normalizeH="0" baseline="0" noProof="0" dirty="0">
                <a:ln>
                  <a:noFill/>
                </a:ln>
                <a:solidFill>
                  <a:srgbClr val="000000"/>
                </a:solidFill>
                <a:effectLst/>
                <a:uLnTx/>
                <a:uFillTx/>
                <a:latin typeface="华文楷体"/>
                <a:ea typeface="华文楷体"/>
              </a:rPr>
              <a:t>用户登录</a:t>
            </a:r>
          </a:p>
        </p:txBody>
      </p:sp>
      <p:cxnSp>
        <p:nvCxnSpPr>
          <p:cNvPr id="52" name="直接箭头连接符 51">
            <a:extLst>
              <a:ext uri="{FF2B5EF4-FFF2-40B4-BE49-F238E27FC236}">
                <a16:creationId xmlns:a16="http://schemas.microsoft.com/office/drawing/2014/main" id="{26A6577C-2B06-9629-2A17-3E0E30979334}"/>
              </a:ext>
            </a:extLst>
          </p:cNvPr>
          <p:cNvCxnSpPr>
            <a:cxnSpLocks/>
            <a:stCxn id="50" idx="3"/>
            <a:endCxn id="51" idx="1"/>
          </p:cNvCxnSpPr>
          <p:nvPr/>
        </p:nvCxnSpPr>
        <p:spPr>
          <a:xfrm>
            <a:off x="6167283" y="867414"/>
            <a:ext cx="1288474" cy="0"/>
          </a:xfrm>
          <a:prstGeom prst="straightConnector1">
            <a:avLst/>
          </a:prstGeom>
          <a:noFill/>
          <a:ln w="10795" cap="flat" cmpd="sng" algn="ctr">
            <a:solidFill>
              <a:srgbClr val="35C3F7"/>
            </a:solidFill>
            <a:prstDash val="solid"/>
            <a:tailEnd type="triangle"/>
          </a:ln>
          <a:effectLst/>
        </p:spPr>
      </p:cxnSp>
      <p:sp>
        <p:nvSpPr>
          <p:cNvPr id="53" name="文本框 52">
            <a:extLst>
              <a:ext uri="{FF2B5EF4-FFF2-40B4-BE49-F238E27FC236}">
                <a16:creationId xmlns:a16="http://schemas.microsoft.com/office/drawing/2014/main" id="{B97121EC-83D8-3692-0C5E-AA51501FE86A}"/>
              </a:ext>
            </a:extLst>
          </p:cNvPr>
          <p:cNvSpPr txBox="1"/>
          <p:nvPr/>
        </p:nvSpPr>
        <p:spPr>
          <a:xfrm>
            <a:off x="7455757" y="1495588"/>
            <a:ext cx="914400" cy="275803"/>
          </a:xfrm>
          <a:prstGeom prst="rect">
            <a:avLst/>
          </a:prstGeom>
          <a:ln w="6350">
            <a:solidFill>
              <a:srgbClr val="29484D"/>
            </a:solidFill>
            <a:miter lim="800000"/>
          </a:ln>
        </p:spPr>
        <p:txBody>
          <a:bodyPr vert="horz" wrap="none" lIns="0" tIns="0" rIns="0" bIns="0" rtlCol="0" anchor="ctr">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zh-CN" altLang="en-US" sz="1200" b="0" i="0" u="none" strike="noStrike" kern="0" cap="none" spc="0" normalizeH="0" baseline="0" noProof="0" dirty="0">
                <a:ln>
                  <a:noFill/>
                </a:ln>
                <a:solidFill>
                  <a:srgbClr val="000000"/>
                </a:solidFill>
                <a:effectLst/>
                <a:uLnTx/>
                <a:uFillTx/>
                <a:latin typeface="华文楷体"/>
                <a:ea typeface="华文楷体"/>
              </a:rPr>
              <a:t>权限识别</a:t>
            </a:r>
          </a:p>
        </p:txBody>
      </p:sp>
      <p:cxnSp>
        <p:nvCxnSpPr>
          <p:cNvPr id="54" name="直线箭头连接符 34">
            <a:extLst>
              <a:ext uri="{FF2B5EF4-FFF2-40B4-BE49-F238E27FC236}">
                <a16:creationId xmlns:a16="http://schemas.microsoft.com/office/drawing/2014/main" id="{B41188F5-7E17-F40F-3C66-C99C3D5A876D}"/>
              </a:ext>
            </a:extLst>
          </p:cNvPr>
          <p:cNvCxnSpPr>
            <a:cxnSpLocks/>
            <a:stCxn id="51" idx="2"/>
            <a:endCxn id="53" idx="0"/>
          </p:cNvCxnSpPr>
          <p:nvPr/>
        </p:nvCxnSpPr>
        <p:spPr>
          <a:xfrm>
            <a:off x="7912957" y="1005315"/>
            <a:ext cx="0" cy="490273"/>
          </a:xfrm>
          <a:prstGeom prst="straightConnector1">
            <a:avLst/>
          </a:prstGeom>
          <a:noFill/>
          <a:ln w="10795" cap="flat" cmpd="sng" algn="ctr">
            <a:solidFill>
              <a:srgbClr val="35C3F7"/>
            </a:solidFill>
            <a:prstDash val="solid"/>
            <a:tailEnd type="triangle"/>
          </a:ln>
          <a:effectLst/>
        </p:spPr>
      </p:cxnSp>
      <p:cxnSp>
        <p:nvCxnSpPr>
          <p:cNvPr id="55" name="直线箭头连接符 34">
            <a:extLst>
              <a:ext uri="{FF2B5EF4-FFF2-40B4-BE49-F238E27FC236}">
                <a16:creationId xmlns:a16="http://schemas.microsoft.com/office/drawing/2014/main" id="{EC7461EE-34C7-756C-3BDA-44DB4412E40E}"/>
              </a:ext>
            </a:extLst>
          </p:cNvPr>
          <p:cNvCxnSpPr>
            <a:cxnSpLocks/>
          </p:cNvCxnSpPr>
          <p:nvPr/>
        </p:nvCxnSpPr>
        <p:spPr>
          <a:xfrm flipH="1">
            <a:off x="6848167" y="1616435"/>
            <a:ext cx="607590" cy="0"/>
          </a:xfrm>
          <a:prstGeom prst="straightConnector1">
            <a:avLst/>
          </a:prstGeom>
          <a:noFill/>
          <a:ln w="10795" cap="flat" cmpd="sng" algn="ctr">
            <a:solidFill>
              <a:srgbClr val="35C3F7"/>
            </a:solidFill>
            <a:prstDash val="solid"/>
            <a:tailEnd type="triangle"/>
          </a:ln>
          <a:effectLst/>
        </p:spPr>
      </p:cxnSp>
      <p:cxnSp>
        <p:nvCxnSpPr>
          <p:cNvPr id="56" name="直线箭头连接符 34">
            <a:extLst>
              <a:ext uri="{FF2B5EF4-FFF2-40B4-BE49-F238E27FC236}">
                <a16:creationId xmlns:a16="http://schemas.microsoft.com/office/drawing/2014/main" id="{33658657-A3CA-781D-64CC-4819D500A187}"/>
              </a:ext>
            </a:extLst>
          </p:cNvPr>
          <p:cNvCxnSpPr>
            <a:cxnSpLocks/>
            <a:stCxn id="50" idx="2"/>
            <a:endCxn id="43" idx="0"/>
          </p:cNvCxnSpPr>
          <p:nvPr/>
        </p:nvCxnSpPr>
        <p:spPr>
          <a:xfrm>
            <a:off x="5710083" y="1005315"/>
            <a:ext cx="0" cy="290422"/>
          </a:xfrm>
          <a:prstGeom prst="straightConnector1">
            <a:avLst/>
          </a:prstGeom>
          <a:noFill/>
          <a:ln w="12700" cap="flat" cmpd="sng" algn="ctr">
            <a:solidFill>
              <a:srgbClr val="29484D"/>
            </a:solidFill>
            <a:prstDash val="solid"/>
            <a:tailEnd type="triangle"/>
          </a:ln>
          <a:effectLst/>
        </p:spPr>
      </p:cxnSp>
      <p:sp>
        <p:nvSpPr>
          <p:cNvPr id="57" name="圆柱体 56">
            <a:extLst>
              <a:ext uri="{FF2B5EF4-FFF2-40B4-BE49-F238E27FC236}">
                <a16:creationId xmlns:a16="http://schemas.microsoft.com/office/drawing/2014/main" id="{C104AF65-4A70-CAF0-0D09-FD09950801AF}"/>
              </a:ext>
            </a:extLst>
          </p:cNvPr>
          <p:cNvSpPr/>
          <p:nvPr/>
        </p:nvSpPr>
        <p:spPr>
          <a:xfrm>
            <a:off x="7432641" y="1951518"/>
            <a:ext cx="914400" cy="756250"/>
          </a:xfrm>
          <a:prstGeom prst="can">
            <a:avLst/>
          </a:prstGeom>
          <a:noFill/>
          <a:ln w="6350" cap="sq" cmpd="sng" algn="ctr">
            <a:solidFill>
              <a:srgbClr val="29484D"/>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zh-CN" altLang="en-US" sz="1600" b="0" i="0" u="none" strike="noStrike" kern="0" cap="none" spc="0" normalizeH="0" baseline="0" noProof="0" dirty="0" err="1">
              <a:ln>
                <a:noFill/>
              </a:ln>
              <a:solidFill>
                <a:srgbClr val="FFFFFF"/>
              </a:solidFill>
              <a:effectLst/>
              <a:uLnTx/>
              <a:uFillTx/>
              <a:latin typeface="华文楷体"/>
              <a:ea typeface="华文楷体"/>
              <a:cs typeface="+mn-cs"/>
            </a:endParaRPr>
          </a:p>
        </p:txBody>
      </p:sp>
      <p:cxnSp>
        <p:nvCxnSpPr>
          <p:cNvPr id="58" name="直线箭头连接符 34">
            <a:extLst>
              <a:ext uri="{FF2B5EF4-FFF2-40B4-BE49-F238E27FC236}">
                <a16:creationId xmlns:a16="http://schemas.microsoft.com/office/drawing/2014/main" id="{68D15737-06B4-6345-D247-8C63847E4C80}"/>
              </a:ext>
            </a:extLst>
          </p:cNvPr>
          <p:cNvCxnSpPr>
            <a:cxnSpLocks/>
            <a:stCxn id="57" idx="2"/>
            <a:endCxn id="44" idx="3"/>
          </p:cNvCxnSpPr>
          <p:nvPr/>
        </p:nvCxnSpPr>
        <p:spPr>
          <a:xfrm flipH="1" flipV="1">
            <a:off x="6848166" y="2323915"/>
            <a:ext cx="584475" cy="5728"/>
          </a:xfrm>
          <a:prstGeom prst="straightConnector1">
            <a:avLst/>
          </a:prstGeom>
          <a:noFill/>
          <a:ln w="10795" cap="flat" cmpd="sng" algn="ctr">
            <a:solidFill>
              <a:srgbClr val="35C3F7"/>
            </a:solidFill>
            <a:prstDash val="solid"/>
            <a:tailEnd type="triangle"/>
          </a:ln>
          <a:effectLst/>
        </p:spPr>
      </p:cxnSp>
      <p:sp>
        <p:nvSpPr>
          <p:cNvPr id="59" name="文本框 58">
            <a:extLst>
              <a:ext uri="{FF2B5EF4-FFF2-40B4-BE49-F238E27FC236}">
                <a16:creationId xmlns:a16="http://schemas.microsoft.com/office/drawing/2014/main" id="{F247FE5D-688C-CEF0-1131-AE31C563C1F9}"/>
              </a:ext>
            </a:extLst>
          </p:cNvPr>
          <p:cNvSpPr txBox="1"/>
          <p:nvPr/>
        </p:nvSpPr>
        <p:spPr>
          <a:xfrm>
            <a:off x="7396982" y="2224716"/>
            <a:ext cx="914400" cy="301718"/>
          </a:xfrm>
          <a:prstGeom prst="rect">
            <a:avLst/>
          </a:prstGeom>
          <a:ln w="6350">
            <a:noFill/>
            <a:miter lim="800000"/>
          </a:ln>
        </p:spPr>
        <p:txBody>
          <a:bodyPr vert="horz" wrap="none" lIns="0" tIns="0" rIns="0" bIns="0" rtlCol="0" anchor="ctr">
            <a:noAutofit/>
          </a:bodyPr>
          <a:lstStyle/>
          <a:p>
            <a:pPr algn="ctr"/>
            <a:r>
              <a:rPr lang="en-US" altLang="zh-CN" sz="1200" dirty="0">
                <a:solidFill>
                  <a:srgbClr val="000000"/>
                </a:solidFill>
                <a:latin typeface="华文楷体"/>
                <a:ea typeface="华文楷体"/>
              </a:rPr>
              <a:t>Prompt</a:t>
            </a:r>
          </a:p>
          <a:p>
            <a:pPr algn="ctr"/>
            <a:r>
              <a:rPr lang="en-US" altLang="zh-CN" sz="1200" dirty="0">
                <a:solidFill>
                  <a:srgbClr val="000000"/>
                </a:solidFill>
                <a:latin typeface="华文楷体"/>
                <a:ea typeface="华文楷体"/>
              </a:rPr>
              <a:t>SKILL</a:t>
            </a:r>
            <a:endParaRPr lang="zh-CN" altLang="en-US" sz="1200" dirty="0">
              <a:solidFill>
                <a:srgbClr val="000000"/>
              </a:solidFill>
              <a:latin typeface="华文楷体"/>
              <a:ea typeface="华文楷体"/>
            </a:endParaRPr>
          </a:p>
        </p:txBody>
      </p:sp>
      <p:sp>
        <p:nvSpPr>
          <p:cNvPr id="60" name="矩形 59">
            <a:extLst>
              <a:ext uri="{FF2B5EF4-FFF2-40B4-BE49-F238E27FC236}">
                <a16:creationId xmlns:a16="http://schemas.microsoft.com/office/drawing/2014/main" id="{235ABBE2-1A00-1909-A189-3FCCD2BD8617}"/>
              </a:ext>
            </a:extLst>
          </p:cNvPr>
          <p:cNvSpPr/>
          <p:nvPr/>
        </p:nvSpPr>
        <p:spPr>
          <a:xfrm>
            <a:off x="4572001" y="2860255"/>
            <a:ext cx="2276165" cy="491837"/>
          </a:xfrm>
          <a:prstGeom prst="rect">
            <a:avLst/>
          </a:prstGeom>
          <a:solidFill>
            <a:srgbClr val="29484D">
              <a:lumMod val="20000"/>
              <a:lumOff val="80000"/>
            </a:srgbClr>
          </a:solidFill>
          <a:ln w="12700" cap="flat" cmpd="sng" algn="ctr">
            <a:noFill/>
            <a:prstDash val="solid"/>
            <a:miter lim="800000"/>
          </a:ln>
          <a:effectLst/>
        </p:spPr>
        <p:txBody>
          <a:bodyPr rtlCol="0" anchor="ctr"/>
          <a:lstStyle/>
          <a:p>
            <a:pPr algn="ctr"/>
            <a:r>
              <a:rPr kumimoji="1" lang="zh-CN" altLang="en-US" sz="1400" kern="0">
                <a:solidFill>
                  <a:srgbClr val="4472C4"/>
                </a:solidFill>
                <a:latin typeface="Microsoft YaHei" panose="020B0503020204020204" pitchFamily="34" charset="-122"/>
                <a:ea typeface="Microsoft YaHei" panose="020B0503020204020204" pitchFamily="34" charset="-122"/>
              </a:rPr>
              <a:t>精确识别</a:t>
            </a:r>
            <a:r>
              <a:rPr kumimoji="1" lang="en-US" altLang="zh-CN" sz="1400" kern="0" dirty="0">
                <a:solidFill>
                  <a:srgbClr val="4472C4"/>
                </a:solidFill>
                <a:latin typeface="Microsoft YaHei" panose="020B0503020204020204" pitchFamily="34" charset="-122"/>
                <a:ea typeface="Microsoft YaHei" panose="020B0503020204020204" pitchFamily="34" charset="-122"/>
              </a:rPr>
              <a:t>Tool</a:t>
            </a:r>
            <a:r>
              <a:rPr kumimoji="1" lang="zh-CN" altLang="en-US" sz="1400" kern="0" dirty="0">
                <a:solidFill>
                  <a:srgbClr val="4472C4"/>
                </a:solidFill>
                <a:latin typeface="Microsoft YaHei" panose="020B0503020204020204" pitchFamily="34" charset="-122"/>
                <a:ea typeface="Microsoft YaHei" panose="020B0503020204020204" pitchFamily="34" charset="-122"/>
              </a:rPr>
              <a:t>及参数</a:t>
            </a:r>
          </a:p>
        </p:txBody>
      </p:sp>
      <p:sp>
        <p:nvSpPr>
          <p:cNvPr id="61" name="矩形: 圆角 60">
            <a:extLst>
              <a:ext uri="{FF2B5EF4-FFF2-40B4-BE49-F238E27FC236}">
                <a16:creationId xmlns:a16="http://schemas.microsoft.com/office/drawing/2014/main" id="{BA3F21B8-00E2-5A29-B536-FCD4DA5BF3D1}"/>
              </a:ext>
            </a:extLst>
          </p:cNvPr>
          <p:cNvSpPr/>
          <p:nvPr/>
        </p:nvSpPr>
        <p:spPr>
          <a:xfrm>
            <a:off x="7453946" y="3687937"/>
            <a:ext cx="893096" cy="180000"/>
          </a:xfrm>
          <a:prstGeom prst="roundRect">
            <a:avLst/>
          </a:prstGeom>
          <a:noFill/>
          <a:ln w="6350" cap="sq" cmpd="sng" algn="ctr">
            <a:solidFill>
              <a:srgbClr val="29484D"/>
            </a:solidFill>
            <a:prstDash val="solid"/>
            <a:miter lim="800000"/>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zh-CN" altLang="en-US" sz="1200" b="0" i="0" u="none" strike="noStrike" kern="0" cap="none" spc="0" normalizeH="0" baseline="0" noProof="0" dirty="0">
                <a:ln>
                  <a:noFill/>
                </a:ln>
                <a:solidFill>
                  <a:srgbClr val="000000"/>
                </a:solidFill>
                <a:effectLst/>
                <a:uLnTx/>
                <a:uFillTx/>
                <a:latin typeface="华文楷体"/>
                <a:ea typeface="华文楷体"/>
                <a:cs typeface="+mn-cs"/>
              </a:rPr>
              <a:t>数据检查</a:t>
            </a:r>
          </a:p>
        </p:txBody>
      </p:sp>
      <p:sp>
        <p:nvSpPr>
          <p:cNvPr id="62" name="矩形: 圆角 61">
            <a:extLst>
              <a:ext uri="{FF2B5EF4-FFF2-40B4-BE49-F238E27FC236}">
                <a16:creationId xmlns:a16="http://schemas.microsoft.com/office/drawing/2014/main" id="{0B75AF2E-E0E7-5181-6C93-A379B36E7EAD}"/>
              </a:ext>
            </a:extLst>
          </p:cNvPr>
          <p:cNvSpPr/>
          <p:nvPr/>
        </p:nvSpPr>
        <p:spPr>
          <a:xfrm>
            <a:off x="7453946" y="3914482"/>
            <a:ext cx="893096" cy="180000"/>
          </a:xfrm>
          <a:prstGeom prst="roundRect">
            <a:avLst/>
          </a:prstGeom>
          <a:noFill/>
          <a:ln w="6350" cap="sq" cmpd="sng" algn="ctr">
            <a:solidFill>
              <a:srgbClr val="29484D"/>
            </a:solidFill>
            <a:prstDash val="solid"/>
            <a:miter lim="800000"/>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zh-CN" altLang="en-US" sz="1200" b="0" i="0" u="none" strike="noStrike" kern="0" cap="none" spc="0" normalizeH="0" baseline="0" noProof="0" dirty="0">
                <a:ln>
                  <a:noFill/>
                </a:ln>
                <a:solidFill>
                  <a:srgbClr val="000000"/>
                </a:solidFill>
                <a:effectLst/>
                <a:uLnTx/>
                <a:uFillTx/>
                <a:latin typeface="华文楷体"/>
                <a:ea typeface="华文楷体"/>
                <a:cs typeface="+mn-cs"/>
              </a:rPr>
              <a:t>调用插件</a:t>
            </a:r>
          </a:p>
        </p:txBody>
      </p:sp>
      <p:sp>
        <p:nvSpPr>
          <p:cNvPr id="63" name="矩形: 圆角 62">
            <a:extLst>
              <a:ext uri="{FF2B5EF4-FFF2-40B4-BE49-F238E27FC236}">
                <a16:creationId xmlns:a16="http://schemas.microsoft.com/office/drawing/2014/main" id="{66E564F9-6F28-1F18-CA80-F5696FAA3130}"/>
              </a:ext>
            </a:extLst>
          </p:cNvPr>
          <p:cNvSpPr/>
          <p:nvPr/>
        </p:nvSpPr>
        <p:spPr>
          <a:xfrm>
            <a:off x="7453946" y="4141028"/>
            <a:ext cx="893096" cy="180000"/>
          </a:xfrm>
          <a:prstGeom prst="roundRect">
            <a:avLst/>
          </a:prstGeom>
          <a:noFill/>
          <a:ln w="6350" cap="sq" cmpd="sng" algn="ctr">
            <a:solidFill>
              <a:srgbClr val="29484D"/>
            </a:solidFill>
            <a:prstDash val="solid"/>
            <a:miter lim="800000"/>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zh-CN" altLang="en-US" sz="1200" b="0" i="0" u="none" strike="noStrike" kern="0" cap="none" spc="0" normalizeH="0" baseline="0" noProof="0" dirty="0">
                <a:ln>
                  <a:noFill/>
                </a:ln>
                <a:solidFill>
                  <a:srgbClr val="000000"/>
                </a:solidFill>
                <a:effectLst/>
                <a:uLnTx/>
                <a:uFillTx/>
                <a:latin typeface="华文楷体"/>
                <a:ea typeface="华文楷体"/>
                <a:cs typeface="+mn-cs"/>
              </a:rPr>
              <a:t>调用接口</a:t>
            </a:r>
          </a:p>
        </p:txBody>
      </p:sp>
      <p:cxnSp>
        <p:nvCxnSpPr>
          <p:cNvPr id="64" name="连接符: 肘形 63">
            <a:extLst>
              <a:ext uri="{FF2B5EF4-FFF2-40B4-BE49-F238E27FC236}">
                <a16:creationId xmlns:a16="http://schemas.microsoft.com/office/drawing/2014/main" id="{E84EB5D3-D209-9D6D-C29D-C41325490A96}"/>
              </a:ext>
            </a:extLst>
          </p:cNvPr>
          <p:cNvCxnSpPr>
            <a:cxnSpLocks/>
            <a:stCxn id="45" idx="3"/>
            <a:endCxn id="61" idx="1"/>
          </p:cNvCxnSpPr>
          <p:nvPr/>
        </p:nvCxnSpPr>
        <p:spPr>
          <a:xfrm flipV="1">
            <a:off x="6848166" y="3777937"/>
            <a:ext cx="605780" cy="110496"/>
          </a:xfrm>
          <a:prstGeom prst="bentConnector3">
            <a:avLst/>
          </a:prstGeom>
          <a:noFill/>
          <a:ln w="6350" cap="flat" cmpd="sng" algn="ctr">
            <a:solidFill>
              <a:srgbClr val="35C3F7"/>
            </a:solidFill>
            <a:prstDash val="solid"/>
            <a:miter lim="800000"/>
            <a:tailEnd type="triangle"/>
          </a:ln>
          <a:effectLst/>
        </p:spPr>
      </p:cxnSp>
      <p:cxnSp>
        <p:nvCxnSpPr>
          <p:cNvPr id="65" name="连接符: 肘形 64">
            <a:extLst>
              <a:ext uri="{FF2B5EF4-FFF2-40B4-BE49-F238E27FC236}">
                <a16:creationId xmlns:a16="http://schemas.microsoft.com/office/drawing/2014/main" id="{AB4916B8-3FC6-F111-669B-C1C1396D4754}"/>
              </a:ext>
            </a:extLst>
          </p:cNvPr>
          <p:cNvCxnSpPr>
            <a:cxnSpLocks/>
            <a:stCxn id="45" idx="3"/>
            <a:endCxn id="63" idx="1"/>
          </p:cNvCxnSpPr>
          <p:nvPr/>
        </p:nvCxnSpPr>
        <p:spPr>
          <a:xfrm>
            <a:off x="6848166" y="3888433"/>
            <a:ext cx="605780" cy="342595"/>
          </a:xfrm>
          <a:prstGeom prst="bentConnector3">
            <a:avLst/>
          </a:prstGeom>
          <a:noFill/>
          <a:ln w="6350" cap="flat" cmpd="sng" algn="ctr">
            <a:solidFill>
              <a:srgbClr val="35C3F7"/>
            </a:solidFill>
            <a:prstDash val="solid"/>
            <a:miter lim="800000"/>
            <a:tailEnd type="triangle"/>
          </a:ln>
          <a:effectLst/>
        </p:spPr>
      </p:cxnSp>
      <p:cxnSp>
        <p:nvCxnSpPr>
          <p:cNvPr id="66" name="直线箭头连接符 34">
            <a:extLst>
              <a:ext uri="{FF2B5EF4-FFF2-40B4-BE49-F238E27FC236}">
                <a16:creationId xmlns:a16="http://schemas.microsoft.com/office/drawing/2014/main" id="{06FB611E-7C58-3463-7052-7A84C0596102}"/>
              </a:ext>
            </a:extLst>
          </p:cNvPr>
          <p:cNvCxnSpPr>
            <a:cxnSpLocks/>
            <a:stCxn id="45" idx="2"/>
            <a:endCxn id="47" idx="0"/>
          </p:cNvCxnSpPr>
          <p:nvPr/>
        </p:nvCxnSpPr>
        <p:spPr>
          <a:xfrm>
            <a:off x="5710083" y="4134351"/>
            <a:ext cx="0" cy="290422"/>
          </a:xfrm>
          <a:prstGeom prst="straightConnector1">
            <a:avLst/>
          </a:prstGeom>
          <a:noFill/>
          <a:ln w="10795" cap="flat" cmpd="sng" algn="ctr">
            <a:solidFill>
              <a:srgbClr val="35C3F7"/>
            </a:solidFill>
            <a:prstDash val="solid"/>
            <a:tailEnd type="triangle"/>
          </a:ln>
          <a:effectLst/>
        </p:spPr>
      </p:cxnSp>
      <p:sp>
        <p:nvSpPr>
          <p:cNvPr id="67" name="矩形: 圆角 66">
            <a:extLst>
              <a:ext uri="{FF2B5EF4-FFF2-40B4-BE49-F238E27FC236}">
                <a16:creationId xmlns:a16="http://schemas.microsoft.com/office/drawing/2014/main" id="{DF975295-E823-81C2-8F6D-230D388730E5}"/>
              </a:ext>
            </a:extLst>
          </p:cNvPr>
          <p:cNvSpPr/>
          <p:nvPr/>
        </p:nvSpPr>
        <p:spPr>
          <a:xfrm>
            <a:off x="7453946" y="3461392"/>
            <a:ext cx="893096" cy="180000"/>
          </a:xfrm>
          <a:prstGeom prst="roundRect">
            <a:avLst/>
          </a:prstGeom>
          <a:noFill/>
          <a:ln w="6350" cap="sq" cmpd="sng" algn="ctr">
            <a:solidFill>
              <a:srgbClr val="29484D"/>
            </a:solidFill>
            <a:prstDash val="solid"/>
            <a:miter lim="800000"/>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lvl="0" algn="ctr">
              <a:defRPr/>
            </a:pPr>
            <a:r>
              <a:rPr lang="zh-CN" altLang="en-US" sz="1100" kern="0" dirty="0">
                <a:solidFill>
                  <a:srgbClr val="000000"/>
                </a:solidFill>
                <a:latin typeface="华文楷体"/>
                <a:ea typeface="华文楷体"/>
              </a:rPr>
              <a:t>权限检查</a:t>
            </a:r>
            <a:endParaRPr lang="en-US" altLang="zh-CN" sz="1100" kern="0" dirty="0">
              <a:solidFill>
                <a:srgbClr val="000000"/>
              </a:solidFill>
              <a:latin typeface="华文楷体"/>
              <a:ea typeface="华文楷体"/>
            </a:endParaRPr>
          </a:p>
        </p:txBody>
      </p:sp>
      <p:sp>
        <p:nvSpPr>
          <p:cNvPr id="68" name="矩形: 圆角 67">
            <a:extLst>
              <a:ext uri="{FF2B5EF4-FFF2-40B4-BE49-F238E27FC236}">
                <a16:creationId xmlns:a16="http://schemas.microsoft.com/office/drawing/2014/main" id="{9390E82E-5BA4-3235-A329-5FF3D0B43018}"/>
              </a:ext>
            </a:extLst>
          </p:cNvPr>
          <p:cNvSpPr/>
          <p:nvPr/>
        </p:nvSpPr>
        <p:spPr>
          <a:xfrm>
            <a:off x="7453946" y="2930287"/>
            <a:ext cx="893096" cy="351559"/>
          </a:xfrm>
          <a:prstGeom prst="roundRect">
            <a:avLst/>
          </a:prstGeom>
          <a:noFill/>
          <a:ln w="6350" cap="sq" cmpd="sng" algn="ctr">
            <a:solidFill>
              <a:srgbClr val="29484D"/>
            </a:solidFill>
            <a:prstDash val="solid"/>
            <a:miter lim="800000"/>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800" b="0" i="0" u="none" strike="noStrike" kern="0" cap="none" spc="0" normalizeH="0" baseline="0" noProof="0" dirty="0">
                <a:ln>
                  <a:noFill/>
                </a:ln>
                <a:solidFill>
                  <a:srgbClr val="000000"/>
                </a:solidFill>
                <a:effectLst/>
                <a:uLnTx/>
                <a:uFillTx/>
                <a:latin typeface="华文楷体"/>
                <a:ea typeface="华文楷体"/>
                <a:cs typeface="+mn-cs"/>
              </a:rPr>
              <a:t>MCP Tool Schema</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800" b="0" i="0" u="none" strike="noStrike" kern="0" cap="none" spc="0" normalizeH="0" baseline="0" noProof="0" dirty="0">
                <a:ln>
                  <a:noFill/>
                </a:ln>
                <a:solidFill>
                  <a:srgbClr val="000000"/>
                </a:solidFill>
                <a:effectLst/>
                <a:uLnTx/>
                <a:uFillTx/>
                <a:latin typeface="华文楷体"/>
                <a:ea typeface="华文楷体"/>
                <a:cs typeface="+mn-cs"/>
              </a:rPr>
              <a:t>获取本体定义的合法操作</a:t>
            </a:r>
          </a:p>
        </p:txBody>
      </p:sp>
      <p:cxnSp>
        <p:nvCxnSpPr>
          <p:cNvPr id="69" name="直线箭头连接符 34">
            <a:extLst>
              <a:ext uri="{FF2B5EF4-FFF2-40B4-BE49-F238E27FC236}">
                <a16:creationId xmlns:a16="http://schemas.microsoft.com/office/drawing/2014/main" id="{44943E3A-DE30-D27C-34D8-3DDD00826138}"/>
              </a:ext>
            </a:extLst>
          </p:cNvPr>
          <p:cNvCxnSpPr>
            <a:cxnSpLocks/>
            <a:stCxn id="47" idx="1"/>
            <a:endCxn id="43" idx="1"/>
          </p:cNvCxnSpPr>
          <p:nvPr/>
        </p:nvCxnSpPr>
        <p:spPr>
          <a:xfrm rot="10800000">
            <a:off x="4572000" y="1541656"/>
            <a:ext cx="12700" cy="3129036"/>
          </a:xfrm>
          <a:prstGeom prst="bentConnector3">
            <a:avLst>
              <a:gd name="adj1" fmla="val 1800000"/>
            </a:avLst>
          </a:prstGeom>
          <a:noFill/>
          <a:ln w="9525" cap="flat" cmpd="sng" algn="ctr">
            <a:solidFill>
              <a:srgbClr val="EE8F62"/>
            </a:solidFill>
            <a:prstDash val="solid"/>
            <a:tailEnd type="triangle"/>
          </a:ln>
          <a:effectLst/>
        </p:spPr>
      </p:cxnSp>
      <p:cxnSp>
        <p:nvCxnSpPr>
          <p:cNvPr id="70" name="直线箭头连接符 34">
            <a:extLst>
              <a:ext uri="{FF2B5EF4-FFF2-40B4-BE49-F238E27FC236}">
                <a16:creationId xmlns:a16="http://schemas.microsoft.com/office/drawing/2014/main" id="{0F09FBAC-5BCC-09E5-32EB-479DB5663493}"/>
              </a:ext>
            </a:extLst>
          </p:cNvPr>
          <p:cNvCxnSpPr>
            <a:cxnSpLocks/>
            <a:stCxn id="68" idx="1"/>
            <a:endCxn id="60" idx="3"/>
          </p:cNvCxnSpPr>
          <p:nvPr/>
        </p:nvCxnSpPr>
        <p:spPr>
          <a:xfrm flipH="1">
            <a:off x="6848166" y="3106067"/>
            <a:ext cx="605780" cy="107"/>
          </a:xfrm>
          <a:prstGeom prst="straightConnector1">
            <a:avLst/>
          </a:prstGeom>
          <a:noFill/>
          <a:ln w="10795" cap="flat" cmpd="sng" algn="ctr">
            <a:solidFill>
              <a:srgbClr val="35C3F7"/>
            </a:solidFill>
            <a:prstDash val="solid"/>
            <a:tailEnd type="triangle"/>
          </a:ln>
          <a:effectLst/>
        </p:spPr>
      </p:cxnSp>
      <p:cxnSp>
        <p:nvCxnSpPr>
          <p:cNvPr id="71" name="肘形连接符 107">
            <a:extLst>
              <a:ext uri="{FF2B5EF4-FFF2-40B4-BE49-F238E27FC236}">
                <a16:creationId xmlns:a16="http://schemas.microsoft.com/office/drawing/2014/main" id="{43546CEA-4485-981C-7ACB-49AB440A5928}"/>
              </a:ext>
            </a:extLst>
          </p:cNvPr>
          <p:cNvCxnSpPr>
            <a:cxnSpLocks/>
            <a:stCxn id="44" idx="2"/>
            <a:endCxn id="60" idx="0"/>
          </p:cNvCxnSpPr>
          <p:nvPr/>
        </p:nvCxnSpPr>
        <p:spPr>
          <a:xfrm>
            <a:off x="5710083" y="2569833"/>
            <a:ext cx="1" cy="290422"/>
          </a:xfrm>
          <a:prstGeom prst="straightConnector1">
            <a:avLst/>
          </a:prstGeom>
          <a:noFill/>
          <a:ln w="12700" cap="flat" cmpd="sng" algn="ctr">
            <a:solidFill>
              <a:srgbClr val="29484D"/>
            </a:solidFill>
            <a:prstDash val="solid"/>
            <a:tailEnd type="triangle"/>
          </a:ln>
          <a:effectLst/>
        </p:spPr>
      </p:cxnSp>
      <p:cxnSp>
        <p:nvCxnSpPr>
          <p:cNvPr id="72" name="连接符: 肘形 71">
            <a:extLst>
              <a:ext uri="{FF2B5EF4-FFF2-40B4-BE49-F238E27FC236}">
                <a16:creationId xmlns:a16="http://schemas.microsoft.com/office/drawing/2014/main" id="{AB27E4F5-5593-75D7-3A6E-7E1AE86F959D}"/>
              </a:ext>
            </a:extLst>
          </p:cNvPr>
          <p:cNvCxnSpPr>
            <a:cxnSpLocks/>
            <a:stCxn id="45" idx="3"/>
            <a:endCxn id="62" idx="1"/>
          </p:cNvCxnSpPr>
          <p:nvPr/>
        </p:nvCxnSpPr>
        <p:spPr>
          <a:xfrm>
            <a:off x="6848166" y="3888433"/>
            <a:ext cx="605780" cy="116049"/>
          </a:xfrm>
          <a:prstGeom prst="bentConnector3">
            <a:avLst>
              <a:gd name="adj1" fmla="val 50000"/>
            </a:avLst>
          </a:prstGeom>
          <a:noFill/>
          <a:ln w="6350" cap="flat" cmpd="sng" algn="ctr">
            <a:solidFill>
              <a:srgbClr val="35C3F7"/>
            </a:solidFill>
            <a:prstDash val="solid"/>
            <a:miter lim="800000"/>
            <a:tailEnd type="triangle"/>
          </a:ln>
          <a:effectLst/>
        </p:spPr>
      </p:cxnSp>
      <p:cxnSp>
        <p:nvCxnSpPr>
          <p:cNvPr id="73" name="连接符: 肘形 72">
            <a:extLst>
              <a:ext uri="{FF2B5EF4-FFF2-40B4-BE49-F238E27FC236}">
                <a16:creationId xmlns:a16="http://schemas.microsoft.com/office/drawing/2014/main" id="{6261DD61-9D70-5A66-CB1D-3434F7535895}"/>
              </a:ext>
            </a:extLst>
          </p:cNvPr>
          <p:cNvCxnSpPr>
            <a:cxnSpLocks/>
            <a:stCxn id="45" idx="3"/>
            <a:endCxn id="67" idx="1"/>
          </p:cNvCxnSpPr>
          <p:nvPr/>
        </p:nvCxnSpPr>
        <p:spPr>
          <a:xfrm flipV="1">
            <a:off x="6848166" y="3551392"/>
            <a:ext cx="605780" cy="337041"/>
          </a:xfrm>
          <a:prstGeom prst="bentConnector3">
            <a:avLst>
              <a:gd name="adj1" fmla="val 50000"/>
            </a:avLst>
          </a:prstGeom>
          <a:noFill/>
          <a:ln w="6350" cap="flat" cmpd="sng" algn="ctr">
            <a:solidFill>
              <a:srgbClr val="35C3F7"/>
            </a:solidFill>
            <a:prstDash val="solid"/>
            <a:miter lim="800000"/>
            <a:tailEnd type="triangle"/>
          </a:ln>
          <a:effectLst/>
        </p:spPr>
      </p:cxnSp>
      <p:sp>
        <p:nvSpPr>
          <p:cNvPr id="3" name="文本框 2">
            <a:extLst>
              <a:ext uri="{FF2B5EF4-FFF2-40B4-BE49-F238E27FC236}">
                <a16:creationId xmlns:a16="http://schemas.microsoft.com/office/drawing/2014/main" id="{1DCE79A7-118E-08E0-3F18-C717C58037DF}"/>
              </a:ext>
            </a:extLst>
          </p:cNvPr>
          <p:cNvSpPr txBox="1"/>
          <p:nvPr/>
        </p:nvSpPr>
        <p:spPr>
          <a:xfrm>
            <a:off x="428024" y="1712185"/>
            <a:ext cx="3793923" cy="1172052"/>
          </a:xfrm>
          <a:prstGeom prst="rect">
            <a:avLst/>
          </a:prstGeom>
          <a:noFill/>
        </p:spPr>
        <p:txBody>
          <a:bodyPr wrap="square">
            <a:spAutoFit/>
          </a:bodyPr>
          <a:lstStyle/>
          <a:p>
            <a:pPr>
              <a:lnSpc>
                <a:spcPct val="150000"/>
              </a:lnSpc>
            </a:pPr>
            <a:r>
              <a:rPr lang="zh-CN" altLang="en-US" sz="1200" dirty="0"/>
              <a:t>验证事实声明：</a:t>
            </a:r>
            <a:endParaRPr lang="en-US" altLang="zh-CN" sz="1200" dirty="0"/>
          </a:p>
          <a:p>
            <a:pPr>
              <a:lnSpc>
                <a:spcPct val="150000"/>
              </a:lnSpc>
            </a:pPr>
            <a:r>
              <a:rPr lang="zh-CN" altLang="en-US" sz="1200" dirty="0"/>
              <a:t>验证回答中的每个事实声明是否在工具结果中有依据。</a:t>
            </a:r>
          </a:p>
          <a:p>
            <a:pPr>
              <a:lnSpc>
                <a:spcPct val="150000"/>
              </a:lnSpc>
            </a:pPr>
            <a:r>
              <a:rPr lang="zh-CN" altLang="en-US" sz="1200" dirty="0"/>
              <a:t>如果发现无来源的声明，拒绝回答并要求重新调用工具。</a:t>
            </a:r>
            <a:endParaRPr lang="zh-CN" altLang="en-US" sz="900" dirty="0"/>
          </a:p>
        </p:txBody>
      </p:sp>
      <p:sp>
        <p:nvSpPr>
          <p:cNvPr id="86" name="文本框 85">
            <a:extLst>
              <a:ext uri="{FF2B5EF4-FFF2-40B4-BE49-F238E27FC236}">
                <a16:creationId xmlns:a16="http://schemas.microsoft.com/office/drawing/2014/main" id="{A23F1BBF-95AE-E829-7CC9-6F3AC94AFF2D}"/>
              </a:ext>
            </a:extLst>
          </p:cNvPr>
          <p:cNvSpPr txBox="1"/>
          <p:nvPr/>
        </p:nvSpPr>
        <p:spPr>
          <a:xfrm>
            <a:off x="5682231" y="3352092"/>
            <a:ext cx="646331" cy="230832"/>
          </a:xfrm>
          <a:prstGeom prst="rect">
            <a:avLst/>
          </a:prstGeom>
          <a:noFill/>
        </p:spPr>
        <p:txBody>
          <a:bodyPr wrap="none" rtlCol="0">
            <a:spAutoFit/>
          </a:bodyPr>
          <a:lstStyle/>
          <a:p>
            <a:r>
              <a:rPr lang="en-US" altLang="zh-CN" sz="900" dirty="0">
                <a:latin typeface="楷体" panose="02010609060101010101" pitchFamily="49" charset="-122"/>
                <a:ea typeface="楷体" panose="02010609060101010101" pitchFamily="49" charset="-122"/>
              </a:rPr>
              <a:t>Tool</a:t>
            </a:r>
            <a:r>
              <a:rPr lang="zh-CN" altLang="en-US" sz="900" dirty="0">
                <a:latin typeface="楷体" panose="02010609060101010101" pitchFamily="49" charset="-122"/>
                <a:ea typeface="楷体" panose="02010609060101010101" pitchFamily="49" charset="-122"/>
              </a:rPr>
              <a:t>参数</a:t>
            </a:r>
          </a:p>
        </p:txBody>
      </p:sp>
      <p:sp>
        <p:nvSpPr>
          <p:cNvPr id="88" name="文本框 87">
            <a:extLst>
              <a:ext uri="{FF2B5EF4-FFF2-40B4-BE49-F238E27FC236}">
                <a16:creationId xmlns:a16="http://schemas.microsoft.com/office/drawing/2014/main" id="{3A682B24-9634-4E90-7486-F3FD7C346D48}"/>
              </a:ext>
            </a:extLst>
          </p:cNvPr>
          <p:cNvSpPr txBox="1"/>
          <p:nvPr/>
        </p:nvSpPr>
        <p:spPr>
          <a:xfrm>
            <a:off x="3886200" y="4703190"/>
            <a:ext cx="800100" cy="215444"/>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800" b="0" i="0" u="none" strike="noStrike" kern="0" cap="none" spc="0" normalizeH="0" baseline="0" noProof="0" dirty="0">
                <a:ln>
                  <a:noFill/>
                </a:ln>
                <a:solidFill>
                  <a:srgbClr val="4472C4"/>
                </a:solidFill>
                <a:effectLst/>
                <a:uLnTx/>
                <a:uFillTx/>
                <a:latin typeface="Microsoft YaHei" panose="020B0503020204020204" pitchFamily="34" charset="-122"/>
                <a:ea typeface="Microsoft YaHei" panose="020B0503020204020204" pitchFamily="34" charset="-122"/>
              </a:rPr>
              <a:t>返回给用户</a:t>
            </a:r>
          </a:p>
        </p:txBody>
      </p:sp>
      <p:sp>
        <p:nvSpPr>
          <p:cNvPr id="4" name="文本框 3">
            <a:extLst>
              <a:ext uri="{FF2B5EF4-FFF2-40B4-BE49-F238E27FC236}">
                <a16:creationId xmlns:a16="http://schemas.microsoft.com/office/drawing/2014/main" id="{792B0A26-356C-D681-A942-8EC5967E0315}"/>
              </a:ext>
            </a:extLst>
          </p:cNvPr>
          <p:cNvSpPr txBox="1"/>
          <p:nvPr/>
        </p:nvSpPr>
        <p:spPr>
          <a:xfrm>
            <a:off x="432126" y="1250451"/>
            <a:ext cx="3819325" cy="369332"/>
          </a:xfrm>
          <a:prstGeom prst="rect">
            <a:avLst/>
          </a:prstGeom>
          <a:noFill/>
        </p:spPr>
        <p:txBody>
          <a:bodyPr wrap="square">
            <a:spAutoFit/>
          </a:bodyPr>
          <a:lstStyle/>
          <a:p>
            <a:r>
              <a:rPr lang="zh-CN" altLang="en-US" dirty="0"/>
              <a:t>第四层：结果校验</a:t>
            </a:r>
          </a:p>
        </p:txBody>
      </p:sp>
    </p:spTree>
    <p:extLst>
      <p:ext uri="{BB962C8B-B14F-4D97-AF65-F5344CB8AC3E}">
        <p14:creationId xmlns:p14="http://schemas.microsoft.com/office/powerpoint/2010/main" val="8074695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EEEB1F1-A301-E01B-82F4-97DA87CF04A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6BDC9ED-095F-F92F-8507-9B156BCDE711}"/>
              </a:ext>
            </a:extLst>
          </p:cNvPr>
          <p:cNvSpPr/>
          <p:nvPr/>
        </p:nvSpPr>
        <p:spPr>
          <a:xfrm>
            <a:off x="0" y="0"/>
            <a:ext cx="9144000" cy="54864"/>
          </a:xfrm>
          <a:prstGeom prst="rect">
            <a:avLst/>
          </a:prstGeom>
          <a:solidFill>
            <a:srgbClr val="22A69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3" name="Shape 1">
            <a:extLst>
              <a:ext uri="{FF2B5EF4-FFF2-40B4-BE49-F238E27FC236}">
                <a16:creationId xmlns:a16="http://schemas.microsoft.com/office/drawing/2014/main" id="{9B84D069-448E-9310-1DCD-E4FB362568E7}"/>
              </a:ext>
            </a:extLst>
          </p:cNvPr>
          <p:cNvSpPr/>
          <p:nvPr/>
        </p:nvSpPr>
        <p:spPr>
          <a:xfrm>
            <a:off x="548640" y="274320"/>
            <a:ext cx="54864" cy="457200"/>
          </a:xfrm>
          <a:prstGeom prst="rect">
            <a:avLst/>
          </a:prstGeom>
          <a:solidFill>
            <a:srgbClr val="22A69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4" name="Text 2">
            <a:extLst>
              <a:ext uri="{FF2B5EF4-FFF2-40B4-BE49-F238E27FC236}">
                <a16:creationId xmlns:a16="http://schemas.microsoft.com/office/drawing/2014/main" id="{B9EA0725-F227-9CCE-090B-3C0B61ED5F41}"/>
              </a:ext>
            </a:extLst>
          </p:cNvPr>
          <p:cNvSpPr/>
          <p:nvPr/>
        </p:nvSpPr>
        <p:spPr>
          <a:xfrm>
            <a:off x="731520" y="274320"/>
            <a:ext cx="73152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22A699"/>
                </a:solidFill>
                <a:effectLst/>
                <a:uLnTx/>
                <a:uFillTx/>
                <a:latin typeface="Arial" pitchFamily="34" charset="0"/>
                <a:ea typeface="Arial" pitchFamily="34" charset="-122"/>
                <a:cs typeface="Arial" pitchFamily="34" charset="-120"/>
              </a:rPr>
              <a:t>03</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a:extLst>
              <a:ext uri="{FF2B5EF4-FFF2-40B4-BE49-F238E27FC236}">
                <a16:creationId xmlns:a16="http://schemas.microsoft.com/office/drawing/2014/main" id="{214EF291-9F04-10B5-4E82-709BD4CE4AD0}"/>
              </a:ext>
            </a:extLst>
          </p:cNvPr>
          <p:cNvSpPr/>
          <p:nvPr/>
        </p:nvSpPr>
        <p:spPr>
          <a:xfrm>
            <a:off x="548640" y="822960"/>
            <a:ext cx="804672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Agent 请求链路：从自然语言到安全执行</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a:extLst>
              <a:ext uri="{FF2B5EF4-FFF2-40B4-BE49-F238E27FC236}">
                <a16:creationId xmlns:a16="http://schemas.microsoft.com/office/drawing/2014/main" id="{BBE891B0-A9E1-B46D-8331-77A3B1DDB43B}"/>
              </a:ext>
            </a:extLst>
          </p:cNvPr>
          <p:cNvSpPr/>
          <p:nvPr/>
        </p:nvSpPr>
        <p:spPr>
          <a:xfrm>
            <a:off x="365760" y="1554480"/>
            <a:ext cx="1554480" cy="2011680"/>
          </a:xfrm>
          <a:prstGeom prst="rect">
            <a:avLst/>
          </a:prstGeom>
          <a:solidFill>
            <a:srgbClr val="F1F5F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7" name="Shape 5">
            <a:extLst>
              <a:ext uri="{FF2B5EF4-FFF2-40B4-BE49-F238E27FC236}">
                <a16:creationId xmlns:a16="http://schemas.microsoft.com/office/drawing/2014/main" id="{7EEE205B-64E7-6082-4B26-3D9B80039DC4}"/>
              </a:ext>
            </a:extLst>
          </p:cNvPr>
          <p:cNvSpPr/>
          <p:nvPr/>
        </p:nvSpPr>
        <p:spPr>
          <a:xfrm>
            <a:off x="868680" y="1737360"/>
            <a:ext cx="502920" cy="502920"/>
          </a:xfrm>
          <a:prstGeom prst="ellipse">
            <a:avLst/>
          </a:prstGeom>
          <a:solidFill>
            <a:srgbClr val="065A8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8" name="Text 6">
            <a:extLst>
              <a:ext uri="{FF2B5EF4-FFF2-40B4-BE49-F238E27FC236}">
                <a16:creationId xmlns:a16="http://schemas.microsoft.com/office/drawing/2014/main" id="{708BC1C8-2E82-8364-F209-06F518AA3C20}"/>
              </a:ext>
            </a:extLst>
          </p:cNvPr>
          <p:cNvSpPr/>
          <p:nvPr/>
        </p:nvSpPr>
        <p:spPr>
          <a:xfrm>
            <a:off x="868680" y="1737360"/>
            <a:ext cx="50292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1</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a:extLst>
              <a:ext uri="{FF2B5EF4-FFF2-40B4-BE49-F238E27FC236}">
                <a16:creationId xmlns:a16="http://schemas.microsoft.com/office/drawing/2014/main" id="{3F387B17-3102-6E8C-BF16-16467DEFFE9D}"/>
              </a:ext>
            </a:extLst>
          </p:cNvPr>
          <p:cNvSpPr/>
          <p:nvPr/>
        </p:nvSpPr>
        <p:spPr>
          <a:xfrm>
            <a:off x="365760" y="2377440"/>
            <a:ext cx="155448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65A82"/>
                </a:solidFill>
                <a:effectLst/>
                <a:uLnTx/>
                <a:uFillTx/>
                <a:latin typeface="Arial" pitchFamily="34" charset="0"/>
                <a:ea typeface="Arial" pitchFamily="34" charset="-122"/>
                <a:cs typeface="Arial" pitchFamily="34" charset="-120"/>
              </a:rPr>
              <a:t>自然语言输入</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a:extLst>
              <a:ext uri="{FF2B5EF4-FFF2-40B4-BE49-F238E27FC236}">
                <a16:creationId xmlns:a16="http://schemas.microsoft.com/office/drawing/2014/main" id="{AEF59AE0-01F5-0736-34B5-F7F4721FF199}"/>
              </a:ext>
            </a:extLst>
          </p:cNvPr>
          <p:cNvSpPr/>
          <p:nvPr/>
        </p:nvSpPr>
        <p:spPr>
          <a:xfrm>
            <a:off x="365760" y="2743200"/>
            <a:ext cx="155448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用户发出业务请求</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a:extLst>
              <a:ext uri="{FF2B5EF4-FFF2-40B4-BE49-F238E27FC236}">
                <a16:creationId xmlns:a16="http://schemas.microsoft.com/office/drawing/2014/main" id="{F65AAD0E-3448-3917-804F-A5FA95D7ECB9}"/>
              </a:ext>
            </a:extLst>
          </p:cNvPr>
          <p:cNvSpPr/>
          <p:nvPr/>
        </p:nvSpPr>
        <p:spPr>
          <a:xfrm>
            <a:off x="1920240" y="2560320"/>
            <a:ext cx="182880" cy="0"/>
          </a:xfrm>
          <a:prstGeom prst="line">
            <a:avLst/>
          </a:prstGeom>
          <a:noFill/>
          <a:ln w="19050">
            <a:solidFill>
              <a:srgbClr val="94A3B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12" name="Shape 10">
            <a:extLst>
              <a:ext uri="{FF2B5EF4-FFF2-40B4-BE49-F238E27FC236}">
                <a16:creationId xmlns:a16="http://schemas.microsoft.com/office/drawing/2014/main" id="{4FF38B21-037D-D55D-FDA5-91CE6A6E9636}"/>
              </a:ext>
            </a:extLst>
          </p:cNvPr>
          <p:cNvSpPr/>
          <p:nvPr/>
        </p:nvSpPr>
        <p:spPr>
          <a:xfrm>
            <a:off x="2103120" y="1554480"/>
            <a:ext cx="1554480" cy="2011680"/>
          </a:xfrm>
          <a:prstGeom prst="rect">
            <a:avLst/>
          </a:prstGeom>
          <a:solidFill>
            <a:srgbClr val="F1F5F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13" name="Shape 11">
            <a:extLst>
              <a:ext uri="{FF2B5EF4-FFF2-40B4-BE49-F238E27FC236}">
                <a16:creationId xmlns:a16="http://schemas.microsoft.com/office/drawing/2014/main" id="{DC272367-705B-7F96-9ED6-45C7CEC6C402}"/>
              </a:ext>
            </a:extLst>
          </p:cNvPr>
          <p:cNvSpPr/>
          <p:nvPr/>
        </p:nvSpPr>
        <p:spPr>
          <a:xfrm>
            <a:off x="2606040" y="1737360"/>
            <a:ext cx="502920" cy="502920"/>
          </a:xfrm>
          <a:prstGeom prst="ellipse">
            <a:avLst/>
          </a:prstGeom>
          <a:solidFill>
            <a:srgbClr val="22A69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14" name="Text 12">
            <a:extLst>
              <a:ext uri="{FF2B5EF4-FFF2-40B4-BE49-F238E27FC236}">
                <a16:creationId xmlns:a16="http://schemas.microsoft.com/office/drawing/2014/main" id="{A199DDA0-28BE-4398-A237-E14F10DA7E22}"/>
              </a:ext>
            </a:extLst>
          </p:cNvPr>
          <p:cNvSpPr/>
          <p:nvPr/>
        </p:nvSpPr>
        <p:spPr>
          <a:xfrm>
            <a:off x="2606040" y="1737360"/>
            <a:ext cx="50292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2</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a:extLst>
              <a:ext uri="{FF2B5EF4-FFF2-40B4-BE49-F238E27FC236}">
                <a16:creationId xmlns:a16="http://schemas.microsoft.com/office/drawing/2014/main" id="{A2C4D9DE-75B2-6BDD-F03A-C1DE2833B345}"/>
              </a:ext>
            </a:extLst>
          </p:cNvPr>
          <p:cNvSpPr/>
          <p:nvPr/>
        </p:nvSpPr>
        <p:spPr>
          <a:xfrm>
            <a:off x="2103120" y="2377440"/>
            <a:ext cx="155448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22A699"/>
                </a:solidFill>
                <a:effectLst/>
                <a:uLnTx/>
                <a:uFillTx/>
                <a:latin typeface="Arial" pitchFamily="34" charset="0"/>
                <a:ea typeface="Arial" pitchFamily="34" charset="-122"/>
                <a:cs typeface="Arial" pitchFamily="34" charset="-120"/>
              </a:rPr>
              <a:t>意图识别</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a:extLst>
              <a:ext uri="{FF2B5EF4-FFF2-40B4-BE49-F238E27FC236}">
                <a16:creationId xmlns:a16="http://schemas.microsoft.com/office/drawing/2014/main" id="{1656E781-CA97-36A7-C7BC-2A61F313F5CB}"/>
              </a:ext>
            </a:extLst>
          </p:cNvPr>
          <p:cNvSpPr/>
          <p:nvPr/>
        </p:nvSpPr>
        <p:spPr>
          <a:xfrm>
            <a:off x="2103120" y="2743200"/>
            <a:ext cx="155448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LLM 解析用户意图</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a:extLst>
              <a:ext uri="{FF2B5EF4-FFF2-40B4-BE49-F238E27FC236}">
                <a16:creationId xmlns:a16="http://schemas.microsoft.com/office/drawing/2014/main" id="{A1066014-DA41-6A34-876B-3C926F2AFD35}"/>
              </a:ext>
            </a:extLst>
          </p:cNvPr>
          <p:cNvSpPr/>
          <p:nvPr/>
        </p:nvSpPr>
        <p:spPr>
          <a:xfrm>
            <a:off x="2468880" y="3200400"/>
            <a:ext cx="822960" cy="256032"/>
          </a:xfrm>
          <a:prstGeom prst="rect">
            <a:avLst/>
          </a:prstGeom>
          <a:solidFill>
            <a:srgbClr val="22A69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18" name="Text 16">
            <a:extLst>
              <a:ext uri="{FF2B5EF4-FFF2-40B4-BE49-F238E27FC236}">
                <a16:creationId xmlns:a16="http://schemas.microsoft.com/office/drawing/2014/main" id="{4472CEE2-75A6-0C8E-888B-5AF48456063B}"/>
              </a:ext>
            </a:extLst>
          </p:cNvPr>
          <p:cNvSpPr/>
          <p:nvPr/>
        </p:nvSpPr>
        <p:spPr>
          <a:xfrm>
            <a:off x="2468880" y="3200400"/>
            <a:ext cx="82296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软约束</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a:extLst>
              <a:ext uri="{FF2B5EF4-FFF2-40B4-BE49-F238E27FC236}">
                <a16:creationId xmlns:a16="http://schemas.microsoft.com/office/drawing/2014/main" id="{CE2B226F-A995-CCDB-6B73-03EC0E09CFDF}"/>
              </a:ext>
            </a:extLst>
          </p:cNvPr>
          <p:cNvSpPr/>
          <p:nvPr/>
        </p:nvSpPr>
        <p:spPr>
          <a:xfrm>
            <a:off x="3657600" y="2560320"/>
            <a:ext cx="182880" cy="0"/>
          </a:xfrm>
          <a:prstGeom prst="line">
            <a:avLst/>
          </a:prstGeom>
          <a:noFill/>
          <a:ln w="19050">
            <a:solidFill>
              <a:srgbClr val="94A3B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20" name="Shape 18">
            <a:extLst>
              <a:ext uri="{FF2B5EF4-FFF2-40B4-BE49-F238E27FC236}">
                <a16:creationId xmlns:a16="http://schemas.microsoft.com/office/drawing/2014/main" id="{295AD999-0DC7-D0F4-5D52-9C3309CFA296}"/>
              </a:ext>
            </a:extLst>
          </p:cNvPr>
          <p:cNvSpPr/>
          <p:nvPr/>
        </p:nvSpPr>
        <p:spPr>
          <a:xfrm>
            <a:off x="3840480" y="1554480"/>
            <a:ext cx="1554480" cy="2011680"/>
          </a:xfrm>
          <a:prstGeom prst="rect">
            <a:avLst/>
          </a:prstGeom>
          <a:solidFill>
            <a:srgbClr val="F1F5F9"/>
          </a:solidFill>
          <a:ln>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21" name="Shape 19">
            <a:extLst>
              <a:ext uri="{FF2B5EF4-FFF2-40B4-BE49-F238E27FC236}">
                <a16:creationId xmlns:a16="http://schemas.microsoft.com/office/drawing/2014/main" id="{7741FD99-9421-09B4-7860-57054A2647B4}"/>
              </a:ext>
            </a:extLst>
          </p:cNvPr>
          <p:cNvSpPr/>
          <p:nvPr/>
        </p:nvSpPr>
        <p:spPr>
          <a:xfrm>
            <a:off x="4343400" y="1737360"/>
            <a:ext cx="502920" cy="502920"/>
          </a:xfrm>
          <a:prstGeom prst="ellipse">
            <a:avLst/>
          </a:prstGeom>
          <a:solidFill>
            <a:srgbClr val="065A8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22" name="Text 20">
            <a:extLst>
              <a:ext uri="{FF2B5EF4-FFF2-40B4-BE49-F238E27FC236}">
                <a16:creationId xmlns:a16="http://schemas.microsoft.com/office/drawing/2014/main" id="{3EE40E2E-C2C2-2240-B194-7FC54DE34FA6}"/>
              </a:ext>
            </a:extLst>
          </p:cNvPr>
          <p:cNvSpPr/>
          <p:nvPr/>
        </p:nvSpPr>
        <p:spPr>
          <a:xfrm>
            <a:off x="4343400" y="1737360"/>
            <a:ext cx="50292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3</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a:extLst>
              <a:ext uri="{FF2B5EF4-FFF2-40B4-BE49-F238E27FC236}">
                <a16:creationId xmlns:a16="http://schemas.microsoft.com/office/drawing/2014/main" id="{1D4F19DA-1589-7DDD-5149-BD91E95EBB18}"/>
              </a:ext>
            </a:extLst>
          </p:cNvPr>
          <p:cNvSpPr/>
          <p:nvPr/>
        </p:nvSpPr>
        <p:spPr>
          <a:xfrm>
            <a:off x="3840480" y="2377440"/>
            <a:ext cx="155448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65A82"/>
                </a:solidFill>
                <a:effectLst/>
                <a:uLnTx/>
                <a:uFillTx/>
                <a:latin typeface="Arial" pitchFamily="34" charset="0"/>
                <a:ea typeface="Arial" pitchFamily="34" charset="-122"/>
                <a:cs typeface="Arial" pitchFamily="34" charset="-120"/>
              </a:rPr>
              <a:t>MCP 工具查询</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a:extLst>
              <a:ext uri="{FF2B5EF4-FFF2-40B4-BE49-F238E27FC236}">
                <a16:creationId xmlns:a16="http://schemas.microsoft.com/office/drawing/2014/main" id="{0EBFAA22-E0AC-F4DD-164C-2DE332D0D3EA}"/>
              </a:ext>
            </a:extLst>
          </p:cNvPr>
          <p:cNvSpPr/>
          <p:nvPr/>
        </p:nvSpPr>
        <p:spPr>
          <a:xfrm>
            <a:off x="3840480" y="2743200"/>
            <a:ext cx="155448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获取本体定义的合法操作</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3">
            <a:extLst>
              <a:ext uri="{FF2B5EF4-FFF2-40B4-BE49-F238E27FC236}">
                <a16:creationId xmlns:a16="http://schemas.microsoft.com/office/drawing/2014/main" id="{EB8F4A7A-8A60-C5FA-9ABF-7AB1476DC118}"/>
              </a:ext>
            </a:extLst>
          </p:cNvPr>
          <p:cNvSpPr/>
          <p:nvPr/>
        </p:nvSpPr>
        <p:spPr>
          <a:xfrm>
            <a:off x="4206240" y="3200400"/>
            <a:ext cx="822960" cy="256032"/>
          </a:xfrm>
          <a:prstGeom prst="rect">
            <a:avLst/>
          </a:prstGeom>
          <a:solidFill>
            <a:srgbClr val="065A8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26" name="Text 24">
            <a:extLst>
              <a:ext uri="{FF2B5EF4-FFF2-40B4-BE49-F238E27FC236}">
                <a16:creationId xmlns:a16="http://schemas.microsoft.com/office/drawing/2014/main" id="{32316E2E-1689-2ABE-D50D-5144EEE06A1E}"/>
              </a:ext>
            </a:extLst>
          </p:cNvPr>
          <p:cNvSpPr/>
          <p:nvPr/>
        </p:nvSpPr>
        <p:spPr>
          <a:xfrm>
            <a:off x="4206240" y="3200400"/>
            <a:ext cx="82296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硬约束</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5">
            <a:extLst>
              <a:ext uri="{FF2B5EF4-FFF2-40B4-BE49-F238E27FC236}">
                <a16:creationId xmlns:a16="http://schemas.microsoft.com/office/drawing/2014/main" id="{EB72A794-6AB9-8B57-D9B4-B56353546758}"/>
              </a:ext>
            </a:extLst>
          </p:cNvPr>
          <p:cNvSpPr/>
          <p:nvPr/>
        </p:nvSpPr>
        <p:spPr>
          <a:xfrm>
            <a:off x="5394960" y="2560320"/>
            <a:ext cx="182880" cy="0"/>
          </a:xfrm>
          <a:prstGeom prst="line">
            <a:avLst/>
          </a:prstGeom>
          <a:noFill/>
          <a:ln w="19050">
            <a:solidFill>
              <a:srgbClr val="94A3B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28" name="Shape 26">
            <a:extLst>
              <a:ext uri="{FF2B5EF4-FFF2-40B4-BE49-F238E27FC236}">
                <a16:creationId xmlns:a16="http://schemas.microsoft.com/office/drawing/2014/main" id="{26AF03C1-C446-89F4-DAFD-B4F90011A12C}"/>
              </a:ext>
            </a:extLst>
          </p:cNvPr>
          <p:cNvSpPr/>
          <p:nvPr/>
        </p:nvSpPr>
        <p:spPr>
          <a:xfrm>
            <a:off x="5577840" y="1554480"/>
            <a:ext cx="1554480" cy="2011680"/>
          </a:xfrm>
          <a:prstGeom prst="rect">
            <a:avLst/>
          </a:prstGeom>
          <a:solidFill>
            <a:srgbClr val="F1F5F9"/>
          </a:solidFill>
          <a:ln>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29" name="Shape 27">
            <a:extLst>
              <a:ext uri="{FF2B5EF4-FFF2-40B4-BE49-F238E27FC236}">
                <a16:creationId xmlns:a16="http://schemas.microsoft.com/office/drawing/2014/main" id="{997F1FB9-E8AE-3AE8-5E00-C19CED894652}"/>
              </a:ext>
            </a:extLst>
          </p:cNvPr>
          <p:cNvSpPr/>
          <p:nvPr/>
        </p:nvSpPr>
        <p:spPr>
          <a:xfrm>
            <a:off x="6080760" y="1737360"/>
            <a:ext cx="502920" cy="502920"/>
          </a:xfrm>
          <a:prstGeom prst="ellipse">
            <a:avLst/>
          </a:prstGeom>
          <a:solidFill>
            <a:srgbClr val="E78C07"/>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30" name="Text 28">
            <a:extLst>
              <a:ext uri="{FF2B5EF4-FFF2-40B4-BE49-F238E27FC236}">
                <a16:creationId xmlns:a16="http://schemas.microsoft.com/office/drawing/2014/main" id="{339E2532-A253-4E88-6BB7-BEF54E264F8E}"/>
              </a:ext>
            </a:extLst>
          </p:cNvPr>
          <p:cNvSpPr/>
          <p:nvPr/>
        </p:nvSpPr>
        <p:spPr>
          <a:xfrm>
            <a:off x="6080760" y="1737360"/>
            <a:ext cx="50292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4</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9">
            <a:extLst>
              <a:ext uri="{FF2B5EF4-FFF2-40B4-BE49-F238E27FC236}">
                <a16:creationId xmlns:a16="http://schemas.microsoft.com/office/drawing/2014/main" id="{3919AA98-9308-25F7-9602-ECB4D77107D1}"/>
              </a:ext>
            </a:extLst>
          </p:cNvPr>
          <p:cNvSpPr/>
          <p:nvPr/>
        </p:nvSpPr>
        <p:spPr>
          <a:xfrm>
            <a:off x="5577840" y="2377440"/>
            <a:ext cx="155448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E78C07"/>
                </a:solidFill>
                <a:effectLst/>
                <a:uLnTx/>
                <a:uFillTx/>
                <a:latin typeface="Arial" pitchFamily="34" charset="0"/>
                <a:ea typeface="Arial" pitchFamily="34" charset="-122"/>
                <a:cs typeface="Arial" pitchFamily="34" charset="-120"/>
              </a:rPr>
              <a:t>合规校验</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30">
            <a:extLst>
              <a:ext uri="{FF2B5EF4-FFF2-40B4-BE49-F238E27FC236}">
                <a16:creationId xmlns:a16="http://schemas.microsoft.com/office/drawing/2014/main" id="{01BF00F3-0A4A-5D64-DF68-CB624E184FC9}"/>
              </a:ext>
            </a:extLst>
          </p:cNvPr>
          <p:cNvSpPr/>
          <p:nvPr/>
        </p:nvSpPr>
        <p:spPr>
          <a:xfrm>
            <a:off x="5577840" y="2743200"/>
            <a:ext cx="155448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权限 + 聚合根 + 前置条件</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Shape 31">
            <a:extLst>
              <a:ext uri="{FF2B5EF4-FFF2-40B4-BE49-F238E27FC236}">
                <a16:creationId xmlns:a16="http://schemas.microsoft.com/office/drawing/2014/main" id="{5EEC4CB9-FE87-6BFA-8AC9-57452A8FD907}"/>
              </a:ext>
            </a:extLst>
          </p:cNvPr>
          <p:cNvSpPr/>
          <p:nvPr/>
        </p:nvSpPr>
        <p:spPr>
          <a:xfrm>
            <a:off x="5943600" y="3200400"/>
            <a:ext cx="822960" cy="256032"/>
          </a:xfrm>
          <a:prstGeom prst="rect">
            <a:avLst/>
          </a:prstGeom>
          <a:solidFill>
            <a:srgbClr val="E78C07"/>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34" name="Text 32">
            <a:extLst>
              <a:ext uri="{FF2B5EF4-FFF2-40B4-BE49-F238E27FC236}">
                <a16:creationId xmlns:a16="http://schemas.microsoft.com/office/drawing/2014/main" id="{F02A7FE2-B902-4AF1-89BC-EEC34A91EF22}"/>
              </a:ext>
            </a:extLst>
          </p:cNvPr>
          <p:cNvSpPr/>
          <p:nvPr/>
        </p:nvSpPr>
        <p:spPr>
          <a:xfrm>
            <a:off x="5943600" y="3200400"/>
            <a:ext cx="82296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校验层</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Shape 33">
            <a:extLst>
              <a:ext uri="{FF2B5EF4-FFF2-40B4-BE49-F238E27FC236}">
                <a16:creationId xmlns:a16="http://schemas.microsoft.com/office/drawing/2014/main" id="{3A17BA66-1503-7AE2-8754-C54D8C8879F0}"/>
              </a:ext>
            </a:extLst>
          </p:cNvPr>
          <p:cNvSpPr/>
          <p:nvPr/>
        </p:nvSpPr>
        <p:spPr>
          <a:xfrm>
            <a:off x="7132320" y="2560320"/>
            <a:ext cx="182880" cy="0"/>
          </a:xfrm>
          <a:prstGeom prst="line">
            <a:avLst/>
          </a:prstGeom>
          <a:noFill/>
          <a:ln w="19050">
            <a:solidFill>
              <a:srgbClr val="94A3B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36" name="Shape 34">
            <a:extLst>
              <a:ext uri="{FF2B5EF4-FFF2-40B4-BE49-F238E27FC236}">
                <a16:creationId xmlns:a16="http://schemas.microsoft.com/office/drawing/2014/main" id="{DEFCDE84-D9E7-D49F-4020-5B8DEC6E261F}"/>
              </a:ext>
            </a:extLst>
          </p:cNvPr>
          <p:cNvSpPr/>
          <p:nvPr/>
        </p:nvSpPr>
        <p:spPr>
          <a:xfrm>
            <a:off x="7315200" y="1554480"/>
            <a:ext cx="1554480" cy="2011680"/>
          </a:xfrm>
          <a:prstGeom prst="rect">
            <a:avLst/>
          </a:prstGeom>
          <a:solidFill>
            <a:srgbClr val="F1F5F9"/>
          </a:solidFill>
          <a:ln>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37" name="Shape 35">
            <a:extLst>
              <a:ext uri="{FF2B5EF4-FFF2-40B4-BE49-F238E27FC236}">
                <a16:creationId xmlns:a16="http://schemas.microsoft.com/office/drawing/2014/main" id="{C1900A18-0952-F7FE-2E93-7F10D1B7F781}"/>
              </a:ext>
            </a:extLst>
          </p:cNvPr>
          <p:cNvSpPr/>
          <p:nvPr/>
        </p:nvSpPr>
        <p:spPr>
          <a:xfrm>
            <a:off x="7818120" y="1737360"/>
            <a:ext cx="502920" cy="502920"/>
          </a:xfrm>
          <a:prstGeom prst="ellipse">
            <a:avLst/>
          </a:prstGeom>
          <a:solidFill>
            <a:srgbClr val="107E3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38" name="Text 36">
            <a:extLst>
              <a:ext uri="{FF2B5EF4-FFF2-40B4-BE49-F238E27FC236}">
                <a16:creationId xmlns:a16="http://schemas.microsoft.com/office/drawing/2014/main" id="{45844CDF-03E1-64A0-3D17-FB8156FD7C4D}"/>
              </a:ext>
            </a:extLst>
          </p:cNvPr>
          <p:cNvSpPr/>
          <p:nvPr/>
        </p:nvSpPr>
        <p:spPr>
          <a:xfrm>
            <a:off x="7818120" y="1737360"/>
            <a:ext cx="50292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5</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7">
            <a:extLst>
              <a:ext uri="{FF2B5EF4-FFF2-40B4-BE49-F238E27FC236}">
                <a16:creationId xmlns:a16="http://schemas.microsoft.com/office/drawing/2014/main" id="{47551A87-E685-FFA4-A190-A20788E200D4}"/>
              </a:ext>
            </a:extLst>
          </p:cNvPr>
          <p:cNvSpPr/>
          <p:nvPr/>
        </p:nvSpPr>
        <p:spPr>
          <a:xfrm>
            <a:off x="7315200" y="2377440"/>
            <a:ext cx="155448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07E3E"/>
                </a:solidFill>
                <a:effectLst/>
                <a:uLnTx/>
                <a:uFillTx/>
                <a:latin typeface="Arial" pitchFamily="34" charset="0"/>
                <a:ea typeface="Arial" pitchFamily="34" charset="-122"/>
                <a:cs typeface="Arial" pitchFamily="34" charset="-120"/>
              </a:rPr>
              <a:t>安全执行</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38">
            <a:extLst>
              <a:ext uri="{FF2B5EF4-FFF2-40B4-BE49-F238E27FC236}">
                <a16:creationId xmlns:a16="http://schemas.microsoft.com/office/drawing/2014/main" id="{6F1A2D48-D6E0-E86D-603B-8907BD7059B0}"/>
              </a:ext>
            </a:extLst>
          </p:cNvPr>
          <p:cNvSpPr/>
          <p:nvPr/>
        </p:nvSpPr>
        <p:spPr>
          <a:xfrm>
            <a:off x="7315200" y="2743200"/>
            <a:ext cx="155448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调用业务系统 API</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Text 39">
            <a:extLst>
              <a:ext uri="{FF2B5EF4-FFF2-40B4-BE49-F238E27FC236}">
                <a16:creationId xmlns:a16="http://schemas.microsoft.com/office/drawing/2014/main" id="{3E715AE8-67E3-6BE1-C67C-79CA81C44AC6}"/>
              </a:ext>
            </a:extLst>
          </p:cNvPr>
          <p:cNvSpPr/>
          <p:nvPr/>
        </p:nvSpPr>
        <p:spPr>
          <a:xfrm>
            <a:off x="548640" y="4023360"/>
            <a:ext cx="804672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三通道纵深防御：软约束(意图识别) → 硬约束(MCP白名单) → 校验层(执行前验证)</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47075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2A699"/>
          </a:solidFill>
          <a:ln/>
        </p:spPr>
        <p:txBody>
          <a:bodyPr/>
          <a:lstStyle/>
          <a:p>
            <a:endParaRPr lang="zh-CN" altLang="en-US"/>
          </a:p>
        </p:txBody>
      </p:sp>
      <p:sp>
        <p:nvSpPr>
          <p:cNvPr id="3" name="Shape 1"/>
          <p:cNvSpPr/>
          <p:nvPr/>
        </p:nvSpPr>
        <p:spPr>
          <a:xfrm>
            <a:off x="548640" y="274320"/>
            <a:ext cx="54864" cy="457200"/>
          </a:xfrm>
          <a:prstGeom prst="rect">
            <a:avLst/>
          </a:prstGeom>
          <a:solidFill>
            <a:srgbClr val="22A699"/>
          </a:solidFill>
          <a:ln/>
        </p:spPr>
        <p:txBody>
          <a:bodyPr/>
          <a:lstStyle/>
          <a:p>
            <a:endParaRPr lang="zh-CN" altLang="en-US"/>
          </a:p>
        </p:txBody>
      </p:sp>
      <p:sp>
        <p:nvSpPr>
          <p:cNvPr id="4" name="Text 2"/>
          <p:cNvSpPr/>
          <p:nvPr/>
        </p:nvSpPr>
        <p:spPr>
          <a:xfrm>
            <a:off x="731520" y="274320"/>
            <a:ext cx="731520" cy="457200"/>
          </a:xfrm>
          <a:prstGeom prst="rect">
            <a:avLst/>
          </a:prstGeom>
          <a:noFill/>
          <a:ln/>
        </p:spPr>
        <p:txBody>
          <a:bodyPr wrap="square" lIns="0" tIns="0" rIns="0" bIns="0" rtlCol="0" anchor="ctr"/>
          <a:lstStyle/>
          <a:p>
            <a:pPr marL="0" indent="0">
              <a:buNone/>
            </a:pPr>
            <a:r>
              <a:rPr lang="en-US" sz="1800" b="1" dirty="0">
                <a:solidFill>
                  <a:srgbClr val="22A699"/>
                </a:solidFill>
                <a:latin typeface="Arial" pitchFamily="34" charset="0"/>
                <a:ea typeface="Arial" pitchFamily="34" charset="-122"/>
                <a:cs typeface="Arial" pitchFamily="34" charset="-120"/>
              </a:rPr>
              <a:t>04</a:t>
            </a:r>
            <a:endParaRPr lang="en-US" sz="1800" dirty="0"/>
          </a:p>
        </p:txBody>
      </p:sp>
      <p:sp>
        <p:nvSpPr>
          <p:cNvPr id="5" name="Text 3"/>
          <p:cNvSpPr/>
          <p:nvPr/>
        </p:nvSpPr>
        <p:spPr>
          <a:xfrm>
            <a:off x="548640" y="822960"/>
            <a:ext cx="8046720" cy="457200"/>
          </a:xfrm>
          <a:prstGeom prst="rect">
            <a:avLst/>
          </a:prstGeom>
          <a:noFill/>
          <a:ln/>
        </p:spPr>
        <p:txBody>
          <a:bodyPr wrap="square" lIns="0" tIns="0" rIns="0" bIns="0" rtlCol="0" anchor="ctr"/>
          <a:lstStyle/>
          <a:p>
            <a:pPr marL="0" indent="0">
              <a:buNone/>
            </a:pPr>
            <a:r>
              <a:rPr lang="en-US" sz="2400" b="1" dirty="0">
                <a:solidFill>
                  <a:srgbClr val="1E293B"/>
                </a:solidFill>
                <a:latin typeface="Arial" pitchFamily="34" charset="0"/>
                <a:ea typeface="Arial" pitchFamily="34" charset="-122"/>
                <a:cs typeface="Arial" pitchFamily="34" charset="-120"/>
              </a:rPr>
              <a:t>本体模型的四层架构</a:t>
            </a:r>
            <a:endParaRPr lang="en-US" sz="2400" dirty="0"/>
          </a:p>
        </p:txBody>
      </p:sp>
      <p:sp>
        <p:nvSpPr>
          <p:cNvPr id="6" name="Shape 4"/>
          <p:cNvSpPr/>
          <p:nvPr/>
        </p:nvSpPr>
        <p:spPr>
          <a:xfrm>
            <a:off x="548640" y="1463040"/>
            <a:ext cx="8046720" cy="777240"/>
          </a:xfrm>
          <a:prstGeom prst="rect">
            <a:avLst/>
          </a:prstGeom>
          <a:solidFill>
            <a:srgbClr val="FEF2F2"/>
          </a:solidFill>
          <a:ln/>
        </p:spPr>
        <p:txBody>
          <a:bodyPr/>
          <a:lstStyle/>
          <a:p>
            <a:endParaRPr lang="zh-CN" altLang="en-US"/>
          </a:p>
        </p:txBody>
      </p:sp>
      <p:sp>
        <p:nvSpPr>
          <p:cNvPr id="7" name="Shape 5"/>
          <p:cNvSpPr/>
          <p:nvPr/>
        </p:nvSpPr>
        <p:spPr>
          <a:xfrm>
            <a:off x="548640" y="1463040"/>
            <a:ext cx="54864" cy="777240"/>
          </a:xfrm>
          <a:prstGeom prst="rect">
            <a:avLst/>
          </a:prstGeom>
          <a:solidFill>
            <a:srgbClr val="BB0000"/>
          </a:solidFill>
          <a:ln/>
        </p:spPr>
        <p:txBody>
          <a:bodyPr/>
          <a:lstStyle/>
          <a:p>
            <a:endParaRPr lang="zh-CN" altLang="en-US"/>
          </a:p>
        </p:txBody>
      </p:sp>
      <p:pic>
        <p:nvPicPr>
          <p:cNvPr id="8" name="Image 0" descr="preencoded.png"/>
          <p:cNvPicPr>
            <a:picLocks noChangeAspect="1"/>
          </p:cNvPicPr>
          <p:nvPr/>
        </p:nvPicPr>
        <p:blipFill>
          <a:blip r:embed="rId3"/>
          <a:stretch>
            <a:fillRect/>
          </a:stretch>
        </p:blipFill>
        <p:spPr>
          <a:xfrm>
            <a:off x="777240" y="1627632"/>
            <a:ext cx="411480" cy="411480"/>
          </a:xfrm>
          <a:prstGeom prst="rect">
            <a:avLst/>
          </a:prstGeom>
        </p:spPr>
      </p:pic>
      <p:sp>
        <p:nvSpPr>
          <p:cNvPr id="9" name="Text 6"/>
          <p:cNvSpPr/>
          <p:nvPr/>
        </p:nvSpPr>
        <p:spPr>
          <a:xfrm>
            <a:off x="1325880" y="1554480"/>
            <a:ext cx="1188720" cy="594360"/>
          </a:xfrm>
          <a:prstGeom prst="rect">
            <a:avLst/>
          </a:prstGeom>
          <a:noFill/>
          <a:ln/>
        </p:spPr>
        <p:txBody>
          <a:bodyPr wrap="square" lIns="0" tIns="0" rIns="0" bIns="0" rtlCol="0" anchor="ctr"/>
          <a:lstStyle/>
          <a:p>
            <a:pPr marL="0" indent="0">
              <a:buNone/>
            </a:pPr>
            <a:r>
              <a:rPr lang="en-US" sz="1600" b="1" dirty="0">
                <a:solidFill>
                  <a:srgbClr val="BB0000"/>
                </a:solidFill>
                <a:latin typeface="Arial" pitchFamily="34" charset="0"/>
                <a:ea typeface="Arial" pitchFamily="34" charset="-122"/>
                <a:cs typeface="Arial" pitchFamily="34" charset="-120"/>
              </a:rPr>
              <a:t>治理层</a:t>
            </a:r>
            <a:endParaRPr lang="en-US" sz="1600" dirty="0"/>
          </a:p>
        </p:txBody>
      </p:sp>
      <p:sp>
        <p:nvSpPr>
          <p:cNvPr id="10" name="Text 7"/>
          <p:cNvSpPr/>
          <p:nvPr/>
        </p:nvSpPr>
        <p:spPr>
          <a:xfrm>
            <a:off x="2560320" y="1554480"/>
            <a:ext cx="5852160" cy="594360"/>
          </a:xfrm>
          <a:prstGeom prst="rect">
            <a:avLst/>
          </a:prstGeom>
          <a:noFill/>
          <a:ln/>
        </p:spPr>
        <p:txBody>
          <a:bodyPr wrap="square" lIns="0" tIns="0" rIns="0" bIns="0" rtlCol="0" anchor="ctr"/>
          <a:lstStyle/>
          <a:p>
            <a:pPr marL="0" indent="0">
              <a:buNone/>
            </a:pPr>
            <a:r>
              <a:rPr lang="en-US" sz="1300" dirty="0">
                <a:solidFill>
                  <a:srgbClr val="64748B"/>
                </a:solidFill>
                <a:latin typeface="Arial" pitchFamily="34" charset="0"/>
                <a:ea typeface="Arial" pitchFamily="34" charset="-122"/>
                <a:cs typeface="Arial" pitchFamily="34" charset="-120"/>
              </a:rPr>
              <a:t>角色 · 权限 · Agent 沙箱 · 审计</a:t>
            </a:r>
            <a:endParaRPr lang="en-US" sz="1300" dirty="0"/>
          </a:p>
        </p:txBody>
      </p:sp>
      <p:sp>
        <p:nvSpPr>
          <p:cNvPr id="11" name="Shape 8"/>
          <p:cNvSpPr/>
          <p:nvPr/>
        </p:nvSpPr>
        <p:spPr>
          <a:xfrm>
            <a:off x="548640" y="2331720"/>
            <a:ext cx="8046720" cy="777240"/>
          </a:xfrm>
          <a:prstGeom prst="rect">
            <a:avLst/>
          </a:prstGeom>
          <a:solidFill>
            <a:srgbClr val="FEF3E6"/>
          </a:solidFill>
          <a:ln/>
        </p:spPr>
        <p:txBody>
          <a:bodyPr/>
          <a:lstStyle/>
          <a:p>
            <a:endParaRPr lang="zh-CN" altLang="en-US"/>
          </a:p>
        </p:txBody>
      </p:sp>
      <p:sp>
        <p:nvSpPr>
          <p:cNvPr id="12" name="Shape 9"/>
          <p:cNvSpPr/>
          <p:nvPr/>
        </p:nvSpPr>
        <p:spPr>
          <a:xfrm>
            <a:off x="548640" y="2331720"/>
            <a:ext cx="54864" cy="777240"/>
          </a:xfrm>
          <a:prstGeom prst="rect">
            <a:avLst/>
          </a:prstGeom>
          <a:solidFill>
            <a:srgbClr val="E78C07"/>
          </a:solidFill>
          <a:ln/>
        </p:spPr>
        <p:txBody>
          <a:bodyPr/>
          <a:lstStyle/>
          <a:p>
            <a:endParaRPr lang="zh-CN" altLang="en-US"/>
          </a:p>
        </p:txBody>
      </p:sp>
      <p:pic>
        <p:nvPicPr>
          <p:cNvPr id="13" name="Image 1" descr="preencoded.png"/>
          <p:cNvPicPr>
            <a:picLocks noChangeAspect="1"/>
          </p:cNvPicPr>
          <p:nvPr/>
        </p:nvPicPr>
        <p:blipFill>
          <a:blip r:embed="rId4"/>
          <a:stretch>
            <a:fillRect/>
          </a:stretch>
        </p:blipFill>
        <p:spPr>
          <a:xfrm>
            <a:off x="777240" y="2496312"/>
            <a:ext cx="411480" cy="411480"/>
          </a:xfrm>
          <a:prstGeom prst="rect">
            <a:avLst/>
          </a:prstGeom>
        </p:spPr>
      </p:pic>
      <p:sp>
        <p:nvSpPr>
          <p:cNvPr id="14" name="Text 10"/>
          <p:cNvSpPr/>
          <p:nvPr/>
        </p:nvSpPr>
        <p:spPr>
          <a:xfrm>
            <a:off x="1325880" y="2423160"/>
            <a:ext cx="1188720" cy="594360"/>
          </a:xfrm>
          <a:prstGeom prst="rect">
            <a:avLst/>
          </a:prstGeom>
          <a:noFill/>
          <a:ln/>
        </p:spPr>
        <p:txBody>
          <a:bodyPr wrap="square" lIns="0" tIns="0" rIns="0" bIns="0" rtlCol="0" anchor="ctr"/>
          <a:lstStyle/>
          <a:p>
            <a:pPr marL="0" indent="0">
              <a:buNone/>
            </a:pPr>
            <a:r>
              <a:rPr lang="en-US" sz="1600" b="1" dirty="0">
                <a:solidFill>
                  <a:srgbClr val="E78C07"/>
                </a:solidFill>
                <a:latin typeface="Arial" pitchFamily="34" charset="0"/>
                <a:ea typeface="Arial" pitchFamily="34" charset="-122"/>
                <a:cs typeface="Arial" pitchFamily="34" charset="-120"/>
              </a:rPr>
              <a:t>事件层</a:t>
            </a:r>
            <a:endParaRPr lang="en-US" sz="1600" dirty="0"/>
          </a:p>
        </p:txBody>
      </p:sp>
      <p:sp>
        <p:nvSpPr>
          <p:cNvPr id="15" name="Text 11"/>
          <p:cNvSpPr/>
          <p:nvPr/>
        </p:nvSpPr>
        <p:spPr>
          <a:xfrm>
            <a:off x="2560320" y="2423160"/>
            <a:ext cx="5852160" cy="594360"/>
          </a:xfrm>
          <a:prstGeom prst="rect">
            <a:avLst/>
          </a:prstGeom>
          <a:noFill/>
          <a:ln/>
        </p:spPr>
        <p:txBody>
          <a:bodyPr wrap="square" lIns="0" tIns="0" rIns="0" bIns="0" rtlCol="0" anchor="ctr"/>
          <a:lstStyle/>
          <a:p>
            <a:pPr marL="0" indent="0">
              <a:buNone/>
            </a:pPr>
            <a:r>
              <a:rPr lang="zh-CN" altLang="en-US" sz="1300" dirty="0">
                <a:solidFill>
                  <a:srgbClr val="64748B"/>
                </a:solidFill>
                <a:latin typeface="Arial" pitchFamily="34" charset="0"/>
                <a:ea typeface="Arial" pitchFamily="34" charset="-122"/>
                <a:cs typeface="Arial" pitchFamily="34" charset="-120"/>
              </a:rPr>
              <a:t>事件（</a:t>
            </a:r>
            <a:r>
              <a:rPr lang="en-US" sz="1300" dirty="0" err="1">
                <a:solidFill>
                  <a:srgbClr val="64748B"/>
                </a:solidFill>
                <a:latin typeface="Arial" pitchFamily="34" charset="0"/>
                <a:ea typeface="Arial" pitchFamily="34" charset="-122"/>
                <a:cs typeface="Arial" pitchFamily="34" charset="-120"/>
              </a:rPr>
              <a:t>领域事件</a:t>
            </a:r>
            <a:r>
              <a:rPr lang="en-US" sz="1300" dirty="0">
                <a:solidFill>
                  <a:srgbClr val="64748B"/>
                </a:solidFill>
                <a:latin typeface="Arial" pitchFamily="34" charset="0"/>
                <a:ea typeface="Arial" pitchFamily="34" charset="-122"/>
                <a:cs typeface="Arial" pitchFamily="34" charset="-120"/>
              </a:rPr>
              <a:t>/</a:t>
            </a:r>
            <a:r>
              <a:rPr lang="en-US" sz="1300" dirty="0" err="1">
                <a:solidFill>
                  <a:srgbClr val="64748B"/>
                </a:solidFill>
                <a:latin typeface="Arial" pitchFamily="34" charset="0"/>
                <a:ea typeface="Arial" pitchFamily="34" charset="-122"/>
                <a:cs typeface="Arial" pitchFamily="34" charset="-120"/>
              </a:rPr>
              <a:t>集成事件</a:t>
            </a:r>
            <a:r>
              <a:rPr lang="en-US" sz="1300" dirty="0">
                <a:solidFill>
                  <a:srgbClr val="64748B"/>
                </a:solidFill>
                <a:latin typeface="Arial" pitchFamily="34" charset="0"/>
                <a:ea typeface="Arial" pitchFamily="34" charset="-122"/>
                <a:cs typeface="Arial" pitchFamily="34" charset="-120"/>
              </a:rPr>
              <a:t>) · </a:t>
            </a:r>
            <a:r>
              <a:rPr lang="en-US" sz="1300" dirty="0" err="1">
                <a:solidFill>
                  <a:srgbClr val="64748B"/>
                </a:solidFill>
                <a:latin typeface="Arial" pitchFamily="34" charset="0"/>
                <a:ea typeface="Arial" pitchFamily="34" charset="-122"/>
                <a:cs typeface="Arial" pitchFamily="34" charset="-120"/>
              </a:rPr>
              <a:t>事件</a:t>
            </a:r>
            <a:r>
              <a:rPr lang="zh-CN" altLang="en-US" sz="1300" dirty="0">
                <a:solidFill>
                  <a:srgbClr val="64748B"/>
                </a:solidFill>
                <a:latin typeface="Arial" pitchFamily="34" charset="0"/>
                <a:ea typeface="Arial" pitchFamily="34" charset="-122"/>
                <a:cs typeface="Arial" pitchFamily="34" charset="-120"/>
              </a:rPr>
              <a:t>订阅</a:t>
            </a:r>
            <a:r>
              <a:rPr lang="en-US" sz="1300" dirty="0">
                <a:solidFill>
                  <a:srgbClr val="64748B"/>
                </a:solidFill>
                <a:latin typeface="Arial" pitchFamily="34" charset="0"/>
                <a:ea typeface="Arial" pitchFamily="34" charset="-122"/>
                <a:cs typeface="Arial" pitchFamily="34" charset="-120"/>
              </a:rPr>
              <a:t> · 事件存储</a:t>
            </a:r>
            <a:endParaRPr lang="en-US" sz="1300" dirty="0"/>
          </a:p>
        </p:txBody>
      </p:sp>
      <p:sp>
        <p:nvSpPr>
          <p:cNvPr id="16" name="Shape 12"/>
          <p:cNvSpPr/>
          <p:nvPr/>
        </p:nvSpPr>
        <p:spPr>
          <a:xfrm>
            <a:off x="548640" y="3200400"/>
            <a:ext cx="8046720" cy="777240"/>
          </a:xfrm>
          <a:prstGeom prst="rect">
            <a:avLst/>
          </a:prstGeom>
          <a:solidFill>
            <a:srgbClr val="E6F7F5"/>
          </a:solidFill>
          <a:ln/>
        </p:spPr>
        <p:txBody>
          <a:bodyPr/>
          <a:lstStyle/>
          <a:p>
            <a:endParaRPr lang="zh-CN" altLang="en-US"/>
          </a:p>
        </p:txBody>
      </p:sp>
      <p:sp>
        <p:nvSpPr>
          <p:cNvPr id="17" name="Shape 13"/>
          <p:cNvSpPr/>
          <p:nvPr/>
        </p:nvSpPr>
        <p:spPr>
          <a:xfrm>
            <a:off x="548640" y="3200400"/>
            <a:ext cx="54864" cy="777240"/>
          </a:xfrm>
          <a:prstGeom prst="rect">
            <a:avLst/>
          </a:prstGeom>
          <a:solidFill>
            <a:srgbClr val="22A699"/>
          </a:solidFill>
          <a:ln/>
        </p:spPr>
        <p:txBody>
          <a:bodyPr/>
          <a:lstStyle/>
          <a:p>
            <a:endParaRPr lang="zh-CN" altLang="en-US"/>
          </a:p>
        </p:txBody>
      </p:sp>
      <p:pic>
        <p:nvPicPr>
          <p:cNvPr id="18" name="Image 2" descr="preencoded.png"/>
          <p:cNvPicPr>
            <a:picLocks noChangeAspect="1"/>
          </p:cNvPicPr>
          <p:nvPr/>
        </p:nvPicPr>
        <p:blipFill>
          <a:blip r:embed="rId5"/>
          <a:stretch>
            <a:fillRect/>
          </a:stretch>
        </p:blipFill>
        <p:spPr>
          <a:xfrm>
            <a:off x="777240" y="3364992"/>
            <a:ext cx="411480" cy="411480"/>
          </a:xfrm>
          <a:prstGeom prst="rect">
            <a:avLst/>
          </a:prstGeom>
        </p:spPr>
      </p:pic>
      <p:sp>
        <p:nvSpPr>
          <p:cNvPr id="19" name="Text 14"/>
          <p:cNvSpPr/>
          <p:nvPr/>
        </p:nvSpPr>
        <p:spPr>
          <a:xfrm>
            <a:off x="1325880" y="3291840"/>
            <a:ext cx="1188720" cy="594360"/>
          </a:xfrm>
          <a:prstGeom prst="rect">
            <a:avLst/>
          </a:prstGeom>
          <a:noFill/>
          <a:ln/>
        </p:spPr>
        <p:txBody>
          <a:bodyPr wrap="square" lIns="0" tIns="0" rIns="0" bIns="0" rtlCol="0" anchor="ctr"/>
          <a:lstStyle/>
          <a:p>
            <a:pPr marL="0" indent="0">
              <a:buNone/>
            </a:pPr>
            <a:r>
              <a:rPr lang="zh-CN" altLang="en-US" sz="1600" b="1" dirty="0">
                <a:solidFill>
                  <a:srgbClr val="22A699"/>
                </a:solidFill>
                <a:latin typeface="Arial" pitchFamily="34" charset="0"/>
                <a:ea typeface="Arial" pitchFamily="34" charset="-122"/>
                <a:cs typeface="Arial" pitchFamily="34" charset="-120"/>
              </a:rPr>
              <a:t>行为</a:t>
            </a:r>
            <a:r>
              <a:rPr lang="en-US" sz="1600" b="1" dirty="0">
                <a:solidFill>
                  <a:srgbClr val="22A699"/>
                </a:solidFill>
                <a:latin typeface="Arial" pitchFamily="34" charset="0"/>
                <a:ea typeface="Arial" pitchFamily="34" charset="-122"/>
                <a:cs typeface="Arial" pitchFamily="34" charset="-120"/>
              </a:rPr>
              <a:t>层</a:t>
            </a:r>
            <a:endParaRPr lang="en-US" sz="1600" dirty="0"/>
          </a:p>
        </p:txBody>
      </p:sp>
      <p:sp>
        <p:nvSpPr>
          <p:cNvPr id="20" name="Text 15"/>
          <p:cNvSpPr/>
          <p:nvPr/>
        </p:nvSpPr>
        <p:spPr>
          <a:xfrm>
            <a:off x="2560320" y="3291840"/>
            <a:ext cx="5852160" cy="594360"/>
          </a:xfrm>
          <a:prstGeom prst="rect">
            <a:avLst/>
          </a:prstGeom>
          <a:noFill/>
          <a:ln/>
        </p:spPr>
        <p:txBody>
          <a:bodyPr wrap="square" lIns="0" tIns="0" rIns="0" bIns="0" rtlCol="0" anchor="ctr"/>
          <a:lstStyle/>
          <a:p>
            <a:pPr marL="0" indent="0">
              <a:buNone/>
            </a:pPr>
            <a:r>
              <a:rPr lang="en-US" sz="1300" dirty="0">
                <a:solidFill>
                  <a:srgbClr val="64748B"/>
                </a:solidFill>
                <a:latin typeface="Arial" pitchFamily="34" charset="0"/>
                <a:ea typeface="Arial" pitchFamily="34" charset="-122"/>
                <a:cs typeface="Arial" pitchFamily="34" charset="-120"/>
              </a:rPr>
              <a:t>行为 · 校验规则 · </a:t>
            </a:r>
            <a:r>
              <a:rPr lang="zh-CN" altLang="en-US" sz="1300" dirty="0">
                <a:solidFill>
                  <a:srgbClr val="64748B"/>
                </a:solidFill>
                <a:latin typeface="Arial" pitchFamily="34" charset="0"/>
                <a:ea typeface="Arial" pitchFamily="34" charset="-122"/>
                <a:cs typeface="Arial" pitchFamily="34" charset="-120"/>
              </a:rPr>
              <a:t>任务</a:t>
            </a:r>
            <a:r>
              <a:rPr lang="en-US" sz="1300" dirty="0">
                <a:solidFill>
                  <a:srgbClr val="64748B"/>
                </a:solidFill>
                <a:latin typeface="Arial" pitchFamily="34" charset="0"/>
                <a:ea typeface="Arial" pitchFamily="34" charset="-122"/>
                <a:cs typeface="Arial" pitchFamily="34" charset="-120"/>
              </a:rPr>
              <a:t> · 事务边界 · 指标</a:t>
            </a:r>
            <a:endParaRPr lang="en-US" sz="1300" dirty="0"/>
          </a:p>
        </p:txBody>
      </p:sp>
      <p:sp>
        <p:nvSpPr>
          <p:cNvPr id="21" name="Shape 16"/>
          <p:cNvSpPr/>
          <p:nvPr/>
        </p:nvSpPr>
        <p:spPr>
          <a:xfrm>
            <a:off x="548640" y="4069080"/>
            <a:ext cx="8046720" cy="777240"/>
          </a:xfrm>
          <a:prstGeom prst="rect">
            <a:avLst/>
          </a:prstGeom>
          <a:solidFill>
            <a:srgbClr val="E8F4F8"/>
          </a:solidFill>
          <a:ln/>
        </p:spPr>
        <p:txBody>
          <a:bodyPr/>
          <a:lstStyle/>
          <a:p>
            <a:endParaRPr lang="zh-CN" altLang="en-US"/>
          </a:p>
        </p:txBody>
      </p:sp>
      <p:sp>
        <p:nvSpPr>
          <p:cNvPr id="22" name="Shape 17"/>
          <p:cNvSpPr/>
          <p:nvPr/>
        </p:nvSpPr>
        <p:spPr>
          <a:xfrm>
            <a:off x="548640" y="4069080"/>
            <a:ext cx="54864" cy="777240"/>
          </a:xfrm>
          <a:prstGeom prst="rect">
            <a:avLst/>
          </a:prstGeom>
          <a:solidFill>
            <a:srgbClr val="065A82"/>
          </a:solidFill>
          <a:ln/>
        </p:spPr>
        <p:txBody>
          <a:bodyPr/>
          <a:lstStyle/>
          <a:p>
            <a:endParaRPr lang="zh-CN" altLang="en-US"/>
          </a:p>
        </p:txBody>
      </p:sp>
      <p:pic>
        <p:nvPicPr>
          <p:cNvPr id="23" name="Image 3" descr="preencoded.png"/>
          <p:cNvPicPr>
            <a:picLocks noChangeAspect="1"/>
          </p:cNvPicPr>
          <p:nvPr/>
        </p:nvPicPr>
        <p:blipFill>
          <a:blip r:embed="rId6"/>
          <a:stretch>
            <a:fillRect/>
          </a:stretch>
        </p:blipFill>
        <p:spPr>
          <a:xfrm>
            <a:off x="777240" y="4233672"/>
            <a:ext cx="411480" cy="411480"/>
          </a:xfrm>
          <a:prstGeom prst="rect">
            <a:avLst/>
          </a:prstGeom>
        </p:spPr>
      </p:pic>
      <p:sp>
        <p:nvSpPr>
          <p:cNvPr id="24" name="Text 18"/>
          <p:cNvSpPr/>
          <p:nvPr/>
        </p:nvSpPr>
        <p:spPr>
          <a:xfrm>
            <a:off x="1325880" y="4160520"/>
            <a:ext cx="1188720" cy="594360"/>
          </a:xfrm>
          <a:prstGeom prst="rect">
            <a:avLst/>
          </a:prstGeom>
          <a:noFill/>
          <a:ln/>
        </p:spPr>
        <p:txBody>
          <a:bodyPr wrap="square" lIns="0" tIns="0" rIns="0" bIns="0" rtlCol="0" anchor="ctr"/>
          <a:lstStyle/>
          <a:p>
            <a:pPr marL="0" indent="0">
              <a:buNone/>
            </a:pPr>
            <a:r>
              <a:rPr lang="en-US" sz="1600" b="1" dirty="0">
                <a:solidFill>
                  <a:srgbClr val="065A82"/>
                </a:solidFill>
                <a:latin typeface="Arial" pitchFamily="34" charset="0"/>
                <a:ea typeface="Arial" pitchFamily="34" charset="-122"/>
                <a:cs typeface="Arial" pitchFamily="34" charset="-120"/>
              </a:rPr>
              <a:t>语义层</a:t>
            </a:r>
            <a:endParaRPr lang="en-US" sz="1600" dirty="0"/>
          </a:p>
        </p:txBody>
      </p:sp>
      <p:sp>
        <p:nvSpPr>
          <p:cNvPr id="25" name="Text 19"/>
          <p:cNvSpPr/>
          <p:nvPr/>
        </p:nvSpPr>
        <p:spPr>
          <a:xfrm>
            <a:off x="2560320" y="4160520"/>
            <a:ext cx="5852160" cy="594360"/>
          </a:xfrm>
          <a:prstGeom prst="rect">
            <a:avLst/>
          </a:prstGeom>
          <a:noFill/>
          <a:ln/>
        </p:spPr>
        <p:txBody>
          <a:bodyPr wrap="square" lIns="0" tIns="0" rIns="0" bIns="0" rtlCol="0" anchor="ctr"/>
          <a:lstStyle/>
          <a:p>
            <a:pPr marL="0" indent="0">
              <a:buNone/>
            </a:pPr>
            <a:r>
              <a:rPr lang="en-US" sz="1300" dirty="0" err="1">
                <a:solidFill>
                  <a:srgbClr val="64748B"/>
                </a:solidFill>
                <a:latin typeface="Arial" pitchFamily="34" charset="0"/>
                <a:ea typeface="Arial" pitchFamily="34" charset="-122"/>
                <a:cs typeface="Arial" pitchFamily="34" charset="-120"/>
              </a:rPr>
              <a:t>限界上下文</a:t>
            </a:r>
            <a:r>
              <a:rPr lang="zh-CN" altLang="en-US" sz="1300" dirty="0">
                <a:solidFill>
                  <a:srgbClr val="64748B"/>
                </a:solidFill>
                <a:latin typeface="Arial" pitchFamily="34" charset="0"/>
                <a:ea typeface="Arial" pitchFamily="34" charset="-122"/>
                <a:cs typeface="Arial" pitchFamily="34" charset="-120"/>
              </a:rPr>
              <a:t>（领域</a:t>
            </a:r>
            <a:r>
              <a:rPr lang="en-US" altLang="zh-CN" sz="1300" dirty="0">
                <a:solidFill>
                  <a:srgbClr val="64748B"/>
                </a:solidFill>
                <a:latin typeface="Arial" pitchFamily="34" charset="0"/>
                <a:ea typeface="Arial" pitchFamily="34" charset="-122"/>
                <a:cs typeface="Arial" pitchFamily="34" charset="-120"/>
              </a:rPr>
              <a:t>+</a:t>
            </a:r>
            <a:r>
              <a:rPr lang="zh-CN" altLang="en-US" sz="1300" dirty="0">
                <a:solidFill>
                  <a:srgbClr val="64748B"/>
                </a:solidFill>
                <a:latin typeface="Arial" pitchFamily="34" charset="0"/>
                <a:ea typeface="Arial" pitchFamily="34" charset="-122"/>
                <a:cs typeface="Arial" pitchFamily="34" charset="-120"/>
              </a:rPr>
              <a:t>业务场景）</a:t>
            </a:r>
            <a:r>
              <a:rPr lang="en-US" sz="1300" dirty="0" err="1">
                <a:solidFill>
                  <a:srgbClr val="64748B"/>
                </a:solidFill>
                <a:latin typeface="Arial" pitchFamily="34" charset="0"/>
                <a:ea typeface="Arial" pitchFamily="34" charset="-122"/>
                <a:cs typeface="Arial" pitchFamily="34" charset="-120"/>
              </a:rPr>
              <a:t>对象</a:t>
            </a:r>
            <a:r>
              <a:rPr lang="en-US" sz="1300" dirty="0">
                <a:solidFill>
                  <a:srgbClr val="64748B"/>
                </a:solidFill>
                <a:latin typeface="Arial" pitchFamily="34" charset="0"/>
                <a:ea typeface="Arial" pitchFamily="34" charset="-122"/>
                <a:cs typeface="Arial" pitchFamily="34" charset="-120"/>
              </a:rPr>
              <a:t> · 属性 · 关系 · 聚合 · 值对象 · 数据源</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2A699"/>
          </a:solidFill>
          <a:ln/>
        </p:spPr>
        <p:txBody>
          <a:bodyPr/>
          <a:lstStyle/>
          <a:p>
            <a:endParaRPr lang="zh-CN" altLang="en-US"/>
          </a:p>
        </p:txBody>
      </p:sp>
      <p:sp>
        <p:nvSpPr>
          <p:cNvPr id="3" name="Shape 1"/>
          <p:cNvSpPr/>
          <p:nvPr/>
        </p:nvSpPr>
        <p:spPr>
          <a:xfrm>
            <a:off x="548640" y="274320"/>
            <a:ext cx="54864" cy="457200"/>
          </a:xfrm>
          <a:prstGeom prst="rect">
            <a:avLst/>
          </a:prstGeom>
          <a:solidFill>
            <a:srgbClr val="22A699"/>
          </a:solidFill>
          <a:ln/>
        </p:spPr>
        <p:txBody>
          <a:bodyPr/>
          <a:lstStyle/>
          <a:p>
            <a:endParaRPr lang="zh-CN" altLang="en-US"/>
          </a:p>
        </p:txBody>
      </p:sp>
      <p:sp>
        <p:nvSpPr>
          <p:cNvPr id="4" name="Text 2"/>
          <p:cNvSpPr/>
          <p:nvPr/>
        </p:nvSpPr>
        <p:spPr>
          <a:xfrm>
            <a:off x="731520" y="274320"/>
            <a:ext cx="731520" cy="457200"/>
          </a:xfrm>
          <a:prstGeom prst="rect">
            <a:avLst/>
          </a:prstGeom>
          <a:noFill/>
          <a:ln/>
        </p:spPr>
        <p:txBody>
          <a:bodyPr wrap="square" lIns="0" tIns="0" rIns="0" bIns="0" rtlCol="0" anchor="ctr"/>
          <a:lstStyle/>
          <a:p>
            <a:pPr marL="0" indent="0">
              <a:buNone/>
            </a:pPr>
            <a:r>
              <a:rPr lang="en-US" sz="1800" b="1" dirty="0">
                <a:solidFill>
                  <a:srgbClr val="22A699"/>
                </a:solidFill>
                <a:latin typeface="Arial" pitchFamily="34" charset="0"/>
                <a:ea typeface="Arial" pitchFamily="34" charset="-122"/>
                <a:cs typeface="Arial" pitchFamily="34" charset="-120"/>
              </a:rPr>
              <a:t>04</a:t>
            </a:r>
            <a:endParaRPr lang="en-US" sz="1800" dirty="0"/>
          </a:p>
        </p:txBody>
      </p:sp>
      <p:sp>
        <p:nvSpPr>
          <p:cNvPr id="5" name="Text 3"/>
          <p:cNvSpPr/>
          <p:nvPr/>
        </p:nvSpPr>
        <p:spPr>
          <a:xfrm>
            <a:off x="548640" y="822960"/>
            <a:ext cx="8046720" cy="457200"/>
          </a:xfrm>
          <a:prstGeom prst="rect">
            <a:avLst/>
          </a:prstGeom>
          <a:noFill/>
          <a:ln/>
        </p:spPr>
        <p:txBody>
          <a:bodyPr wrap="square" lIns="0" tIns="0" rIns="0" bIns="0" rtlCol="0" anchor="ctr"/>
          <a:lstStyle/>
          <a:p>
            <a:pPr marL="0" indent="0">
              <a:buNone/>
            </a:pPr>
            <a:r>
              <a:rPr lang="en-US" sz="2200" b="1" dirty="0" err="1">
                <a:solidFill>
                  <a:srgbClr val="1E293B"/>
                </a:solidFill>
                <a:latin typeface="Arial" pitchFamily="34" charset="0"/>
                <a:ea typeface="Arial" pitchFamily="34" charset="-122"/>
                <a:cs typeface="Arial" pitchFamily="34" charset="-120"/>
              </a:rPr>
              <a:t>语义层</a:t>
            </a:r>
            <a:r>
              <a:rPr lang="en-US" sz="2200" b="1" dirty="0">
                <a:solidFill>
                  <a:srgbClr val="1E293B"/>
                </a:solidFill>
                <a:latin typeface="Arial" pitchFamily="34" charset="0"/>
                <a:ea typeface="Arial" pitchFamily="34" charset="-122"/>
                <a:cs typeface="Arial" pitchFamily="34" charset="-120"/>
              </a:rPr>
              <a:t> </a:t>
            </a:r>
            <a:r>
              <a:rPr lang="zh-CN" altLang="en-US" sz="2200" b="1" dirty="0">
                <a:solidFill>
                  <a:srgbClr val="1E293B"/>
                </a:solidFill>
                <a:latin typeface="Arial" pitchFamily="34" charset="0"/>
                <a:ea typeface="Arial" pitchFamily="34" charset="-122"/>
                <a:cs typeface="Arial" pitchFamily="34" charset="-120"/>
              </a:rPr>
              <a:t>、行为</a:t>
            </a:r>
            <a:r>
              <a:rPr lang="en-US" sz="2200" b="1" dirty="0">
                <a:solidFill>
                  <a:srgbClr val="1E293B"/>
                </a:solidFill>
                <a:latin typeface="Arial" pitchFamily="34" charset="0"/>
                <a:ea typeface="Arial" pitchFamily="34" charset="-122"/>
                <a:cs typeface="Arial" pitchFamily="34" charset="-120"/>
              </a:rPr>
              <a:t>层</a:t>
            </a:r>
            <a:r>
              <a:rPr lang="zh-CN" altLang="en-US" sz="2200" b="1" dirty="0">
                <a:solidFill>
                  <a:srgbClr val="1E293B"/>
                </a:solidFill>
                <a:latin typeface="Arial" pitchFamily="34" charset="0"/>
                <a:ea typeface="Arial" pitchFamily="34" charset="-122"/>
                <a:cs typeface="Arial" pitchFamily="34" charset="-120"/>
              </a:rPr>
              <a:t>、事件层</a:t>
            </a:r>
            <a:endParaRPr lang="en-US" sz="2200" dirty="0"/>
          </a:p>
        </p:txBody>
      </p:sp>
      <p:sp>
        <p:nvSpPr>
          <p:cNvPr id="6" name="Shape 4"/>
          <p:cNvSpPr/>
          <p:nvPr/>
        </p:nvSpPr>
        <p:spPr>
          <a:xfrm>
            <a:off x="548640" y="1463040"/>
            <a:ext cx="2628000" cy="3108960"/>
          </a:xfrm>
          <a:prstGeom prst="rect">
            <a:avLst/>
          </a:prstGeom>
          <a:solidFill>
            <a:srgbClr val="E8F4F8"/>
          </a:solidFill>
          <a:ln/>
        </p:spPr>
        <p:txBody>
          <a:bodyPr/>
          <a:lstStyle/>
          <a:p>
            <a:endParaRPr lang="zh-CN" altLang="en-US"/>
          </a:p>
        </p:txBody>
      </p:sp>
      <p:sp>
        <p:nvSpPr>
          <p:cNvPr id="7" name="Shape 5"/>
          <p:cNvSpPr/>
          <p:nvPr/>
        </p:nvSpPr>
        <p:spPr>
          <a:xfrm>
            <a:off x="548640" y="1463040"/>
            <a:ext cx="2628000" cy="54864"/>
          </a:xfrm>
          <a:prstGeom prst="rect">
            <a:avLst/>
          </a:prstGeom>
          <a:solidFill>
            <a:srgbClr val="065A82"/>
          </a:solidFill>
          <a:ln/>
        </p:spPr>
        <p:txBody>
          <a:bodyPr/>
          <a:lstStyle/>
          <a:p>
            <a:endParaRPr lang="zh-CN" altLang="en-US"/>
          </a:p>
        </p:txBody>
      </p:sp>
      <p:sp>
        <p:nvSpPr>
          <p:cNvPr id="8" name="Text 6"/>
          <p:cNvSpPr/>
          <p:nvPr/>
        </p:nvSpPr>
        <p:spPr>
          <a:xfrm>
            <a:off x="991006" y="1590679"/>
            <a:ext cx="2183381" cy="320040"/>
          </a:xfrm>
          <a:prstGeom prst="rect">
            <a:avLst/>
          </a:prstGeom>
          <a:noFill/>
          <a:ln/>
        </p:spPr>
        <p:txBody>
          <a:bodyPr wrap="square" lIns="0" tIns="0" rIns="0" bIns="0" rtlCol="0" anchor="ctr"/>
          <a:lstStyle/>
          <a:p>
            <a:r>
              <a:rPr lang="en-US" sz="1600" b="1" dirty="0" err="1">
                <a:solidFill>
                  <a:srgbClr val="065A82"/>
                </a:solidFill>
                <a:latin typeface="Arial" pitchFamily="34" charset="0"/>
                <a:cs typeface="Arial" pitchFamily="34" charset="-120"/>
              </a:rPr>
              <a:t>语义层</a:t>
            </a:r>
            <a:r>
              <a:rPr lang="en-US" altLang="zh-CN" sz="1600" b="1" dirty="0">
                <a:solidFill>
                  <a:srgbClr val="065A82"/>
                </a:solidFill>
                <a:latin typeface="Arial" pitchFamily="34" charset="0"/>
                <a:cs typeface="Arial" pitchFamily="34" charset="-120"/>
              </a:rPr>
              <a:t> —</a:t>
            </a:r>
            <a:r>
              <a:rPr lang="zh-CN" altLang="en-US" sz="1600" b="1" dirty="0">
                <a:solidFill>
                  <a:srgbClr val="065A82"/>
                </a:solidFill>
                <a:latin typeface="Arial" panose="020B0604020202020204" pitchFamily="34" charset="0"/>
                <a:cs typeface="Arial" panose="020B0604020202020204" pitchFamily="34" charset="0"/>
              </a:rPr>
              <a:t>业务「名词」</a:t>
            </a:r>
            <a:endParaRPr lang="en-US" sz="1600" b="1" dirty="0">
              <a:solidFill>
                <a:srgbClr val="065A82"/>
              </a:solidFill>
              <a:latin typeface="Arial" panose="020B0604020202020204" pitchFamily="34" charset="0"/>
              <a:cs typeface="Arial" panose="020B0604020202020204" pitchFamily="34" charset="0"/>
            </a:endParaRPr>
          </a:p>
        </p:txBody>
      </p:sp>
      <p:sp>
        <p:nvSpPr>
          <p:cNvPr id="9" name="Text 7"/>
          <p:cNvSpPr/>
          <p:nvPr/>
        </p:nvSpPr>
        <p:spPr>
          <a:xfrm>
            <a:off x="822960" y="2057400"/>
            <a:ext cx="3383280" cy="320040"/>
          </a:xfrm>
          <a:prstGeom prst="rect">
            <a:avLst/>
          </a:prstGeom>
          <a:noFill/>
          <a:ln/>
        </p:spPr>
        <p:txBody>
          <a:bodyPr wrap="square" lIns="0" tIns="0" rIns="0" bIns="0" rtlCol="0" anchor="ctr"/>
          <a:lstStyle/>
          <a:p>
            <a:pPr marL="0" indent="0">
              <a:buNone/>
            </a:pPr>
            <a:r>
              <a:rPr lang="en-US" sz="1200" dirty="0">
                <a:solidFill>
                  <a:srgbClr val="1E293B"/>
                </a:solidFill>
                <a:latin typeface="Arial" pitchFamily="34" charset="0"/>
                <a:ea typeface="Arial" pitchFamily="34" charset="-122"/>
                <a:cs typeface="Arial" pitchFamily="34" charset="-120"/>
              </a:rPr>
              <a:t>限界上下文 (1:1 绑定本体)</a:t>
            </a:r>
            <a:endParaRPr lang="en-US" sz="1200" dirty="0"/>
          </a:p>
        </p:txBody>
      </p:sp>
      <p:sp>
        <p:nvSpPr>
          <p:cNvPr id="10" name="Shape 8"/>
          <p:cNvSpPr/>
          <p:nvPr/>
        </p:nvSpPr>
        <p:spPr>
          <a:xfrm>
            <a:off x="731520" y="2176272"/>
            <a:ext cx="54864" cy="54864"/>
          </a:xfrm>
          <a:prstGeom prst="rect">
            <a:avLst/>
          </a:prstGeom>
          <a:solidFill>
            <a:srgbClr val="065A82"/>
          </a:solidFill>
          <a:ln/>
        </p:spPr>
        <p:txBody>
          <a:bodyPr/>
          <a:lstStyle/>
          <a:p>
            <a:endParaRPr lang="zh-CN" altLang="en-US"/>
          </a:p>
        </p:txBody>
      </p:sp>
      <p:sp>
        <p:nvSpPr>
          <p:cNvPr id="11" name="Text 9"/>
          <p:cNvSpPr/>
          <p:nvPr/>
        </p:nvSpPr>
        <p:spPr>
          <a:xfrm>
            <a:off x="822960" y="2423160"/>
            <a:ext cx="3383280" cy="320040"/>
          </a:xfrm>
          <a:prstGeom prst="rect">
            <a:avLst/>
          </a:prstGeom>
          <a:noFill/>
          <a:ln/>
        </p:spPr>
        <p:txBody>
          <a:bodyPr wrap="square" lIns="0" tIns="0" rIns="0" bIns="0" rtlCol="0" anchor="ctr"/>
          <a:lstStyle/>
          <a:p>
            <a:pPr marL="0" indent="0">
              <a:buNone/>
            </a:pPr>
            <a:r>
              <a:rPr lang="en-US" sz="1200" dirty="0">
                <a:solidFill>
                  <a:srgbClr val="1E293B"/>
                </a:solidFill>
                <a:latin typeface="Arial" pitchFamily="34" charset="0"/>
                <a:ea typeface="Arial" pitchFamily="34" charset="-122"/>
                <a:cs typeface="Arial" pitchFamily="34" charset="-120"/>
              </a:rPr>
              <a:t>对象类型 · 属性 · 关系类型</a:t>
            </a:r>
            <a:endParaRPr lang="en-US" sz="1200" dirty="0"/>
          </a:p>
        </p:txBody>
      </p:sp>
      <p:sp>
        <p:nvSpPr>
          <p:cNvPr id="12" name="Shape 10"/>
          <p:cNvSpPr/>
          <p:nvPr/>
        </p:nvSpPr>
        <p:spPr>
          <a:xfrm>
            <a:off x="731520" y="2542032"/>
            <a:ext cx="54864" cy="54864"/>
          </a:xfrm>
          <a:prstGeom prst="rect">
            <a:avLst/>
          </a:prstGeom>
          <a:solidFill>
            <a:srgbClr val="065A82"/>
          </a:solidFill>
          <a:ln/>
        </p:spPr>
        <p:txBody>
          <a:bodyPr/>
          <a:lstStyle/>
          <a:p>
            <a:endParaRPr lang="zh-CN" altLang="en-US"/>
          </a:p>
        </p:txBody>
      </p:sp>
      <p:sp>
        <p:nvSpPr>
          <p:cNvPr id="13" name="Text 11"/>
          <p:cNvSpPr/>
          <p:nvPr/>
        </p:nvSpPr>
        <p:spPr>
          <a:xfrm>
            <a:off x="822960" y="2788920"/>
            <a:ext cx="3383280" cy="320040"/>
          </a:xfrm>
          <a:prstGeom prst="rect">
            <a:avLst/>
          </a:prstGeom>
          <a:noFill/>
          <a:ln/>
        </p:spPr>
        <p:txBody>
          <a:bodyPr wrap="square" lIns="0" tIns="0" rIns="0" bIns="0" rtlCol="0" anchor="ctr"/>
          <a:lstStyle/>
          <a:p>
            <a:pPr marL="0" indent="0">
              <a:buNone/>
            </a:pPr>
            <a:r>
              <a:rPr lang="en-US" sz="1200" dirty="0">
                <a:solidFill>
                  <a:srgbClr val="1E293B"/>
                </a:solidFill>
                <a:latin typeface="Arial" pitchFamily="34" charset="0"/>
                <a:ea typeface="Arial" pitchFamily="34" charset="-122"/>
                <a:cs typeface="Arial" pitchFamily="34" charset="-120"/>
              </a:rPr>
              <a:t>聚合 (聚合根) · </a:t>
            </a:r>
            <a:r>
              <a:rPr lang="en-US" sz="1200" dirty="0" err="1">
                <a:solidFill>
                  <a:srgbClr val="1E293B"/>
                </a:solidFill>
                <a:latin typeface="Arial" pitchFamily="34" charset="0"/>
                <a:ea typeface="Arial" pitchFamily="34" charset="-122"/>
                <a:cs typeface="Arial" pitchFamily="34" charset="-120"/>
              </a:rPr>
              <a:t>值对象</a:t>
            </a:r>
            <a:r>
              <a:rPr lang="zh-CN" altLang="en-US" sz="1200" dirty="0">
                <a:solidFill>
                  <a:srgbClr val="1E293B"/>
                </a:solidFill>
                <a:latin typeface="Arial" pitchFamily="34" charset="0"/>
                <a:ea typeface="Arial" pitchFamily="34" charset="-122"/>
                <a:cs typeface="Arial" pitchFamily="34" charset="-120"/>
              </a:rPr>
              <a:t>、状态</a:t>
            </a:r>
            <a:endParaRPr lang="en-US" sz="1200" dirty="0"/>
          </a:p>
        </p:txBody>
      </p:sp>
      <p:sp>
        <p:nvSpPr>
          <p:cNvPr id="14" name="Shape 12"/>
          <p:cNvSpPr/>
          <p:nvPr/>
        </p:nvSpPr>
        <p:spPr>
          <a:xfrm>
            <a:off x="731520" y="2907792"/>
            <a:ext cx="54864" cy="54864"/>
          </a:xfrm>
          <a:prstGeom prst="rect">
            <a:avLst/>
          </a:prstGeom>
          <a:solidFill>
            <a:srgbClr val="065A82"/>
          </a:solidFill>
          <a:ln/>
        </p:spPr>
        <p:txBody>
          <a:bodyPr/>
          <a:lstStyle/>
          <a:p>
            <a:endParaRPr lang="zh-CN" altLang="en-US"/>
          </a:p>
        </p:txBody>
      </p:sp>
      <p:sp>
        <p:nvSpPr>
          <p:cNvPr id="15" name="Text 13"/>
          <p:cNvSpPr/>
          <p:nvPr/>
        </p:nvSpPr>
        <p:spPr>
          <a:xfrm>
            <a:off x="822960" y="3154680"/>
            <a:ext cx="3383280" cy="320040"/>
          </a:xfrm>
          <a:prstGeom prst="rect">
            <a:avLst/>
          </a:prstGeom>
          <a:noFill/>
          <a:ln/>
        </p:spPr>
        <p:txBody>
          <a:bodyPr wrap="square" lIns="0" tIns="0" rIns="0" bIns="0" rtlCol="0" anchor="ctr"/>
          <a:lstStyle/>
          <a:p>
            <a:pPr marL="0" indent="0">
              <a:buNone/>
            </a:pPr>
            <a:r>
              <a:rPr lang="en-US" sz="1200" dirty="0">
                <a:solidFill>
                  <a:srgbClr val="1E293B"/>
                </a:solidFill>
                <a:latin typeface="Arial" pitchFamily="34" charset="0"/>
                <a:ea typeface="Arial" pitchFamily="34" charset="-122"/>
                <a:cs typeface="Arial" pitchFamily="34" charset="-120"/>
              </a:rPr>
              <a:t>接口抽象 · 数据源</a:t>
            </a:r>
            <a:endParaRPr lang="en-US" sz="1200" dirty="0"/>
          </a:p>
        </p:txBody>
      </p:sp>
      <p:sp>
        <p:nvSpPr>
          <p:cNvPr id="16" name="Shape 14"/>
          <p:cNvSpPr/>
          <p:nvPr/>
        </p:nvSpPr>
        <p:spPr>
          <a:xfrm>
            <a:off x="731520" y="3273552"/>
            <a:ext cx="54864" cy="54864"/>
          </a:xfrm>
          <a:prstGeom prst="rect">
            <a:avLst/>
          </a:prstGeom>
          <a:solidFill>
            <a:srgbClr val="065A82"/>
          </a:solidFill>
          <a:ln/>
        </p:spPr>
        <p:txBody>
          <a:bodyPr/>
          <a:lstStyle/>
          <a:p>
            <a:endParaRPr lang="zh-CN" altLang="en-US"/>
          </a:p>
        </p:txBody>
      </p:sp>
      <p:sp>
        <p:nvSpPr>
          <p:cNvPr id="17" name="Text 15"/>
          <p:cNvSpPr/>
          <p:nvPr/>
        </p:nvSpPr>
        <p:spPr>
          <a:xfrm>
            <a:off x="822960" y="3520440"/>
            <a:ext cx="3383280" cy="320040"/>
          </a:xfrm>
          <a:prstGeom prst="rect">
            <a:avLst/>
          </a:prstGeom>
          <a:noFill/>
          <a:ln/>
        </p:spPr>
        <p:txBody>
          <a:bodyPr wrap="square" lIns="0" tIns="0" rIns="0" bIns="0" rtlCol="0" anchor="ctr"/>
          <a:lstStyle/>
          <a:p>
            <a:pPr marL="0" indent="0">
              <a:buNone/>
            </a:pPr>
            <a:r>
              <a:rPr lang="en-US" sz="1200" dirty="0">
                <a:solidFill>
                  <a:srgbClr val="1E293B"/>
                </a:solidFill>
                <a:latin typeface="Arial" pitchFamily="34" charset="0"/>
                <a:ea typeface="Arial" pitchFamily="34" charset="-122"/>
                <a:cs typeface="Arial" pitchFamily="34" charset="-120"/>
              </a:rPr>
              <a:t>数据获取方式 (SQL/API/MCP)</a:t>
            </a:r>
            <a:endParaRPr lang="en-US" sz="1200" dirty="0"/>
          </a:p>
        </p:txBody>
      </p:sp>
      <p:sp>
        <p:nvSpPr>
          <p:cNvPr id="18" name="Shape 16"/>
          <p:cNvSpPr/>
          <p:nvPr/>
        </p:nvSpPr>
        <p:spPr>
          <a:xfrm>
            <a:off x="731520" y="3639312"/>
            <a:ext cx="54864" cy="54864"/>
          </a:xfrm>
          <a:prstGeom prst="rect">
            <a:avLst/>
          </a:prstGeom>
          <a:solidFill>
            <a:srgbClr val="065A82"/>
          </a:solidFill>
          <a:ln/>
        </p:spPr>
        <p:txBody>
          <a:bodyPr/>
          <a:lstStyle/>
          <a:p>
            <a:endParaRPr lang="zh-CN" altLang="en-US"/>
          </a:p>
        </p:txBody>
      </p:sp>
      <p:sp>
        <p:nvSpPr>
          <p:cNvPr id="19" name="Text 17"/>
          <p:cNvSpPr/>
          <p:nvPr/>
        </p:nvSpPr>
        <p:spPr>
          <a:xfrm>
            <a:off x="822960" y="3886200"/>
            <a:ext cx="3383280" cy="320040"/>
          </a:xfrm>
          <a:prstGeom prst="rect">
            <a:avLst/>
          </a:prstGeom>
          <a:noFill/>
          <a:ln/>
        </p:spPr>
        <p:txBody>
          <a:bodyPr wrap="square" lIns="0" tIns="0" rIns="0" bIns="0" rtlCol="0" anchor="ctr"/>
          <a:lstStyle/>
          <a:p>
            <a:pPr marL="0" indent="0">
              <a:buNone/>
            </a:pPr>
            <a:r>
              <a:rPr lang="en-US" sz="1200" dirty="0">
                <a:solidFill>
                  <a:srgbClr val="1E293B"/>
                </a:solidFill>
                <a:latin typeface="Arial" pitchFamily="34" charset="0"/>
                <a:ea typeface="Arial" pitchFamily="34" charset="-122"/>
                <a:cs typeface="Arial" pitchFamily="34" charset="-120"/>
              </a:rPr>
              <a:t>数据血缘</a:t>
            </a:r>
            <a:endParaRPr lang="en-US" sz="1200" dirty="0"/>
          </a:p>
        </p:txBody>
      </p:sp>
      <p:sp>
        <p:nvSpPr>
          <p:cNvPr id="20" name="Shape 18"/>
          <p:cNvSpPr/>
          <p:nvPr/>
        </p:nvSpPr>
        <p:spPr>
          <a:xfrm>
            <a:off x="731520" y="4005072"/>
            <a:ext cx="54864" cy="54864"/>
          </a:xfrm>
          <a:prstGeom prst="rect">
            <a:avLst/>
          </a:prstGeom>
          <a:solidFill>
            <a:srgbClr val="065A82"/>
          </a:solidFill>
          <a:ln/>
        </p:spPr>
        <p:txBody>
          <a:bodyPr/>
          <a:lstStyle/>
          <a:p>
            <a:endParaRPr lang="zh-CN" altLang="en-US"/>
          </a:p>
        </p:txBody>
      </p:sp>
      <p:sp>
        <p:nvSpPr>
          <p:cNvPr id="21" name="Shape 19"/>
          <p:cNvSpPr/>
          <p:nvPr/>
        </p:nvSpPr>
        <p:spPr>
          <a:xfrm>
            <a:off x="3289015" y="1463040"/>
            <a:ext cx="2628000" cy="3108960"/>
          </a:xfrm>
          <a:prstGeom prst="rect">
            <a:avLst/>
          </a:prstGeom>
          <a:solidFill>
            <a:srgbClr val="E6F7F5"/>
          </a:solidFill>
          <a:ln/>
        </p:spPr>
        <p:txBody>
          <a:bodyPr/>
          <a:lstStyle/>
          <a:p>
            <a:endParaRPr lang="zh-CN" altLang="en-US"/>
          </a:p>
        </p:txBody>
      </p:sp>
      <p:sp>
        <p:nvSpPr>
          <p:cNvPr id="22" name="Shape 20"/>
          <p:cNvSpPr/>
          <p:nvPr/>
        </p:nvSpPr>
        <p:spPr>
          <a:xfrm>
            <a:off x="3289015" y="1463040"/>
            <a:ext cx="2628000" cy="54864"/>
          </a:xfrm>
          <a:prstGeom prst="rect">
            <a:avLst/>
          </a:prstGeom>
          <a:solidFill>
            <a:srgbClr val="22A699"/>
          </a:solidFill>
          <a:ln/>
        </p:spPr>
        <p:txBody>
          <a:bodyPr/>
          <a:lstStyle/>
          <a:p>
            <a:endParaRPr lang="zh-CN" altLang="en-US"/>
          </a:p>
        </p:txBody>
      </p:sp>
      <p:sp>
        <p:nvSpPr>
          <p:cNvPr id="23" name="Text 21"/>
          <p:cNvSpPr/>
          <p:nvPr/>
        </p:nvSpPr>
        <p:spPr>
          <a:xfrm>
            <a:off x="3698261" y="1590679"/>
            <a:ext cx="1987615" cy="320040"/>
          </a:xfrm>
          <a:prstGeom prst="rect">
            <a:avLst/>
          </a:prstGeom>
          <a:noFill/>
          <a:ln/>
        </p:spPr>
        <p:txBody>
          <a:bodyPr wrap="square" lIns="0" tIns="0" rIns="0" bIns="0" rtlCol="0" anchor="ctr"/>
          <a:lstStyle/>
          <a:p>
            <a:r>
              <a:rPr lang="zh-CN" altLang="en-US" sz="1600" b="1" dirty="0">
                <a:solidFill>
                  <a:srgbClr val="22A699"/>
                </a:solidFill>
                <a:latin typeface="Arial" pitchFamily="34" charset="0"/>
                <a:ea typeface="Arial" pitchFamily="34" charset="-122"/>
                <a:cs typeface="Arial" pitchFamily="34" charset="-120"/>
              </a:rPr>
              <a:t>行为</a:t>
            </a:r>
            <a:r>
              <a:rPr lang="en-US" sz="1600" b="1" dirty="0">
                <a:solidFill>
                  <a:srgbClr val="22A699"/>
                </a:solidFill>
                <a:latin typeface="Arial" pitchFamily="34" charset="0"/>
                <a:ea typeface="Arial" pitchFamily="34" charset="-122"/>
                <a:cs typeface="Arial" pitchFamily="34" charset="-120"/>
              </a:rPr>
              <a:t>层</a:t>
            </a:r>
            <a:r>
              <a:rPr lang="en-US" altLang="zh-CN" sz="1600" b="1" dirty="0">
                <a:solidFill>
                  <a:srgbClr val="E78C07"/>
                </a:solidFill>
                <a:latin typeface="Arial" pitchFamily="34" charset="0"/>
                <a:ea typeface="Arial" pitchFamily="34" charset="-122"/>
                <a:cs typeface="Arial" pitchFamily="34" charset="-120"/>
              </a:rPr>
              <a:t> </a:t>
            </a:r>
            <a:r>
              <a:rPr lang="en-US" altLang="zh-CN" sz="1600" b="1" dirty="0">
                <a:solidFill>
                  <a:srgbClr val="22A699"/>
                </a:solidFill>
                <a:latin typeface="Arial" pitchFamily="34" charset="0"/>
                <a:ea typeface="Arial" pitchFamily="34" charset="-122"/>
                <a:cs typeface="Arial" pitchFamily="34" charset="-120"/>
              </a:rPr>
              <a:t>—</a:t>
            </a:r>
            <a:r>
              <a:rPr lang="en-US" altLang="zh-CN" sz="1600" b="1" dirty="0">
                <a:solidFill>
                  <a:srgbClr val="E78C07"/>
                </a:solidFill>
                <a:latin typeface="Arial" pitchFamily="34" charset="0"/>
                <a:ea typeface="Arial" pitchFamily="34" charset="-122"/>
                <a:cs typeface="Arial" pitchFamily="34" charset="-120"/>
              </a:rPr>
              <a:t> </a:t>
            </a:r>
            <a:r>
              <a:rPr lang="en-US" altLang="zh-CN" sz="1600" b="1" dirty="0" err="1">
                <a:solidFill>
                  <a:srgbClr val="22A699"/>
                </a:solidFill>
                <a:latin typeface="+mn-ea"/>
                <a:cs typeface="Arial" pitchFamily="34" charset="-120"/>
              </a:rPr>
              <a:t>业务「动词</a:t>
            </a:r>
            <a:r>
              <a:rPr lang="en-US" altLang="zh-CN" sz="1600" b="1" dirty="0">
                <a:solidFill>
                  <a:srgbClr val="22A699"/>
                </a:solidFill>
                <a:latin typeface="+mn-ea"/>
                <a:cs typeface="Arial" pitchFamily="34" charset="-120"/>
              </a:rPr>
              <a:t>」</a:t>
            </a:r>
            <a:endParaRPr lang="en-US" sz="1600" dirty="0">
              <a:latin typeface="+mn-ea"/>
            </a:endParaRPr>
          </a:p>
        </p:txBody>
      </p:sp>
      <p:sp>
        <p:nvSpPr>
          <p:cNvPr id="24" name="Text 22"/>
          <p:cNvSpPr/>
          <p:nvPr/>
        </p:nvSpPr>
        <p:spPr>
          <a:xfrm>
            <a:off x="3563335" y="2057400"/>
            <a:ext cx="2155719" cy="320040"/>
          </a:xfrm>
          <a:prstGeom prst="rect">
            <a:avLst/>
          </a:prstGeom>
          <a:noFill/>
          <a:ln/>
        </p:spPr>
        <p:txBody>
          <a:bodyPr wrap="square" lIns="0" tIns="0" rIns="0" bIns="0" rtlCol="0" anchor="ctr"/>
          <a:lstStyle/>
          <a:p>
            <a:pPr marL="0" indent="0">
              <a:buNone/>
            </a:pPr>
            <a:r>
              <a:rPr lang="en-US" sz="1200" dirty="0" err="1">
                <a:solidFill>
                  <a:srgbClr val="1E293B"/>
                </a:solidFill>
                <a:latin typeface="Arial" pitchFamily="34" charset="0"/>
                <a:ea typeface="Arial" pitchFamily="34" charset="-122"/>
                <a:cs typeface="Arial" pitchFamily="34" charset="-120"/>
              </a:rPr>
              <a:t>行为</a:t>
            </a:r>
            <a:endParaRPr lang="en-US" sz="1200" dirty="0"/>
          </a:p>
        </p:txBody>
      </p:sp>
      <p:sp>
        <p:nvSpPr>
          <p:cNvPr id="25" name="Shape 23"/>
          <p:cNvSpPr/>
          <p:nvPr/>
        </p:nvSpPr>
        <p:spPr>
          <a:xfrm>
            <a:off x="3471895" y="1723267"/>
            <a:ext cx="54864" cy="54864"/>
          </a:xfrm>
          <a:prstGeom prst="rect">
            <a:avLst/>
          </a:prstGeom>
          <a:solidFill>
            <a:srgbClr val="22A699"/>
          </a:solidFill>
          <a:ln/>
        </p:spPr>
        <p:txBody>
          <a:bodyPr/>
          <a:lstStyle/>
          <a:p>
            <a:endParaRPr lang="zh-CN" altLang="en-US"/>
          </a:p>
        </p:txBody>
      </p:sp>
      <p:sp>
        <p:nvSpPr>
          <p:cNvPr id="26" name="Text 24"/>
          <p:cNvSpPr/>
          <p:nvPr/>
        </p:nvSpPr>
        <p:spPr>
          <a:xfrm>
            <a:off x="3563335" y="2423160"/>
            <a:ext cx="2155719" cy="320040"/>
          </a:xfrm>
          <a:prstGeom prst="rect">
            <a:avLst/>
          </a:prstGeom>
          <a:noFill/>
          <a:ln/>
        </p:spPr>
        <p:txBody>
          <a:bodyPr wrap="square" lIns="0" tIns="0" rIns="0" bIns="0" rtlCol="0" anchor="ctr"/>
          <a:lstStyle/>
          <a:p>
            <a:pPr marL="0" indent="0">
              <a:buNone/>
            </a:pPr>
            <a:r>
              <a:rPr lang="en-US" sz="1200" dirty="0" err="1">
                <a:solidFill>
                  <a:srgbClr val="1E293B"/>
                </a:solidFill>
                <a:latin typeface="Arial" pitchFamily="34" charset="0"/>
                <a:ea typeface="Arial" pitchFamily="34" charset="-122"/>
                <a:cs typeface="Arial" pitchFamily="34" charset="-120"/>
              </a:rPr>
              <a:t>规则</a:t>
            </a:r>
            <a:endParaRPr lang="en-US" sz="1200" dirty="0"/>
          </a:p>
        </p:txBody>
      </p:sp>
      <p:sp>
        <p:nvSpPr>
          <p:cNvPr id="27" name="Shape 25"/>
          <p:cNvSpPr/>
          <p:nvPr/>
        </p:nvSpPr>
        <p:spPr>
          <a:xfrm>
            <a:off x="3471895" y="2542032"/>
            <a:ext cx="54864" cy="54864"/>
          </a:xfrm>
          <a:prstGeom prst="rect">
            <a:avLst/>
          </a:prstGeom>
          <a:solidFill>
            <a:srgbClr val="22A699"/>
          </a:solidFill>
          <a:ln/>
        </p:spPr>
        <p:txBody>
          <a:bodyPr/>
          <a:lstStyle/>
          <a:p>
            <a:endParaRPr lang="zh-CN" altLang="en-US"/>
          </a:p>
        </p:txBody>
      </p:sp>
      <p:sp>
        <p:nvSpPr>
          <p:cNvPr id="28" name="Text 26"/>
          <p:cNvSpPr/>
          <p:nvPr/>
        </p:nvSpPr>
        <p:spPr>
          <a:xfrm>
            <a:off x="3563335" y="2788920"/>
            <a:ext cx="2155719" cy="320040"/>
          </a:xfrm>
          <a:prstGeom prst="rect">
            <a:avLst/>
          </a:prstGeom>
          <a:noFill/>
          <a:ln/>
        </p:spPr>
        <p:txBody>
          <a:bodyPr wrap="square" lIns="0" tIns="0" rIns="0" bIns="0" rtlCol="0" anchor="ctr"/>
          <a:lstStyle/>
          <a:p>
            <a:pPr marL="0" indent="0">
              <a:buNone/>
            </a:pPr>
            <a:r>
              <a:rPr lang="zh-CN" altLang="en-US" sz="1200" dirty="0">
                <a:solidFill>
                  <a:srgbClr val="1E293B"/>
                </a:solidFill>
                <a:latin typeface="Arial" pitchFamily="34" charset="0"/>
                <a:ea typeface="Arial" pitchFamily="34" charset="-122"/>
                <a:cs typeface="Arial" pitchFamily="34" charset="-120"/>
              </a:rPr>
              <a:t>关联操作</a:t>
            </a:r>
            <a:endParaRPr lang="en-US" sz="1200" dirty="0"/>
          </a:p>
        </p:txBody>
      </p:sp>
      <p:sp>
        <p:nvSpPr>
          <p:cNvPr id="29" name="Shape 27"/>
          <p:cNvSpPr/>
          <p:nvPr/>
        </p:nvSpPr>
        <p:spPr>
          <a:xfrm>
            <a:off x="3471895" y="2907792"/>
            <a:ext cx="54864" cy="54864"/>
          </a:xfrm>
          <a:prstGeom prst="rect">
            <a:avLst/>
          </a:prstGeom>
          <a:solidFill>
            <a:srgbClr val="22A699"/>
          </a:solidFill>
          <a:ln/>
        </p:spPr>
        <p:txBody>
          <a:bodyPr/>
          <a:lstStyle/>
          <a:p>
            <a:endParaRPr lang="zh-CN" altLang="en-US"/>
          </a:p>
        </p:txBody>
      </p:sp>
      <p:sp>
        <p:nvSpPr>
          <p:cNvPr id="30" name="Text 28"/>
          <p:cNvSpPr/>
          <p:nvPr/>
        </p:nvSpPr>
        <p:spPr>
          <a:xfrm>
            <a:off x="3563335" y="3154680"/>
            <a:ext cx="2155719" cy="320040"/>
          </a:xfrm>
          <a:prstGeom prst="rect">
            <a:avLst/>
          </a:prstGeom>
          <a:noFill/>
          <a:ln/>
        </p:spPr>
        <p:txBody>
          <a:bodyPr wrap="square" lIns="0" tIns="0" rIns="0" bIns="0" rtlCol="0" anchor="ctr"/>
          <a:lstStyle/>
          <a:p>
            <a:pPr marL="0" indent="0">
              <a:buNone/>
            </a:pPr>
            <a:r>
              <a:rPr lang="zh-CN" altLang="en-US" sz="1200" dirty="0">
                <a:solidFill>
                  <a:srgbClr val="1E293B"/>
                </a:solidFill>
                <a:latin typeface="Arial" pitchFamily="34" charset="0"/>
                <a:ea typeface="Arial" pitchFamily="34" charset="-122"/>
                <a:cs typeface="Arial" pitchFamily="34" charset="-120"/>
              </a:rPr>
              <a:t>行为</a:t>
            </a:r>
            <a:r>
              <a:rPr lang="en-US" sz="1200" dirty="0" err="1">
                <a:solidFill>
                  <a:srgbClr val="1E293B"/>
                </a:solidFill>
                <a:latin typeface="Arial" pitchFamily="34" charset="0"/>
                <a:ea typeface="Arial" pitchFamily="34" charset="-122"/>
                <a:cs typeface="Arial" pitchFamily="34" charset="-120"/>
              </a:rPr>
              <a:t>边界</a:t>
            </a:r>
            <a:endParaRPr lang="en-US" sz="1200" dirty="0"/>
          </a:p>
        </p:txBody>
      </p:sp>
      <p:sp>
        <p:nvSpPr>
          <p:cNvPr id="31" name="Shape 29"/>
          <p:cNvSpPr/>
          <p:nvPr/>
        </p:nvSpPr>
        <p:spPr>
          <a:xfrm>
            <a:off x="3471895" y="3273552"/>
            <a:ext cx="54864" cy="54864"/>
          </a:xfrm>
          <a:prstGeom prst="rect">
            <a:avLst/>
          </a:prstGeom>
          <a:solidFill>
            <a:srgbClr val="22A699"/>
          </a:solidFill>
          <a:ln/>
        </p:spPr>
        <p:txBody>
          <a:bodyPr/>
          <a:lstStyle/>
          <a:p>
            <a:endParaRPr lang="zh-CN" altLang="en-US"/>
          </a:p>
        </p:txBody>
      </p:sp>
      <p:sp>
        <p:nvSpPr>
          <p:cNvPr id="32" name="Text 30"/>
          <p:cNvSpPr/>
          <p:nvPr/>
        </p:nvSpPr>
        <p:spPr>
          <a:xfrm>
            <a:off x="3563335" y="3520440"/>
            <a:ext cx="2155719" cy="320040"/>
          </a:xfrm>
          <a:prstGeom prst="rect">
            <a:avLst/>
          </a:prstGeom>
          <a:noFill/>
          <a:ln/>
        </p:spPr>
        <p:txBody>
          <a:bodyPr wrap="square" lIns="0" tIns="0" rIns="0" bIns="0" rtlCol="0" anchor="ctr"/>
          <a:lstStyle/>
          <a:p>
            <a:pPr marL="0" indent="0">
              <a:buNone/>
            </a:pPr>
            <a:r>
              <a:rPr lang="en-US" sz="1200" dirty="0">
                <a:solidFill>
                  <a:srgbClr val="1E293B"/>
                </a:solidFill>
                <a:latin typeface="Arial" pitchFamily="34" charset="0"/>
                <a:ea typeface="Arial" pitchFamily="34" charset="-122"/>
                <a:cs typeface="Arial" pitchFamily="34" charset="-120"/>
              </a:rPr>
              <a:t>指标定义</a:t>
            </a:r>
            <a:endParaRPr lang="en-US" sz="1200" dirty="0"/>
          </a:p>
        </p:txBody>
      </p:sp>
      <p:sp>
        <p:nvSpPr>
          <p:cNvPr id="33" name="Shape 31"/>
          <p:cNvSpPr/>
          <p:nvPr/>
        </p:nvSpPr>
        <p:spPr>
          <a:xfrm>
            <a:off x="3471895" y="3639312"/>
            <a:ext cx="54864" cy="54864"/>
          </a:xfrm>
          <a:prstGeom prst="rect">
            <a:avLst/>
          </a:prstGeom>
          <a:solidFill>
            <a:srgbClr val="22A699"/>
          </a:solidFill>
          <a:ln/>
        </p:spPr>
        <p:txBody>
          <a:bodyPr/>
          <a:lstStyle/>
          <a:p>
            <a:endParaRPr lang="zh-CN" altLang="en-US"/>
          </a:p>
        </p:txBody>
      </p:sp>
      <p:sp>
        <p:nvSpPr>
          <p:cNvPr id="36" name="Shape 2">
            <a:extLst>
              <a:ext uri="{FF2B5EF4-FFF2-40B4-BE49-F238E27FC236}">
                <a16:creationId xmlns:a16="http://schemas.microsoft.com/office/drawing/2014/main" id="{EBAB1DB0-8F36-A4B9-AF75-4B3C9657C893}"/>
              </a:ext>
            </a:extLst>
          </p:cNvPr>
          <p:cNvSpPr/>
          <p:nvPr/>
        </p:nvSpPr>
        <p:spPr>
          <a:xfrm>
            <a:off x="6029390" y="1463040"/>
            <a:ext cx="2628000" cy="3108960"/>
          </a:xfrm>
          <a:prstGeom prst="rect">
            <a:avLst/>
          </a:prstGeom>
          <a:solidFill>
            <a:schemeClr val="accent2">
              <a:lumMod val="20000"/>
              <a:lumOff val="80000"/>
            </a:schemeClr>
          </a:solidFill>
          <a:ln/>
          <a:effectLst>
            <a:outerShdw blurRad="38100" dist="12700" dir="8100000" algn="bl" rotWithShape="0">
              <a:srgbClr val="000000">
                <a:alpha val="6000"/>
              </a:srgbClr>
            </a:outerShdw>
          </a:effectLst>
        </p:spPr>
        <p:txBody>
          <a:bodyPr/>
          <a:lstStyle/>
          <a:p>
            <a:endParaRPr lang="zh-CN" altLang="en-US"/>
          </a:p>
        </p:txBody>
      </p:sp>
      <p:sp>
        <p:nvSpPr>
          <p:cNvPr id="37" name="Shape 3">
            <a:extLst>
              <a:ext uri="{FF2B5EF4-FFF2-40B4-BE49-F238E27FC236}">
                <a16:creationId xmlns:a16="http://schemas.microsoft.com/office/drawing/2014/main" id="{3424C44D-E0AC-0C06-5FC0-89D4A66D4B7F}"/>
              </a:ext>
            </a:extLst>
          </p:cNvPr>
          <p:cNvSpPr/>
          <p:nvPr/>
        </p:nvSpPr>
        <p:spPr>
          <a:xfrm>
            <a:off x="6029390" y="1463040"/>
            <a:ext cx="2628900" cy="47297"/>
          </a:xfrm>
          <a:prstGeom prst="rect">
            <a:avLst/>
          </a:prstGeom>
          <a:solidFill>
            <a:srgbClr val="E78C07"/>
          </a:solidFill>
          <a:ln/>
        </p:spPr>
        <p:txBody>
          <a:bodyPr/>
          <a:lstStyle/>
          <a:p>
            <a:endParaRPr lang="zh-CN" altLang="en-US"/>
          </a:p>
        </p:txBody>
      </p:sp>
      <p:pic>
        <p:nvPicPr>
          <p:cNvPr id="38" name="Image 0" descr="preencoded.png">
            <a:extLst>
              <a:ext uri="{FF2B5EF4-FFF2-40B4-BE49-F238E27FC236}">
                <a16:creationId xmlns:a16="http://schemas.microsoft.com/office/drawing/2014/main" id="{771FE52F-DE4C-8FCC-CBA2-7D1AE843211F}"/>
              </a:ext>
            </a:extLst>
          </p:cNvPr>
          <p:cNvPicPr>
            <a:picLocks noChangeAspect="1"/>
          </p:cNvPicPr>
          <p:nvPr/>
        </p:nvPicPr>
        <p:blipFill>
          <a:blip r:embed="rId3"/>
          <a:stretch>
            <a:fillRect/>
          </a:stretch>
        </p:blipFill>
        <p:spPr>
          <a:xfrm>
            <a:off x="6172404" y="1612751"/>
            <a:ext cx="275897" cy="275897"/>
          </a:xfrm>
          <a:prstGeom prst="rect">
            <a:avLst/>
          </a:prstGeom>
        </p:spPr>
      </p:pic>
      <p:sp>
        <p:nvSpPr>
          <p:cNvPr id="39" name="Text 4">
            <a:extLst>
              <a:ext uri="{FF2B5EF4-FFF2-40B4-BE49-F238E27FC236}">
                <a16:creationId xmlns:a16="http://schemas.microsoft.com/office/drawing/2014/main" id="{B3FB9892-E29E-42CC-F8C9-519FE14C314B}"/>
              </a:ext>
            </a:extLst>
          </p:cNvPr>
          <p:cNvSpPr/>
          <p:nvPr/>
        </p:nvSpPr>
        <p:spPr>
          <a:xfrm>
            <a:off x="6629604" y="1612751"/>
            <a:ext cx="2091170" cy="275897"/>
          </a:xfrm>
          <a:prstGeom prst="rect">
            <a:avLst/>
          </a:prstGeom>
          <a:noFill/>
          <a:ln/>
        </p:spPr>
        <p:txBody>
          <a:bodyPr wrap="square" lIns="0" tIns="0" rIns="0" bIns="0" rtlCol="0" anchor="ctr"/>
          <a:lstStyle/>
          <a:p>
            <a:pPr marL="0" indent="0">
              <a:buNone/>
            </a:pPr>
            <a:r>
              <a:rPr lang="en-US" sz="1400" b="1" dirty="0">
                <a:solidFill>
                  <a:srgbClr val="E78C07"/>
                </a:solidFill>
                <a:latin typeface="Arial" pitchFamily="34" charset="0"/>
                <a:ea typeface="Arial" pitchFamily="34" charset="-122"/>
                <a:cs typeface="Arial" pitchFamily="34" charset="-120"/>
              </a:rPr>
              <a:t>事件层 — </a:t>
            </a:r>
            <a:r>
              <a:rPr lang="en-US" sz="1600" dirty="0">
                <a:solidFill>
                  <a:srgbClr val="E78C07"/>
                </a:solidFill>
                <a:latin typeface="+mn-ea"/>
                <a:cs typeface="Arial" pitchFamily="34" charset="-120"/>
              </a:rPr>
              <a:t>业务「信号」</a:t>
            </a:r>
            <a:endParaRPr lang="en-US" sz="1400" dirty="0">
              <a:latin typeface="+mn-ea"/>
            </a:endParaRPr>
          </a:p>
        </p:txBody>
      </p:sp>
      <p:sp>
        <p:nvSpPr>
          <p:cNvPr id="41" name="Text 5">
            <a:extLst>
              <a:ext uri="{FF2B5EF4-FFF2-40B4-BE49-F238E27FC236}">
                <a16:creationId xmlns:a16="http://schemas.microsoft.com/office/drawing/2014/main" id="{78006BA1-CFC8-21F2-07B3-3F68ADA3DEC1}"/>
              </a:ext>
            </a:extLst>
          </p:cNvPr>
          <p:cNvSpPr/>
          <p:nvPr/>
        </p:nvSpPr>
        <p:spPr>
          <a:xfrm>
            <a:off x="6104849" y="3017520"/>
            <a:ext cx="2466955" cy="157655"/>
          </a:xfrm>
          <a:prstGeom prst="rect">
            <a:avLst/>
          </a:prstGeom>
          <a:noFill/>
          <a:ln/>
        </p:spPr>
        <p:txBody>
          <a:bodyPr wrap="square" lIns="0" tIns="0" rIns="0" bIns="0" rtlCol="0" anchor="ctr"/>
          <a:lstStyle/>
          <a:p>
            <a:pPr marL="171450" indent="-171450">
              <a:lnSpc>
                <a:spcPct val="150000"/>
              </a:lnSpc>
              <a:spcBef>
                <a:spcPts val="600"/>
              </a:spcBef>
              <a:buFont typeface="Wingdings" panose="05000000000000000000" pitchFamily="2" charset="2"/>
              <a:buChar char="n"/>
            </a:pPr>
            <a:r>
              <a:rPr lang="en-US" sz="1000" dirty="0">
                <a:solidFill>
                  <a:srgbClr val="1E293B"/>
                </a:solidFill>
                <a:latin typeface="Arial" pitchFamily="34" charset="0"/>
                <a:ea typeface="Arial" pitchFamily="34" charset="-122"/>
                <a:cs typeface="Arial" pitchFamily="34" charset="-120"/>
              </a:rPr>
              <a:t>领域事件：聚合内行为完成后的业务事实(</a:t>
            </a:r>
            <a:r>
              <a:rPr lang="en-US" sz="1000" dirty="0" err="1">
                <a:solidFill>
                  <a:srgbClr val="1E293B"/>
                </a:solidFill>
                <a:latin typeface="Arial" pitchFamily="34" charset="0"/>
                <a:ea typeface="Arial" pitchFamily="34" charset="-122"/>
                <a:cs typeface="Arial" pitchFamily="34" charset="-120"/>
              </a:rPr>
              <a:t>OrderApproved</a:t>
            </a:r>
            <a:r>
              <a:rPr lang="en-US" sz="1000" dirty="0">
                <a:solidFill>
                  <a:srgbClr val="1E293B"/>
                </a:solidFill>
                <a:latin typeface="Arial" pitchFamily="34" charset="0"/>
                <a:ea typeface="Arial" pitchFamily="34" charset="-122"/>
                <a:cs typeface="Arial" pitchFamily="34" charset="-120"/>
              </a:rPr>
              <a:t>)</a:t>
            </a:r>
          </a:p>
          <a:p>
            <a:pPr marL="171450" indent="-171450">
              <a:lnSpc>
                <a:spcPct val="150000"/>
              </a:lnSpc>
              <a:spcBef>
                <a:spcPts val="600"/>
              </a:spcBef>
              <a:buFont typeface="Wingdings" panose="05000000000000000000" pitchFamily="2" charset="2"/>
              <a:buChar char="n"/>
            </a:pPr>
            <a:r>
              <a:rPr lang="en-US" altLang="zh-CN" sz="1000" dirty="0" err="1">
                <a:solidFill>
                  <a:srgbClr val="1E293B"/>
                </a:solidFill>
                <a:latin typeface="Arial" pitchFamily="34" charset="0"/>
                <a:ea typeface="Arial" pitchFamily="34" charset="-122"/>
                <a:cs typeface="Arial" pitchFamily="34" charset="-120"/>
              </a:rPr>
              <a:t>集成事件：跨限界上下文的异步通信</a:t>
            </a:r>
            <a:r>
              <a:rPr lang="en-US" altLang="zh-CN" sz="1000" dirty="0">
                <a:solidFill>
                  <a:srgbClr val="1E293B"/>
                </a:solidFill>
                <a:latin typeface="Arial" pitchFamily="34" charset="0"/>
                <a:ea typeface="Arial" pitchFamily="34" charset="-122"/>
                <a:cs typeface="Arial" pitchFamily="34" charset="-120"/>
              </a:rPr>
              <a:t>(</a:t>
            </a:r>
            <a:r>
              <a:rPr lang="en-US" altLang="zh-CN" sz="1000" dirty="0" err="1">
                <a:solidFill>
                  <a:srgbClr val="1E293B"/>
                </a:solidFill>
                <a:latin typeface="Arial" pitchFamily="34" charset="0"/>
                <a:ea typeface="Arial" pitchFamily="34" charset="-122"/>
                <a:cs typeface="Arial" pitchFamily="34" charset="-120"/>
              </a:rPr>
              <a:t>ERP→WMS订单同步</a:t>
            </a:r>
            <a:r>
              <a:rPr lang="en-US" altLang="zh-CN" sz="1000" dirty="0">
                <a:solidFill>
                  <a:srgbClr val="1E293B"/>
                </a:solidFill>
                <a:latin typeface="Arial" pitchFamily="34" charset="0"/>
                <a:ea typeface="Arial" pitchFamily="34" charset="-122"/>
                <a:cs typeface="Arial" pitchFamily="34" charset="-120"/>
              </a:rPr>
              <a:t>)</a:t>
            </a:r>
          </a:p>
          <a:p>
            <a:pPr marL="171450" indent="-171450">
              <a:lnSpc>
                <a:spcPct val="150000"/>
              </a:lnSpc>
              <a:spcBef>
                <a:spcPts val="600"/>
              </a:spcBef>
              <a:buFont typeface="Wingdings" panose="05000000000000000000" pitchFamily="2" charset="2"/>
              <a:buChar char="n"/>
            </a:pPr>
            <a:r>
              <a:rPr lang="en-US" altLang="zh-CN" sz="1000" dirty="0" err="1">
                <a:solidFill>
                  <a:srgbClr val="1E293B"/>
                </a:solidFill>
                <a:latin typeface="Arial" pitchFamily="34" charset="0"/>
                <a:ea typeface="Arial" pitchFamily="34" charset="-122"/>
                <a:cs typeface="Arial" pitchFamily="34" charset="-120"/>
              </a:rPr>
              <a:t>事件处理器：事件触发后的逻辑</a:t>
            </a:r>
            <a:r>
              <a:rPr lang="en-US" altLang="zh-CN" sz="1000" dirty="0">
                <a:solidFill>
                  <a:srgbClr val="1E293B"/>
                </a:solidFill>
                <a:latin typeface="Arial" pitchFamily="34" charset="0"/>
                <a:ea typeface="Arial" pitchFamily="34" charset="-122"/>
                <a:cs typeface="Arial" pitchFamily="34" charset="-120"/>
              </a:rPr>
              <a:t>(</a:t>
            </a:r>
            <a:r>
              <a:rPr lang="en-US" altLang="zh-CN" sz="1000" dirty="0" err="1">
                <a:solidFill>
                  <a:srgbClr val="1E293B"/>
                </a:solidFill>
                <a:latin typeface="Arial" pitchFamily="34" charset="0"/>
                <a:ea typeface="Arial" pitchFamily="34" charset="-122"/>
                <a:cs typeface="Arial" pitchFamily="34" charset="-120"/>
              </a:rPr>
              <a:t>新行为</a:t>
            </a:r>
            <a:r>
              <a:rPr lang="en-US" altLang="zh-CN" sz="1000" dirty="0">
                <a:solidFill>
                  <a:srgbClr val="1E293B"/>
                </a:solidFill>
                <a:latin typeface="Arial" pitchFamily="34" charset="0"/>
                <a:ea typeface="Arial" pitchFamily="34" charset="-122"/>
                <a:cs typeface="Arial" pitchFamily="34" charset="-120"/>
              </a:rPr>
              <a:t>/</a:t>
            </a:r>
            <a:r>
              <a:rPr lang="en-US" altLang="zh-CN" sz="1000" dirty="0" err="1">
                <a:solidFill>
                  <a:srgbClr val="1E293B"/>
                </a:solidFill>
                <a:latin typeface="Arial" pitchFamily="34" charset="0"/>
                <a:ea typeface="Arial" pitchFamily="34" charset="-122"/>
                <a:cs typeface="Arial" pitchFamily="34" charset="-120"/>
              </a:rPr>
              <a:t>通知</a:t>
            </a:r>
            <a:r>
              <a:rPr lang="en-US" altLang="zh-CN" sz="1000" dirty="0">
                <a:solidFill>
                  <a:srgbClr val="1E293B"/>
                </a:solidFill>
                <a:latin typeface="Arial" pitchFamily="34" charset="0"/>
                <a:ea typeface="Arial" pitchFamily="34" charset="-122"/>
                <a:cs typeface="Arial" pitchFamily="34" charset="-120"/>
              </a:rPr>
              <a:t>/Webhook)</a:t>
            </a:r>
          </a:p>
          <a:p>
            <a:pPr marL="171450" indent="-171450">
              <a:lnSpc>
                <a:spcPct val="150000"/>
              </a:lnSpc>
              <a:spcBef>
                <a:spcPts val="600"/>
              </a:spcBef>
              <a:buFont typeface="Wingdings" panose="05000000000000000000" pitchFamily="2" charset="2"/>
              <a:buChar char="n"/>
            </a:pPr>
            <a:r>
              <a:rPr lang="en-US" altLang="zh-CN" sz="1000" dirty="0" err="1">
                <a:solidFill>
                  <a:srgbClr val="1E293B"/>
                </a:solidFill>
                <a:latin typeface="Arial" pitchFamily="34" charset="0"/>
                <a:ea typeface="Arial" pitchFamily="34" charset="-122"/>
                <a:cs typeface="Arial" pitchFamily="34" charset="-120"/>
              </a:rPr>
              <a:t>事件存储：不可变事件序列，支持事件溯源</a:t>
            </a:r>
            <a:endParaRPr lang="en-US" altLang="zh-CN" sz="1000" dirty="0">
              <a:solidFill>
                <a:srgbClr val="1E293B"/>
              </a:solidFill>
              <a:latin typeface="Arial" pitchFamily="34" charset="0"/>
              <a:ea typeface="Arial" pitchFamily="34" charset="-122"/>
              <a:cs typeface="Arial" pitchFamily="34" charset="-120"/>
            </a:endParaRPr>
          </a:p>
        </p:txBody>
      </p:sp>
      <p:pic>
        <p:nvPicPr>
          <p:cNvPr id="50" name="Image 1" descr="preencoded.png">
            <a:extLst>
              <a:ext uri="{FF2B5EF4-FFF2-40B4-BE49-F238E27FC236}">
                <a16:creationId xmlns:a16="http://schemas.microsoft.com/office/drawing/2014/main" id="{B4FEB9ED-B62D-6A63-95F9-85CE55A7CCD3}"/>
              </a:ext>
            </a:extLst>
          </p:cNvPr>
          <p:cNvPicPr>
            <a:picLocks noChangeAspect="1"/>
          </p:cNvPicPr>
          <p:nvPr/>
        </p:nvPicPr>
        <p:blipFill>
          <a:blip r:embed="rId4"/>
          <a:stretch>
            <a:fillRect/>
          </a:stretch>
        </p:blipFill>
        <p:spPr>
          <a:xfrm>
            <a:off x="3355690" y="1612751"/>
            <a:ext cx="275897" cy="275897"/>
          </a:xfrm>
          <a:prstGeom prst="rect">
            <a:avLst/>
          </a:prstGeom>
        </p:spPr>
      </p:pic>
      <p:pic>
        <p:nvPicPr>
          <p:cNvPr id="51" name="Image 0" descr="preencoded.png">
            <a:extLst>
              <a:ext uri="{FF2B5EF4-FFF2-40B4-BE49-F238E27FC236}">
                <a16:creationId xmlns:a16="http://schemas.microsoft.com/office/drawing/2014/main" id="{28341322-37E9-E856-1203-E7198C183C92}"/>
              </a:ext>
            </a:extLst>
          </p:cNvPr>
          <p:cNvPicPr>
            <a:picLocks noChangeAspect="1"/>
          </p:cNvPicPr>
          <p:nvPr/>
        </p:nvPicPr>
        <p:blipFill>
          <a:blip r:embed="rId5"/>
          <a:stretch>
            <a:fillRect/>
          </a:stretch>
        </p:blipFill>
        <p:spPr>
          <a:xfrm>
            <a:off x="648435" y="1612751"/>
            <a:ext cx="275897" cy="275897"/>
          </a:xfrm>
          <a:prstGeom prst="rect">
            <a:avLst/>
          </a:prstGeom>
        </p:spPr>
      </p:pic>
      <p:sp>
        <p:nvSpPr>
          <p:cNvPr id="52" name="Shape 25">
            <a:extLst>
              <a:ext uri="{FF2B5EF4-FFF2-40B4-BE49-F238E27FC236}">
                <a16:creationId xmlns:a16="http://schemas.microsoft.com/office/drawing/2014/main" id="{FE8C205E-5C5D-C9A0-E44E-DF503DCF2F9D}"/>
              </a:ext>
            </a:extLst>
          </p:cNvPr>
          <p:cNvSpPr/>
          <p:nvPr/>
        </p:nvSpPr>
        <p:spPr>
          <a:xfrm>
            <a:off x="3467843" y="2199132"/>
            <a:ext cx="54864" cy="54864"/>
          </a:xfrm>
          <a:prstGeom prst="rect">
            <a:avLst/>
          </a:prstGeom>
          <a:solidFill>
            <a:srgbClr val="22A699"/>
          </a:solidFill>
          <a:ln/>
        </p:spPr>
        <p:txBody>
          <a:bodyPr/>
          <a:lstStyle/>
          <a:p>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2A69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3" name="Text 1"/>
          <p:cNvSpPr/>
          <p:nvPr/>
        </p:nvSpPr>
        <p:spPr>
          <a:xfrm>
            <a:off x="548640" y="228600"/>
            <a:ext cx="82296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语义 </a:t>
            </a:r>
            <a:r>
              <a:rPr kumimoji="0" lang="en-US" altLang="zh-CN" sz="2400" b="1"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 </a:t>
            </a:r>
            <a:r>
              <a:rPr kumimoji="0" lang="zh-CN" altLang="en-US" sz="2400" b="1"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行为 </a:t>
            </a:r>
            <a:r>
              <a:rPr kumimoji="0" lang="en-US" altLang="zh-CN" sz="2400" b="1"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 </a:t>
            </a:r>
            <a:r>
              <a:rPr kumimoji="0" lang="zh-CN" altLang="en-US" sz="2400" b="1"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事件</a:t>
            </a:r>
          </a:p>
        </p:txBody>
      </p:sp>
      <p:sp>
        <p:nvSpPr>
          <p:cNvPr id="4" name="Shape 2"/>
          <p:cNvSpPr/>
          <p:nvPr/>
        </p:nvSpPr>
        <p:spPr>
          <a:xfrm>
            <a:off x="365760" y="960120"/>
            <a:ext cx="2628900" cy="3605106"/>
          </a:xfrm>
          <a:prstGeom prst="rect">
            <a:avLst/>
          </a:prstGeom>
          <a:solidFill>
            <a:srgbClr val="FFFFFF"/>
          </a:solidFill>
          <a:ln/>
          <a:effectLst>
            <a:outerShdw blurRad="38100" dist="12700" dir="8100000" algn="bl" rotWithShape="0">
              <a:srgbClr val="000000">
                <a:alpha val="6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5" name="Shape 3"/>
          <p:cNvSpPr/>
          <p:nvPr/>
        </p:nvSpPr>
        <p:spPr>
          <a:xfrm>
            <a:off x="365760" y="903679"/>
            <a:ext cx="2628900" cy="47297"/>
          </a:xfrm>
          <a:prstGeom prst="rect">
            <a:avLst/>
          </a:prstGeom>
          <a:solidFill>
            <a:srgbClr val="065A8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20" name="Shape 17"/>
          <p:cNvSpPr/>
          <p:nvPr/>
        </p:nvSpPr>
        <p:spPr>
          <a:xfrm>
            <a:off x="3127090" y="903679"/>
            <a:ext cx="2628900" cy="3661547"/>
          </a:xfrm>
          <a:prstGeom prst="rect">
            <a:avLst/>
          </a:prstGeom>
          <a:solidFill>
            <a:srgbClr val="FFFFFF"/>
          </a:solidFill>
          <a:ln/>
          <a:effectLst>
            <a:outerShdw blurRad="38100" dist="12700" dir="8100000" algn="bl" rotWithShape="0">
              <a:srgbClr val="000000">
                <a:alpha val="6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21" name="Shape 18"/>
          <p:cNvSpPr/>
          <p:nvPr/>
        </p:nvSpPr>
        <p:spPr>
          <a:xfrm>
            <a:off x="3127090" y="903679"/>
            <a:ext cx="2628900" cy="47297"/>
          </a:xfrm>
          <a:prstGeom prst="rect">
            <a:avLst/>
          </a:prstGeom>
          <a:solidFill>
            <a:srgbClr val="22A69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36" name="Shape 2"/>
          <p:cNvSpPr/>
          <p:nvPr/>
        </p:nvSpPr>
        <p:spPr>
          <a:xfrm>
            <a:off x="6006445" y="929218"/>
            <a:ext cx="2628900" cy="3636007"/>
          </a:xfrm>
          <a:prstGeom prst="rect">
            <a:avLst/>
          </a:prstGeom>
          <a:solidFill>
            <a:srgbClr val="FFFFFF"/>
          </a:solidFill>
          <a:ln/>
          <a:effectLst>
            <a:outerShdw blurRad="38100" dist="12700" dir="8100000" algn="bl" rotWithShape="0">
              <a:srgbClr val="000000">
                <a:alpha val="6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37" name="Shape 3"/>
          <p:cNvSpPr/>
          <p:nvPr/>
        </p:nvSpPr>
        <p:spPr>
          <a:xfrm>
            <a:off x="6006445" y="903679"/>
            <a:ext cx="2628900" cy="47297"/>
          </a:xfrm>
          <a:prstGeom prst="rect">
            <a:avLst/>
          </a:prstGeom>
          <a:solidFill>
            <a:srgbClr val="E78C07"/>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64" name="Text 7">
            <a:extLst>
              <a:ext uri="{FF2B5EF4-FFF2-40B4-BE49-F238E27FC236}">
                <a16:creationId xmlns:a16="http://schemas.microsoft.com/office/drawing/2014/main" id="{ED079CC0-6645-ED36-F9FE-BA2D2F3005C4}"/>
              </a:ext>
            </a:extLst>
          </p:cNvPr>
          <p:cNvSpPr/>
          <p:nvPr/>
        </p:nvSpPr>
        <p:spPr>
          <a:xfrm>
            <a:off x="651510" y="1078707"/>
            <a:ext cx="205740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mn-ea"/>
                <a:cs typeface="+mn-cs"/>
              </a:rPr>
              <a:t>📋</a:t>
            </a:r>
            <a:r>
              <a:rPr kumimoji="0" lang="zh-CN" altLang="en-US" sz="1600" b="1" i="0" u="none" strike="noStrike" kern="1200" cap="none" spc="0" normalizeH="0" baseline="0" noProof="0" dirty="0">
                <a:ln>
                  <a:noFill/>
                </a:ln>
                <a:solidFill>
                  <a:srgbClr val="065A82"/>
                </a:solidFill>
                <a:effectLst/>
                <a:uLnTx/>
                <a:uFillTx/>
                <a:latin typeface="微软雅黑" panose="020B0503020204020204" pitchFamily="34" charset="-122"/>
                <a:ea typeface="微软雅黑" panose="020B0503020204020204" pitchFamily="34" charset="-122"/>
                <a:cs typeface="Arial" pitchFamily="34" charset="-120"/>
              </a:rPr>
              <a:t>语义</a:t>
            </a:r>
          </a:p>
        </p:txBody>
      </p:sp>
      <p:sp>
        <p:nvSpPr>
          <p:cNvPr id="65" name="Text 13">
            <a:extLst>
              <a:ext uri="{FF2B5EF4-FFF2-40B4-BE49-F238E27FC236}">
                <a16:creationId xmlns:a16="http://schemas.microsoft.com/office/drawing/2014/main" id="{8042F078-38F9-37E4-1EC7-FC295C00B074}"/>
              </a:ext>
            </a:extLst>
          </p:cNvPr>
          <p:cNvSpPr/>
          <p:nvPr/>
        </p:nvSpPr>
        <p:spPr>
          <a:xfrm>
            <a:off x="3412840" y="1078707"/>
            <a:ext cx="205740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mn-ea"/>
                <a:cs typeface="+mn-cs"/>
              </a:rPr>
              <a:t>⚡</a:t>
            </a:r>
            <a:r>
              <a:rPr kumimoji="0" lang="zh-CN" altLang="en-US" sz="1600" b="1" i="0" u="none" strike="noStrike" kern="1200" cap="none" spc="0" normalizeH="0" baseline="0" noProof="0" dirty="0">
                <a:ln>
                  <a:noFill/>
                </a:ln>
                <a:solidFill>
                  <a:srgbClr val="22A699"/>
                </a:solidFill>
                <a:effectLst/>
                <a:uLnTx/>
                <a:uFillTx/>
                <a:latin typeface="微软雅黑" panose="020B0503020204020204" pitchFamily="34" charset="-122"/>
                <a:ea typeface="微软雅黑" panose="020B0503020204020204" pitchFamily="34" charset="-122"/>
                <a:cs typeface="+mn-cs"/>
              </a:rPr>
              <a:t>行为</a:t>
            </a:r>
            <a:endParaRPr kumimoji="0" lang="zh-CN" altLang="en-US" sz="2400" b="1" i="0" u="none" strike="noStrike" kern="1200" cap="none" spc="0" normalizeH="0" baseline="0" noProof="0" dirty="0">
              <a:ln>
                <a:noFill/>
              </a:ln>
              <a:solidFill>
                <a:srgbClr val="22A699"/>
              </a:solidFill>
              <a:effectLst/>
              <a:uLnTx/>
              <a:uFillTx/>
              <a:latin typeface="微软雅黑" panose="020B0503020204020204" pitchFamily="34" charset="-122"/>
              <a:ea typeface="微软雅黑" panose="020B0503020204020204" pitchFamily="34" charset="-122"/>
              <a:cs typeface="+mn-cs"/>
            </a:endParaRPr>
          </a:p>
        </p:txBody>
      </p:sp>
      <p:sp>
        <p:nvSpPr>
          <p:cNvPr id="66" name="Text 19">
            <a:extLst>
              <a:ext uri="{FF2B5EF4-FFF2-40B4-BE49-F238E27FC236}">
                <a16:creationId xmlns:a16="http://schemas.microsoft.com/office/drawing/2014/main" id="{0861722E-4D0F-8D47-E693-BEE4F1F0515D}"/>
              </a:ext>
            </a:extLst>
          </p:cNvPr>
          <p:cNvSpPr/>
          <p:nvPr/>
        </p:nvSpPr>
        <p:spPr>
          <a:xfrm>
            <a:off x="6292195" y="1078707"/>
            <a:ext cx="205740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mn-ea"/>
                <a:cs typeface="+mn-cs"/>
              </a:rPr>
              <a:t>🔔</a:t>
            </a:r>
            <a:r>
              <a:rPr kumimoji="0" lang="zh-CN" altLang="en-US" sz="1600" b="1" i="0" u="none" strike="noStrike" kern="1200" cap="none" spc="0" normalizeH="0" baseline="0" noProof="0" dirty="0">
                <a:ln>
                  <a:noFill/>
                </a:ln>
                <a:solidFill>
                  <a:srgbClr val="E78C07"/>
                </a:solidFill>
                <a:effectLst/>
                <a:uLnTx/>
                <a:uFillTx/>
                <a:latin typeface="微软雅黑" panose="020B0503020204020204" pitchFamily="34" charset="-122"/>
                <a:ea typeface="微软雅黑" panose="020B0503020204020204" pitchFamily="34" charset="-122"/>
                <a:cs typeface="+mn-cs"/>
              </a:rPr>
              <a:t>事件</a:t>
            </a:r>
            <a:endParaRPr kumimoji="0" lang="en-US" sz="2400" b="1" i="0" u="none" strike="noStrike" kern="1200" cap="none" spc="0" normalizeH="0" baseline="0" noProof="0" dirty="0">
              <a:ln>
                <a:noFill/>
              </a:ln>
              <a:solidFill>
                <a:srgbClr val="E78C07"/>
              </a:solidFill>
              <a:effectLst/>
              <a:uLnTx/>
              <a:uFillTx/>
              <a:latin typeface="微软雅黑" panose="020B0503020204020204" pitchFamily="34" charset="-122"/>
              <a:ea typeface="微软雅黑" panose="020B0503020204020204" pitchFamily="34" charset="-122"/>
              <a:cs typeface="+mn-cs"/>
            </a:endParaRPr>
          </a:p>
        </p:txBody>
      </p:sp>
      <p:sp>
        <p:nvSpPr>
          <p:cNvPr id="68" name="文本框 67">
            <a:extLst>
              <a:ext uri="{FF2B5EF4-FFF2-40B4-BE49-F238E27FC236}">
                <a16:creationId xmlns:a16="http://schemas.microsoft.com/office/drawing/2014/main" id="{94FB79DC-1533-1645-E7FF-EB7C9B61EBC3}"/>
              </a:ext>
            </a:extLst>
          </p:cNvPr>
          <p:cNvSpPr txBox="1"/>
          <p:nvPr/>
        </p:nvSpPr>
        <p:spPr>
          <a:xfrm>
            <a:off x="383922" y="1628812"/>
            <a:ext cx="2653423" cy="244682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9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领域：</a:t>
            </a:r>
            <a:endParaRPr kumimoji="0" lang="en-US" altLang="zh-CN" sz="9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生产制造</a:t>
            </a:r>
            <a:endPar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质量管理</a:t>
            </a:r>
            <a:endPar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设备管理</a:t>
            </a:r>
            <a:endPar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供应链</a:t>
            </a:r>
            <a:endPar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9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业务场景：</a:t>
            </a:r>
            <a:endParaRPr kumimoji="0" lang="en-US" altLang="zh-CN" sz="9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面向库存生产</a:t>
            </a:r>
            <a:endPar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面向订单生产</a:t>
            </a:r>
            <a:endPar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9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本体模型：</a:t>
            </a:r>
            <a:endParaRPr kumimoji="0" lang="en-US" altLang="zh-CN" sz="9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聚合根：物料、生产订单、物料、</a:t>
            </a: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BOM</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等</a:t>
            </a:r>
            <a:endPar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对象</a:t>
            </a:r>
            <a:endPar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     |--</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对象属性</a:t>
            </a:r>
            <a:endPar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     |--</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值对象</a:t>
            </a:r>
            <a:endPar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     |--</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关系</a:t>
            </a:r>
            <a:endPar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     |--</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状态</a:t>
            </a:r>
            <a:endPar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     |--</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数据获取方式</a:t>
            </a:r>
            <a:endPar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     |--API/MCP</a:t>
            </a:r>
          </a:p>
        </p:txBody>
      </p:sp>
      <p:sp>
        <p:nvSpPr>
          <p:cNvPr id="69" name="文本框 68">
            <a:extLst>
              <a:ext uri="{FF2B5EF4-FFF2-40B4-BE49-F238E27FC236}">
                <a16:creationId xmlns:a16="http://schemas.microsoft.com/office/drawing/2014/main" id="{B859D727-066F-9D71-437D-7ED0A910664A}"/>
              </a:ext>
            </a:extLst>
          </p:cNvPr>
          <p:cNvSpPr txBox="1"/>
          <p:nvPr/>
        </p:nvSpPr>
        <p:spPr>
          <a:xfrm>
            <a:off x="3103560" y="1564405"/>
            <a:ext cx="2652430" cy="30008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9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行为：</a:t>
            </a:r>
            <a:endParaRPr kumimoji="0" lang="en-US" altLang="zh-CN" sz="9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      |--</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创建生产订单</a:t>
            </a:r>
            <a:endPar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      |--</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生产订单下达</a:t>
            </a:r>
            <a:endPar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      |--</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物料领用</a:t>
            </a:r>
            <a:endPar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      |--</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生产报工</a:t>
            </a:r>
            <a:endPar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      |--</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成品产出</a:t>
            </a:r>
            <a:endPar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      |--</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工单技术关闭</a:t>
            </a:r>
            <a:endPar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9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规则：</a:t>
            </a:r>
            <a:endParaRPr kumimoji="0" lang="en-US" altLang="zh-CN" sz="9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物料齐套校验规则</a:t>
            </a: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规则</a:t>
            </a: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#1</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BOM </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中所有物料的库存余量 ≥ 工单需求量，否则拦截下达）</a:t>
            </a:r>
            <a:endPar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工艺路线校验规则（规则</a:t>
            </a: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#2</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：成品物料必须有且仅有一条「有效」工艺路线，且工序顺序不能有环）</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9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衡量指标定义：</a:t>
            </a:r>
            <a:endParaRPr kumimoji="0" lang="en-US" altLang="zh-CN" sz="9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指标</a:t>
            </a: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#1</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：准时完工率</a:t>
            </a: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计算公式、数据来源</a:t>
            </a: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指标</a:t>
            </a: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#2</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：工单平均完成时间</a:t>
            </a: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计算公式、数据来源</a:t>
            </a: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9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行为边界：</a:t>
            </a:r>
            <a:endParaRPr kumimoji="0" lang="en-US" altLang="zh-CN" sz="9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示例 </a:t>
            </a: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1 — </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生产订单下达 的行为边界</a:t>
            </a:r>
            <a:endPar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事务边界规定了哪些数据变更必须在同一个原子操作中一起成功或一起回滚，不允许中间态存在</a:t>
            </a: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endPar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sp>
        <p:nvSpPr>
          <p:cNvPr id="72" name="文本框 71">
            <a:extLst>
              <a:ext uri="{FF2B5EF4-FFF2-40B4-BE49-F238E27FC236}">
                <a16:creationId xmlns:a16="http://schemas.microsoft.com/office/drawing/2014/main" id="{906B179D-50DB-BB2C-F5D7-D72D45CCAAE5}"/>
              </a:ext>
            </a:extLst>
          </p:cNvPr>
          <p:cNvSpPr txBox="1"/>
          <p:nvPr/>
        </p:nvSpPr>
        <p:spPr>
          <a:xfrm>
            <a:off x="5982915" y="1484499"/>
            <a:ext cx="2652430" cy="3082190"/>
          </a:xfrm>
          <a:prstGeom prst="rect">
            <a:avLst/>
          </a:prstGeom>
          <a:noFill/>
        </p:spPr>
        <p:txBody>
          <a:bodyPr wrap="square">
            <a:spAutoFit/>
          </a:bodyPr>
          <a:lstStyle/>
          <a:p>
            <a:pPr marL="0" marR="0" lvl="0" indent="0" algn="l" defTabSz="914400" rtl="0" eaLnBrk="1" fontAlgn="auto" latinLnBrk="0" hangingPunct="1">
              <a:lnSpc>
                <a:spcPts val="1300"/>
              </a:lnSpc>
              <a:spcBef>
                <a:spcPts val="0"/>
              </a:spcBef>
              <a:spcAft>
                <a:spcPts val="0"/>
              </a:spcAft>
              <a:buClrTx/>
              <a:buSzTx/>
              <a:buFontTx/>
              <a:buNone/>
              <a:tabLst/>
              <a:defRPr/>
            </a:pPr>
            <a:r>
              <a:rPr kumimoji="0" lang="zh-CN" altLang="en-US" sz="9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领域事件：</a:t>
            </a:r>
            <a:endParaRPr kumimoji="0" lang="en-US" altLang="zh-CN" sz="9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ts val="13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生产订单已创建</a:t>
            </a:r>
            <a:endPar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marL="0" marR="0" lvl="0" indent="0" algn="l" defTabSz="914400" rtl="0" eaLnBrk="1" fontAlgn="auto" latinLnBrk="0" hangingPunct="1">
              <a:lnSpc>
                <a:spcPts val="13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生产订单已下达</a:t>
            </a:r>
            <a:endPar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marL="0" marR="0" lvl="0" indent="0" algn="l" defTabSz="914400" rtl="0" eaLnBrk="1" fontAlgn="auto" latinLnBrk="0" hangingPunct="1">
              <a:lnSpc>
                <a:spcPts val="13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生产订单已部分投料</a:t>
            </a:r>
            <a:endPar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marL="0" marR="0" lvl="0" indent="0" algn="l" defTabSz="914400" rtl="0" eaLnBrk="1" fontAlgn="auto" latinLnBrk="0" hangingPunct="1">
              <a:lnSpc>
                <a:spcPts val="13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生产订单已部分报工</a:t>
            </a:r>
            <a:endPar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marL="0" marR="0" lvl="0" indent="0" algn="l" defTabSz="914400" rtl="0" eaLnBrk="1" fontAlgn="auto" latinLnBrk="0" hangingPunct="1">
              <a:lnSpc>
                <a:spcPts val="13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生产订单已部分产出</a:t>
            </a:r>
          </a:p>
          <a:p>
            <a:pPr marL="0" marR="0" lvl="0" indent="0" algn="l" defTabSz="914400" rtl="0" eaLnBrk="1" fontAlgn="auto" latinLnBrk="0" hangingPunct="1">
              <a:lnSpc>
                <a:spcPts val="13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生产订单技术关闭</a:t>
            </a:r>
            <a:endPar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marL="0" marR="0" lvl="0" indent="0" algn="l" defTabSz="914400" rtl="0" eaLnBrk="1" fontAlgn="auto" latinLnBrk="0" hangingPunct="1">
              <a:lnSpc>
                <a:spcPts val="1300"/>
              </a:lnSpc>
              <a:spcBef>
                <a:spcPts val="0"/>
              </a:spcBef>
              <a:spcAft>
                <a:spcPts val="0"/>
              </a:spcAft>
              <a:buClrTx/>
              <a:buSzTx/>
              <a:buFontTx/>
              <a:buNone/>
              <a:tabLst/>
              <a:defRPr/>
            </a:pPr>
            <a:r>
              <a:rPr kumimoji="0" lang="zh-CN" altLang="en-US" sz="9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事件存储：</a:t>
            </a:r>
            <a:endParaRPr kumimoji="0" lang="en-US" altLang="zh-CN" sz="9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ts val="1300"/>
              </a:lnSpc>
              <a:spcBef>
                <a:spcPts val="0"/>
              </a:spcBef>
              <a:spcAft>
                <a:spcPts val="0"/>
              </a:spcAft>
              <a:buClrTx/>
              <a:buSzTx/>
              <a:buFontTx/>
              <a:buNone/>
              <a:tabLst/>
              <a:defRPr/>
            </a:pP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记录领域事件的持久化存放点</a:t>
            </a:r>
            <a:endPar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marL="0" marR="0" lvl="0" indent="0" algn="l" defTabSz="914400" rtl="0" eaLnBrk="1" fontAlgn="auto" latinLnBrk="0" hangingPunct="1">
              <a:lnSpc>
                <a:spcPts val="1300"/>
              </a:lnSpc>
              <a:spcBef>
                <a:spcPts val="0"/>
              </a:spcBef>
              <a:spcAft>
                <a:spcPts val="0"/>
              </a:spcAft>
              <a:buClrTx/>
              <a:buSzTx/>
              <a:buFontTx/>
              <a:buNone/>
              <a:tabLst/>
              <a:defRPr/>
            </a:pPr>
            <a:r>
              <a:rPr kumimoji="0" lang="zh-CN" altLang="en-US" sz="9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事件路由与分发：</a:t>
            </a:r>
            <a:endParaRPr kumimoji="0" lang="en-US" altLang="zh-CN" sz="9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ts val="1300"/>
              </a:lnSpc>
              <a:spcBef>
                <a:spcPts val="0"/>
              </a:spcBef>
              <a:spcAft>
                <a:spcPts val="0"/>
              </a:spcAft>
              <a:buClrTx/>
              <a:buSzTx/>
              <a:buFontTx/>
              <a:buNone/>
              <a:tabLst/>
              <a:defRPr/>
            </a:pP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事件会影响哪些领域</a:t>
            </a: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系统</a:t>
            </a:r>
            <a:endPar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marL="0" marR="0" lvl="0" indent="0" algn="l" defTabSz="914400" rtl="0" eaLnBrk="1" fontAlgn="auto" latinLnBrk="0" hangingPunct="1">
              <a:lnSpc>
                <a:spcPts val="1300"/>
              </a:lnSpc>
              <a:spcBef>
                <a:spcPts val="0"/>
              </a:spcBef>
              <a:spcAft>
                <a:spcPts val="0"/>
              </a:spcAft>
              <a:buClrTx/>
              <a:buSzTx/>
              <a:buFontTx/>
              <a:buNone/>
              <a:tabLst/>
              <a:defRPr/>
            </a:pPr>
            <a:r>
              <a:rPr kumimoji="0" lang="zh-CN" altLang="en-US" sz="9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事件处理器：</a:t>
            </a:r>
            <a:endParaRPr kumimoji="0" lang="en-US" altLang="zh-CN" sz="9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ts val="13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行为</a:t>
            </a: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#1 (</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业务场景</a:t>
            </a: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行为</a:t>
            </a: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状态</a:t>
            </a: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p>
          <a:p>
            <a:pPr marL="0" marR="0" lvl="0" indent="0" algn="l" defTabSz="914400" rtl="0" eaLnBrk="1" fontAlgn="auto" latinLnBrk="0" hangingPunct="1">
              <a:lnSpc>
                <a:spcPts val="13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行为</a:t>
            </a: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#2(</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业务场景</a:t>
            </a: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行为</a:t>
            </a: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状态</a:t>
            </a: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p>
          <a:p>
            <a:pPr marL="0" marR="0" lvl="0" indent="0" algn="l" defTabSz="914400" rtl="0" eaLnBrk="1" fontAlgn="auto" latinLnBrk="0" hangingPunct="1">
              <a:lnSpc>
                <a:spcPts val="13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行为</a:t>
            </a: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#3(</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业务场景</a:t>
            </a: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行为</a:t>
            </a: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状态</a:t>
            </a: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p>
          <a:p>
            <a:pPr marL="0" marR="0" lvl="0" indent="0" algn="l" defTabSz="914400" rtl="0" eaLnBrk="1" fontAlgn="auto" latinLnBrk="0" hangingPunct="1">
              <a:lnSpc>
                <a:spcPts val="13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行为</a:t>
            </a: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#4(</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业务场景</a:t>
            </a: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行为</a:t>
            </a: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状态</a:t>
            </a: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p>
          <a:p>
            <a:pPr marL="0" marR="0" lvl="0" indent="0" algn="l" defTabSz="914400" rtl="0" eaLnBrk="1" fontAlgn="auto" latinLnBrk="0" hangingPunct="1">
              <a:lnSpc>
                <a:spcPts val="13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行为</a:t>
            </a: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#5 (</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业务场景</a:t>
            </a: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行为</a:t>
            </a: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状态</a:t>
            </a: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p>
          <a:p>
            <a:pPr marL="0" marR="0" lvl="0" indent="0" algn="l" defTabSz="914400" rtl="0" eaLnBrk="1" fontAlgn="auto" latinLnBrk="0" hangingPunct="1">
              <a:lnSpc>
                <a:spcPts val="13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行为</a:t>
            </a: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#6(</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业务场景</a:t>
            </a: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行为</a:t>
            </a: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r>
              <a:rPr kumimoji="0" lang="zh-CN" altLang="en-US"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状态</a:t>
            </a:r>
            <a:r>
              <a:rPr kumimoji="0" lang="en-US" altLang="zh-CN" sz="9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2A699"/>
          </a:solidFill>
          <a:ln/>
        </p:spPr>
        <p:txBody>
          <a:bodyPr/>
          <a:lstStyle/>
          <a:p>
            <a:endParaRPr lang="zh-CN" altLang="en-US"/>
          </a:p>
        </p:txBody>
      </p:sp>
      <p:sp>
        <p:nvSpPr>
          <p:cNvPr id="3" name="Shape 1"/>
          <p:cNvSpPr/>
          <p:nvPr/>
        </p:nvSpPr>
        <p:spPr>
          <a:xfrm>
            <a:off x="548640" y="274320"/>
            <a:ext cx="54864" cy="457200"/>
          </a:xfrm>
          <a:prstGeom prst="rect">
            <a:avLst/>
          </a:prstGeom>
          <a:solidFill>
            <a:srgbClr val="22A699"/>
          </a:solidFill>
          <a:ln/>
        </p:spPr>
        <p:txBody>
          <a:bodyPr/>
          <a:lstStyle/>
          <a:p>
            <a:endParaRPr lang="zh-CN" altLang="en-US"/>
          </a:p>
        </p:txBody>
      </p:sp>
      <p:sp>
        <p:nvSpPr>
          <p:cNvPr id="4" name="Text 2"/>
          <p:cNvSpPr/>
          <p:nvPr/>
        </p:nvSpPr>
        <p:spPr>
          <a:xfrm>
            <a:off x="731520" y="274320"/>
            <a:ext cx="731520" cy="457200"/>
          </a:xfrm>
          <a:prstGeom prst="rect">
            <a:avLst/>
          </a:prstGeom>
          <a:noFill/>
          <a:ln/>
        </p:spPr>
        <p:txBody>
          <a:bodyPr wrap="square" lIns="0" tIns="0" rIns="0" bIns="0" rtlCol="0" anchor="ctr"/>
          <a:lstStyle/>
          <a:p>
            <a:pPr marL="0" indent="0">
              <a:buNone/>
            </a:pPr>
            <a:r>
              <a:rPr lang="en-US" sz="1800" b="1" dirty="0">
                <a:solidFill>
                  <a:srgbClr val="22A699"/>
                </a:solidFill>
                <a:latin typeface="Arial" pitchFamily="34" charset="0"/>
                <a:ea typeface="Arial" pitchFamily="34" charset="-122"/>
                <a:cs typeface="Arial" pitchFamily="34" charset="-120"/>
              </a:rPr>
              <a:t>04</a:t>
            </a:r>
            <a:endParaRPr lang="en-US" sz="1800" dirty="0"/>
          </a:p>
        </p:txBody>
      </p:sp>
      <p:sp>
        <p:nvSpPr>
          <p:cNvPr id="5" name="Text 3"/>
          <p:cNvSpPr/>
          <p:nvPr/>
        </p:nvSpPr>
        <p:spPr>
          <a:xfrm>
            <a:off x="548640" y="822960"/>
            <a:ext cx="8046720" cy="457200"/>
          </a:xfrm>
          <a:prstGeom prst="rect">
            <a:avLst/>
          </a:prstGeom>
          <a:noFill/>
          <a:ln/>
        </p:spPr>
        <p:txBody>
          <a:bodyPr wrap="square" lIns="0" tIns="0" rIns="0" bIns="0" rtlCol="0" anchor="ctr"/>
          <a:lstStyle/>
          <a:p>
            <a:pPr marL="0" indent="0">
              <a:buNone/>
            </a:pPr>
            <a:r>
              <a:rPr lang="en-US" sz="2200" b="1" dirty="0" err="1">
                <a:solidFill>
                  <a:srgbClr val="1E293B"/>
                </a:solidFill>
                <a:latin typeface="Arial" pitchFamily="34" charset="0"/>
                <a:ea typeface="Arial" pitchFamily="34" charset="-122"/>
                <a:cs typeface="Arial" pitchFamily="34" charset="-120"/>
              </a:rPr>
              <a:t>治理层</a:t>
            </a:r>
            <a:r>
              <a:rPr lang="en-US" sz="2200" b="1" dirty="0">
                <a:solidFill>
                  <a:srgbClr val="1E293B"/>
                </a:solidFill>
                <a:latin typeface="Arial" pitchFamily="34" charset="0"/>
                <a:ea typeface="Arial" pitchFamily="34" charset="-122"/>
                <a:cs typeface="Arial" pitchFamily="34" charset="-120"/>
              </a:rPr>
              <a:t> </a:t>
            </a:r>
            <a:r>
              <a:rPr lang="zh-CN" altLang="en-US" sz="2200" b="1" dirty="0">
                <a:solidFill>
                  <a:srgbClr val="1E293B"/>
                </a:solidFill>
                <a:latin typeface="Arial" pitchFamily="34" charset="0"/>
                <a:ea typeface="Arial" pitchFamily="34" charset="-122"/>
                <a:cs typeface="Arial" pitchFamily="34" charset="-120"/>
              </a:rPr>
              <a:t>（</a:t>
            </a:r>
            <a:r>
              <a:rPr lang="en-US" altLang="zh-CN" sz="2200" b="1" dirty="0">
                <a:solidFill>
                  <a:srgbClr val="1E293B"/>
                </a:solidFill>
                <a:latin typeface="Arial" pitchFamily="34" charset="0"/>
                <a:ea typeface="Arial" pitchFamily="34" charset="-122"/>
                <a:cs typeface="Arial" pitchFamily="34" charset="-120"/>
              </a:rPr>
              <a:t>MCP Server</a:t>
            </a:r>
            <a:r>
              <a:rPr lang="zh-CN" altLang="en-US" sz="2200" b="1" dirty="0">
                <a:solidFill>
                  <a:srgbClr val="1E293B"/>
                </a:solidFill>
                <a:latin typeface="Arial" pitchFamily="34" charset="0"/>
                <a:ea typeface="Arial" pitchFamily="34" charset="-122"/>
                <a:cs typeface="Arial" pitchFamily="34" charset="-120"/>
              </a:rPr>
              <a:t>和后端应用</a:t>
            </a:r>
            <a:r>
              <a:rPr lang="en-US" altLang="zh-CN" sz="2200" b="1" dirty="0">
                <a:solidFill>
                  <a:srgbClr val="1E293B"/>
                </a:solidFill>
                <a:latin typeface="Arial" pitchFamily="34" charset="0"/>
                <a:ea typeface="Arial" pitchFamily="34" charset="-122"/>
                <a:cs typeface="Arial" pitchFamily="34" charset="-120"/>
              </a:rPr>
              <a:t>API</a:t>
            </a:r>
            <a:r>
              <a:rPr lang="zh-CN" altLang="en-US" sz="2200" b="1" dirty="0">
                <a:solidFill>
                  <a:srgbClr val="1E293B"/>
                </a:solidFill>
                <a:latin typeface="Arial" pitchFamily="34" charset="0"/>
                <a:ea typeface="Arial" pitchFamily="34" charset="-122"/>
                <a:cs typeface="Arial" pitchFamily="34" charset="-120"/>
              </a:rPr>
              <a:t>）</a:t>
            </a:r>
            <a:endParaRPr lang="en-US" sz="2200" dirty="0"/>
          </a:p>
        </p:txBody>
      </p:sp>
      <p:sp>
        <p:nvSpPr>
          <p:cNvPr id="6" name="Shape 4"/>
          <p:cNvSpPr/>
          <p:nvPr/>
        </p:nvSpPr>
        <p:spPr>
          <a:xfrm>
            <a:off x="548640" y="1463040"/>
            <a:ext cx="3840480" cy="2926080"/>
          </a:xfrm>
          <a:prstGeom prst="rect">
            <a:avLst/>
          </a:prstGeom>
          <a:solidFill>
            <a:srgbClr val="FEF2F2"/>
          </a:solidFill>
          <a:ln/>
        </p:spPr>
        <p:txBody>
          <a:bodyPr/>
          <a:lstStyle/>
          <a:p>
            <a:endParaRPr lang="zh-CN" altLang="en-US"/>
          </a:p>
        </p:txBody>
      </p:sp>
      <p:sp>
        <p:nvSpPr>
          <p:cNvPr id="7" name="Shape 5"/>
          <p:cNvSpPr/>
          <p:nvPr/>
        </p:nvSpPr>
        <p:spPr>
          <a:xfrm>
            <a:off x="548640" y="1463040"/>
            <a:ext cx="3840480" cy="54864"/>
          </a:xfrm>
          <a:prstGeom prst="rect">
            <a:avLst/>
          </a:prstGeom>
          <a:solidFill>
            <a:srgbClr val="BB0000"/>
          </a:solidFill>
          <a:ln/>
        </p:spPr>
        <p:txBody>
          <a:bodyPr/>
          <a:lstStyle/>
          <a:p>
            <a:endParaRPr lang="zh-CN" altLang="en-US"/>
          </a:p>
        </p:txBody>
      </p:sp>
      <p:sp>
        <p:nvSpPr>
          <p:cNvPr id="8" name="Text 6"/>
          <p:cNvSpPr/>
          <p:nvPr/>
        </p:nvSpPr>
        <p:spPr>
          <a:xfrm>
            <a:off x="731520" y="1600200"/>
            <a:ext cx="3474720" cy="320040"/>
          </a:xfrm>
          <a:prstGeom prst="rect">
            <a:avLst/>
          </a:prstGeom>
          <a:noFill/>
          <a:ln/>
        </p:spPr>
        <p:txBody>
          <a:bodyPr wrap="square" lIns="0" tIns="0" rIns="0" bIns="0" rtlCol="0" anchor="ctr"/>
          <a:lstStyle/>
          <a:p>
            <a:pPr marL="0" indent="0">
              <a:buNone/>
            </a:pPr>
            <a:r>
              <a:rPr lang="en-US" sz="1600" b="1" dirty="0" err="1">
                <a:solidFill>
                  <a:srgbClr val="BB0000"/>
                </a:solidFill>
                <a:latin typeface="Arial" pitchFamily="34" charset="0"/>
                <a:ea typeface="Arial" pitchFamily="34" charset="-122"/>
                <a:cs typeface="Arial" pitchFamily="34" charset="-120"/>
              </a:rPr>
              <a:t>治理</a:t>
            </a:r>
            <a:r>
              <a:rPr lang="zh-CN" altLang="en-US" sz="1600" b="1" dirty="0">
                <a:solidFill>
                  <a:srgbClr val="BB0000"/>
                </a:solidFill>
                <a:latin typeface="Arial" pitchFamily="34" charset="0"/>
                <a:ea typeface="Arial" pitchFamily="34" charset="-122"/>
                <a:cs typeface="Arial" pitchFamily="34" charset="-120"/>
              </a:rPr>
              <a:t>需求</a:t>
            </a:r>
            <a:endParaRPr lang="en-US" sz="1600" dirty="0"/>
          </a:p>
        </p:txBody>
      </p:sp>
      <p:sp>
        <p:nvSpPr>
          <p:cNvPr id="9" name="Text 7"/>
          <p:cNvSpPr/>
          <p:nvPr/>
        </p:nvSpPr>
        <p:spPr>
          <a:xfrm>
            <a:off x="731520" y="2641955"/>
            <a:ext cx="3383280" cy="365760"/>
          </a:xfrm>
          <a:prstGeom prst="rect">
            <a:avLst/>
          </a:prstGeom>
          <a:noFill/>
          <a:ln/>
        </p:spPr>
        <p:txBody>
          <a:bodyPr wrap="square" lIns="0" tIns="0" rIns="0" bIns="0" rtlCol="0" anchor="ctr"/>
          <a:lstStyle/>
          <a:p>
            <a:pPr marL="171450" indent="-171450">
              <a:lnSpc>
                <a:spcPct val="200000"/>
              </a:lnSpc>
              <a:buFont typeface="Arial" panose="020B0604020202020204" pitchFamily="34" charset="0"/>
              <a:buChar char="•"/>
            </a:pPr>
            <a:r>
              <a:rPr lang="en-US" altLang="zh-CN" sz="1200" dirty="0">
                <a:solidFill>
                  <a:srgbClr val="1E293B"/>
                </a:solidFill>
                <a:latin typeface="黑体" panose="02010609060101010101" pitchFamily="49" charset="-122"/>
                <a:ea typeface="黑体" panose="02010609060101010101" pitchFamily="49" charset="-122"/>
                <a:cs typeface="Arial" pitchFamily="34" charset="-120"/>
              </a:rPr>
              <a:t>Agent </a:t>
            </a:r>
            <a:r>
              <a:rPr lang="zh-CN" altLang="en-US" sz="1200" dirty="0">
                <a:solidFill>
                  <a:srgbClr val="1E293B"/>
                </a:solidFill>
                <a:latin typeface="黑体" panose="02010609060101010101" pitchFamily="49" charset="-122"/>
                <a:ea typeface="黑体" panose="02010609060101010101" pitchFamily="49" charset="-122"/>
                <a:cs typeface="Arial" pitchFamily="34" charset="-120"/>
              </a:rPr>
              <a:t>能不能看到某个对象？</a:t>
            </a:r>
          </a:p>
          <a:p>
            <a:pPr marL="171450" indent="-171450">
              <a:lnSpc>
                <a:spcPct val="200000"/>
              </a:lnSpc>
              <a:buFont typeface="Arial" panose="020B0604020202020204" pitchFamily="34" charset="0"/>
              <a:buChar char="•"/>
            </a:pPr>
            <a:r>
              <a:rPr lang="en-US" altLang="zh-CN" sz="1200" dirty="0">
                <a:solidFill>
                  <a:srgbClr val="1E293B"/>
                </a:solidFill>
                <a:latin typeface="黑体" panose="02010609060101010101" pitchFamily="49" charset="-122"/>
                <a:ea typeface="黑体" panose="02010609060101010101" pitchFamily="49" charset="-122"/>
                <a:cs typeface="Arial" pitchFamily="34" charset="-120"/>
              </a:rPr>
              <a:t>Agent </a:t>
            </a:r>
            <a:r>
              <a:rPr lang="zh-CN" altLang="en-US" sz="1200" dirty="0">
                <a:solidFill>
                  <a:srgbClr val="1E293B"/>
                </a:solidFill>
                <a:latin typeface="黑体" panose="02010609060101010101" pitchFamily="49" charset="-122"/>
                <a:ea typeface="黑体" panose="02010609060101010101" pitchFamily="49" charset="-122"/>
                <a:cs typeface="Arial" pitchFamily="34" charset="-120"/>
              </a:rPr>
              <a:t>能不能调用某个行为？</a:t>
            </a:r>
          </a:p>
          <a:p>
            <a:pPr marL="171450" indent="-171450">
              <a:lnSpc>
                <a:spcPct val="200000"/>
              </a:lnSpc>
              <a:buFont typeface="Arial" panose="020B0604020202020204" pitchFamily="34" charset="0"/>
              <a:buChar char="•"/>
            </a:pPr>
            <a:r>
              <a:rPr lang="en-US" altLang="zh-CN" sz="1200" dirty="0">
                <a:solidFill>
                  <a:srgbClr val="1E293B"/>
                </a:solidFill>
                <a:latin typeface="黑体" panose="02010609060101010101" pitchFamily="49" charset="-122"/>
                <a:ea typeface="黑体" panose="02010609060101010101" pitchFamily="49" charset="-122"/>
                <a:cs typeface="Arial" pitchFamily="34" charset="-120"/>
              </a:rPr>
              <a:t>Agent </a:t>
            </a:r>
            <a:r>
              <a:rPr lang="zh-CN" altLang="en-US" sz="1200" dirty="0">
                <a:solidFill>
                  <a:srgbClr val="1E293B"/>
                </a:solidFill>
                <a:latin typeface="黑体" panose="02010609060101010101" pitchFamily="49" charset="-122"/>
                <a:ea typeface="黑体" panose="02010609060101010101" pitchFamily="49" charset="-122"/>
                <a:cs typeface="Arial" pitchFamily="34" charset="-120"/>
              </a:rPr>
              <a:t>能不能拿到某个字段定义？</a:t>
            </a:r>
          </a:p>
          <a:p>
            <a:pPr marL="171450" indent="-171450">
              <a:lnSpc>
                <a:spcPct val="200000"/>
              </a:lnSpc>
              <a:buFont typeface="Arial" panose="020B0604020202020204" pitchFamily="34" charset="0"/>
              <a:buChar char="•"/>
            </a:pPr>
            <a:r>
              <a:rPr lang="en-US" altLang="zh-CN" sz="1200" dirty="0">
                <a:solidFill>
                  <a:srgbClr val="1E293B"/>
                </a:solidFill>
                <a:latin typeface="黑体" panose="02010609060101010101" pitchFamily="49" charset="-122"/>
                <a:ea typeface="黑体" panose="02010609060101010101" pitchFamily="49" charset="-122"/>
                <a:cs typeface="Arial" pitchFamily="34" charset="-120"/>
              </a:rPr>
              <a:t>Agent </a:t>
            </a:r>
            <a:r>
              <a:rPr lang="zh-CN" altLang="en-US" sz="1200" dirty="0">
                <a:solidFill>
                  <a:srgbClr val="1E293B"/>
                </a:solidFill>
                <a:latin typeface="黑体" panose="02010609060101010101" pitchFamily="49" charset="-122"/>
                <a:ea typeface="黑体" panose="02010609060101010101" pitchFamily="49" charset="-122"/>
                <a:cs typeface="Arial" pitchFamily="34" charset="-120"/>
              </a:rPr>
              <a:t>的工具列表是否按权限动态裁剪？</a:t>
            </a:r>
          </a:p>
          <a:p>
            <a:pPr marL="171450" indent="-171450">
              <a:lnSpc>
                <a:spcPct val="200000"/>
              </a:lnSpc>
              <a:buFont typeface="Arial" panose="020B0604020202020204" pitchFamily="34" charset="0"/>
              <a:buChar char="•"/>
            </a:pPr>
            <a:r>
              <a:rPr lang="en-US" altLang="zh-CN" sz="1200" dirty="0">
                <a:solidFill>
                  <a:srgbClr val="1E293B"/>
                </a:solidFill>
                <a:latin typeface="黑体" panose="02010609060101010101" pitchFamily="49" charset="-122"/>
                <a:ea typeface="黑体" panose="02010609060101010101" pitchFamily="49" charset="-122"/>
                <a:cs typeface="Arial" pitchFamily="34" charset="-120"/>
              </a:rPr>
              <a:t>Agent </a:t>
            </a:r>
            <a:r>
              <a:rPr lang="zh-CN" altLang="en-US" sz="1200" dirty="0">
                <a:solidFill>
                  <a:srgbClr val="1E293B"/>
                </a:solidFill>
                <a:latin typeface="黑体" panose="02010609060101010101" pitchFamily="49" charset="-122"/>
                <a:ea typeface="黑体" panose="02010609060101010101" pitchFamily="49" charset="-122"/>
                <a:cs typeface="Arial" pitchFamily="34" charset="-120"/>
              </a:rPr>
              <a:t>请求参数是否符合本体和权限边界？</a:t>
            </a:r>
            <a:endParaRPr lang="en-US" sz="1200" dirty="0">
              <a:solidFill>
                <a:srgbClr val="1E293B"/>
              </a:solidFill>
              <a:latin typeface="黑体" panose="02010609060101010101" pitchFamily="49" charset="-122"/>
              <a:ea typeface="黑体" panose="02010609060101010101" pitchFamily="49" charset="-122"/>
              <a:cs typeface="Arial" pitchFamily="34" charset="-120"/>
            </a:endParaRPr>
          </a:p>
        </p:txBody>
      </p:sp>
      <p:sp>
        <p:nvSpPr>
          <p:cNvPr id="28" name="文本框 27">
            <a:extLst>
              <a:ext uri="{FF2B5EF4-FFF2-40B4-BE49-F238E27FC236}">
                <a16:creationId xmlns:a16="http://schemas.microsoft.com/office/drawing/2014/main" id="{2492EEE9-DAC3-7461-F1C7-AA5C42123F4C}"/>
              </a:ext>
            </a:extLst>
          </p:cNvPr>
          <p:cNvSpPr txBox="1"/>
          <p:nvPr/>
        </p:nvSpPr>
        <p:spPr>
          <a:xfrm>
            <a:off x="4754882" y="1760220"/>
            <a:ext cx="4017264" cy="1754326"/>
          </a:xfrm>
          <a:prstGeom prst="rect">
            <a:avLst/>
          </a:prstGeom>
          <a:noFill/>
        </p:spPr>
        <p:txBody>
          <a:bodyPr wrap="square">
            <a:spAutoFit/>
          </a:bodyPr>
          <a:lstStyle/>
          <a:p>
            <a:r>
              <a:rPr lang="zh-CN" altLang="en-US" sz="1200" dirty="0">
                <a:solidFill>
                  <a:srgbClr val="1E293B"/>
                </a:solidFill>
                <a:latin typeface="黑体" panose="02010609060101010101" pitchFamily="49" charset="-122"/>
                <a:ea typeface="黑体" panose="02010609060101010101" pitchFamily="49" charset="-122"/>
                <a:cs typeface="Arial" pitchFamily="34" charset="-120"/>
              </a:rPr>
              <a:t>治理层横跨 </a:t>
            </a:r>
            <a:r>
              <a:rPr lang="en-US" altLang="zh-CN" sz="1200" dirty="0">
                <a:solidFill>
                  <a:srgbClr val="1E293B"/>
                </a:solidFill>
                <a:latin typeface="黑体" panose="02010609060101010101" pitchFamily="49" charset="-122"/>
                <a:ea typeface="黑体" panose="02010609060101010101" pitchFamily="49" charset="-122"/>
                <a:cs typeface="Arial" pitchFamily="34" charset="-120"/>
              </a:rPr>
              <a:t>MCP Server </a:t>
            </a:r>
            <a:r>
              <a:rPr lang="zh-CN" altLang="en-US" sz="1200" dirty="0">
                <a:solidFill>
                  <a:srgbClr val="1E293B"/>
                </a:solidFill>
                <a:latin typeface="黑体" panose="02010609060101010101" pitchFamily="49" charset="-122"/>
                <a:ea typeface="黑体" panose="02010609060101010101" pitchFamily="49" charset="-122"/>
                <a:cs typeface="Arial" pitchFamily="34" charset="-120"/>
              </a:rPr>
              <a:t>与后端应用 </a:t>
            </a:r>
            <a:r>
              <a:rPr lang="en-US" altLang="zh-CN" sz="1200" dirty="0">
                <a:solidFill>
                  <a:srgbClr val="1E293B"/>
                </a:solidFill>
                <a:latin typeface="黑体" panose="02010609060101010101" pitchFamily="49" charset="-122"/>
                <a:ea typeface="黑体" panose="02010609060101010101" pitchFamily="49" charset="-122"/>
                <a:cs typeface="Arial" pitchFamily="34" charset="-120"/>
              </a:rPr>
              <a:t>API</a:t>
            </a:r>
            <a:r>
              <a:rPr lang="zh-CN" altLang="en-US" sz="1200" dirty="0">
                <a:solidFill>
                  <a:srgbClr val="1E293B"/>
                </a:solidFill>
                <a:latin typeface="黑体" panose="02010609060101010101" pitchFamily="49" charset="-122"/>
                <a:ea typeface="黑体" panose="02010609060101010101" pitchFamily="49" charset="-122"/>
                <a:cs typeface="Arial" pitchFamily="34" charset="-120"/>
              </a:rPr>
              <a:t>。</a:t>
            </a:r>
            <a:endParaRPr lang="en-US" altLang="zh-CN" sz="1200" dirty="0">
              <a:solidFill>
                <a:srgbClr val="1E293B"/>
              </a:solidFill>
              <a:latin typeface="黑体" panose="02010609060101010101" pitchFamily="49" charset="-122"/>
              <a:ea typeface="黑体" panose="02010609060101010101" pitchFamily="49" charset="-122"/>
              <a:cs typeface="Arial" pitchFamily="34" charset="-120"/>
            </a:endParaRPr>
          </a:p>
          <a:p>
            <a:endParaRPr lang="en-US" altLang="zh-CN" sz="1200" dirty="0">
              <a:solidFill>
                <a:srgbClr val="1E293B"/>
              </a:solidFill>
              <a:latin typeface="黑体" panose="02010609060101010101" pitchFamily="49" charset="-122"/>
              <a:ea typeface="黑体" panose="02010609060101010101" pitchFamily="49" charset="-122"/>
              <a:cs typeface="Arial" pitchFamily="34" charset="-120"/>
            </a:endParaRPr>
          </a:p>
          <a:p>
            <a:r>
              <a:rPr lang="en-US" altLang="zh-CN" sz="1200" dirty="0">
                <a:solidFill>
                  <a:srgbClr val="1E293B"/>
                </a:solidFill>
                <a:latin typeface="黑体" panose="02010609060101010101" pitchFamily="49" charset="-122"/>
                <a:ea typeface="黑体" panose="02010609060101010101" pitchFamily="49" charset="-122"/>
                <a:cs typeface="Arial" pitchFamily="34" charset="-120"/>
              </a:rPr>
              <a:t>MCP Server </a:t>
            </a:r>
            <a:r>
              <a:rPr lang="zh-CN" altLang="en-US" sz="1200" dirty="0">
                <a:solidFill>
                  <a:srgbClr val="1E293B"/>
                </a:solidFill>
                <a:latin typeface="黑体" panose="02010609060101010101" pitchFamily="49" charset="-122"/>
                <a:ea typeface="黑体" panose="02010609060101010101" pitchFamily="49" charset="-122"/>
                <a:cs typeface="Arial" pitchFamily="34" charset="-120"/>
              </a:rPr>
              <a:t>负责 </a:t>
            </a:r>
            <a:r>
              <a:rPr lang="en-US" altLang="zh-CN" sz="1200" dirty="0">
                <a:solidFill>
                  <a:srgbClr val="1E293B"/>
                </a:solidFill>
                <a:latin typeface="黑体" panose="02010609060101010101" pitchFamily="49" charset="-122"/>
                <a:ea typeface="黑体" panose="02010609060101010101" pitchFamily="49" charset="-122"/>
                <a:cs typeface="Arial" pitchFamily="34" charset="-120"/>
              </a:rPr>
              <a:t>Agent </a:t>
            </a:r>
            <a:r>
              <a:rPr lang="zh-CN" altLang="en-US" sz="1200" dirty="0">
                <a:solidFill>
                  <a:srgbClr val="1E293B"/>
                </a:solidFill>
                <a:latin typeface="黑体" panose="02010609060101010101" pitchFamily="49" charset="-122"/>
                <a:ea typeface="黑体" panose="02010609060101010101" pitchFamily="49" charset="-122"/>
                <a:cs typeface="Arial" pitchFamily="34" charset="-120"/>
              </a:rPr>
              <a:t>侧能力暴露、工具白名单、参数约束和调用审计；</a:t>
            </a:r>
            <a:endParaRPr lang="en-US" altLang="zh-CN" sz="1200" dirty="0">
              <a:solidFill>
                <a:srgbClr val="1E293B"/>
              </a:solidFill>
              <a:latin typeface="黑体" panose="02010609060101010101" pitchFamily="49" charset="-122"/>
              <a:ea typeface="黑体" panose="02010609060101010101" pitchFamily="49" charset="-122"/>
              <a:cs typeface="Arial" pitchFamily="34" charset="-120"/>
            </a:endParaRPr>
          </a:p>
          <a:p>
            <a:endParaRPr lang="en-US" altLang="zh-CN" sz="1200" dirty="0">
              <a:solidFill>
                <a:srgbClr val="1E293B"/>
              </a:solidFill>
              <a:latin typeface="黑体" panose="02010609060101010101" pitchFamily="49" charset="-122"/>
              <a:ea typeface="黑体" panose="02010609060101010101" pitchFamily="49" charset="-122"/>
              <a:cs typeface="Arial" pitchFamily="34" charset="-120"/>
            </a:endParaRPr>
          </a:p>
          <a:p>
            <a:r>
              <a:rPr lang="zh-CN" altLang="en-US" sz="1200" dirty="0">
                <a:solidFill>
                  <a:srgbClr val="1E293B"/>
                </a:solidFill>
                <a:latin typeface="黑体" panose="02010609060101010101" pitchFamily="49" charset="-122"/>
                <a:ea typeface="黑体" panose="02010609060101010101" pitchFamily="49" charset="-122"/>
                <a:cs typeface="Arial" pitchFamily="34" charset="-120"/>
              </a:rPr>
              <a:t>后端 </a:t>
            </a:r>
            <a:r>
              <a:rPr lang="en-US" altLang="zh-CN" sz="1200" dirty="0">
                <a:solidFill>
                  <a:srgbClr val="1E293B"/>
                </a:solidFill>
                <a:latin typeface="黑体" panose="02010609060101010101" pitchFamily="49" charset="-122"/>
                <a:ea typeface="黑体" panose="02010609060101010101" pitchFamily="49" charset="-122"/>
                <a:cs typeface="Arial" pitchFamily="34" charset="-120"/>
              </a:rPr>
              <a:t>API </a:t>
            </a:r>
            <a:r>
              <a:rPr lang="zh-CN" altLang="en-US" sz="1200" dirty="0">
                <a:solidFill>
                  <a:srgbClr val="1E293B"/>
                </a:solidFill>
                <a:latin typeface="黑体" panose="02010609060101010101" pitchFamily="49" charset="-122"/>
                <a:ea typeface="黑体" panose="02010609060101010101" pitchFamily="49" charset="-122"/>
                <a:cs typeface="Arial" pitchFamily="34" charset="-120"/>
              </a:rPr>
              <a:t>负责最终权限判定、对象级访问控制、字段级脱敏、条件权限执行和不可绕过的安全审计。</a:t>
            </a:r>
            <a:endParaRPr lang="en-US" altLang="zh-CN" sz="1200" dirty="0">
              <a:solidFill>
                <a:srgbClr val="1E293B"/>
              </a:solidFill>
              <a:latin typeface="黑体" panose="02010609060101010101" pitchFamily="49" charset="-122"/>
              <a:ea typeface="黑体" panose="02010609060101010101" pitchFamily="49" charset="-122"/>
              <a:cs typeface="Arial" pitchFamily="34" charset="-120"/>
            </a:endParaRPr>
          </a:p>
          <a:p>
            <a:endParaRPr lang="en-US" altLang="zh-CN" sz="1200" dirty="0">
              <a:solidFill>
                <a:srgbClr val="1E293B"/>
              </a:solidFill>
              <a:latin typeface="黑体" panose="02010609060101010101" pitchFamily="49" charset="-122"/>
              <a:ea typeface="黑体" panose="02010609060101010101" pitchFamily="49" charset="-122"/>
              <a:cs typeface="Arial" pitchFamily="34" charset="-120"/>
            </a:endParaRPr>
          </a:p>
          <a:p>
            <a:r>
              <a:rPr lang="zh-CN" altLang="en-US" sz="1200" dirty="0">
                <a:solidFill>
                  <a:srgbClr val="1E293B"/>
                </a:solidFill>
                <a:latin typeface="黑体" panose="02010609060101010101" pitchFamily="49" charset="-122"/>
                <a:ea typeface="黑体" panose="02010609060101010101" pitchFamily="49" charset="-122"/>
                <a:cs typeface="Arial" pitchFamily="34" charset="-120"/>
              </a:rPr>
              <a:t>所有写操作和敏感读操作必须以后端 </a:t>
            </a:r>
            <a:r>
              <a:rPr lang="en-US" altLang="zh-CN" sz="1200" dirty="0">
                <a:solidFill>
                  <a:srgbClr val="1E293B"/>
                </a:solidFill>
                <a:latin typeface="黑体" panose="02010609060101010101" pitchFamily="49" charset="-122"/>
                <a:ea typeface="黑体" panose="02010609060101010101" pitchFamily="49" charset="-122"/>
                <a:cs typeface="Arial" pitchFamily="34" charset="-120"/>
              </a:rPr>
              <a:t>API </a:t>
            </a:r>
            <a:r>
              <a:rPr lang="zh-CN" altLang="en-US" sz="1200" dirty="0">
                <a:solidFill>
                  <a:srgbClr val="1E293B"/>
                </a:solidFill>
                <a:latin typeface="黑体" panose="02010609060101010101" pitchFamily="49" charset="-122"/>
                <a:ea typeface="黑体" panose="02010609060101010101" pitchFamily="49" charset="-122"/>
                <a:cs typeface="Arial" pitchFamily="34" charset="-120"/>
              </a:rPr>
              <a:t>鉴权结果为准。</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2A699"/>
          </a:solidFill>
          <a:ln/>
        </p:spPr>
        <p:txBody>
          <a:bodyPr/>
          <a:lstStyle/>
          <a:p>
            <a:endParaRPr lang="zh-CN" altLang="en-US"/>
          </a:p>
        </p:txBody>
      </p:sp>
      <p:sp>
        <p:nvSpPr>
          <p:cNvPr id="3" name="Shape 1"/>
          <p:cNvSpPr/>
          <p:nvPr/>
        </p:nvSpPr>
        <p:spPr>
          <a:xfrm>
            <a:off x="548640" y="274320"/>
            <a:ext cx="54864" cy="457200"/>
          </a:xfrm>
          <a:prstGeom prst="rect">
            <a:avLst/>
          </a:prstGeom>
          <a:solidFill>
            <a:srgbClr val="22A699"/>
          </a:solidFill>
          <a:ln/>
        </p:spPr>
        <p:txBody>
          <a:bodyPr/>
          <a:lstStyle/>
          <a:p>
            <a:endParaRPr lang="zh-CN" altLang="en-US"/>
          </a:p>
        </p:txBody>
      </p:sp>
      <p:sp>
        <p:nvSpPr>
          <p:cNvPr id="4" name="Text 2"/>
          <p:cNvSpPr/>
          <p:nvPr/>
        </p:nvSpPr>
        <p:spPr>
          <a:xfrm>
            <a:off x="731520" y="274320"/>
            <a:ext cx="731520" cy="457200"/>
          </a:xfrm>
          <a:prstGeom prst="rect">
            <a:avLst/>
          </a:prstGeom>
          <a:noFill/>
          <a:ln/>
        </p:spPr>
        <p:txBody>
          <a:bodyPr wrap="square" lIns="0" tIns="0" rIns="0" bIns="0" rtlCol="0" anchor="ctr"/>
          <a:lstStyle/>
          <a:p>
            <a:pPr marL="0" indent="0">
              <a:buNone/>
            </a:pPr>
            <a:r>
              <a:rPr lang="en-US" sz="1800" b="1" dirty="0">
                <a:solidFill>
                  <a:srgbClr val="22A699"/>
                </a:solidFill>
                <a:latin typeface="Arial" pitchFamily="34" charset="0"/>
                <a:ea typeface="Arial" pitchFamily="34" charset="-122"/>
                <a:cs typeface="Arial" pitchFamily="34" charset="-120"/>
              </a:rPr>
              <a:t>05</a:t>
            </a:r>
            <a:endParaRPr lang="en-US" sz="1800" dirty="0"/>
          </a:p>
        </p:txBody>
      </p:sp>
      <p:sp>
        <p:nvSpPr>
          <p:cNvPr id="5" name="Text 3"/>
          <p:cNvSpPr/>
          <p:nvPr/>
        </p:nvSpPr>
        <p:spPr>
          <a:xfrm>
            <a:off x="548640" y="822960"/>
            <a:ext cx="8046720" cy="457200"/>
          </a:xfrm>
          <a:prstGeom prst="rect">
            <a:avLst/>
          </a:prstGeom>
          <a:noFill/>
          <a:ln/>
        </p:spPr>
        <p:txBody>
          <a:bodyPr wrap="square" lIns="0" tIns="0" rIns="0" bIns="0" rtlCol="0" anchor="ctr"/>
          <a:lstStyle/>
          <a:p>
            <a:pPr marL="0" indent="0">
              <a:buNone/>
            </a:pPr>
            <a:r>
              <a:rPr lang="en-US" sz="2200" b="1" dirty="0">
                <a:solidFill>
                  <a:srgbClr val="1E293B"/>
                </a:solidFill>
                <a:latin typeface="Arial" pitchFamily="34" charset="0"/>
                <a:ea typeface="Arial" pitchFamily="34" charset="-122"/>
                <a:cs typeface="Arial" pitchFamily="34" charset="-120"/>
              </a:rPr>
              <a:t>本体模型的全生命周期迭代</a:t>
            </a:r>
            <a:endParaRPr lang="en-US" sz="2200" dirty="0"/>
          </a:p>
        </p:txBody>
      </p:sp>
      <p:sp>
        <p:nvSpPr>
          <p:cNvPr id="6" name="Shape 4"/>
          <p:cNvSpPr/>
          <p:nvPr/>
        </p:nvSpPr>
        <p:spPr>
          <a:xfrm>
            <a:off x="365760" y="1463040"/>
            <a:ext cx="1920240" cy="1645920"/>
          </a:xfrm>
          <a:prstGeom prst="rect">
            <a:avLst/>
          </a:prstGeom>
          <a:solidFill>
            <a:srgbClr val="E8F4F8"/>
          </a:solidFill>
          <a:ln/>
        </p:spPr>
        <p:txBody>
          <a:bodyPr/>
          <a:lstStyle/>
          <a:p>
            <a:endParaRPr lang="zh-CN" altLang="en-US"/>
          </a:p>
        </p:txBody>
      </p:sp>
      <p:sp>
        <p:nvSpPr>
          <p:cNvPr id="7" name="Shape 5"/>
          <p:cNvSpPr/>
          <p:nvPr/>
        </p:nvSpPr>
        <p:spPr>
          <a:xfrm>
            <a:off x="365760" y="1463040"/>
            <a:ext cx="1920240" cy="54864"/>
          </a:xfrm>
          <a:prstGeom prst="rect">
            <a:avLst/>
          </a:prstGeom>
          <a:solidFill>
            <a:srgbClr val="065A82"/>
          </a:solidFill>
          <a:ln/>
        </p:spPr>
        <p:txBody>
          <a:bodyPr/>
          <a:lstStyle/>
          <a:p>
            <a:endParaRPr lang="zh-CN" altLang="en-US"/>
          </a:p>
        </p:txBody>
      </p:sp>
      <p:sp>
        <p:nvSpPr>
          <p:cNvPr id="8" name="Text 6"/>
          <p:cNvSpPr/>
          <p:nvPr/>
        </p:nvSpPr>
        <p:spPr>
          <a:xfrm>
            <a:off x="457200" y="1600200"/>
            <a:ext cx="365760" cy="320040"/>
          </a:xfrm>
          <a:prstGeom prst="rect">
            <a:avLst/>
          </a:prstGeom>
          <a:noFill/>
          <a:ln/>
        </p:spPr>
        <p:txBody>
          <a:bodyPr wrap="square" lIns="0" tIns="0" rIns="0" bIns="0" rtlCol="0" anchor="ctr"/>
          <a:lstStyle/>
          <a:p>
            <a:pPr marL="0" indent="0">
              <a:buNone/>
            </a:pPr>
            <a:r>
              <a:rPr lang="en-US" sz="1800" b="1" dirty="0">
                <a:solidFill>
                  <a:srgbClr val="065A82"/>
                </a:solidFill>
                <a:latin typeface="Arial" pitchFamily="34" charset="0"/>
                <a:ea typeface="Arial" pitchFamily="34" charset="-122"/>
                <a:cs typeface="Arial" pitchFamily="34" charset="-120"/>
              </a:rPr>
              <a:t>1</a:t>
            </a:r>
            <a:endParaRPr lang="en-US" sz="1800" dirty="0"/>
          </a:p>
        </p:txBody>
      </p:sp>
      <p:sp>
        <p:nvSpPr>
          <p:cNvPr id="9" name="Text 7"/>
          <p:cNvSpPr/>
          <p:nvPr/>
        </p:nvSpPr>
        <p:spPr>
          <a:xfrm>
            <a:off x="822960" y="1600200"/>
            <a:ext cx="1280160" cy="320040"/>
          </a:xfrm>
          <a:prstGeom prst="rect">
            <a:avLst/>
          </a:prstGeom>
          <a:noFill/>
          <a:ln/>
        </p:spPr>
        <p:txBody>
          <a:bodyPr wrap="square" lIns="0" tIns="0" rIns="0" bIns="0" rtlCol="0" anchor="ctr"/>
          <a:lstStyle/>
          <a:p>
            <a:pPr marL="0" indent="0">
              <a:buNone/>
            </a:pPr>
            <a:r>
              <a:rPr lang="en-US" sz="1600" b="1" dirty="0">
                <a:solidFill>
                  <a:srgbClr val="065A82"/>
                </a:solidFill>
                <a:latin typeface="Arial" pitchFamily="34" charset="0"/>
                <a:ea typeface="Arial" pitchFamily="34" charset="-122"/>
                <a:cs typeface="Arial" pitchFamily="34" charset="-120"/>
              </a:rPr>
              <a:t>建模</a:t>
            </a:r>
            <a:endParaRPr lang="en-US" sz="1600" dirty="0"/>
          </a:p>
        </p:txBody>
      </p:sp>
      <p:sp>
        <p:nvSpPr>
          <p:cNvPr id="10" name="Text 8"/>
          <p:cNvSpPr/>
          <p:nvPr/>
        </p:nvSpPr>
        <p:spPr>
          <a:xfrm>
            <a:off x="502920" y="2057400"/>
            <a:ext cx="1645920" cy="822960"/>
          </a:xfrm>
          <a:prstGeom prst="rect">
            <a:avLst/>
          </a:prstGeom>
          <a:noFill/>
          <a:ln/>
        </p:spPr>
        <p:txBody>
          <a:bodyPr wrap="square" lIns="0" tIns="0" rIns="0" bIns="0" rtlCol="0" anchor="ctr"/>
          <a:lstStyle/>
          <a:p>
            <a:pPr marL="0" indent="0">
              <a:buNone/>
            </a:pPr>
            <a:r>
              <a:rPr lang="en-US" sz="1200" dirty="0">
                <a:solidFill>
                  <a:srgbClr val="64748B"/>
                </a:solidFill>
                <a:latin typeface="Arial" pitchFamily="34" charset="0"/>
                <a:ea typeface="Arial" pitchFamily="34" charset="-122"/>
                <a:cs typeface="Arial" pitchFamily="34" charset="-120"/>
              </a:rPr>
              <a:t>业务专家定义</a:t>
            </a:r>
            <a:endParaRPr lang="en-US" sz="1200" dirty="0"/>
          </a:p>
          <a:p>
            <a:pPr marL="0" indent="0">
              <a:buNone/>
            </a:pPr>
            <a:r>
              <a:rPr lang="en-US" sz="1200" dirty="0">
                <a:solidFill>
                  <a:srgbClr val="64748B"/>
                </a:solidFill>
                <a:latin typeface="Arial" pitchFamily="34" charset="0"/>
                <a:ea typeface="Arial" pitchFamily="34" charset="-122"/>
                <a:cs typeface="Arial" pitchFamily="34" charset="-120"/>
              </a:rPr>
              <a:t>概念与关系</a:t>
            </a:r>
            <a:endParaRPr lang="en-US" sz="1200" dirty="0"/>
          </a:p>
        </p:txBody>
      </p:sp>
      <p:sp>
        <p:nvSpPr>
          <p:cNvPr id="11" name="Shape 9"/>
          <p:cNvSpPr/>
          <p:nvPr/>
        </p:nvSpPr>
        <p:spPr>
          <a:xfrm>
            <a:off x="2286000" y="2286000"/>
            <a:ext cx="274320" cy="0"/>
          </a:xfrm>
          <a:prstGeom prst="line">
            <a:avLst/>
          </a:prstGeom>
          <a:noFill/>
          <a:ln w="19050">
            <a:solidFill>
              <a:srgbClr val="94A3B8"/>
            </a:solidFill>
            <a:prstDash val="solid"/>
          </a:ln>
        </p:spPr>
        <p:txBody>
          <a:bodyPr/>
          <a:lstStyle/>
          <a:p>
            <a:endParaRPr lang="zh-CN" altLang="en-US"/>
          </a:p>
        </p:txBody>
      </p:sp>
      <p:sp>
        <p:nvSpPr>
          <p:cNvPr id="12" name="Shape 10"/>
          <p:cNvSpPr/>
          <p:nvPr/>
        </p:nvSpPr>
        <p:spPr>
          <a:xfrm>
            <a:off x="2560320" y="1463040"/>
            <a:ext cx="1920240" cy="1645920"/>
          </a:xfrm>
          <a:prstGeom prst="rect">
            <a:avLst/>
          </a:prstGeom>
          <a:solidFill>
            <a:srgbClr val="E6F7F5"/>
          </a:solidFill>
          <a:ln/>
        </p:spPr>
        <p:txBody>
          <a:bodyPr/>
          <a:lstStyle/>
          <a:p>
            <a:endParaRPr lang="zh-CN" altLang="en-US"/>
          </a:p>
        </p:txBody>
      </p:sp>
      <p:sp>
        <p:nvSpPr>
          <p:cNvPr id="13" name="Shape 11"/>
          <p:cNvSpPr/>
          <p:nvPr/>
        </p:nvSpPr>
        <p:spPr>
          <a:xfrm>
            <a:off x="2560320" y="1463040"/>
            <a:ext cx="1920240" cy="54864"/>
          </a:xfrm>
          <a:prstGeom prst="rect">
            <a:avLst/>
          </a:prstGeom>
          <a:solidFill>
            <a:srgbClr val="22A699"/>
          </a:solidFill>
          <a:ln/>
        </p:spPr>
        <p:txBody>
          <a:bodyPr/>
          <a:lstStyle/>
          <a:p>
            <a:endParaRPr lang="zh-CN" altLang="en-US"/>
          </a:p>
        </p:txBody>
      </p:sp>
      <p:sp>
        <p:nvSpPr>
          <p:cNvPr id="14" name="Text 12"/>
          <p:cNvSpPr/>
          <p:nvPr/>
        </p:nvSpPr>
        <p:spPr>
          <a:xfrm>
            <a:off x="2651760" y="1600200"/>
            <a:ext cx="365760" cy="320040"/>
          </a:xfrm>
          <a:prstGeom prst="rect">
            <a:avLst/>
          </a:prstGeom>
          <a:noFill/>
          <a:ln/>
        </p:spPr>
        <p:txBody>
          <a:bodyPr wrap="square" lIns="0" tIns="0" rIns="0" bIns="0" rtlCol="0" anchor="ctr"/>
          <a:lstStyle/>
          <a:p>
            <a:pPr marL="0" indent="0">
              <a:buNone/>
            </a:pPr>
            <a:r>
              <a:rPr lang="en-US" sz="1800" b="1" dirty="0">
                <a:solidFill>
                  <a:srgbClr val="22A699"/>
                </a:solidFill>
                <a:latin typeface="Arial" pitchFamily="34" charset="0"/>
                <a:ea typeface="Arial" pitchFamily="34" charset="-122"/>
                <a:cs typeface="Arial" pitchFamily="34" charset="-120"/>
              </a:rPr>
              <a:t>2</a:t>
            </a:r>
            <a:endParaRPr lang="en-US" sz="1800" dirty="0"/>
          </a:p>
        </p:txBody>
      </p:sp>
      <p:sp>
        <p:nvSpPr>
          <p:cNvPr id="15" name="Text 13"/>
          <p:cNvSpPr/>
          <p:nvPr/>
        </p:nvSpPr>
        <p:spPr>
          <a:xfrm>
            <a:off x="3017520" y="1600200"/>
            <a:ext cx="1280160" cy="320040"/>
          </a:xfrm>
          <a:prstGeom prst="rect">
            <a:avLst/>
          </a:prstGeom>
          <a:noFill/>
          <a:ln/>
        </p:spPr>
        <p:txBody>
          <a:bodyPr wrap="square" lIns="0" tIns="0" rIns="0" bIns="0" rtlCol="0" anchor="ctr"/>
          <a:lstStyle/>
          <a:p>
            <a:pPr marL="0" indent="0">
              <a:buNone/>
            </a:pPr>
            <a:r>
              <a:rPr lang="en-US" sz="1600" b="1" dirty="0">
                <a:solidFill>
                  <a:srgbClr val="22A699"/>
                </a:solidFill>
                <a:latin typeface="Arial" pitchFamily="34" charset="0"/>
                <a:ea typeface="Arial" pitchFamily="34" charset="-122"/>
                <a:cs typeface="Arial" pitchFamily="34" charset="-120"/>
              </a:rPr>
              <a:t>验证</a:t>
            </a:r>
            <a:endParaRPr lang="en-US" sz="1600" dirty="0"/>
          </a:p>
        </p:txBody>
      </p:sp>
      <p:sp>
        <p:nvSpPr>
          <p:cNvPr id="16" name="Text 14"/>
          <p:cNvSpPr/>
          <p:nvPr/>
        </p:nvSpPr>
        <p:spPr>
          <a:xfrm>
            <a:off x="2697480" y="2057400"/>
            <a:ext cx="1645920" cy="822960"/>
          </a:xfrm>
          <a:prstGeom prst="rect">
            <a:avLst/>
          </a:prstGeom>
          <a:noFill/>
          <a:ln/>
        </p:spPr>
        <p:txBody>
          <a:bodyPr wrap="square" lIns="0" tIns="0" rIns="0" bIns="0" rtlCol="0" anchor="ctr"/>
          <a:lstStyle/>
          <a:p>
            <a:pPr marL="0" indent="0">
              <a:buNone/>
            </a:pPr>
            <a:r>
              <a:rPr lang="en-US" sz="1200" dirty="0">
                <a:solidFill>
                  <a:srgbClr val="64748B"/>
                </a:solidFill>
                <a:latin typeface="Arial" pitchFamily="34" charset="0"/>
                <a:ea typeface="Arial" pitchFamily="34" charset="-122"/>
                <a:cs typeface="Arial" pitchFamily="34" charset="-120"/>
              </a:rPr>
              <a:t>规则一致性</a:t>
            </a:r>
            <a:endParaRPr lang="en-US" sz="1200" dirty="0"/>
          </a:p>
          <a:p>
            <a:pPr marL="0" indent="0">
              <a:buNone/>
            </a:pPr>
            <a:r>
              <a:rPr lang="en-US" sz="1200" dirty="0">
                <a:solidFill>
                  <a:srgbClr val="64748B"/>
                </a:solidFill>
                <a:latin typeface="Arial" pitchFamily="34" charset="0"/>
                <a:ea typeface="Arial" pitchFamily="34" charset="-122"/>
                <a:cs typeface="Arial" pitchFamily="34" charset="-120"/>
              </a:rPr>
              <a:t>与完整性检查</a:t>
            </a:r>
            <a:endParaRPr lang="en-US" sz="1200" dirty="0"/>
          </a:p>
        </p:txBody>
      </p:sp>
      <p:sp>
        <p:nvSpPr>
          <p:cNvPr id="17" name="Shape 15"/>
          <p:cNvSpPr/>
          <p:nvPr/>
        </p:nvSpPr>
        <p:spPr>
          <a:xfrm>
            <a:off x="4480560" y="2286000"/>
            <a:ext cx="274320" cy="0"/>
          </a:xfrm>
          <a:prstGeom prst="line">
            <a:avLst/>
          </a:prstGeom>
          <a:noFill/>
          <a:ln w="19050">
            <a:solidFill>
              <a:srgbClr val="94A3B8"/>
            </a:solidFill>
            <a:prstDash val="solid"/>
          </a:ln>
        </p:spPr>
        <p:txBody>
          <a:bodyPr/>
          <a:lstStyle/>
          <a:p>
            <a:endParaRPr lang="zh-CN" altLang="en-US"/>
          </a:p>
        </p:txBody>
      </p:sp>
      <p:sp>
        <p:nvSpPr>
          <p:cNvPr id="18" name="Shape 16"/>
          <p:cNvSpPr/>
          <p:nvPr/>
        </p:nvSpPr>
        <p:spPr>
          <a:xfrm>
            <a:off x="4754880" y="1463040"/>
            <a:ext cx="1920240" cy="1645920"/>
          </a:xfrm>
          <a:prstGeom prst="rect">
            <a:avLst/>
          </a:prstGeom>
          <a:solidFill>
            <a:srgbClr val="FEF3E6"/>
          </a:solidFill>
          <a:ln/>
        </p:spPr>
        <p:txBody>
          <a:bodyPr/>
          <a:lstStyle/>
          <a:p>
            <a:endParaRPr lang="zh-CN" altLang="en-US"/>
          </a:p>
        </p:txBody>
      </p:sp>
      <p:sp>
        <p:nvSpPr>
          <p:cNvPr id="19" name="Shape 17"/>
          <p:cNvSpPr/>
          <p:nvPr/>
        </p:nvSpPr>
        <p:spPr>
          <a:xfrm>
            <a:off x="4754880" y="1463040"/>
            <a:ext cx="1920240" cy="54864"/>
          </a:xfrm>
          <a:prstGeom prst="rect">
            <a:avLst/>
          </a:prstGeom>
          <a:solidFill>
            <a:srgbClr val="E78C07"/>
          </a:solidFill>
          <a:ln/>
        </p:spPr>
        <p:txBody>
          <a:bodyPr/>
          <a:lstStyle/>
          <a:p>
            <a:endParaRPr lang="zh-CN" altLang="en-US"/>
          </a:p>
        </p:txBody>
      </p:sp>
      <p:sp>
        <p:nvSpPr>
          <p:cNvPr id="20" name="Text 18"/>
          <p:cNvSpPr/>
          <p:nvPr/>
        </p:nvSpPr>
        <p:spPr>
          <a:xfrm>
            <a:off x="4846320" y="1600200"/>
            <a:ext cx="365760" cy="320040"/>
          </a:xfrm>
          <a:prstGeom prst="rect">
            <a:avLst/>
          </a:prstGeom>
          <a:noFill/>
          <a:ln/>
        </p:spPr>
        <p:txBody>
          <a:bodyPr wrap="square" lIns="0" tIns="0" rIns="0" bIns="0" rtlCol="0" anchor="ctr"/>
          <a:lstStyle/>
          <a:p>
            <a:pPr marL="0" indent="0">
              <a:buNone/>
            </a:pPr>
            <a:r>
              <a:rPr lang="en-US" sz="1800" b="1" dirty="0">
                <a:solidFill>
                  <a:srgbClr val="E78C07"/>
                </a:solidFill>
                <a:latin typeface="Arial" pitchFamily="34" charset="0"/>
                <a:ea typeface="Arial" pitchFamily="34" charset="-122"/>
                <a:cs typeface="Arial" pitchFamily="34" charset="-120"/>
              </a:rPr>
              <a:t>3</a:t>
            </a:r>
            <a:endParaRPr lang="en-US" sz="1800" dirty="0"/>
          </a:p>
        </p:txBody>
      </p:sp>
      <p:sp>
        <p:nvSpPr>
          <p:cNvPr id="21" name="Text 19"/>
          <p:cNvSpPr/>
          <p:nvPr/>
        </p:nvSpPr>
        <p:spPr>
          <a:xfrm>
            <a:off x="5212080" y="1600200"/>
            <a:ext cx="1280160" cy="320040"/>
          </a:xfrm>
          <a:prstGeom prst="rect">
            <a:avLst/>
          </a:prstGeom>
          <a:noFill/>
          <a:ln/>
        </p:spPr>
        <p:txBody>
          <a:bodyPr wrap="square" lIns="0" tIns="0" rIns="0" bIns="0" rtlCol="0" anchor="ctr"/>
          <a:lstStyle/>
          <a:p>
            <a:pPr marL="0" indent="0">
              <a:buNone/>
            </a:pPr>
            <a:r>
              <a:rPr lang="en-US" sz="1600" b="1" dirty="0">
                <a:solidFill>
                  <a:srgbClr val="E78C07"/>
                </a:solidFill>
                <a:latin typeface="Arial" pitchFamily="34" charset="0"/>
                <a:ea typeface="Arial" pitchFamily="34" charset="-122"/>
                <a:cs typeface="Arial" pitchFamily="34" charset="-120"/>
              </a:rPr>
              <a:t>发布</a:t>
            </a:r>
            <a:endParaRPr lang="en-US" sz="1600" dirty="0"/>
          </a:p>
        </p:txBody>
      </p:sp>
      <p:sp>
        <p:nvSpPr>
          <p:cNvPr id="22" name="Text 20"/>
          <p:cNvSpPr/>
          <p:nvPr/>
        </p:nvSpPr>
        <p:spPr>
          <a:xfrm>
            <a:off x="4892040" y="2057400"/>
            <a:ext cx="1645920" cy="822960"/>
          </a:xfrm>
          <a:prstGeom prst="rect">
            <a:avLst/>
          </a:prstGeom>
          <a:noFill/>
          <a:ln/>
        </p:spPr>
        <p:txBody>
          <a:bodyPr wrap="square" lIns="0" tIns="0" rIns="0" bIns="0" rtlCol="0" anchor="ctr"/>
          <a:lstStyle/>
          <a:p>
            <a:pPr marL="0" indent="0">
              <a:buNone/>
            </a:pPr>
            <a:r>
              <a:rPr lang="en-US" sz="1200" dirty="0">
                <a:solidFill>
                  <a:srgbClr val="64748B"/>
                </a:solidFill>
                <a:latin typeface="Arial" pitchFamily="34" charset="0"/>
                <a:ea typeface="Arial" pitchFamily="34" charset="-122"/>
                <a:cs typeface="Arial" pitchFamily="34" charset="-120"/>
              </a:rPr>
              <a:t>编译为 Agent</a:t>
            </a:r>
            <a:endParaRPr lang="en-US" sz="1200" dirty="0"/>
          </a:p>
          <a:p>
            <a:pPr marL="0" indent="0">
              <a:buNone/>
            </a:pPr>
            <a:r>
              <a:rPr lang="en-US" sz="1200" dirty="0">
                <a:solidFill>
                  <a:srgbClr val="64748B"/>
                </a:solidFill>
                <a:latin typeface="Arial" pitchFamily="34" charset="0"/>
                <a:ea typeface="Arial" pitchFamily="34" charset="-122"/>
                <a:cs typeface="Arial" pitchFamily="34" charset="-120"/>
              </a:rPr>
              <a:t>Manifest 快照</a:t>
            </a:r>
            <a:endParaRPr lang="en-US" sz="1200" dirty="0"/>
          </a:p>
        </p:txBody>
      </p:sp>
      <p:sp>
        <p:nvSpPr>
          <p:cNvPr id="23" name="Shape 21"/>
          <p:cNvSpPr/>
          <p:nvPr/>
        </p:nvSpPr>
        <p:spPr>
          <a:xfrm>
            <a:off x="6675120" y="2286000"/>
            <a:ext cx="274320" cy="0"/>
          </a:xfrm>
          <a:prstGeom prst="line">
            <a:avLst/>
          </a:prstGeom>
          <a:noFill/>
          <a:ln w="19050">
            <a:solidFill>
              <a:srgbClr val="94A3B8"/>
            </a:solidFill>
            <a:prstDash val="solid"/>
          </a:ln>
        </p:spPr>
        <p:txBody>
          <a:bodyPr/>
          <a:lstStyle/>
          <a:p>
            <a:endParaRPr lang="zh-CN" altLang="en-US"/>
          </a:p>
        </p:txBody>
      </p:sp>
      <p:sp>
        <p:nvSpPr>
          <p:cNvPr id="24" name="Shape 22"/>
          <p:cNvSpPr/>
          <p:nvPr/>
        </p:nvSpPr>
        <p:spPr>
          <a:xfrm>
            <a:off x="6949440" y="1463040"/>
            <a:ext cx="1920240" cy="1645920"/>
          </a:xfrm>
          <a:prstGeom prst="rect">
            <a:avLst/>
          </a:prstGeom>
          <a:solidFill>
            <a:srgbClr val="EDF7ED"/>
          </a:solidFill>
          <a:ln/>
        </p:spPr>
        <p:txBody>
          <a:bodyPr/>
          <a:lstStyle/>
          <a:p>
            <a:endParaRPr lang="zh-CN" altLang="en-US"/>
          </a:p>
        </p:txBody>
      </p:sp>
      <p:sp>
        <p:nvSpPr>
          <p:cNvPr id="25" name="Shape 23"/>
          <p:cNvSpPr/>
          <p:nvPr/>
        </p:nvSpPr>
        <p:spPr>
          <a:xfrm>
            <a:off x="6949440" y="1463040"/>
            <a:ext cx="1920240" cy="54864"/>
          </a:xfrm>
          <a:prstGeom prst="rect">
            <a:avLst/>
          </a:prstGeom>
          <a:solidFill>
            <a:srgbClr val="107E3E"/>
          </a:solidFill>
          <a:ln/>
        </p:spPr>
        <p:txBody>
          <a:bodyPr/>
          <a:lstStyle/>
          <a:p>
            <a:endParaRPr lang="zh-CN" altLang="en-US"/>
          </a:p>
        </p:txBody>
      </p:sp>
      <p:sp>
        <p:nvSpPr>
          <p:cNvPr id="26" name="Text 24"/>
          <p:cNvSpPr/>
          <p:nvPr/>
        </p:nvSpPr>
        <p:spPr>
          <a:xfrm>
            <a:off x="7040880" y="1600200"/>
            <a:ext cx="365760" cy="320040"/>
          </a:xfrm>
          <a:prstGeom prst="rect">
            <a:avLst/>
          </a:prstGeom>
          <a:noFill/>
          <a:ln/>
        </p:spPr>
        <p:txBody>
          <a:bodyPr wrap="square" lIns="0" tIns="0" rIns="0" bIns="0" rtlCol="0" anchor="ctr"/>
          <a:lstStyle/>
          <a:p>
            <a:pPr marL="0" indent="0">
              <a:buNone/>
            </a:pPr>
            <a:r>
              <a:rPr lang="en-US" sz="1800" b="1" dirty="0">
                <a:solidFill>
                  <a:srgbClr val="107E3E"/>
                </a:solidFill>
                <a:latin typeface="Arial" pitchFamily="34" charset="0"/>
                <a:ea typeface="Arial" pitchFamily="34" charset="-122"/>
                <a:cs typeface="Arial" pitchFamily="34" charset="-120"/>
              </a:rPr>
              <a:t>4</a:t>
            </a:r>
            <a:endParaRPr lang="en-US" sz="1800" dirty="0"/>
          </a:p>
        </p:txBody>
      </p:sp>
      <p:sp>
        <p:nvSpPr>
          <p:cNvPr id="27" name="Text 25"/>
          <p:cNvSpPr/>
          <p:nvPr/>
        </p:nvSpPr>
        <p:spPr>
          <a:xfrm>
            <a:off x="7406640" y="1600200"/>
            <a:ext cx="1280160" cy="320040"/>
          </a:xfrm>
          <a:prstGeom prst="rect">
            <a:avLst/>
          </a:prstGeom>
          <a:noFill/>
          <a:ln/>
        </p:spPr>
        <p:txBody>
          <a:bodyPr wrap="square" lIns="0" tIns="0" rIns="0" bIns="0" rtlCol="0" anchor="ctr"/>
          <a:lstStyle/>
          <a:p>
            <a:pPr marL="0" indent="0">
              <a:buNone/>
            </a:pPr>
            <a:r>
              <a:rPr lang="en-US" sz="1600" b="1" dirty="0">
                <a:solidFill>
                  <a:srgbClr val="107E3E"/>
                </a:solidFill>
                <a:latin typeface="Arial" pitchFamily="34" charset="0"/>
                <a:ea typeface="Arial" pitchFamily="34" charset="-122"/>
                <a:cs typeface="Arial" pitchFamily="34" charset="-120"/>
              </a:rPr>
              <a:t>演进</a:t>
            </a:r>
            <a:endParaRPr lang="en-US" sz="1600" dirty="0"/>
          </a:p>
        </p:txBody>
      </p:sp>
      <p:sp>
        <p:nvSpPr>
          <p:cNvPr id="28" name="Text 26"/>
          <p:cNvSpPr/>
          <p:nvPr/>
        </p:nvSpPr>
        <p:spPr>
          <a:xfrm>
            <a:off x="7086600" y="2057400"/>
            <a:ext cx="1645920" cy="822960"/>
          </a:xfrm>
          <a:prstGeom prst="rect">
            <a:avLst/>
          </a:prstGeom>
          <a:noFill/>
          <a:ln/>
        </p:spPr>
        <p:txBody>
          <a:bodyPr wrap="square" lIns="0" tIns="0" rIns="0" bIns="0" rtlCol="0" anchor="ctr"/>
          <a:lstStyle/>
          <a:p>
            <a:pPr marL="0" indent="0">
              <a:buNone/>
            </a:pPr>
            <a:r>
              <a:rPr lang="en-US" sz="1200" dirty="0">
                <a:solidFill>
                  <a:srgbClr val="64748B"/>
                </a:solidFill>
                <a:latin typeface="Arial" pitchFamily="34" charset="0"/>
                <a:ea typeface="Arial" pitchFamily="34" charset="-122"/>
                <a:cs typeface="Arial" pitchFamily="34" charset="-120"/>
              </a:rPr>
              <a:t>版本化管理</a:t>
            </a:r>
            <a:endParaRPr lang="en-US" sz="1200" dirty="0"/>
          </a:p>
          <a:p>
            <a:pPr marL="0" indent="0">
              <a:buNone/>
            </a:pPr>
            <a:r>
              <a:rPr lang="en-US" sz="1200" dirty="0">
                <a:solidFill>
                  <a:srgbClr val="64748B"/>
                </a:solidFill>
                <a:latin typeface="Arial" pitchFamily="34" charset="0"/>
                <a:ea typeface="Arial" pitchFamily="34" charset="-122"/>
                <a:cs typeface="Arial" pitchFamily="34" charset="-120"/>
              </a:rPr>
              <a:t>持续适配迭代</a:t>
            </a:r>
            <a:endParaRPr lang="en-US" sz="1200" dirty="0"/>
          </a:p>
        </p:txBody>
      </p:sp>
      <p:sp>
        <p:nvSpPr>
          <p:cNvPr id="29" name="Text 27"/>
          <p:cNvSpPr/>
          <p:nvPr/>
        </p:nvSpPr>
        <p:spPr>
          <a:xfrm>
            <a:off x="548640" y="3291840"/>
            <a:ext cx="8046720" cy="320040"/>
          </a:xfrm>
          <a:prstGeom prst="rect">
            <a:avLst/>
          </a:prstGeom>
          <a:noFill/>
          <a:ln/>
        </p:spPr>
        <p:txBody>
          <a:bodyPr wrap="square" lIns="0" tIns="0" rIns="0" bIns="0" rtlCol="0" anchor="ctr"/>
          <a:lstStyle/>
          <a:p>
            <a:pPr marL="0" indent="0">
              <a:buNone/>
            </a:pPr>
            <a:r>
              <a:rPr lang="en-US" sz="1400" b="1" dirty="0">
                <a:solidFill>
                  <a:srgbClr val="1E293B"/>
                </a:solidFill>
                <a:latin typeface="Arial" pitchFamily="34" charset="0"/>
                <a:ea typeface="Arial" pitchFamily="34" charset="-122"/>
                <a:cs typeface="Arial" pitchFamily="34" charset="-120"/>
              </a:rPr>
              <a:t>四大迭代策略</a:t>
            </a:r>
            <a:endParaRPr lang="en-US" sz="1400" dirty="0"/>
          </a:p>
        </p:txBody>
      </p:sp>
      <p:sp>
        <p:nvSpPr>
          <p:cNvPr id="30" name="Shape 28"/>
          <p:cNvSpPr/>
          <p:nvPr/>
        </p:nvSpPr>
        <p:spPr>
          <a:xfrm>
            <a:off x="548640" y="3703320"/>
            <a:ext cx="1920240" cy="1005840"/>
          </a:xfrm>
          <a:prstGeom prst="rect">
            <a:avLst/>
          </a:prstGeom>
          <a:solidFill>
            <a:srgbClr val="F1F5F9"/>
          </a:solidFill>
          <a:ln/>
        </p:spPr>
        <p:txBody>
          <a:bodyPr/>
          <a:lstStyle/>
          <a:p>
            <a:endParaRPr lang="zh-CN" altLang="en-US"/>
          </a:p>
        </p:txBody>
      </p:sp>
      <p:sp>
        <p:nvSpPr>
          <p:cNvPr id="31" name="Text 29"/>
          <p:cNvSpPr/>
          <p:nvPr/>
        </p:nvSpPr>
        <p:spPr>
          <a:xfrm>
            <a:off x="685800" y="3749040"/>
            <a:ext cx="1645920" cy="320040"/>
          </a:xfrm>
          <a:prstGeom prst="rect">
            <a:avLst/>
          </a:prstGeom>
          <a:noFill/>
          <a:ln/>
        </p:spPr>
        <p:txBody>
          <a:bodyPr wrap="square" lIns="0" tIns="0" rIns="0" bIns="0" rtlCol="0" anchor="ctr"/>
          <a:lstStyle/>
          <a:p>
            <a:pPr marL="0" indent="0">
              <a:buNone/>
            </a:pPr>
            <a:r>
              <a:rPr lang="en-US" sz="1300" b="1" dirty="0">
                <a:solidFill>
                  <a:srgbClr val="22A699"/>
                </a:solidFill>
                <a:latin typeface="Arial" pitchFamily="34" charset="0"/>
                <a:ea typeface="Arial" pitchFamily="34" charset="-122"/>
                <a:cs typeface="Arial" pitchFamily="34" charset="-120"/>
              </a:rPr>
              <a:t>增量扩展</a:t>
            </a:r>
            <a:endParaRPr lang="en-US" sz="1300" dirty="0"/>
          </a:p>
        </p:txBody>
      </p:sp>
      <p:sp>
        <p:nvSpPr>
          <p:cNvPr id="32" name="Text 30"/>
          <p:cNvSpPr/>
          <p:nvPr/>
        </p:nvSpPr>
        <p:spPr>
          <a:xfrm>
            <a:off x="685800" y="4114800"/>
            <a:ext cx="1645920" cy="457200"/>
          </a:xfrm>
          <a:prstGeom prst="rect">
            <a:avLst/>
          </a:prstGeom>
          <a:noFill/>
          <a:ln/>
        </p:spPr>
        <p:txBody>
          <a:bodyPr wrap="square" lIns="0" tIns="0" rIns="0" bIns="0" rtlCol="0" anchor="ctr"/>
          <a:lstStyle/>
          <a:p>
            <a:pPr marL="0" indent="0">
              <a:buNone/>
            </a:pPr>
            <a:r>
              <a:rPr lang="en-US" sz="1100" dirty="0">
                <a:solidFill>
                  <a:srgbClr val="64748B"/>
                </a:solidFill>
                <a:latin typeface="Arial" pitchFamily="34" charset="0"/>
                <a:ea typeface="Arial" pitchFamily="34" charset="-122"/>
                <a:cs typeface="Arial" pitchFamily="34" charset="-120"/>
              </a:rPr>
              <a:t>新增概念不影响已有定义</a:t>
            </a:r>
            <a:endParaRPr lang="en-US" sz="1100" dirty="0"/>
          </a:p>
        </p:txBody>
      </p:sp>
      <p:sp>
        <p:nvSpPr>
          <p:cNvPr id="33" name="Shape 31"/>
          <p:cNvSpPr/>
          <p:nvPr/>
        </p:nvSpPr>
        <p:spPr>
          <a:xfrm>
            <a:off x="2651760" y="3703320"/>
            <a:ext cx="1920240" cy="1005840"/>
          </a:xfrm>
          <a:prstGeom prst="rect">
            <a:avLst/>
          </a:prstGeom>
          <a:solidFill>
            <a:srgbClr val="F1F5F9"/>
          </a:solidFill>
          <a:ln/>
        </p:spPr>
        <p:txBody>
          <a:bodyPr/>
          <a:lstStyle/>
          <a:p>
            <a:endParaRPr lang="zh-CN" altLang="en-US"/>
          </a:p>
        </p:txBody>
      </p:sp>
      <p:sp>
        <p:nvSpPr>
          <p:cNvPr id="34" name="Text 32"/>
          <p:cNvSpPr/>
          <p:nvPr/>
        </p:nvSpPr>
        <p:spPr>
          <a:xfrm>
            <a:off x="2788920" y="3749040"/>
            <a:ext cx="1645920" cy="320040"/>
          </a:xfrm>
          <a:prstGeom prst="rect">
            <a:avLst/>
          </a:prstGeom>
          <a:noFill/>
          <a:ln/>
        </p:spPr>
        <p:txBody>
          <a:bodyPr wrap="square" lIns="0" tIns="0" rIns="0" bIns="0" rtlCol="0" anchor="ctr"/>
          <a:lstStyle/>
          <a:p>
            <a:pPr marL="0" indent="0">
              <a:buNone/>
            </a:pPr>
            <a:r>
              <a:rPr lang="en-US" sz="1300" b="1" dirty="0">
                <a:solidFill>
                  <a:srgbClr val="22A699"/>
                </a:solidFill>
                <a:latin typeface="Arial" pitchFamily="34" charset="0"/>
                <a:ea typeface="Arial" pitchFamily="34" charset="-122"/>
                <a:cs typeface="Arial" pitchFamily="34" charset="-120"/>
              </a:rPr>
              <a:t>兼容升级</a:t>
            </a:r>
            <a:endParaRPr lang="en-US" sz="1300" dirty="0"/>
          </a:p>
        </p:txBody>
      </p:sp>
      <p:sp>
        <p:nvSpPr>
          <p:cNvPr id="35" name="Text 33"/>
          <p:cNvSpPr/>
          <p:nvPr/>
        </p:nvSpPr>
        <p:spPr>
          <a:xfrm>
            <a:off x="2788920" y="4114800"/>
            <a:ext cx="1645920" cy="457200"/>
          </a:xfrm>
          <a:prstGeom prst="rect">
            <a:avLst/>
          </a:prstGeom>
          <a:noFill/>
          <a:ln/>
        </p:spPr>
        <p:txBody>
          <a:bodyPr wrap="square" lIns="0" tIns="0" rIns="0" bIns="0" rtlCol="0" anchor="ctr"/>
          <a:lstStyle/>
          <a:p>
            <a:pPr marL="0" indent="0">
              <a:buNone/>
            </a:pPr>
            <a:r>
              <a:rPr lang="en-US" sz="1100" dirty="0">
                <a:solidFill>
                  <a:srgbClr val="64748B"/>
                </a:solidFill>
                <a:latin typeface="Arial" pitchFamily="34" charset="0"/>
                <a:ea typeface="Arial" pitchFamily="34" charset="-122"/>
                <a:cs typeface="Arial" pitchFamily="34" charset="-120"/>
              </a:rPr>
              <a:t>新版本向后兼容旧 Agent</a:t>
            </a:r>
            <a:endParaRPr lang="en-US" sz="1100" dirty="0"/>
          </a:p>
        </p:txBody>
      </p:sp>
      <p:sp>
        <p:nvSpPr>
          <p:cNvPr id="36" name="Shape 34"/>
          <p:cNvSpPr/>
          <p:nvPr/>
        </p:nvSpPr>
        <p:spPr>
          <a:xfrm>
            <a:off x="4754880" y="3703320"/>
            <a:ext cx="1920240" cy="1005840"/>
          </a:xfrm>
          <a:prstGeom prst="rect">
            <a:avLst/>
          </a:prstGeom>
          <a:solidFill>
            <a:srgbClr val="F1F5F9"/>
          </a:solidFill>
          <a:ln/>
        </p:spPr>
        <p:txBody>
          <a:bodyPr/>
          <a:lstStyle/>
          <a:p>
            <a:endParaRPr lang="zh-CN" altLang="en-US"/>
          </a:p>
        </p:txBody>
      </p:sp>
      <p:sp>
        <p:nvSpPr>
          <p:cNvPr id="37" name="Text 35"/>
          <p:cNvSpPr/>
          <p:nvPr/>
        </p:nvSpPr>
        <p:spPr>
          <a:xfrm>
            <a:off x="4892040" y="3749040"/>
            <a:ext cx="1645920" cy="320040"/>
          </a:xfrm>
          <a:prstGeom prst="rect">
            <a:avLst/>
          </a:prstGeom>
          <a:noFill/>
          <a:ln/>
        </p:spPr>
        <p:txBody>
          <a:bodyPr wrap="square" lIns="0" tIns="0" rIns="0" bIns="0" rtlCol="0" anchor="ctr"/>
          <a:lstStyle/>
          <a:p>
            <a:pPr marL="0" indent="0">
              <a:buNone/>
            </a:pPr>
            <a:r>
              <a:rPr lang="en-US" sz="1300" b="1" dirty="0">
                <a:solidFill>
                  <a:srgbClr val="22A699"/>
                </a:solidFill>
                <a:latin typeface="Arial" pitchFamily="34" charset="0"/>
                <a:ea typeface="Arial" pitchFamily="34" charset="-122"/>
                <a:cs typeface="Arial" pitchFamily="34" charset="-120"/>
              </a:rPr>
              <a:t>废弃标记</a:t>
            </a:r>
            <a:endParaRPr lang="en-US" sz="1300" dirty="0"/>
          </a:p>
        </p:txBody>
      </p:sp>
      <p:sp>
        <p:nvSpPr>
          <p:cNvPr id="38" name="Text 36"/>
          <p:cNvSpPr/>
          <p:nvPr/>
        </p:nvSpPr>
        <p:spPr>
          <a:xfrm>
            <a:off x="4892040" y="4114800"/>
            <a:ext cx="1645920" cy="457200"/>
          </a:xfrm>
          <a:prstGeom prst="rect">
            <a:avLst/>
          </a:prstGeom>
          <a:noFill/>
          <a:ln/>
        </p:spPr>
        <p:txBody>
          <a:bodyPr wrap="square" lIns="0" tIns="0" rIns="0" bIns="0" rtlCol="0" anchor="ctr"/>
          <a:lstStyle/>
          <a:p>
            <a:pPr marL="0" indent="0">
              <a:buNone/>
            </a:pPr>
            <a:r>
              <a:rPr lang="en-US" sz="1100" dirty="0">
                <a:solidFill>
                  <a:srgbClr val="64748B"/>
                </a:solidFill>
                <a:latin typeface="Arial" pitchFamily="34" charset="0"/>
                <a:ea typeface="Arial" pitchFamily="34" charset="-122"/>
                <a:cs typeface="Arial" pitchFamily="34" charset="-120"/>
              </a:rPr>
              <a:t>旧概念标记废弃而非删除</a:t>
            </a:r>
            <a:endParaRPr lang="en-US" sz="1100" dirty="0"/>
          </a:p>
        </p:txBody>
      </p:sp>
      <p:sp>
        <p:nvSpPr>
          <p:cNvPr id="39" name="Shape 37"/>
          <p:cNvSpPr/>
          <p:nvPr/>
        </p:nvSpPr>
        <p:spPr>
          <a:xfrm>
            <a:off x="6858000" y="3703320"/>
            <a:ext cx="1920240" cy="1005840"/>
          </a:xfrm>
          <a:prstGeom prst="rect">
            <a:avLst/>
          </a:prstGeom>
          <a:solidFill>
            <a:srgbClr val="F1F5F9"/>
          </a:solidFill>
          <a:ln/>
        </p:spPr>
        <p:txBody>
          <a:bodyPr/>
          <a:lstStyle/>
          <a:p>
            <a:endParaRPr lang="zh-CN" altLang="en-US"/>
          </a:p>
        </p:txBody>
      </p:sp>
      <p:sp>
        <p:nvSpPr>
          <p:cNvPr id="40" name="Text 38"/>
          <p:cNvSpPr/>
          <p:nvPr/>
        </p:nvSpPr>
        <p:spPr>
          <a:xfrm>
            <a:off x="6995160" y="3749040"/>
            <a:ext cx="1645920" cy="320040"/>
          </a:xfrm>
          <a:prstGeom prst="rect">
            <a:avLst/>
          </a:prstGeom>
          <a:noFill/>
          <a:ln/>
        </p:spPr>
        <p:txBody>
          <a:bodyPr wrap="square" lIns="0" tIns="0" rIns="0" bIns="0" rtlCol="0" anchor="ctr"/>
          <a:lstStyle/>
          <a:p>
            <a:pPr marL="0" indent="0">
              <a:buNone/>
            </a:pPr>
            <a:r>
              <a:rPr lang="en-US" sz="1300" b="1" dirty="0">
                <a:solidFill>
                  <a:srgbClr val="22A699"/>
                </a:solidFill>
                <a:latin typeface="Arial" pitchFamily="34" charset="0"/>
                <a:ea typeface="Arial" pitchFamily="34" charset="-122"/>
                <a:cs typeface="Arial" pitchFamily="34" charset="-120"/>
              </a:rPr>
              <a:t>版本并行</a:t>
            </a:r>
            <a:endParaRPr lang="en-US" sz="1300" dirty="0"/>
          </a:p>
        </p:txBody>
      </p:sp>
      <p:sp>
        <p:nvSpPr>
          <p:cNvPr id="41" name="Text 39"/>
          <p:cNvSpPr/>
          <p:nvPr/>
        </p:nvSpPr>
        <p:spPr>
          <a:xfrm>
            <a:off x="6995160" y="4114800"/>
            <a:ext cx="1645920" cy="457200"/>
          </a:xfrm>
          <a:prstGeom prst="rect">
            <a:avLst/>
          </a:prstGeom>
          <a:noFill/>
          <a:ln/>
        </p:spPr>
        <p:txBody>
          <a:bodyPr wrap="square" lIns="0" tIns="0" rIns="0" bIns="0" rtlCol="0" anchor="ctr"/>
          <a:lstStyle/>
          <a:p>
            <a:pPr marL="0" indent="0">
              <a:buNone/>
            </a:pPr>
            <a:r>
              <a:rPr lang="en-US" sz="1100" dirty="0">
                <a:solidFill>
                  <a:srgbClr val="64748B"/>
                </a:solidFill>
                <a:latin typeface="Arial" pitchFamily="34" charset="0"/>
                <a:ea typeface="Arial" pitchFamily="34" charset="-122"/>
                <a:cs typeface="Arial" pitchFamily="34" charset="-120"/>
              </a:rPr>
              <a:t>多版本 Manifest 同时服务</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2A699"/>
          </a:solidFill>
          <a:ln/>
        </p:spPr>
        <p:txBody>
          <a:bodyPr/>
          <a:lstStyle/>
          <a:p>
            <a:endParaRPr lang="zh-CN" altLang="en-US"/>
          </a:p>
        </p:txBody>
      </p:sp>
      <p:sp>
        <p:nvSpPr>
          <p:cNvPr id="3" name="Shape 1"/>
          <p:cNvSpPr/>
          <p:nvPr/>
        </p:nvSpPr>
        <p:spPr>
          <a:xfrm>
            <a:off x="548640" y="274320"/>
            <a:ext cx="54864" cy="457200"/>
          </a:xfrm>
          <a:prstGeom prst="rect">
            <a:avLst/>
          </a:prstGeom>
          <a:solidFill>
            <a:srgbClr val="22A699"/>
          </a:solidFill>
          <a:ln/>
        </p:spPr>
        <p:txBody>
          <a:bodyPr/>
          <a:lstStyle/>
          <a:p>
            <a:endParaRPr lang="zh-CN" altLang="en-US"/>
          </a:p>
        </p:txBody>
      </p:sp>
      <p:sp>
        <p:nvSpPr>
          <p:cNvPr id="4" name="Text 2"/>
          <p:cNvSpPr/>
          <p:nvPr/>
        </p:nvSpPr>
        <p:spPr>
          <a:xfrm>
            <a:off x="731520" y="274320"/>
            <a:ext cx="731520" cy="457200"/>
          </a:xfrm>
          <a:prstGeom prst="rect">
            <a:avLst/>
          </a:prstGeom>
          <a:noFill/>
          <a:ln/>
        </p:spPr>
        <p:txBody>
          <a:bodyPr wrap="square" lIns="0" tIns="0" rIns="0" bIns="0" rtlCol="0" anchor="ctr"/>
          <a:lstStyle/>
          <a:p>
            <a:pPr marL="0" indent="0">
              <a:buNone/>
            </a:pPr>
            <a:r>
              <a:rPr lang="en-US" sz="1800" b="1" dirty="0">
                <a:solidFill>
                  <a:srgbClr val="22A699"/>
                </a:solidFill>
                <a:latin typeface="Arial" pitchFamily="34" charset="0"/>
                <a:ea typeface="Arial" pitchFamily="34" charset="-122"/>
                <a:cs typeface="Arial" pitchFamily="34" charset="-120"/>
              </a:rPr>
              <a:t>06</a:t>
            </a:r>
            <a:endParaRPr lang="en-US" sz="1800" dirty="0"/>
          </a:p>
        </p:txBody>
      </p:sp>
      <p:sp>
        <p:nvSpPr>
          <p:cNvPr id="5" name="Text 3"/>
          <p:cNvSpPr/>
          <p:nvPr/>
        </p:nvSpPr>
        <p:spPr>
          <a:xfrm>
            <a:off x="548640" y="822960"/>
            <a:ext cx="8046720" cy="457200"/>
          </a:xfrm>
          <a:prstGeom prst="rect">
            <a:avLst/>
          </a:prstGeom>
          <a:noFill/>
          <a:ln/>
        </p:spPr>
        <p:txBody>
          <a:bodyPr wrap="square" lIns="0" tIns="0" rIns="0" bIns="0" rtlCol="0" anchor="ctr"/>
          <a:lstStyle/>
          <a:p>
            <a:pPr marL="0" indent="0">
              <a:buNone/>
            </a:pPr>
            <a:r>
              <a:rPr lang="en-US" sz="2200" b="1" dirty="0">
                <a:solidFill>
                  <a:srgbClr val="1E293B"/>
                </a:solidFill>
                <a:latin typeface="Arial" pitchFamily="34" charset="0"/>
                <a:ea typeface="Arial" pitchFamily="34" charset="-122"/>
                <a:cs typeface="Arial" pitchFamily="34" charset="-120"/>
              </a:rPr>
              <a:t>五大运维支柱 · 多租户架构</a:t>
            </a:r>
            <a:endParaRPr lang="en-US" sz="2200" dirty="0"/>
          </a:p>
        </p:txBody>
      </p:sp>
      <p:sp>
        <p:nvSpPr>
          <p:cNvPr id="6" name="Shape 4"/>
          <p:cNvSpPr/>
          <p:nvPr/>
        </p:nvSpPr>
        <p:spPr>
          <a:xfrm>
            <a:off x="365760" y="1463040"/>
            <a:ext cx="1554480" cy="1828800"/>
          </a:xfrm>
          <a:prstGeom prst="rect">
            <a:avLst/>
          </a:prstGeom>
          <a:solidFill>
            <a:srgbClr val="E8F4F8"/>
          </a:solidFill>
          <a:ln/>
        </p:spPr>
        <p:txBody>
          <a:bodyPr/>
          <a:lstStyle/>
          <a:p>
            <a:endParaRPr lang="zh-CN" altLang="en-US"/>
          </a:p>
        </p:txBody>
      </p:sp>
      <p:sp>
        <p:nvSpPr>
          <p:cNvPr id="7" name="Shape 5"/>
          <p:cNvSpPr/>
          <p:nvPr/>
        </p:nvSpPr>
        <p:spPr>
          <a:xfrm>
            <a:off x="365760" y="1463040"/>
            <a:ext cx="1554480" cy="54864"/>
          </a:xfrm>
          <a:prstGeom prst="rect">
            <a:avLst/>
          </a:prstGeom>
          <a:solidFill>
            <a:srgbClr val="065A82"/>
          </a:solidFill>
          <a:ln/>
        </p:spPr>
        <p:txBody>
          <a:bodyPr/>
          <a:lstStyle/>
          <a:p>
            <a:endParaRPr lang="zh-CN" altLang="en-US"/>
          </a:p>
        </p:txBody>
      </p:sp>
      <p:sp>
        <p:nvSpPr>
          <p:cNvPr id="8" name="Text 6"/>
          <p:cNvSpPr/>
          <p:nvPr/>
        </p:nvSpPr>
        <p:spPr>
          <a:xfrm>
            <a:off x="365760" y="1691640"/>
            <a:ext cx="1554480" cy="365760"/>
          </a:xfrm>
          <a:prstGeom prst="rect">
            <a:avLst/>
          </a:prstGeom>
          <a:noFill/>
          <a:ln/>
        </p:spPr>
        <p:txBody>
          <a:bodyPr wrap="square" lIns="0" tIns="0" rIns="0" bIns="0" rtlCol="0" anchor="ctr"/>
          <a:lstStyle/>
          <a:p>
            <a:pPr marL="0" indent="0" algn="ctr">
              <a:buNone/>
            </a:pPr>
            <a:r>
              <a:rPr lang="en-US" sz="1500" b="1" dirty="0">
                <a:solidFill>
                  <a:srgbClr val="065A82"/>
                </a:solidFill>
                <a:latin typeface="Arial" pitchFamily="34" charset="0"/>
                <a:ea typeface="Arial" pitchFamily="34" charset="-122"/>
                <a:cs typeface="Arial" pitchFamily="34" charset="-120"/>
              </a:rPr>
              <a:t>监控</a:t>
            </a:r>
            <a:endParaRPr lang="en-US" sz="1500" dirty="0"/>
          </a:p>
        </p:txBody>
      </p:sp>
      <p:sp>
        <p:nvSpPr>
          <p:cNvPr id="9" name="Text 7"/>
          <p:cNvSpPr/>
          <p:nvPr/>
        </p:nvSpPr>
        <p:spPr>
          <a:xfrm>
            <a:off x="457200" y="2194560"/>
            <a:ext cx="1371600" cy="822960"/>
          </a:xfrm>
          <a:prstGeom prst="rect">
            <a:avLst/>
          </a:prstGeom>
          <a:noFill/>
          <a:ln/>
        </p:spPr>
        <p:txBody>
          <a:bodyPr wrap="square" lIns="0" tIns="0" rIns="0" bIns="0" rtlCol="0" anchor="ctr"/>
          <a:lstStyle/>
          <a:p>
            <a:pPr marL="0" indent="0" algn="ctr">
              <a:buNone/>
            </a:pPr>
            <a:r>
              <a:rPr lang="en-US" sz="1200" dirty="0">
                <a:solidFill>
                  <a:srgbClr val="64748B"/>
                </a:solidFill>
                <a:latin typeface="Arial" pitchFamily="34" charset="0"/>
                <a:ea typeface="Arial" pitchFamily="34" charset="-122"/>
                <a:cs typeface="Arial" pitchFamily="34" charset="-120"/>
              </a:rPr>
              <a:t>Agent 调用链路</a:t>
            </a:r>
            <a:endParaRPr lang="en-US" sz="1200" dirty="0"/>
          </a:p>
          <a:p>
            <a:pPr marL="0" indent="0" algn="ctr">
              <a:buNone/>
            </a:pPr>
            <a:r>
              <a:rPr lang="en-US" sz="1200" dirty="0">
                <a:solidFill>
                  <a:srgbClr val="64748B"/>
                </a:solidFill>
                <a:latin typeface="Arial" pitchFamily="34" charset="0"/>
                <a:ea typeface="Arial" pitchFamily="34" charset="-122"/>
                <a:cs typeface="Arial" pitchFamily="34" charset="-120"/>
              </a:rPr>
              <a:t>实时监控</a:t>
            </a:r>
            <a:endParaRPr lang="en-US" sz="1200" dirty="0"/>
          </a:p>
        </p:txBody>
      </p:sp>
      <p:sp>
        <p:nvSpPr>
          <p:cNvPr id="10" name="Shape 8"/>
          <p:cNvSpPr/>
          <p:nvPr/>
        </p:nvSpPr>
        <p:spPr>
          <a:xfrm>
            <a:off x="2103120" y="1463040"/>
            <a:ext cx="1554480" cy="1828800"/>
          </a:xfrm>
          <a:prstGeom prst="rect">
            <a:avLst/>
          </a:prstGeom>
          <a:solidFill>
            <a:srgbClr val="E6F7F5"/>
          </a:solidFill>
          <a:ln/>
        </p:spPr>
        <p:txBody>
          <a:bodyPr/>
          <a:lstStyle/>
          <a:p>
            <a:endParaRPr lang="zh-CN" altLang="en-US"/>
          </a:p>
        </p:txBody>
      </p:sp>
      <p:sp>
        <p:nvSpPr>
          <p:cNvPr id="11" name="Shape 9"/>
          <p:cNvSpPr/>
          <p:nvPr/>
        </p:nvSpPr>
        <p:spPr>
          <a:xfrm>
            <a:off x="2103120" y="1463040"/>
            <a:ext cx="1554480" cy="54864"/>
          </a:xfrm>
          <a:prstGeom prst="rect">
            <a:avLst/>
          </a:prstGeom>
          <a:solidFill>
            <a:srgbClr val="22A699"/>
          </a:solidFill>
          <a:ln/>
        </p:spPr>
        <p:txBody>
          <a:bodyPr/>
          <a:lstStyle/>
          <a:p>
            <a:endParaRPr lang="zh-CN" altLang="en-US"/>
          </a:p>
        </p:txBody>
      </p:sp>
      <p:sp>
        <p:nvSpPr>
          <p:cNvPr id="12" name="Text 10"/>
          <p:cNvSpPr/>
          <p:nvPr/>
        </p:nvSpPr>
        <p:spPr>
          <a:xfrm>
            <a:off x="2103120" y="1691640"/>
            <a:ext cx="1554480" cy="365760"/>
          </a:xfrm>
          <a:prstGeom prst="rect">
            <a:avLst/>
          </a:prstGeom>
          <a:noFill/>
          <a:ln/>
        </p:spPr>
        <p:txBody>
          <a:bodyPr wrap="square" lIns="0" tIns="0" rIns="0" bIns="0" rtlCol="0" anchor="ctr"/>
          <a:lstStyle/>
          <a:p>
            <a:pPr marL="0" indent="0" algn="ctr">
              <a:buNone/>
            </a:pPr>
            <a:r>
              <a:rPr lang="en-US" sz="1500" b="1" dirty="0">
                <a:solidFill>
                  <a:srgbClr val="22A699"/>
                </a:solidFill>
                <a:latin typeface="Arial" pitchFamily="34" charset="0"/>
                <a:ea typeface="Arial" pitchFamily="34" charset="-122"/>
                <a:cs typeface="Arial" pitchFamily="34" charset="-120"/>
              </a:rPr>
              <a:t>日志</a:t>
            </a:r>
            <a:endParaRPr lang="en-US" sz="1500" dirty="0"/>
          </a:p>
        </p:txBody>
      </p:sp>
      <p:sp>
        <p:nvSpPr>
          <p:cNvPr id="13" name="Text 11"/>
          <p:cNvSpPr/>
          <p:nvPr/>
        </p:nvSpPr>
        <p:spPr>
          <a:xfrm>
            <a:off x="2194560" y="2194560"/>
            <a:ext cx="1371600" cy="822960"/>
          </a:xfrm>
          <a:prstGeom prst="rect">
            <a:avLst/>
          </a:prstGeom>
          <a:noFill/>
          <a:ln/>
        </p:spPr>
        <p:txBody>
          <a:bodyPr wrap="square" lIns="0" tIns="0" rIns="0" bIns="0" rtlCol="0" anchor="ctr"/>
          <a:lstStyle/>
          <a:p>
            <a:pPr marL="0" indent="0" algn="ctr">
              <a:buNone/>
            </a:pPr>
            <a:r>
              <a:rPr lang="en-US" sz="1200" dirty="0">
                <a:solidFill>
                  <a:srgbClr val="64748B"/>
                </a:solidFill>
                <a:latin typeface="Arial" pitchFamily="34" charset="0"/>
                <a:ea typeface="Arial" pitchFamily="34" charset="-122"/>
                <a:cs typeface="Arial" pitchFamily="34" charset="-120"/>
              </a:rPr>
              <a:t>结构化审计日志</a:t>
            </a:r>
            <a:endParaRPr lang="en-US" sz="1200" dirty="0"/>
          </a:p>
          <a:p>
            <a:pPr marL="0" indent="0" algn="ctr">
              <a:buNone/>
            </a:pPr>
            <a:r>
              <a:rPr lang="en-US" sz="1200" dirty="0">
                <a:solidFill>
                  <a:srgbClr val="64748B"/>
                </a:solidFill>
                <a:latin typeface="Arial" pitchFamily="34" charset="0"/>
                <a:ea typeface="Arial" pitchFamily="34" charset="-122"/>
                <a:cs typeface="Arial" pitchFamily="34" charset="-120"/>
              </a:rPr>
              <a:t>全量可追溯</a:t>
            </a:r>
            <a:endParaRPr lang="en-US" sz="1200" dirty="0"/>
          </a:p>
        </p:txBody>
      </p:sp>
      <p:sp>
        <p:nvSpPr>
          <p:cNvPr id="14" name="Shape 12"/>
          <p:cNvSpPr/>
          <p:nvPr/>
        </p:nvSpPr>
        <p:spPr>
          <a:xfrm>
            <a:off x="3840480" y="1463040"/>
            <a:ext cx="1554480" cy="1828800"/>
          </a:xfrm>
          <a:prstGeom prst="rect">
            <a:avLst/>
          </a:prstGeom>
          <a:solidFill>
            <a:srgbClr val="FEF3E6"/>
          </a:solidFill>
          <a:ln/>
        </p:spPr>
        <p:txBody>
          <a:bodyPr/>
          <a:lstStyle/>
          <a:p>
            <a:endParaRPr lang="zh-CN" altLang="en-US"/>
          </a:p>
        </p:txBody>
      </p:sp>
      <p:sp>
        <p:nvSpPr>
          <p:cNvPr id="15" name="Shape 13"/>
          <p:cNvSpPr/>
          <p:nvPr/>
        </p:nvSpPr>
        <p:spPr>
          <a:xfrm>
            <a:off x="3840480" y="1463040"/>
            <a:ext cx="1554480" cy="54864"/>
          </a:xfrm>
          <a:prstGeom prst="rect">
            <a:avLst/>
          </a:prstGeom>
          <a:solidFill>
            <a:srgbClr val="E78C07"/>
          </a:solidFill>
          <a:ln/>
        </p:spPr>
        <p:txBody>
          <a:bodyPr/>
          <a:lstStyle/>
          <a:p>
            <a:endParaRPr lang="zh-CN" altLang="en-US"/>
          </a:p>
        </p:txBody>
      </p:sp>
      <p:sp>
        <p:nvSpPr>
          <p:cNvPr id="16" name="Text 14"/>
          <p:cNvSpPr/>
          <p:nvPr/>
        </p:nvSpPr>
        <p:spPr>
          <a:xfrm>
            <a:off x="3840480" y="1691640"/>
            <a:ext cx="1554480" cy="365760"/>
          </a:xfrm>
          <a:prstGeom prst="rect">
            <a:avLst/>
          </a:prstGeom>
          <a:noFill/>
          <a:ln/>
        </p:spPr>
        <p:txBody>
          <a:bodyPr wrap="square" lIns="0" tIns="0" rIns="0" bIns="0" rtlCol="0" anchor="ctr"/>
          <a:lstStyle/>
          <a:p>
            <a:pPr marL="0" indent="0" algn="ctr">
              <a:buNone/>
            </a:pPr>
            <a:r>
              <a:rPr lang="en-US" sz="1500" b="1" dirty="0">
                <a:solidFill>
                  <a:srgbClr val="E78C07"/>
                </a:solidFill>
                <a:latin typeface="Arial" pitchFamily="34" charset="0"/>
                <a:ea typeface="Arial" pitchFamily="34" charset="-122"/>
                <a:cs typeface="Arial" pitchFamily="34" charset="-120"/>
              </a:rPr>
              <a:t>追踪</a:t>
            </a:r>
            <a:endParaRPr lang="en-US" sz="1500" dirty="0"/>
          </a:p>
        </p:txBody>
      </p:sp>
      <p:sp>
        <p:nvSpPr>
          <p:cNvPr id="17" name="Text 15"/>
          <p:cNvSpPr/>
          <p:nvPr/>
        </p:nvSpPr>
        <p:spPr>
          <a:xfrm>
            <a:off x="3931920" y="2194560"/>
            <a:ext cx="1371600" cy="822960"/>
          </a:xfrm>
          <a:prstGeom prst="rect">
            <a:avLst/>
          </a:prstGeom>
          <a:noFill/>
          <a:ln/>
        </p:spPr>
        <p:txBody>
          <a:bodyPr wrap="square" lIns="0" tIns="0" rIns="0" bIns="0" rtlCol="0" anchor="ctr"/>
          <a:lstStyle/>
          <a:p>
            <a:pPr marL="0" indent="0" algn="ctr">
              <a:buNone/>
            </a:pPr>
            <a:r>
              <a:rPr lang="en-US" sz="1200" dirty="0">
                <a:solidFill>
                  <a:srgbClr val="64748B"/>
                </a:solidFill>
                <a:latin typeface="Arial" pitchFamily="34" charset="0"/>
                <a:ea typeface="Arial" pitchFamily="34" charset="-122"/>
                <a:cs typeface="Arial" pitchFamily="34" charset="-120"/>
              </a:rPr>
              <a:t>请求链路跨系统</a:t>
            </a:r>
            <a:endParaRPr lang="en-US" sz="1200" dirty="0"/>
          </a:p>
          <a:p>
            <a:pPr marL="0" indent="0" algn="ctr">
              <a:buNone/>
            </a:pPr>
            <a:r>
              <a:rPr lang="en-US" sz="1200" dirty="0">
                <a:solidFill>
                  <a:srgbClr val="64748B"/>
                </a:solidFill>
                <a:latin typeface="Arial" pitchFamily="34" charset="0"/>
                <a:ea typeface="Arial" pitchFamily="34" charset="-122"/>
                <a:cs typeface="Arial" pitchFamily="34" charset="-120"/>
              </a:rPr>
              <a:t>端到端追踪</a:t>
            </a:r>
            <a:endParaRPr lang="en-US" sz="1200" dirty="0"/>
          </a:p>
        </p:txBody>
      </p:sp>
      <p:sp>
        <p:nvSpPr>
          <p:cNvPr id="18" name="Shape 16"/>
          <p:cNvSpPr/>
          <p:nvPr/>
        </p:nvSpPr>
        <p:spPr>
          <a:xfrm>
            <a:off x="5577840" y="1463040"/>
            <a:ext cx="1554480" cy="1828800"/>
          </a:xfrm>
          <a:prstGeom prst="rect">
            <a:avLst/>
          </a:prstGeom>
          <a:solidFill>
            <a:srgbClr val="FEF2F2"/>
          </a:solidFill>
          <a:ln/>
        </p:spPr>
        <p:txBody>
          <a:bodyPr/>
          <a:lstStyle/>
          <a:p>
            <a:endParaRPr lang="zh-CN" altLang="en-US"/>
          </a:p>
        </p:txBody>
      </p:sp>
      <p:sp>
        <p:nvSpPr>
          <p:cNvPr id="19" name="Shape 17"/>
          <p:cNvSpPr/>
          <p:nvPr/>
        </p:nvSpPr>
        <p:spPr>
          <a:xfrm>
            <a:off x="5577840" y="1463040"/>
            <a:ext cx="1554480" cy="54864"/>
          </a:xfrm>
          <a:prstGeom prst="rect">
            <a:avLst/>
          </a:prstGeom>
          <a:solidFill>
            <a:srgbClr val="BB0000"/>
          </a:solidFill>
          <a:ln/>
        </p:spPr>
        <p:txBody>
          <a:bodyPr/>
          <a:lstStyle/>
          <a:p>
            <a:endParaRPr lang="zh-CN" altLang="en-US"/>
          </a:p>
        </p:txBody>
      </p:sp>
      <p:sp>
        <p:nvSpPr>
          <p:cNvPr id="20" name="Text 18"/>
          <p:cNvSpPr/>
          <p:nvPr/>
        </p:nvSpPr>
        <p:spPr>
          <a:xfrm>
            <a:off x="5577840" y="1691640"/>
            <a:ext cx="1554480" cy="365760"/>
          </a:xfrm>
          <a:prstGeom prst="rect">
            <a:avLst/>
          </a:prstGeom>
          <a:noFill/>
          <a:ln/>
        </p:spPr>
        <p:txBody>
          <a:bodyPr wrap="square" lIns="0" tIns="0" rIns="0" bIns="0" rtlCol="0" anchor="ctr"/>
          <a:lstStyle/>
          <a:p>
            <a:pPr marL="0" indent="0" algn="ctr">
              <a:buNone/>
            </a:pPr>
            <a:r>
              <a:rPr lang="en-US" sz="1500" b="1" dirty="0">
                <a:solidFill>
                  <a:srgbClr val="BB0000"/>
                </a:solidFill>
                <a:latin typeface="Arial" pitchFamily="34" charset="0"/>
                <a:ea typeface="Arial" pitchFamily="34" charset="-122"/>
                <a:cs typeface="Arial" pitchFamily="34" charset="-120"/>
              </a:rPr>
              <a:t>告警</a:t>
            </a:r>
            <a:endParaRPr lang="en-US" sz="1500" dirty="0"/>
          </a:p>
        </p:txBody>
      </p:sp>
      <p:sp>
        <p:nvSpPr>
          <p:cNvPr id="21" name="Text 19"/>
          <p:cNvSpPr/>
          <p:nvPr/>
        </p:nvSpPr>
        <p:spPr>
          <a:xfrm>
            <a:off x="5669280" y="2194560"/>
            <a:ext cx="1371600" cy="822960"/>
          </a:xfrm>
          <a:prstGeom prst="rect">
            <a:avLst/>
          </a:prstGeom>
          <a:noFill/>
          <a:ln/>
        </p:spPr>
        <p:txBody>
          <a:bodyPr wrap="square" lIns="0" tIns="0" rIns="0" bIns="0" rtlCol="0" anchor="ctr"/>
          <a:lstStyle/>
          <a:p>
            <a:pPr marL="0" indent="0" algn="ctr">
              <a:buNone/>
            </a:pPr>
            <a:r>
              <a:rPr lang="en-US" sz="1200" dirty="0">
                <a:solidFill>
                  <a:srgbClr val="64748B"/>
                </a:solidFill>
                <a:latin typeface="Arial" pitchFamily="34" charset="0"/>
                <a:ea typeface="Arial" pitchFamily="34" charset="-122"/>
                <a:cs typeface="Arial" pitchFamily="34" charset="-120"/>
              </a:rPr>
              <a:t>异常行为实时</a:t>
            </a:r>
            <a:endParaRPr lang="en-US" sz="1200" dirty="0"/>
          </a:p>
          <a:p>
            <a:pPr marL="0" indent="0" algn="ctr">
              <a:buNone/>
            </a:pPr>
            <a:r>
              <a:rPr lang="en-US" sz="1200" dirty="0">
                <a:solidFill>
                  <a:srgbClr val="64748B"/>
                </a:solidFill>
                <a:latin typeface="Arial" pitchFamily="34" charset="0"/>
                <a:ea typeface="Arial" pitchFamily="34" charset="-122"/>
                <a:cs typeface="Arial" pitchFamily="34" charset="-120"/>
              </a:rPr>
              <a:t>告警与熔断</a:t>
            </a:r>
            <a:endParaRPr lang="en-US" sz="1200" dirty="0"/>
          </a:p>
        </p:txBody>
      </p:sp>
      <p:sp>
        <p:nvSpPr>
          <p:cNvPr id="22" name="Shape 20"/>
          <p:cNvSpPr/>
          <p:nvPr/>
        </p:nvSpPr>
        <p:spPr>
          <a:xfrm>
            <a:off x="7315200" y="1463040"/>
            <a:ext cx="1554480" cy="1828800"/>
          </a:xfrm>
          <a:prstGeom prst="rect">
            <a:avLst/>
          </a:prstGeom>
          <a:solidFill>
            <a:srgbClr val="EDF7ED"/>
          </a:solidFill>
          <a:ln/>
        </p:spPr>
        <p:txBody>
          <a:bodyPr/>
          <a:lstStyle/>
          <a:p>
            <a:endParaRPr lang="zh-CN" altLang="en-US"/>
          </a:p>
        </p:txBody>
      </p:sp>
      <p:sp>
        <p:nvSpPr>
          <p:cNvPr id="23" name="Shape 21"/>
          <p:cNvSpPr/>
          <p:nvPr/>
        </p:nvSpPr>
        <p:spPr>
          <a:xfrm>
            <a:off x="7315200" y="1463040"/>
            <a:ext cx="1554480" cy="54864"/>
          </a:xfrm>
          <a:prstGeom prst="rect">
            <a:avLst/>
          </a:prstGeom>
          <a:solidFill>
            <a:srgbClr val="107E3E"/>
          </a:solidFill>
          <a:ln/>
        </p:spPr>
        <p:txBody>
          <a:bodyPr/>
          <a:lstStyle/>
          <a:p>
            <a:endParaRPr lang="zh-CN" altLang="en-US"/>
          </a:p>
        </p:txBody>
      </p:sp>
      <p:sp>
        <p:nvSpPr>
          <p:cNvPr id="24" name="Text 22"/>
          <p:cNvSpPr/>
          <p:nvPr/>
        </p:nvSpPr>
        <p:spPr>
          <a:xfrm>
            <a:off x="7315200" y="1691640"/>
            <a:ext cx="1554480" cy="365760"/>
          </a:xfrm>
          <a:prstGeom prst="rect">
            <a:avLst/>
          </a:prstGeom>
          <a:noFill/>
          <a:ln/>
        </p:spPr>
        <p:txBody>
          <a:bodyPr wrap="square" lIns="0" tIns="0" rIns="0" bIns="0" rtlCol="0" anchor="ctr"/>
          <a:lstStyle/>
          <a:p>
            <a:pPr marL="0" indent="0" algn="ctr">
              <a:buNone/>
            </a:pPr>
            <a:r>
              <a:rPr lang="en-US" sz="1500" b="1" dirty="0">
                <a:solidFill>
                  <a:srgbClr val="107E3E"/>
                </a:solidFill>
                <a:latin typeface="Arial" pitchFamily="34" charset="0"/>
                <a:ea typeface="Arial" pitchFamily="34" charset="-122"/>
                <a:cs typeface="Arial" pitchFamily="34" charset="-120"/>
              </a:rPr>
              <a:t>多租户</a:t>
            </a:r>
            <a:endParaRPr lang="en-US" sz="1500" dirty="0"/>
          </a:p>
        </p:txBody>
      </p:sp>
      <p:sp>
        <p:nvSpPr>
          <p:cNvPr id="25" name="Text 23"/>
          <p:cNvSpPr/>
          <p:nvPr/>
        </p:nvSpPr>
        <p:spPr>
          <a:xfrm>
            <a:off x="7406640" y="2194560"/>
            <a:ext cx="1371600" cy="822960"/>
          </a:xfrm>
          <a:prstGeom prst="rect">
            <a:avLst/>
          </a:prstGeom>
          <a:noFill/>
          <a:ln/>
        </p:spPr>
        <p:txBody>
          <a:bodyPr wrap="square" lIns="0" tIns="0" rIns="0" bIns="0" rtlCol="0" anchor="ctr"/>
          <a:lstStyle/>
          <a:p>
            <a:pPr marL="0" indent="0" algn="ctr">
              <a:buNone/>
            </a:pPr>
            <a:r>
              <a:rPr lang="en-US" sz="1200" dirty="0">
                <a:solidFill>
                  <a:srgbClr val="64748B"/>
                </a:solidFill>
                <a:latin typeface="Arial" pitchFamily="34" charset="0"/>
                <a:ea typeface="Arial" pitchFamily="34" charset="-122"/>
                <a:cs typeface="Arial" pitchFamily="34" charset="-120"/>
              </a:rPr>
              <a:t>数据隔离 +</a:t>
            </a:r>
            <a:endParaRPr lang="en-US" sz="1200" dirty="0"/>
          </a:p>
          <a:p>
            <a:pPr marL="0" indent="0" algn="ctr">
              <a:buNone/>
            </a:pPr>
            <a:r>
              <a:rPr lang="en-US" sz="1200" dirty="0">
                <a:solidFill>
                  <a:srgbClr val="64748B"/>
                </a:solidFill>
                <a:latin typeface="Arial" pitchFamily="34" charset="0"/>
                <a:ea typeface="Arial" pitchFamily="34" charset="-122"/>
                <a:cs typeface="Arial" pitchFamily="34" charset="-120"/>
              </a:rPr>
              <a:t>权限隔离</a:t>
            </a:r>
            <a:endParaRPr lang="en-US" sz="1200" dirty="0"/>
          </a:p>
        </p:txBody>
      </p:sp>
      <p:sp>
        <p:nvSpPr>
          <p:cNvPr id="26" name="Shape 24"/>
          <p:cNvSpPr/>
          <p:nvPr/>
        </p:nvSpPr>
        <p:spPr>
          <a:xfrm>
            <a:off x="548640" y="3566160"/>
            <a:ext cx="8046720" cy="914400"/>
          </a:xfrm>
          <a:prstGeom prst="rect">
            <a:avLst/>
          </a:prstGeom>
          <a:solidFill>
            <a:srgbClr val="F1F5F9"/>
          </a:solidFill>
          <a:ln/>
        </p:spPr>
        <p:txBody>
          <a:bodyPr/>
          <a:lstStyle/>
          <a:p>
            <a:endParaRPr lang="zh-CN" altLang="en-US"/>
          </a:p>
        </p:txBody>
      </p:sp>
      <p:sp>
        <p:nvSpPr>
          <p:cNvPr id="27" name="Text 25"/>
          <p:cNvSpPr/>
          <p:nvPr/>
        </p:nvSpPr>
        <p:spPr>
          <a:xfrm>
            <a:off x="731520" y="3657600"/>
            <a:ext cx="1828800" cy="320040"/>
          </a:xfrm>
          <a:prstGeom prst="rect">
            <a:avLst/>
          </a:prstGeom>
          <a:noFill/>
          <a:ln/>
        </p:spPr>
        <p:txBody>
          <a:bodyPr wrap="square" lIns="0" tIns="0" rIns="0" bIns="0" rtlCol="0" anchor="ctr"/>
          <a:lstStyle/>
          <a:p>
            <a:pPr marL="0" indent="0">
              <a:buNone/>
            </a:pPr>
            <a:r>
              <a:rPr lang="en-US" sz="1400" b="1" dirty="0">
                <a:solidFill>
                  <a:srgbClr val="065A82"/>
                </a:solidFill>
                <a:latin typeface="Arial" pitchFamily="34" charset="0"/>
                <a:ea typeface="Arial" pitchFamily="34" charset="-122"/>
                <a:cs typeface="Arial" pitchFamily="34" charset="-120"/>
              </a:rPr>
              <a:t>国产化适配</a:t>
            </a:r>
            <a:endParaRPr lang="en-US" sz="1400" dirty="0"/>
          </a:p>
        </p:txBody>
      </p:sp>
      <p:sp>
        <p:nvSpPr>
          <p:cNvPr id="28" name="Text 26"/>
          <p:cNvSpPr/>
          <p:nvPr/>
        </p:nvSpPr>
        <p:spPr>
          <a:xfrm>
            <a:off x="731520" y="4023360"/>
            <a:ext cx="7680960" cy="320040"/>
          </a:xfrm>
          <a:prstGeom prst="rect">
            <a:avLst/>
          </a:prstGeom>
          <a:noFill/>
          <a:ln/>
        </p:spPr>
        <p:txBody>
          <a:bodyPr wrap="square" lIns="0" tIns="0" rIns="0" bIns="0" rtlCol="0" anchor="ctr"/>
          <a:lstStyle/>
          <a:p>
            <a:pPr marL="0" indent="0">
              <a:buNone/>
            </a:pPr>
            <a:r>
              <a:rPr lang="en-US" sz="1200" dirty="0">
                <a:solidFill>
                  <a:srgbClr val="64748B"/>
                </a:solidFill>
                <a:latin typeface="Arial" pitchFamily="34" charset="0"/>
                <a:ea typeface="Arial" pitchFamily="34" charset="-122"/>
                <a:cs typeface="Arial" pitchFamily="34" charset="-120"/>
              </a:rPr>
              <a:t>支持国产数据库（达梦 / 人大金仓）· 国产操作系统（麒麟 / 统信）· 信创合规</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2A699"/>
          </a:solidFill>
          <a:ln/>
        </p:spPr>
        <p:txBody>
          <a:bodyPr/>
          <a:lstStyle/>
          <a:p>
            <a:endParaRPr lang="zh-CN" altLang="en-US"/>
          </a:p>
        </p:txBody>
      </p:sp>
      <p:sp>
        <p:nvSpPr>
          <p:cNvPr id="3" name="Text 1"/>
          <p:cNvSpPr/>
          <p:nvPr/>
        </p:nvSpPr>
        <p:spPr>
          <a:xfrm>
            <a:off x="548640" y="274320"/>
            <a:ext cx="8046720" cy="457200"/>
          </a:xfrm>
          <a:prstGeom prst="rect">
            <a:avLst/>
          </a:prstGeom>
          <a:noFill/>
          <a:ln/>
        </p:spPr>
        <p:txBody>
          <a:bodyPr wrap="square" lIns="0" tIns="0" rIns="0" bIns="0" rtlCol="0" anchor="ctr"/>
          <a:lstStyle/>
          <a:p>
            <a:pPr marL="0" indent="0">
              <a:buNone/>
            </a:pPr>
            <a:r>
              <a:rPr lang="en-US" sz="2400" b="1" dirty="0">
                <a:solidFill>
                  <a:srgbClr val="1E293B"/>
                </a:solidFill>
                <a:latin typeface="Arial" pitchFamily="34" charset="0"/>
                <a:ea typeface="Arial" pitchFamily="34" charset="-122"/>
                <a:cs typeface="Arial" pitchFamily="34" charset="-120"/>
              </a:rPr>
              <a:t>产品路线图</a:t>
            </a:r>
            <a:endParaRPr lang="en-US" sz="2400" dirty="0"/>
          </a:p>
        </p:txBody>
      </p:sp>
      <p:sp>
        <p:nvSpPr>
          <p:cNvPr id="4" name="Shape 2"/>
          <p:cNvSpPr/>
          <p:nvPr/>
        </p:nvSpPr>
        <p:spPr>
          <a:xfrm>
            <a:off x="548640" y="1554480"/>
            <a:ext cx="8046720" cy="36576"/>
          </a:xfrm>
          <a:prstGeom prst="rect">
            <a:avLst/>
          </a:prstGeom>
          <a:solidFill>
            <a:srgbClr val="E2E8F0"/>
          </a:solidFill>
          <a:ln/>
        </p:spPr>
        <p:txBody>
          <a:bodyPr/>
          <a:lstStyle/>
          <a:p>
            <a:endParaRPr lang="zh-CN" altLang="en-US"/>
          </a:p>
        </p:txBody>
      </p:sp>
      <p:sp>
        <p:nvSpPr>
          <p:cNvPr id="5" name="Shape 3"/>
          <p:cNvSpPr/>
          <p:nvPr/>
        </p:nvSpPr>
        <p:spPr>
          <a:xfrm>
            <a:off x="1280160" y="1444752"/>
            <a:ext cx="228600" cy="228600"/>
          </a:xfrm>
          <a:prstGeom prst="ellipse">
            <a:avLst/>
          </a:prstGeom>
          <a:solidFill>
            <a:srgbClr val="22A699"/>
          </a:solidFill>
          <a:ln/>
        </p:spPr>
        <p:txBody>
          <a:bodyPr/>
          <a:lstStyle/>
          <a:p>
            <a:endParaRPr lang="zh-CN" altLang="en-US"/>
          </a:p>
        </p:txBody>
      </p:sp>
      <p:sp>
        <p:nvSpPr>
          <p:cNvPr id="6" name="Text 4"/>
          <p:cNvSpPr/>
          <p:nvPr/>
        </p:nvSpPr>
        <p:spPr>
          <a:xfrm>
            <a:off x="548640" y="1051560"/>
            <a:ext cx="1920240" cy="320040"/>
          </a:xfrm>
          <a:prstGeom prst="rect">
            <a:avLst/>
          </a:prstGeom>
          <a:noFill/>
          <a:ln/>
        </p:spPr>
        <p:txBody>
          <a:bodyPr wrap="square" lIns="0" tIns="0" rIns="0" bIns="0" rtlCol="0" anchor="ctr"/>
          <a:lstStyle/>
          <a:p>
            <a:pPr marL="0" indent="0" algn="ctr">
              <a:buNone/>
            </a:pPr>
            <a:r>
              <a:rPr lang="en-US" sz="1800" b="1" dirty="0">
                <a:solidFill>
                  <a:srgbClr val="22A699"/>
                </a:solidFill>
                <a:latin typeface="Arial" pitchFamily="34" charset="0"/>
                <a:ea typeface="Arial" pitchFamily="34" charset="-122"/>
                <a:cs typeface="Arial" pitchFamily="34" charset="-120"/>
              </a:rPr>
              <a:t>MVP</a:t>
            </a:r>
            <a:endParaRPr lang="en-US" sz="1800" dirty="0"/>
          </a:p>
        </p:txBody>
      </p:sp>
      <p:sp>
        <p:nvSpPr>
          <p:cNvPr id="7" name="Text 5"/>
          <p:cNvSpPr/>
          <p:nvPr/>
        </p:nvSpPr>
        <p:spPr>
          <a:xfrm>
            <a:off x="548640" y="777240"/>
            <a:ext cx="1920240" cy="274320"/>
          </a:xfrm>
          <a:prstGeom prst="rect">
            <a:avLst/>
          </a:prstGeom>
          <a:noFill/>
          <a:ln/>
        </p:spPr>
        <p:txBody>
          <a:bodyPr wrap="square" lIns="0" tIns="0" rIns="0" bIns="0" rtlCol="0" anchor="ctr"/>
          <a:lstStyle/>
          <a:p>
            <a:pPr marL="0" indent="0" algn="ctr">
              <a:buNone/>
            </a:pPr>
            <a:r>
              <a:rPr lang="en-US" sz="1200" dirty="0">
                <a:solidFill>
                  <a:srgbClr val="64748B"/>
                </a:solidFill>
                <a:latin typeface="Arial" pitchFamily="34" charset="0"/>
                <a:ea typeface="Arial" pitchFamily="34" charset="-122"/>
                <a:cs typeface="Arial" pitchFamily="34" charset="-120"/>
              </a:rPr>
              <a:t>Q3 2026</a:t>
            </a:r>
            <a:endParaRPr lang="en-US" sz="1200" dirty="0"/>
          </a:p>
        </p:txBody>
      </p:sp>
      <p:sp>
        <p:nvSpPr>
          <p:cNvPr id="8" name="Shape 6"/>
          <p:cNvSpPr/>
          <p:nvPr/>
        </p:nvSpPr>
        <p:spPr>
          <a:xfrm>
            <a:off x="548640" y="1920240"/>
            <a:ext cx="1920240" cy="1463040"/>
          </a:xfrm>
          <a:prstGeom prst="rect">
            <a:avLst/>
          </a:prstGeom>
          <a:solidFill>
            <a:srgbClr val="F1F5F9"/>
          </a:solidFill>
          <a:ln/>
        </p:spPr>
        <p:txBody>
          <a:bodyPr/>
          <a:lstStyle/>
          <a:p>
            <a:endParaRPr lang="zh-CN" altLang="en-US"/>
          </a:p>
        </p:txBody>
      </p:sp>
      <p:sp>
        <p:nvSpPr>
          <p:cNvPr id="9" name="Text 7"/>
          <p:cNvSpPr/>
          <p:nvPr/>
        </p:nvSpPr>
        <p:spPr>
          <a:xfrm>
            <a:off x="685800" y="2057400"/>
            <a:ext cx="1645920" cy="347472"/>
          </a:xfrm>
          <a:prstGeom prst="rect">
            <a:avLst/>
          </a:prstGeom>
          <a:noFill/>
          <a:ln/>
        </p:spPr>
        <p:txBody>
          <a:bodyPr wrap="square" lIns="0" tIns="0" rIns="0" bIns="0" rtlCol="0" anchor="ctr"/>
          <a:lstStyle/>
          <a:p>
            <a:pPr marL="0" indent="0">
              <a:buNone/>
            </a:pPr>
            <a:r>
              <a:rPr lang="en-US" sz="1200" dirty="0">
                <a:solidFill>
                  <a:srgbClr val="1E293B"/>
                </a:solidFill>
                <a:latin typeface="Arial" pitchFamily="34" charset="0"/>
                <a:ea typeface="Arial" pitchFamily="34" charset="-122"/>
                <a:cs typeface="Arial" pitchFamily="34" charset="-120"/>
              </a:rPr>
              <a:t>本体建模核心</a:t>
            </a:r>
            <a:endParaRPr lang="en-US" sz="1200" dirty="0"/>
          </a:p>
        </p:txBody>
      </p:sp>
      <p:sp>
        <p:nvSpPr>
          <p:cNvPr id="10" name="Shape 8"/>
          <p:cNvSpPr/>
          <p:nvPr/>
        </p:nvSpPr>
        <p:spPr>
          <a:xfrm>
            <a:off x="621792" y="2185416"/>
            <a:ext cx="45720" cy="45720"/>
          </a:xfrm>
          <a:prstGeom prst="rect">
            <a:avLst/>
          </a:prstGeom>
          <a:solidFill>
            <a:srgbClr val="22A699"/>
          </a:solidFill>
          <a:ln/>
        </p:spPr>
        <p:txBody>
          <a:bodyPr/>
          <a:lstStyle/>
          <a:p>
            <a:endParaRPr lang="zh-CN" altLang="en-US"/>
          </a:p>
        </p:txBody>
      </p:sp>
      <p:sp>
        <p:nvSpPr>
          <p:cNvPr id="11" name="Text 9"/>
          <p:cNvSpPr/>
          <p:nvPr/>
        </p:nvSpPr>
        <p:spPr>
          <a:xfrm>
            <a:off x="685800" y="2441448"/>
            <a:ext cx="1645920" cy="347472"/>
          </a:xfrm>
          <a:prstGeom prst="rect">
            <a:avLst/>
          </a:prstGeom>
          <a:noFill/>
          <a:ln/>
        </p:spPr>
        <p:txBody>
          <a:bodyPr wrap="square" lIns="0" tIns="0" rIns="0" bIns="0" rtlCol="0" anchor="ctr"/>
          <a:lstStyle/>
          <a:p>
            <a:pPr marL="0" indent="0">
              <a:buNone/>
            </a:pPr>
            <a:r>
              <a:rPr lang="en-US" sz="1200" dirty="0">
                <a:solidFill>
                  <a:srgbClr val="1E293B"/>
                </a:solidFill>
                <a:latin typeface="Arial" pitchFamily="34" charset="0"/>
                <a:ea typeface="Arial" pitchFamily="34" charset="-122"/>
                <a:cs typeface="Arial" pitchFamily="34" charset="-120"/>
              </a:rPr>
              <a:t>MCP 工具发布</a:t>
            </a:r>
            <a:endParaRPr lang="en-US" sz="1200" dirty="0"/>
          </a:p>
        </p:txBody>
      </p:sp>
      <p:sp>
        <p:nvSpPr>
          <p:cNvPr id="12" name="Shape 10"/>
          <p:cNvSpPr/>
          <p:nvPr/>
        </p:nvSpPr>
        <p:spPr>
          <a:xfrm>
            <a:off x="621792" y="2569464"/>
            <a:ext cx="45720" cy="45720"/>
          </a:xfrm>
          <a:prstGeom prst="rect">
            <a:avLst/>
          </a:prstGeom>
          <a:solidFill>
            <a:srgbClr val="22A699"/>
          </a:solidFill>
          <a:ln/>
        </p:spPr>
        <p:txBody>
          <a:bodyPr/>
          <a:lstStyle/>
          <a:p>
            <a:endParaRPr lang="zh-CN" altLang="en-US"/>
          </a:p>
        </p:txBody>
      </p:sp>
      <p:sp>
        <p:nvSpPr>
          <p:cNvPr id="13" name="Text 11"/>
          <p:cNvSpPr/>
          <p:nvPr/>
        </p:nvSpPr>
        <p:spPr>
          <a:xfrm>
            <a:off x="685800" y="2825496"/>
            <a:ext cx="1645920" cy="347472"/>
          </a:xfrm>
          <a:prstGeom prst="rect">
            <a:avLst/>
          </a:prstGeom>
          <a:noFill/>
          <a:ln/>
        </p:spPr>
        <p:txBody>
          <a:bodyPr wrap="square" lIns="0" tIns="0" rIns="0" bIns="0" rtlCol="0" anchor="ctr"/>
          <a:lstStyle/>
          <a:p>
            <a:pPr marL="0" indent="0">
              <a:buNone/>
            </a:pPr>
            <a:r>
              <a:rPr lang="en-US" sz="1200" dirty="0">
                <a:solidFill>
                  <a:srgbClr val="1E293B"/>
                </a:solidFill>
                <a:latin typeface="Arial" pitchFamily="34" charset="0"/>
                <a:ea typeface="Arial" pitchFamily="34" charset="-122"/>
                <a:cs typeface="Arial" pitchFamily="34" charset="-120"/>
              </a:rPr>
              <a:t>基础权限控制</a:t>
            </a:r>
            <a:endParaRPr lang="en-US" sz="1200" dirty="0"/>
          </a:p>
        </p:txBody>
      </p:sp>
      <p:sp>
        <p:nvSpPr>
          <p:cNvPr id="14" name="Shape 12"/>
          <p:cNvSpPr/>
          <p:nvPr/>
        </p:nvSpPr>
        <p:spPr>
          <a:xfrm>
            <a:off x="621792" y="2953512"/>
            <a:ext cx="45720" cy="45720"/>
          </a:xfrm>
          <a:prstGeom prst="rect">
            <a:avLst/>
          </a:prstGeom>
          <a:solidFill>
            <a:srgbClr val="22A699"/>
          </a:solidFill>
          <a:ln/>
        </p:spPr>
        <p:txBody>
          <a:bodyPr/>
          <a:lstStyle/>
          <a:p>
            <a:endParaRPr lang="zh-CN" altLang="en-US"/>
          </a:p>
        </p:txBody>
      </p:sp>
      <p:sp>
        <p:nvSpPr>
          <p:cNvPr id="15" name="Shape 13"/>
          <p:cNvSpPr/>
          <p:nvPr/>
        </p:nvSpPr>
        <p:spPr>
          <a:xfrm>
            <a:off x="3429000" y="1444752"/>
            <a:ext cx="228600" cy="228600"/>
          </a:xfrm>
          <a:prstGeom prst="ellipse">
            <a:avLst/>
          </a:prstGeom>
          <a:solidFill>
            <a:srgbClr val="065A82"/>
          </a:solidFill>
          <a:ln/>
        </p:spPr>
        <p:txBody>
          <a:bodyPr/>
          <a:lstStyle/>
          <a:p>
            <a:endParaRPr lang="zh-CN" altLang="en-US"/>
          </a:p>
        </p:txBody>
      </p:sp>
      <p:sp>
        <p:nvSpPr>
          <p:cNvPr id="16" name="Text 14"/>
          <p:cNvSpPr/>
          <p:nvPr/>
        </p:nvSpPr>
        <p:spPr>
          <a:xfrm>
            <a:off x="2697480" y="1051560"/>
            <a:ext cx="1920240" cy="320040"/>
          </a:xfrm>
          <a:prstGeom prst="rect">
            <a:avLst/>
          </a:prstGeom>
          <a:noFill/>
          <a:ln/>
        </p:spPr>
        <p:txBody>
          <a:bodyPr wrap="square" lIns="0" tIns="0" rIns="0" bIns="0" rtlCol="0" anchor="ctr"/>
          <a:lstStyle/>
          <a:p>
            <a:pPr marL="0" indent="0" algn="ctr">
              <a:buNone/>
            </a:pPr>
            <a:r>
              <a:rPr lang="en-US" sz="1800" b="1" dirty="0">
                <a:solidFill>
                  <a:srgbClr val="065A82"/>
                </a:solidFill>
                <a:latin typeface="Arial" pitchFamily="34" charset="0"/>
                <a:ea typeface="Arial" pitchFamily="34" charset="-122"/>
                <a:cs typeface="Arial" pitchFamily="34" charset="-120"/>
              </a:rPr>
              <a:t>V1.5</a:t>
            </a:r>
            <a:endParaRPr lang="en-US" sz="1800" dirty="0"/>
          </a:p>
        </p:txBody>
      </p:sp>
      <p:sp>
        <p:nvSpPr>
          <p:cNvPr id="17" name="Text 15"/>
          <p:cNvSpPr/>
          <p:nvPr/>
        </p:nvSpPr>
        <p:spPr>
          <a:xfrm>
            <a:off x="2697480" y="777240"/>
            <a:ext cx="1920240" cy="274320"/>
          </a:xfrm>
          <a:prstGeom prst="rect">
            <a:avLst/>
          </a:prstGeom>
          <a:noFill/>
          <a:ln/>
        </p:spPr>
        <p:txBody>
          <a:bodyPr wrap="square" lIns="0" tIns="0" rIns="0" bIns="0" rtlCol="0" anchor="ctr"/>
          <a:lstStyle/>
          <a:p>
            <a:pPr marL="0" indent="0" algn="ctr">
              <a:buNone/>
            </a:pPr>
            <a:r>
              <a:rPr lang="en-US" sz="1200" dirty="0">
                <a:solidFill>
                  <a:srgbClr val="64748B"/>
                </a:solidFill>
                <a:latin typeface="Arial" pitchFamily="34" charset="0"/>
                <a:ea typeface="Arial" pitchFamily="34" charset="-122"/>
                <a:cs typeface="Arial" pitchFamily="34" charset="-120"/>
              </a:rPr>
              <a:t>Q4 2026</a:t>
            </a:r>
            <a:endParaRPr lang="en-US" sz="1200" dirty="0"/>
          </a:p>
        </p:txBody>
      </p:sp>
      <p:sp>
        <p:nvSpPr>
          <p:cNvPr id="18" name="Shape 16"/>
          <p:cNvSpPr/>
          <p:nvPr/>
        </p:nvSpPr>
        <p:spPr>
          <a:xfrm>
            <a:off x="2697480" y="1920240"/>
            <a:ext cx="1920240" cy="1463040"/>
          </a:xfrm>
          <a:prstGeom prst="rect">
            <a:avLst/>
          </a:prstGeom>
          <a:solidFill>
            <a:srgbClr val="F1F5F9"/>
          </a:solidFill>
          <a:ln/>
        </p:spPr>
        <p:txBody>
          <a:bodyPr/>
          <a:lstStyle/>
          <a:p>
            <a:endParaRPr lang="zh-CN" altLang="en-US"/>
          </a:p>
        </p:txBody>
      </p:sp>
      <p:sp>
        <p:nvSpPr>
          <p:cNvPr id="19" name="Text 17"/>
          <p:cNvSpPr/>
          <p:nvPr/>
        </p:nvSpPr>
        <p:spPr>
          <a:xfrm>
            <a:off x="2834640" y="2057400"/>
            <a:ext cx="1645920" cy="347472"/>
          </a:xfrm>
          <a:prstGeom prst="rect">
            <a:avLst/>
          </a:prstGeom>
          <a:noFill/>
          <a:ln/>
        </p:spPr>
        <p:txBody>
          <a:bodyPr wrap="square" lIns="0" tIns="0" rIns="0" bIns="0" rtlCol="0" anchor="ctr"/>
          <a:lstStyle/>
          <a:p>
            <a:pPr marL="0" indent="0">
              <a:buNone/>
            </a:pPr>
            <a:r>
              <a:rPr lang="en-US" sz="1200" dirty="0">
                <a:solidFill>
                  <a:srgbClr val="1E293B"/>
                </a:solidFill>
                <a:latin typeface="Arial" pitchFamily="34" charset="0"/>
                <a:ea typeface="Arial" pitchFamily="34" charset="-122"/>
                <a:cs typeface="Arial" pitchFamily="34" charset="-120"/>
              </a:rPr>
              <a:t>可视化建模器</a:t>
            </a:r>
            <a:endParaRPr lang="en-US" sz="1200" dirty="0"/>
          </a:p>
        </p:txBody>
      </p:sp>
      <p:sp>
        <p:nvSpPr>
          <p:cNvPr id="20" name="Shape 18"/>
          <p:cNvSpPr/>
          <p:nvPr/>
        </p:nvSpPr>
        <p:spPr>
          <a:xfrm>
            <a:off x="2770632" y="2185416"/>
            <a:ext cx="45720" cy="45720"/>
          </a:xfrm>
          <a:prstGeom prst="rect">
            <a:avLst/>
          </a:prstGeom>
          <a:solidFill>
            <a:srgbClr val="065A82"/>
          </a:solidFill>
          <a:ln/>
        </p:spPr>
        <p:txBody>
          <a:bodyPr/>
          <a:lstStyle/>
          <a:p>
            <a:endParaRPr lang="zh-CN" altLang="en-US"/>
          </a:p>
        </p:txBody>
      </p:sp>
      <p:sp>
        <p:nvSpPr>
          <p:cNvPr id="21" name="Text 19"/>
          <p:cNvSpPr/>
          <p:nvPr/>
        </p:nvSpPr>
        <p:spPr>
          <a:xfrm>
            <a:off x="2834640" y="2441448"/>
            <a:ext cx="1645920" cy="347472"/>
          </a:xfrm>
          <a:prstGeom prst="rect">
            <a:avLst/>
          </a:prstGeom>
          <a:noFill/>
          <a:ln/>
        </p:spPr>
        <p:txBody>
          <a:bodyPr wrap="square" lIns="0" tIns="0" rIns="0" bIns="0" rtlCol="0" anchor="ctr"/>
          <a:lstStyle/>
          <a:p>
            <a:pPr marL="0" indent="0">
              <a:buNone/>
            </a:pPr>
            <a:r>
              <a:rPr lang="en-US" sz="1200" dirty="0">
                <a:solidFill>
                  <a:srgbClr val="1E293B"/>
                </a:solidFill>
                <a:latin typeface="Arial" pitchFamily="34" charset="0"/>
                <a:ea typeface="Arial" pitchFamily="34" charset="-122"/>
                <a:cs typeface="Arial" pitchFamily="34" charset="-120"/>
              </a:rPr>
              <a:t>版本管理</a:t>
            </a:r>
            <a:endParaRPr lang="en-US" sz="1200" dirty="0"/>
          </a:p>
        </p:txBody>
      </p:sp>
      <p:sp>
        <p:nvSpPr>
          <p:cNvPr id="22" name="Shape 20"/>
          <p:cNvSpPr/>
          <p:nvPr/>
        </p:nvSpPr>
        <p:spPr>
          <a:xfrm>
            <a:off x="2770632" y="2569464"/>
            <a:ext cx="45720" cy="45720"/>
          </a:xfrm>
          <a:prstGeom prst="rect">
            <a:avLst/>
          </a:prstGeom>
          <a:solidFill>
            <a:srgbClr val="065A82"/>
          </a:solidFill>
          <a:ln/>
        </p:spPr>
        <p:txBody>
          <a:bodyPr/>
          <a:lstStyle/>
          <a:p>
            <a:endParaRPr lang="zh-CN" altLang="en-US"/>
          </a:p>
        </p:txBody>
      </p:sp>
      <p:sp>
        <p:nvSpPr>
          <p:cNvPr id="23" name="Text 21"/>
          <p:cNvSpPr/>
          <p:nvPr/>
        </p:nvSpPr>
        <p:spPr>
          <a:xfrm>
            <a:off x="2834640" y="2825496"/>
            <a:ext cx="1645920" cy="347472"/>
          </a:xfrm>
          <a:prstGeom prst="rect">
            <a:avLst/>
          </a:prstGeom>
          <a:noFill/>
          <a:ln/>
        </p:spPr>
        <p:txBody>
          <a:bodyPr wrap="square" lIns="0" tIns="0" rIns="0" bIns="0" rtlCol="0" anchor="ctr"/>
          <a:lstStyle/>
          <a:p>
            <a:pPr marL="0" indent="0">
              <a:buNone/>
            </a:pPr>
            <a:r>
              <a:rPr lang="en-US" sz="1200" dirty="0">
                <a:solidFill>
                  <a:srgbClr val="1E293B"/>
                </a:solidFill>
                <a:latin typeface="Arial" pitchFamily="34" charset="0"/>
                <a:ea typeface="Arial" pitchFamily="34" charset="-122"/>
                <a:cs typeface="Arial" pitchFamily="34" charset="-120"/>
              </a:rPr>
              <a:t>Agent 运行监控</a:t>
            </a:r>
            <a:endParaRPr lang="en-US" sz="1200" dirty="0"/>
          </a:p>
        </p:txBody>
      </p:sp>
      <p:sp>
        <p:nvSpPr>
          <p:cNvPr id="24" name="Shape 22"/>
          <p:cNvSpPr/>
          <p:nvPr/>
        </p:nvSpPr>
        <p:spPr>
          <a:xfrm>
            <a:off x="2770632" y="2953512"/>
            <a:ext cx="45720" cy="45720"/>
          </a:xfrm>
          <a:prstGeom prst="rect">
            <a:avLst/>
          </a:prstGeom>
          <a:solidFill>
            <a:srgbClr val="065A82"/>
          </a:solidFill>
          <a:ln/>
        </p:spPr>
        <p:txBody>
          <a:bodyPr/>
          <a:lstStyle/>
          <a:p>
            <a:endParaRPr lang="zh-CN" altLang="en-US"/>
          </a:p>
        </p:txBody>
      </p:sp>
      <p:sp>
        <p:nvSpPr>
          <p:cNvPr id="25" name="Shape 23"/>
          <p:cNvSpPr/>
          <p:nvPr/>
        </p:nvSpPr>
        <p:spPr>
          <a:xfrm>
            <a:off x="5577840" y="1444752"/>
            <a:ext cx="228600" cy="228600"/>
          </a:xfrm>
          <a:prstGeom prst="ellipse">
            <a:avLst/>
          </a:prstGeom>
          <a:solidFill>
            <a:srgbClr val="E78C07"/>
          </a:solidFill>
          <a:ln/>
        </p:spPr>
        <p:txBody>
          <a:bodyPr/>
          <a:lstStyle/>
          <a:p>
            <a:endParaRPr lang="zh-CN" altLang="en-US"/>
          </a:p>
        </p:txBody>
      </p:sp>
      <p:sp>
        <p:nvSpPr>
          <p:cNvPr id="26" name="Text 24"/>
          <p:cNvSpPr/>
          <p:nvPr/>
        </p:nvSpPr>
        <p:spPr>
          <a:xfrm>
            <a:off x="4846320" y="1051560"/>
            <a:ext cx="1920240" cy="320040"/>
          </a:xfrm>
          <a:prstGeom prst="rect">
            <a:avLst/>
          </a:prstGeom>
          <a:noFill/>
          <a:ln/>
        </p:spPr>
        <p:txBody>
          <a:bodyPr wrap="square" lIns="0" tIns="0" rIns="0" bIns="0" rtlCol="0" anchor="ctr"/>
          <a:lstStyle/>
          <a:p>
            <a:pPr marL="0" indent="0" algn="ctr">
              <a:buNone/>
            </a:pPr>
            <a:r>
              <a:rPr lang="en-US" sz="1800" b="1" dirty="0">
                <a:solidFill>
                  <a:srgbClr val="E78C07"/>
                </a:solidFill>
                <a:latin typeface="Arial" pitchFamily="34" charset="0"/>
                <a:ea typeface="Arial" pitchFamily="34" charset="-122"/>
                <a:cs typeface="Arial" pitchFamily="34" charset="-120"/>
              </a:rPr>
              <a:t>V2.0</a:t>
            </a:r>
            <a:endParaRPr lang="en-US" sz="1800" dirty="0"/>
          </a:p>
        </p:txBody>
      </p:sp>
      <p:sp>
        <p:nvSpPr>
          <p:cNvPr id="27" name="Text 25"/>
          <p:cNvSpPr/>
          <p:nvPr/>
        </p:nvSpPr>
        <p:spPr>
          <a:xfrm>
            <a:off x="4846320" y="777240"/>
            <a:ext cx="1920240" cy="274320"/>
          </a:xfrm>
          <a:prstGeom prst="rect">
            <a:avLst/>
          </a:prstGeom>
          <a:noFill/>
          <a:ln/>
        </p:spPr>
        <p:txBody>
          <a:bodyPr wrap="square" lIns="0" tIns="0" rIns="0" bIns="0" rtlCol="0" anchor="ctr"/>
          <a:lstStyle/>
          <a:p>
            <a:pPr marL="0" indent="0" algn="ctr">
              <a:buNone/>
            </a:pPr>
            <a:r>
              <a:rPr lang="en-US" sz="1200" dirty="0">
                <a:solidFill>
                  <a:srgbClr val="64748B"/>
                </a:solidFill>
                <a:latin typeface="Arial" pitchFamily="34" charset="0"/>
                <a:ea typeface="Arial" pitchFamily="34" charset="-122"/>
                <a:cs typeface="Arial" pitchFamily="34" charset="-120"/>
              </a:rPr>
              <a:t>Q1 2027</a:t>
            </a:r>
            <a:endParaRPr lang="en-US" sz="1200" dirty="0"/>
          </a:p>
        </p:txBody>
      </p:sp>
      <p:sp>
        <p:nvSpPr>
          <p:cNvPr id="28" name="Shape 26"/>
          <p:cNvSpPr/>
          <p:nvPr/>
        </p:nvSpPr>
        <p:spPr>
          <a:xfrm>
            <a:off x="4846320" y="1920240"/>
            <a:ext cx="1920240" cy="1463040"/>
          </a:xfrm>
          <a:prstGeom prst="rect">
            <a:avLst/>
          </a:prstGeom>
          <a:solidFill>
            <a:srgbClr val="F1F5F9"/>
          </a:solidFill>
          <a:ln/>
        </p:spPr>
        <p:txBody>
          <a:bodyPr/>
          <a:lstStyle/>
          <a:p>
            <a:endParaRPr lang="zh-CN" altLang="en-US"/>
          </a:p>
        </p:txBody>
      </p:sp>
      <p:sp>
        <p:nvSpPr>
          <p:cNvPr id="29" name="Text 27"/>
          <p:cNvSpPr/>
          <p:nvPr/>
        </p:nvSpPr>
        <p:spPr>
          <a:xfrm>
            <a:off x="4983480" y="2057400"/>
            <a:ext cx="1645920" cy="347472"/>
          </a:xfrm>
          <a:prstGeom prst="rect">
            <a:avLst/>
          </a:prstGeom>
          <a:noFill/>
          <a:ln/>
        </p:spPr>
        <p:txBody>
          <a:bodyPr wrap="square" lIns="0" tIns="0" rIns="0" bIns="0" rtlCol="0" anchor="ctr"/>
          <a:lstStyle/>
          <a:p>
            <a:pPr marL="0" indent="0">
              <a:buNone/>
            </a:pPr>
            <a:r>
              <a:rPr lang="en-US" sz="1200" dirty="0">
                <a:solidFill>
                  <a:srgbClr val="1E293B"/>
                </a:solidFill>
                <a:latin typeface="Arial" pitchFamily="34" charset="0"/>
                <a:ea typeface="Arial" pitchFamily="34" charset="-122"/>
                <a:cs typeface="Arial" pitchFamily="34" charset="-120"/>
              </a:rPr>
              <a:t>CQRS 投影</a:t>
            </a:r>
            <a:endParaRPr lang="en-US" sz="1200" dirty="0"/>
          </a:p>
        </p:txBody>
      </p:sp>
      <p:sp>
        <p:nvSpPr>
          <p:cNvPr id="30" name="Shape 28"/>
          <p:cNvSpPr/>
          <p:nvPr/>
        </p:nvSpPr>
        <p:spPr>
          <a:xfrm>
            <a:off x="4919472" y="2185416"/>
            <a:ext cx="45720" cy="45720"/>
          </a:xfrm>
          <a:prstGeom prst="rect">
            <a:avLst/>
          </a:prstGeom>
          <a:solidFill>
            <a:srgbClr val="E78C07"/>
          </a:solidFill>
          <a:ln/>
        </p:spPr>
        <p:txBody>
          <a:bodyPr/>
          <a:lstStyle/>
          <a:p>
            <a:endParaRPr lang="zh-CN" altLang="en-US"/>
          </a:p>
        </p:txBody>
      </p:sp>
      <p:sp>
        <p:nvSpPr>
          <p:cNvPr id="31" name="Text 29"/>
          <p:cNvSpPr/>
          <p:nvPr/>
        </p:nvSpPr>
        <p:spPr>
          <a:xfrm>
            <a:off x="4983480" y="2441448"/>
            <a:ext cx="1645920" cy="347472"/>
          </a:xfrm>
          <a:prstGeom prst="rect">
            <a:avLst/>
          </a:prstGeom>
          <a:noFill/>
          <a:ln/>
        </p:spPr>
        <p:txBody>
          <a:bodyPr wrap="square" lIns="0" tIns="0" rIns="0" bIns="0" rtlCol="0" anchor="ctr"/>
          <a:lstStyle/>
          <a:p>
            <a:pPr marL="0" indent="0">
              <a:buNone/>
            </a:pPr>
            <a:r>
              <a:rPr lang="en-US" sz="1200" dirty="0">
                <a:solidFill>
                  <a:srgbClr val="1E293B"/>
                </a:solidFill>
                <a:latin typeface="Arial" pitchFamily="34" charset="0"/>
                <a:ea typeface="Arial" pitchFamily="34" charset="-122"/>
                <a:cs typeface="Arial" pitchFamily="34" charset="-120"/>
              </a:rPr>
              <a:t>多租户完善</a:t>
            </a:r>
            <a:endParaRPr lang="en-US" sz="1200" dirty="0"/>
          </a:p>
        </p:txBody>
      </p:sp>
      <p:sp>
        <p:nvSpPr>
          <p:cNvPr id="32" name="Shape 30"/>
          <p:cNvSpPr/>
          <p:nvPr/>
        </p:nvSpPr>
        <p:spPr>
          <a:xfrm>
            <a:off x="4919472" y="2569464"/>
            <a:ext cx="45720" cy="45720"/>
          </a:xfrm>
          <a:prstGeom prst="rect">
            <a:avLst/>
          </a:prstGeom>
          <a:solidFill>
            <a:srgbClr val="E78C07"/>
          </a:solidFill>
          <a:ln/>
        </p:spPr>
        <p:txBody>
          <a:bodyPr/>
          <a:lstStyle/>
          <a:p>
            <a:endParaRPr lang="zh-CN" altLang="en-US"/>
          </a:p>
        </p:txBody>
      </p:sp>
      <p:sp>
        <p:nvSpPr>
          <p:cNvPr id="33" name="Text 31"/>
          <p:cNvSpPr/>
          <p:nvPr/>
        </p:nvSpPr>
        <p:spPr>
          <a:xfrm>
            <a:off x="4983480" y="2825496"/>
            <a:ext cx="1645920" cy="347472"/>
          </a:xfrm>
          <a:prstGeom prst="rect">
            <a:avLst/>
          </a:prstGeom>
          <a:noFill/>
          <a:ln/>
        </p:spPr>
        <p:txBody>
          <a:bodyPr wrap="square" lIns="0" tIns="0" rIns="0" bIns="0" rtlCol="0" anchor="ctr"/>
          <a:lstStyle/>
          <a:p>
            <a:pPr marL="0" indent="0">
              <a:buNone/>
            </a:pPr>
            <a:r>
              <a:rPr lang="en-US" sz="1200" dirty="0">
                <a:solidFill>
                  <a:srgbClr val="1E293B"/>
                </a:solidFill>
                <a:latin typeface="Arial" pitchFamily="34" charset="0"/>
                <a:ea typeface="Arial" pitchFamily="34" charset="-122"/>
                <a:cs typeface="Arial" pitchFamily="34" charset="-120"/>
              </a:rPr>
              <a:t>国产化适配</a:t>
            </a:r>
            <a:endParaRPr lang="en-US" sz="1200" dirty="0"/>
          </a:p>
        </p:txBody>
      </p:sp>
      <p:sp>
        <p:nvSpPr>
          <p:cNvPr id="34" name="Shape 32"/>
          <p:cNvSpPr/>
          <p:nvPr/>
        </p:nvSpPr>
        <p:spPr>
          <a:xfrm>
            <a:off x="4919472" y="2953512"/>
            <a:ext cx="45720" cy="45720"/>
          </a:xfrm>
          <a:prstGeom prst="rect">
            <a:avLst/>
          </a:prstGeom>
          <a:solidFill>
            <a:srgbClr val="E78C07"/>
          </a:solidFill>
          <a:ln/>
        </p:spPr>
        <p:txBody>
          <a:bodyPr/>
          <a:lstStyle/>
          <a:p>
            <a:endParaRPr lang="zh-CN" altLang="en-US"/>
          </a:p>
        </p:txBody>
      </p:sp>
      <p:sp>
        <p:nvSpPr>
          <p:cNvPr id="35" name="Shape 33"/>
          <p:cNvSpPr/>
          <p:nvPr/>
        </p:nvSpPr>
        <p:spPr>
          <a:xfrm>
            <a:off x="7726680" y="1444752"/>
            <a:ext cx="228600" cy="228600"/>
          </a:xfrm>
          <a:prstGeom prst="ellipse">
            <a:avLst/>
          </a:prstGeom>
          <a:solidFill>
            <a:srgbClr val="107E3E"/>
          </a:solidFill>
          <a:ln/>
        </p:spPr>
        <p:txBody>
          <a:bodyPr/>
          <a:lstStyle/>
          <a:p>
            <a:endParaRPr lang="zh-CN" altLang="en-US"/>
          </a:p>
        </p:txBody>
      </p:sp>
      <p:sp>
        <p:nvSpPr>
          <p:cNvPr id="36" name="Text 34"/>
          <p:cNvSpPr/>
          <p:nvPr/>
        </p:nvSpPr>
        <p:spPr>
          <a:xfrm>
            <a:off x="6995160" y="1051560"/>
            <a:ext cx="1920240" cy="320040"/>
          </a:xfrm>
          <a:prstGeom prst="rect">
            <a:avLst/>
          </a:prstGeom>
          <a:noFill/>
          <a:ln/>
        </p:spPr>
        <p:txBody>
          <a:bodyPr wrap="square" lIns="0" tIns="0" rIns="0" bIns="0" rtlCol="0" anchor="ctr"/>
          <a:lstStyle/>
          <a:p>
            <a:pPr marL="0" indent="0" algn="ctr">
              <a:buNone/>
            </a:pPr>
            <a:r>
              <a:rPr lang="en-US" sz="1800" b="1" dirty="0">
                <a:solidFill>
                  <a:srgbClr val="107E3E"/>
                </a:solidFill>
                <a:latin typeface="Arial" pitchFamily="34" charset="0"/>
                <a:ea typeface="Arial" pitchFamily="34" charset="-122"/>
                <a:cs typeface="Arial" pitchFamily="34" charset="-120"/>
              </a:rPr>
              <a:t>V2.5+</a:t>
            </a:r>
            <a:endParaRPr lang="en-US" sz="1800" dirty="0"/>
          </a:p>
        </p:txBody>
      </p:sp>
      <p:sp>
        <p:nvSpPr>
          <p:cNvPr id="37" name="Text 35"/>
          <p:cNvSpPr/>
          <p:nvPr/>
        </p:nvSpPr>
        <p:spPr>
          <a:xfrm>
            <a:off x="6995160" y="777240"/>
            <a:ext cx="1920240" cy="274320"/>
          </a:xfrm>
          <a:prstGeom prst="rect">
            <a:avLst/>
          </a:prstGeom>
          <a:noFill/>
          <a:ln/>
        </p:spPr>
        <p:txBody>
          <a:bodyPr wrap="square" lIns="0" tIns="0" rIns="0" bIns="0" rtlCol="0" anchor="ctr"/>
          <a:lstStyle/>
          <a:p>
            <a:pPr marL="0" indent="0" algn="ctr">
              <a:buNone/>
            </a:pPr>
            <a:r>
              <a:rPr lang="en-US" sz="1200" dirty="0">
                <a:solidFill>
                  <a:srgbClr val="64748B"/>
                </a:solidFill>
                <a:latin typeface="Arial" pitchFamily="34" charset="0"/>
                <a:ea typeface="Arial" pitchFamily="34" charset="-122"/>
                <a:cs typeface="Arial" pitchFamily="34" charset="-120"/>
              </a:rPr>
              <a:t>2027+</a:t>
            </a:r>
            <a:endParaRPr lang="en-US" sz="1200" dirty="0"/>
          </a:p>
        </p:txBody>
      </p:sp>
      <p:sp>
        <p:nvSpPr>
          <p:cNvPr id="38" name="Shape 36"/>
          <p:cNvSpPr/>
          <p:nvPr/>
        </p:nvSpPr>
        <p:spPr>
          <a:xfrm>
            <a:off x="6995160" y="1920240"/>
            <a:ext cx="1920240" cy="1463040"/>
          </a:xfrm>
          <a:prstGeom prst="rect">
            <a:avLst/>
          </a:prstGeom>
          <a:solidFill>
            <a:srgbClr val="F1F5F9"/>
          </a:solidFill>
          <a:ln/>
        </p:spPr>
        <p:txBody>
          <a:bodyPr/>
          <a:lstStyle/>
          <a:p>
            <a:endParaRPr lang="zh-CN" altLang="en-US"/>
          </a:p>
        </p:txBody>
      </p:sp>
      <p:sp>
        <p:nvSpPr>
          <p:cNvPr id="39" name="Text 37"/>
          <p:cNvSpPr/>
          <p:nvPr/>
        </p:nvSpPr>
        <p:spPr>
          <a:xfrm>
            <a:off x="7132320" y="2057400"/>
            <a:ext cx="1645920" cy="347472"/>
          </a:xfrm>
          <a:prstGeom prst="rect">
            <a:avLst/>
          </a:prstGeom>
          <a:noFill/>
          <a:ln/>
        </p:spPr>
        <p:txBody>
          <a:bodyPr wrap="square" lIns="0" tIns="0" rIns="0" bIns="0" rtlCol="0" anchor="ctr"/>
          <a:lstStyle/>
          <a:p>
            <a:pPr marL="0" indent="0">
              <a:buNone/>
            </a:pPr>
            <a:r>
              <a:rPr lang="en-US" sz="1200" dirty="0">
                <a:solidFill>
                  <a:srgbClr val="1E293B"/>
                </a:solidFill>
                <a:latin typeface="Arial" pitchFamily="34" charset="0"/>
                <a:ea typeface="Arial" pitchFamily="34" charset="-122"/>
                <a:cs typeface="Arial" pitchFamily="34" charset="-120"/>
              </a:rPr>
              <a:t>行业模板库</a:t>
            </a:r>
            <a:endParaRPr lang="en-US" sz="1200" dirty="0"/>
          </a:p>
        </p:txBody>
      </p:sp>
      <p:sp>
        <p:nvSpPr>
          <p:cNvPr id="40" name="Shape 38"/>
          <p:cNvSpPr/>
          <p:nvPr/>
        </p:nvSpPr>
        <p:spPr>
          <a:xfrm>
            <a:off x="7068312" y="2185416"/>
            <a:ext cx="45720" cy="45720"/>
          </a:xfrm>
          <a:prstGeom prst="rect">
            <a:avLst/>
          </a:prstGeom>
          <a:solidFill>
            <a:srgbClr val="107E3E"/>
          </a:solidFill>
          <a:ln/>
        </p:spPr>
        <p:txBody>
          <a:bodyPr/>
          <a:lstStyle/>
          <a:p>
            <a:endParaRPr lang="zh-CN" altLang="en-US"/>
          </a:p>
        </p:txBody>
      </p:sp>
      <p:sp>
        <p:nvSpPr>
          <p:cNvPr id="41" name="Text 39"/>
          <p:cNvSpPr/>
          <p:nvPr/>
        </p:nvSpPr>
        <p:spPr>
          <a:xfrm>
            <a:off x="7132320" y="2441448"/>
            <a:ext cx="1645920" cy="347472"/>
          </a:xfrm>
          <a:prstGeom prst="rect">
            <a:avLst/>
          </a:prstGeom>
          <a:noFill/>
          <a:ln/>
        </p:spPr>
        <p:txBody>
          <a:bodyPr wrap="square" lIns="0" tIns="0" rIns="0" bIns="0" rtlCol="0" anchor="ctr"/>
          <a:lstStyle/>
          <a:p>
            <a:pPr marL="0" indent="0">
              <a:buNone/>
            </a:pPr>
            <a:r>
              <a:rPr lang="en-US" sz="1200" dirty="0">
                <a:solidFill>
                  <a:srgbClr val="1E293B"/>
                </a:solidFill>
                <a:latin typeface="Arial" pitchFamily="34" charset="0"/>
                <a:ea typeface="Arial" pitchFamily="34" charset="-122"/>
                <a:cs typeface="Arial" pitchFamily="34" charset="-120"/>
              </a:rPr>
              <a:t>AI 辅助建模</a:t>
            </a:r>
            <a:endParaRPr lang="en-US" sz="1200" dirty="0"/>
          </a:p>
        </p:txBody>
      </p:sp>
      <p:sp>
        <p:nvSpPr>
          <p:cNvPr id="42" name="Shape 40"/>
          <p:cNvSpPr/>
          <p:nvPr/>
        </p:nvSpPr>
        <p:spPr>
          <a:xfrm>
            <a:off x="7068312" y="2569464"/>
            <a:ext cx="45720" cy="45720"/>
          </a:xfrm>
          <a:prstGeom prst="rect">
            <a:avLst/>
          </a:prstGeom>
          <a:solidFill>
            <a:srgbClr val="107E3E"/>
          </a:solidFill>
          <a:ln/>
        </p:spPr>
        <p:txBody>
          <a:bodyPr/>
          <a:lstStyle/>
          <a:p>
            <a:endParaRPr lang="zh-CN" altLang="en-US"/>
          </a:p>
        </p:txBody>
      </p:sp>
      <p:sp>
        <p:nvSpPr>
          <p:cNvPr id="43" name="Text 41"/>
          <p:cNvSpPr/>
          <p:nvPr/>
        </p:nvSpPr>
        <p:spPr>
          <a:xfrm>
            <a:off x="7132320" y="2825496"/>
            <a:ext cx="1645920" cy="347472"/>
          </a:xfrm>
          <a:prstGeom prst="rect">
            <a:avLst/>
          </a:prstGeom>
          <a:noFill/>
          <a:ln/>
        </p:spPr>
        <p:txBody>
          <a:bodyPr wrap="square" lIns="0" tIns="0" rIns="0" bIns="0" rtlCol="0" anchor="ctr"/>
          <a:lstStyle/>
          <a:p>
            <a:pPr marL="0" indent="0">
              <a:buNone/>
            </a:pPr>
            <a:r>
              <a:rPr lang="en-US" sz="1200" dirty="0">
                <a:solidFill>
                  <a:srgbClr val="1E293B"/>
                </a:solidFill>
                <a:latin typeface="Arial" pitchFamily="34" charset="0"/>
                <a:ea typeface="Arial" pitchFamily="34" charset="-122"/>
                <a:cs typeface="Arial" pitchFamily="34" charset="-120"/>
              </a:rPr>
              <a:t>生态开放</a:t>
            </a:r>
            <a:endParaRPr lang="en-US" sz="1200" dirty="0"/>
          </a:p>
        </p:txBody>
      </p:sp>
      <p:sp>
        <p:nvSpPr>
          <p:cNvPr id="44" name="Shape 42"/>
          <p:cNvSpPr/>
          <p:nvPr/>
        </p:nvSpPr>
        <p:spPr>
          <a:xfrm>
            <a:off x="7068312" y="2953512"/>
            <a:ext cx="45720" cy="45720"/>
          </a:xfrm>
          <a:prstGeom prst="rect">
            <a:avLst/>
          </a:prstGeom>
          <a:solidFill>
            <a:srgbClr val="107E3E"/>
          </a:solidFill>
          <a:ln/>
        </p:spPr>
        <p:txBody>
          <a:bodyPr/>
          <a:lstStyle/>
          <a:p>
            <a:endParaRPr lang="zh-CN" altLang="en-US"/>
          </a:p>
        </p:txBody>
      </p:sp>
      <p:sp>
        <p:nvSpPr>
          <p:cNvPr id="45" name="Shape 43"/>
          <p:cNvSpPr/>
          <p:nvPr/>
        </p:nvSpPr>
        <p:spPr>
          <a:xfrm>
            <a:off x="548640" y="3840480"/>
            <a:ext cx="8046720" cy="457200"/>
          </a:xfrm>
          <a:prstGeom prst="rect">
            <a:avLst/>
          </a:prstGeom>
          <a:solidFill>
            <a:srgbClr val="E6F7F5"/>
          </a:solidFill>
          <a:ln/>
        </p:spPr>
        <p:txBody>
          <a:bodyPr/>
          <a:lstStyle/>
          <a:p>
            <a:endParaRPr lang="zh-CN" altLang="en-US"/>
          </a:p>
        </p:txBody>
      </p:sp>
      <p:sp>
        <p:nvSpPr>
          <p:cNvPr id="46" name="Text 44"/>
          <p:cNvSpPr/>
          <p:nvPr/>
        </p:nvSpPr>
        <p:spPr>
          <a:xfrm>
            <a:off x="731520" y="3840480"/>
            <a:ext cx="7680960" cy="457200"/>
          </a:xfrm>
          <a:prstGeom prst="rect">
            <a:avLst/>
          </a:prstGeom>
          <a:noFill/>
          <a:ln/>
        </p:spPr>
        <p:txBody>
          <a:bodyPr wrap="square" lIns="0" tIns="0" rIns="0" bIns="0" rtlCol="0" anchor="ctr"/>
          <a:lstStyle/>
          <a:p>
            <a:pPr marL="0" indent="0" algn="ctr">
              <a:buNone/>
            </a:pPr>
            <a:r>
              <a:rPr lang="en-US" sz="1300" b="1" dirty="0">
                <a:solidFill>
                  <a:srgbClr val="22A699"/>
                </a:solidFill>
                <a:latin typeface="Arial" pitchFamily="34" charset="0"/>
                <a:ea typeface="Arial" pitchFamily="34" charset="-122"/>
                <a:cs typeface="Arial" pitchFamily="34" charset="-120"/>
              </a:rPr>
              <a:t>从 MVP 到生态开放，持续构建 Agentic AI 的业务语义基础设施</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2A699"/>
          </a:solidFill>
          <a:ln/>
        </p:spPr>
        <p:txBody>
          <a:bodyPr/>
          <a:lstStyle/>
          <a:p>
            <a:endParaRPr lang="zh-CN" altLang="en-US"/>
          </a:p>
        </p:txBody>
      </p:sp>
      <p:sp>
        <p:nvSpPr>
          <p:cNvPr id="3" name="Shape 1"/>
          <p:cNvSpPr/>
          <p:nvPr/>
        </p:nvSpPr>
        <p:spPr>
          <a:xfrm>
            <a:off x="548640" y="274320"/>
            <a:ext cx="54864" cy="457200"/>
          </a:xfrm>
          <a:prstGeom prst="rect">
            <a:avLst/>
          </a:prstGeom>
          <a:solidFill>
            <a:srgbClr val="22A699"/>
          </a:solidFill>
          <a:ln/>
        </p:spPr>
        <p:txBody>
          <a:bodyPr/>
          <a:lstStyle/>
          <a:p>
            <a:endParaRPr lang="zh-CN" altLang="en-US"/>
          </a:p>
        </p:txBody>
      </p:sp>
      <p:sp>
        <p:nvSpPr>
          <p:cNvPr id="4" name="Text 2"/>
          <p:cNvSpPr/>
          <p:nvPr/>
        </p:nvSpPr>
        <p:spPr>
          <a:xfrm>
            <a:off x="731520" y="274320"/>
            <a:ext cx="731520" cy="457200"/>
          </a:xfrm>
          <a:prstGeom prst="rect">
            <a:avLst/>
          </a:prstGeom>
          <a:noFill/>
          <a:ln/>
        </p:spPr>
        <p:txBody>
          <a:bodyPr wrap="square" lIns="0" tIns="0" rIns="0" bIns="0" rtlCol="0" anchor="ctr"/>
          <a:lstStyle/>
          <a:p>
            <a:pPr marL="0" indent="0">
              <a:buNone/>
            </a:pPr>
            <a:r>
              <a:rPr lang="en-US" sz="1800" b="1" dirty="0">
                <a:solidFill>
                  <a:srgbClr val="22A699"/>
                </a:solidFill>
                <a:latin typeface="Arial" pitchFamily="34" charset="0"/>
                <a:ea typeface="Arial" pitchFamily="34" charset="-122"/>
                <a:cs typeface="Arial" pitchFamily="34" charset="-120"/>
              </a:rPr>
              <a:t>03</a:t>
            </a:r>
            <a:endParaRPr lang="en-US" sz="1800" dirty="0"/>
          </a:p>
        </p:txBody>
      </p:sp>
      <p:sp>
        <p:nvSpPr>
          <p:cNvPr id="5" name="Text 3"/>
          <p:cNvSpPr/>
          <p:nvPr/>
        </p:nvSpPr>
        <p:spPr>
          <a:xfrm>
            <a:off x="548640" y="822960"/>
            <a:ext cx="8046720" cy="457200"/>
          </a:xfrm>
          <a:prstGeom prst="rect">
            <a:avLst/>
          </a:prstGeom>
          <a:noFill/>
          <a:ln/>
        </p:spPr>
        <p:txBody>
          <a:bodyPr wrap="square" lIns="0" tIns="0" rIns="0" bIns="0" rtlCol="0" anchor="ctr"/>
          <a:lstStyle/>
          <a:p>
            <a:pPr marL="0" indent="0">
              <a:buNone/>
            </a:pPr>
            <a:r>
              <a:rPr lang="en-US" sz="2200" b="1" dirty="0">
                <a:solidFill>
                  <a:srgbClr val="1E293B"/>
                </a:solidFill>
                <a:latin typeface="Arial" pitchFamily="34" charset="0"/>
                <a:ea typeface="Arial" pitchFamily="34" charset="-122"/>
                <a:cs typeface="Arial" pitchFamily="34" charset="-120"/>
              </a:rPr>
              <a:t>为什么选择 MCP 而非 Skill？</a:t>
            </a:r>
            <a:endParaRPr lang="en-US" sz="2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8046720" cy="2468880"/>
        </p:xfrm>
        <a:graphic>
          <a:graphicData uri="http://schemas.openxmlformats.org/drawingml/2006/table">
            <a:tbl>
              <a:tblPr/>
              <a:tblGrid>
                <a:gridCol w="137160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tblGrid>
              <a:tr h="411480">
                <a:tc>
                  <a:txBody>
                    <a:bodyPr/>
                    <a:lstStyle/>
                    <a:p>
                      <a:pPr marL="0" indent="0" algn="ctr">
                        <a:buNone/>
                      </a:pPr>
                      <a:r>
                        <a:rPr lang="en-US" sz="1200" b="1" dirty="0">
                          <a:solidFill>
                            <a:srgbClr val="FFFFFF"/>
                          </a:solidFill>
                        </a:rPr>
                        <a:t>维度</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marL="0" indent="0" algn="ctr">
                        <a:buNone/>
                      </a:pPr>
                      <a:r>
                        <a:rPr lang="en-US" sz="1200" b="1" dirty="0">
                          <a:solidFill>
                            <a:srgbClr val="FFFFFF"/>
                          </a:solidFill>
                        </a:rPr>
                        <a:t>Skill 方式</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marL="0" indent="0" algn="ctr">
                        <a:buNone/>
                      </a:pPr>
                      <a:r>
                        <a:rPr lang="en-US" sz="1200" b="1" dirty="0">
                          <a:solidFill>
                            <a:srgbClr val="FFFFFF"/>
                          </a:solidFill>
                        </a:rPr>
                        <a:t>MCP 方式</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411480">
                <a:tc>
                  <a:txBody>
                    <a:bodyPr/>
                    <a:lstStyle/>
                    <a:p>
                      <a:pPr marL="0" indent="0">
                        <a:buNone/>
                      </a:pPr>
                      <a:r>
                        <a:rPr lang="en-US" sz="1200" dirty="0">
                          <a:solidFill>
                            <a:srgbClr val="1E293B"/>
                          </a:solidFill>
                        </a:rPr>
                        <a:t>工具发现</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64748B"/>
                          </a:solidFill>
                        </a:rPr>
                        <a:t>Prompt 注入描述，不可靠</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b="1" dirty="0">
                          <a:solidFill>
                            <a:srgbClr val="22A699"/>
                          </a:solidFill>
                        </a:rPr>
                        <a:t>结构化工具清单，100% 可发现</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411480">
                <a:tc>
                  <a:txBody>
                    <a:bodyPr/>
                    <a:lstStyle/>
                    <a:p>
                      <a:pPr marL="0" indent="0">
                        <a:buNone/>
                      </a:pPr>
                      <a:r>
                        <a:rPr lang="en-US" sz="1200" dirty="0">
                          <a:solidFill>
                            <a:srgbClr val="1E293B"/>
                          </a:solidFill>
                        </a:rPr>
                        <a:t>安全约束</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BB0000"/>
                          </a:solidFill>
                        </a:rPr>
                        <a:t>依赖 Prompt 工程，可绕过</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b="1" dirty="0">
                          <a:solidFill>
                            <a:srgbClr val="22A699"/>
                          </a:solidFill>
                        </a:rPr>
                        <a:t>结构化白名单，不可绕过</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411480">
                <a:tc>
                  <a:txBody>
                    <a:bodyPr/>
                    <a:lstStyle/>
                    <a:p>
                      <a:pPr marL="0" indent="0">
                        <a:buNone/>
                      </a:pPr>
                      <a:r>
                        <a:rPr lang="en-US" sz="1200" dirty="0">
                          <a:solidFill>
                            <a:srgbClr val="1E293B"/>
                          </a:solidFill>
                        </a:rPr>
                        <a:t>参数校验</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64748B"/>
                          </a:solidFill>
                        </a:rPr>
                        <a:t>LLM 自行推断，易出错</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b="1" dirty="0">
                          <a:solidFill>
                            <a:srgbClr val="22A699"/>
                          </a:solidFill>
                        </a:rPr>
                        <a:t>JSON Schema 强校验</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411480">
                <a:tc>
                  <a:txBody>
                    <a:bodyPr/>
                    <a:lstStyle/>
                    <a:p>
                      <a:pPr marL="0" indent="0">
                        <a:buNone/>
                      </a:pPr>
                      <a:r>
                        <a:rPr lang="en-US" sz="1200" dirty="0">
                          <a:solidFill>
                            <a:srgbClr val="1E293B"/>
                          </a:solidFill>
                        </a:rPr>
                        <a:t>行为边界</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BB0000"/>
                          </a:solidFill>
                        </a:rPr>
                        <a:t>无硬性限制</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b="1" dirty="0">
                          <a:solidFill>
                            <a:srgbClr val="22A699"/>
                          </a:solidFill>
                        </a:rPr>
                        <a:t>聚合根入口 + 前置条件</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411480">
                <a:tc>
                  <a:txBody>
                    <a:bodyPr/>
                    <a:lstStyle/>
                    <a:p>
                      <a:pPr marL="0" indent="0">
                        <a:buNone/>
                      </a:pPr>
                      <a:r>
                        <a:rPr lang="en-US" sz="1200" dirty="0">
                          <a:solidFill>
                            <a:srgbClr val="1E293B"/>
                          </a:solidFill>
                        </a:rPr>
                        <a:t>版本管理</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64748B"/>
                          </a:solidFill>
                        </a:rPr>
                        <a:t>无版本控制</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b="1" dirty="0">
                          <a:solidFill>
                            <a:srgbClr val="22A699"/>
                          </a:solidFill>
                        </a:rPr>
                        <a:t>Agent Manifest 版本化发布</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Shape 4"/>
          <p:cNvSpPr/>
          <p:nvPr/>
        </p:nvSpPr>
        <p:spPr>
          <a:xfrm>
            <a:off x="548640" y="4297680"/>
            <a:ext cx="8046720" cy="457200"/>
          </a:xfrm>
          <a:prstGeom prst="rect">
            <a:avLst/>
          </a:prstGeom>
          <a:solidFill>
            <a:srgbClr val="E6F7F5"/>
          </a:solidFill>
          <a:ln/>
        </p:spPr>
        <p:txBody>
          <a:bodyPr/>
          <a:lstStyle/>
          <a:p>
            <a:endParaRPr lang="zh-CN" altLang="en-US"/>
          </a:p>
        </p:txBody>
      </p:sp>
      <p:sp>
        <p:nvSpPr>
          <p:cNvPr id="8" name="Text 5"/>
          <p:cNvSpPr/>
          <p:nvPr/>
        </p:nvSpPr>
        <p:spPr>
          <a:xfrm>
            <a:off x="731520" y="4297680"/>
            <a:ext cx="7680960" cy="457200"/>
          </a:xfrm>
          <a:prstGeom prst="rect">
            <a:avLst/>
          </a:prstGeom>
          <a:noFill/>
          <a:ln/>
        </p:spPr>
        <p:txBody>
          <a:bodyPr wrap="square" lIns="0" tIns="0" rIns="0" bIns="0" rtlCol="0" anchor="ctr"/>
          <a:lstStyle/>
          <a:p>
            <a:pPr marL="0" indent="0" algn="ctr">
              <a:buNone/>
            </a:pPr>
            <a:r>
              <a:rPr lang="en-US" sz="1300" b="1" dirty="0">
                <a:solidFill>
                  <a:srgbClr val="22A699"/>
                </a:solidFill>
                <a:latin typeface="Arial" pitchFamily="34" charset="0"/>
                <a:ea typeface="Arial" pitchFamily="34" charset="-122"/>
                <a:cs typeface="Arial" pitchFamily="34" charset="-120"/>
              </a:rPr>
              <a:t>MCP 提供 100% 结构保证的工具白名单 —— 合规是结构必然而非意愿问题</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16">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2A699"/>
          </a:solidFill>
          <a:ln/>
        </p:spPr>
        <p:txBody>
          <a:bodyPr/>
          <a:lstStyle/>
          <a:p>
            <a:endParaRPr lang="zh-CN" altLang="en-US"/>
          </a:p>
        </p:txBody>
      </p:sp>
      <p:sp>
        <p:nvSpPr>
          <p:cNvPr id="3" name="Text 1"/>
          <p:cNvSpPr/>
          <p:nvPr/>
        </p:nvSpPr>
        <p:spPr>
          <a:xfrm>
            <a:off x="548640" y="274320"/>
            <a:ext cx="8046720" cy="548640"/>
          </a:xfrm>
          <a:prstGeom prst="rect">
            <a:avLst/>
          </a:prstGeom>
          <a:noFill/>
          <a:ln/>
        </p:spPr>
        <p:txBody>
          <a:bodyPr wrap="square" lIns="0" tIns="0" rIns="0" bIns="0" rtlCol="0" anchor="ctr"/>
          <a:lstStyle/>
          <a:p>
            <a:pPr marL="0" indent="0">
              <a:buNone/>
            </a:pPr>
            <a:r>
              <a:rPr lang="en-US" sz="3600" b="1" dirty="0">
                <a:solidFill>
                  <a:srgbClr val="FFFFFF"/>
                </a:solidFill>
                <a:latin typeface="Arial" pitchFamily="34" charset="0"/>
                <a:ea typeface="Arial" pitchFamily="34" charset="-122"/>
                <a:cs typeface="Arial" pitchFamily="34" charset="-120"/>
              </a:rPr>
              <a:t>总结</a:t>
            </a:r>
            <a:endParaRPr lang="en-US" sz="3600" dirty="0"/>
          </a:p>
        </p:txBody>
      </p:sp>
      <p:sp>
        <p:nvSpPr>
          <p:cNvPr id="4" name="Shape 2"/>
          <p:cNvSpPr/>
          <p:nvPr/>
        </p:nvSpPr>
        <p:spPr>
          <a:xfrm>
            <a:off x="548640" y="1097280"/>
            <a:ext cx="3840480" cy="914400"/>
          </a:xfrm>
          <a:prstGeom prst="rect">
            <a:avLst/>
          </a:prstGeom>
          <a:solidFill>
            <a:srgbClr val="1E293B"/>
          </a:solidFill>
          <a:ln/>
        </p:spPr>
        <p:txBody>
          <a:bodyPr/>
          <a:lstStyle/>
          <a:p>
            <a:endParaRPr lang="zh-CN" altLang="en-US"/>
          </a:p>
        </p:txBody>
      </p:sp>
      <p:sp>
        <p:nvSpPr>
          <p:cNvPr id="5" name="Shape 3"/>
          <p:cNvSpPr/>
          <p:nvPr/>
        </p:nvSpPr>
        <p:spPr>
          <a:xfrm>
            <a:off x="548640" y="1097280"/>
            <a:ext cx="54864" cy="914400"/>
          </a:xfrm>
          <a:prstGeom prst="rect">
            <a:avLst/>
          </a:prstGeom>
          <a:solidFill>
            <a:srgbClr val="22A699"/>
          </a:solidFill>
          <a:ln/>
        </p:spPr>
        <p:txBody>
          <a:bodyPr/>
          <a:lstStyle/>
          <a:p>
            <a:endParaRPr lang="zh-CN" altLang="en-US"/>
          </a:p>
        </p:txBody>
      </p:sp>
      <p:sp>
        <p:nvSpPr>
          <p:cNvPr id="6" name="Text 4"/>
          <p:cNvSpPr/>
          <p:nvPr/>
        </p:nvSpPr>
        <p:spPr>
          <a:xfrm>
            <a:off x="731520" y="1097280"/>
            <a:ext cx="3474720" cy="91440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本体是 AI 时代的业务知识工程</a:t>
            </a:r>
            <a:endParaRPr lang="en-US" sz="1500" dirty="0"/>
          </a:p>
        </p:txBody>
      </p:sp>
      <p:sp>
        <p:nvSpPr>
          <p:cNvPr id="7" name="Shape 5"/>
          <p:cNvSpPr/>
          <p:nvPr/>
        </p:nvSpPr>
        <p:spPr>
          <a:xfrm>
            <a:off x="4754880" y="1097280"/>
            <a:ext cx="3840480" cy="914400"/>
          </a:xfrm>
          <a:prstGeom prst="rect">
            <a:avLst/>
          </a:prstGeom>
          <a:solidFill>
            <a:srgbClr val="1E293B"/>
          </a:solidFill>
          <a:ln/>
        </p:spPr>
        <p:txBody>
          <a:bodyPr/>
          <a:lstStyle/>
          <a:p>
            <a:endParaRPr lang="zh-CN" altLang="en-US"/>
          </a:p>
        </p:txBody>
      </p:sp>
      <p:sp>
        <p:nvSpPr>
          <p:cNvPr id="8" name="Shape 6"/>
          <p:cNvSpPr/>
          <p:nvPr/>
        </p:nvSpPr>
        <p:spPr>
          <a:xfrm>
            <a:off x="4754880" y="1097280"/>
            <a:ext cx="54864" cy="914400"/>
          </a:xfrm>
          <a:prstGeom prst="rect">
            <a:avLst/>
          </a:prstGeom>
          <a:solidFill>
            <a:srgbClr val="065A82"/>
          </a:solidFill>
          <a:ln/>
        </p:spPr>
        <p:txBody>
          <a:bodyPr/>
          <a:lstStyle/>
          <a:p>
            <a:endParaRPr lang="zh-CN" altLang="en-US"/>
          </a:p>
        </p:txBody>
      </p:sp>
      <p:sp>
        <p:nvSpPr>
          <p:cNvPr id="9" name="Text 7"/>
          <p:cNvSpPr/>
          <p:nvPr/>
        </p:nvSpPr>
        <p:spPr>
          <a:xfrm>
            <a:off x="4937760" y="1097280"/>
            <a:ext cx="3474720" cy="91440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四层架构：语义 · 动力 · 事件 · 治理</a:t>
            </a:r>
            <a:endParaRPr lang="en-US" sz="1500" dirty="0"/>
          </a:p>
        </p:txBody>
      </p:sp>
      <p:sp>
        <p:nvSpPr>
          <p:cNvPr id="10" name="Shape 8"/>
          <p:cNvSpPr/>
          <p:nvPr/>
        </p:nvSpPr>
        <p:spPr>
          <a:xfrm>
            <a:off x="548640" y="2240280"/>
            <a:ext cx="3840480" cy="914400"/>
          </a:xfrm>
          <a:prstGeom prst="rect">
            <a:avLst/>
          </a:prstGeom>
          <a:solidFill>
            <a:srgbClr val="1E293B"/>
          </a:solidFill>
          <a:ln/>
        </p:spPr>
        <p:txBody>
          <a:bodyPr/>
          <a:lstStyle/>
          <a:p>
            <a:endParaRPr lang="zh-CN" altLang="en-US"/>
          </a:p>
        </p:txBody>
      </p:sp>
      <p:sp>
        <p:nvSpPr>
          <p:cNvPr id="11" name="Shape 9"/>
          <p:cNvSpPr/>
          <p:nvPr/>
        </p:nvSpPr>
        <p:spPr>
          <a:xfrm>
            <a:off x="548640" y="2240280"/>
            <a:ext cx="54864" cy="914400"/>
          </a:xfrm>
          <a:prstGeom prst="rect">
            <a:avLst/>
          </a:prstGeom>
          <a:solidFill>
            <a:srgbClr val="E78C07"/>
          </a:solidFill>
          <a:ln/>
        </p:spPr>
        <p:txBody>
          <a:bodyPr/>
          <a:lstStyle/>
          <a:p>
            <a:endParaRPr lang="zh-CN" altLang="en-US"/>
          </a:p>
        </p:txBody>
      </p:sp>
      <p:sp>
        <p:nvSpPr>
          <p:cNvPr id="12" name="Text 10"/>
          <p:cNvSpPr/>
          <p:nvPr/>
        </p:nvSpPr>
        <p:spPr>
          <a:xfrm>
            <a:off x="731520" y="2240280"/>
            <a:ext cx="3474720" cy="91440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MCP 提供 100% 结构保证</a:t>
            </a:r>
            <a:endParaRPr lang="en-US" sz="1500" dirty="0"/>
          </a:p>
        </p:txBody>
      </p:sp>
      <p:sp>
        <p:nvSpPr>
          <p:cNvPr id="13" name="Shape 11"/>
          <p:cNvSpPr/>
          <p:nvPr/>
        </p:nvSpPr>
        <p:spPr>
          <a:xfrm>
            <a:off x="4754880" y="2240280"/>
            <a:ext cx="3840480" cy="914400"/>
          </a:xfrm>
          <a:prstGeom prst="rect">
            <a:avLst/>
          </a:prstGeom>
          <a:solidFill>
            <a:srgbClr val="1E293B"/>
          </a:solidFill>
          <a:ln/>
        </p:spPr>
        <p:txBody>
          <a:bodyPr/>
          <a:lstStyle/>
          <a:p>
            <a:endParaRPr lang="zh-CN" altLang="en-US"/>
          </a:p>
        </p:txBody>
      </p:sp>
      <p:sp>
        <p:nvSpPr>
          <p:cNvPr id="14" name="Shape 12"/>
          <p:cNvSpPr/>
          <p:nvPr/>
        </p:nvSpPr>
        <p:spPr>
          <a:xfrm>
            <a:off x="4754880" y="2240280"/>
            <a:ext cx="54864" cy="914400"/>
          </a:xfrm>
          <a:prstGeom prst="rect">
            <a:avLst/>
          </a:prstGeom>
          <a:solidFill>
            <a:srgbClr val="BB0000"/>
          </a:solidFill>
          <a:ln/>
        </p:spPr>
        <p:txBody>
          <a:bodyPr/>
          <a:lstStyle/>
          <a:p>
            <a:endParaRPr lang="zh-CN" altLang="en-US"/>
          </a:p>
        </p:txBody>
      </p:sp>
      <p:sp>
        <p:nvSpPr>
          <p:cNvPr id="15" name="Text 13"/>
          <p:cNvSpPr/>
          <p:nvPr/>
        </p:nvSpPr>
        <p:spPr>
          <a:xfrm>
            <a:off x="4937760" y="2240280"/>
            <a:ext cx="3474720" cy="91440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三通道纵深防御确保合规</a:t>
            </a:r>
            <a:endParaRPr lang="en-US" sz="1500" dirty="0"/>
          </a:p>
        </p:txBody>
      </p:sp>
      <p:sp>
        <p:nvSpPr>
          <p:cNvPr id="16" name="Shape 14"/>
          <p:cNvSpPr/>
          <p:nvPr/>
        </p:nvSpPr>
        <p:spPr>
          <a:xfrm>
            <a:off x="548640" y="3383280"/>
            <a:ext cx="3840480" cy="914400"/>
          </a:xfrm>
          <a:prstGeom prst="rect">
            <a:avLst/>
          </a:prstGeom>
          <a:solidFill>
            <a:srgbClr val="1E293B"/>
          </a:solidFill>
          <a:ln/>
        </p:spPr>
        <p:txBody>
          <a:bodyPr/>
          <a:lstStyle/>
          <a:p>
            <a:endParaRPr lang="zh-CN" altLang="en-US"/>
          </a:p>
        </p:txBody>
      </p:sp>
      <p:sp>
        <p:nvSpPr>
          <p:cNvPr id="17" name="Shape 15"/>
          <p:cNvSpPr/>
          <p:nvPr/>
        </p:nvSpPr>
        <p:spPr>
          <a:xfrm>
            <a:off x="548640" y="3383280"/>
            <a:ext cx="54864" cy="914400"/>
          </a:xfrm>
          <a:prstGeom prst="rect">
            <a:avLst/>
          </a:prstGeom>
          <a:solidFill>
            <a:srgbClr val="107E3E"/>
          </a:solidFill>
          <a:ln/>
        </p:spPr>
        <p:txBody>
          <a:bodyPr/>
          <a:lstStyle/>
          <a:p>
            <a:endParaRPr lang="zh-CN" altLang="en-US"/>
          </a:p>
        </p:txBody>
      </p:sp>
      <p:sp>
        <p:nvSpPr>
          <p:cNvPr id="18" name="Text 16"/>
          <p:cNvSpPr/>
          <p:nvPr/>
        </p:nvSpPr>
        <p:spPr>
          <a:xfrm>
            <a:off x="731520" y="3383280"/>
            <a:ext cx="3474720" cy="91440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Agent Manifest 版本化发布</a:t>
            </a:r>
            <a:endParaRPr lang="en-US" sz="1500" dirty="0"/>
          </a:p>
        </p:txBody>
      </p:sp>
      <p:sp>
        <p:nvSpPr>
          <p:cNvPr id="19" name="Shape 17"/>
          <p:cNvSpPr/>
          <p:nvPr/>
        </p:nvSpPr>
        <p:spPr>
          <a:xfrm>
            <a:off x="4754880" y="3383280"/>
            <a:ext cx="3840480" cy="914400"/>
          </a:xfrm>
          <a:prstGeom prst="rect">
            <a:avLst/>
          </a:prstGeom>
          <a:solidFill>
            <a:srgbClr val="1E293B"/>
          </a:solidFill>
          <a:ln/>
        </p:spPr>
        <p:txBody>
          <a:bodyPr/>
          <a:lstStyle/>
          <a:p>
            <a:endParaRPr lang="zh-CN" altLang="en-US"/>
          </a:p>
        </p:txBody>
      </p:sp>
      <p:sp>
        <p:nvSpPr>
          <p:cNvPr id="20" name="Shape 18"/>
          <p:cNvSpPr/>
          <p:nvPr/>
        </p:nvSpPr>
        <p:spPr>
          <a:xfrm>
            <a:off x="4754880" y="3383280"/>
            <a:ext cx="54864" cy="914400"/>
          </a:xfrm>
          <a:prstGeom prst="rect">
            <a:avLst/>
          </a:prstGeom>
          <a:solidFill>
            <a:srgbClr val="22A699"/>
          </a:solidFill>
          <a:ln/>
        </p:spPr>
        <p:txBody>
          <a:bodyPr/>
          <a:lstStyle/>
          <a:p>
            <a:endParaRPr lang="zh-CN" altLang="en-US"/>
          </a:p>
        </p:txBody>
      </p:sp>
      <p:sp>
        <p:nvSpPr>
          <p:cNvPr id="21" name="Text 19"/>
          <p:cNvSpPr/>
          <p:nvPr/>
        </p:nvSpPr>
        <p:spPr>
          <a:xfrm>
            <a:off x="4937760" y="3383280"/>
            <a:ext cx="3474720" cy="91440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全生命周期迭代适配企业需求</a:t>
            </a:r>
            <a:endParaRPr lang="en-US" sz="1500" dirty="0"/>
          </a:p>
        </p:txBody>
      </p:sp>
      <p:sp>
        <p:nvSpPr>
          <p:cNvPr id="22" name="Text 20"/>
          <p:cNvSpPr/>
          <p:nvPr/>
        </p:nvSpPr>
        <p:spPr>
          <a:xfrm>
            <a:off x="548640" y="4297680"/>
            <a:ext cx="8046720" cy="457200"/>
          </a:xfrm>
          <a:prstGeom prst="rect">
            <a:avLst/>
          </a:prstGeom>
          <a:noFill/>
          <a:ln/>
        </p:spPr>
        <p:txBody>
          <a:bodyPr wrap="square" lIns="0" tIns="0" rIns="0" bIns="0" rtlCol="0" anchor="ctr"/>
          <a:lstStyle/>
          <a:p>
            <a:pPr marL="0" indent="0" algn="ctr">
              <a:buNone/>
            </a:pPr>
            <a:r>
              <a:rPr lang="en-US" sz="1600" b="1" dirty="0">
                <a:solidFill>
                  <a:srgbClr val="22A699"/>
                </a:solidFill>
                <a:latin typeface="Arial" pitchFamily="34" charset="0"/>
                <a:ea typeface="Arial" pitchFamily="34" charset="-122"/>
                <a:cs typeface="Arial" pitchFamily="34" charset="-120"/>
              </a:rPr>
              <a:t>让 AI Agent 100% 理解并安全执行业务操作</a:t>
            </a:r>
            <a:endParaRPr lang="en-US" sz="1600" dirty="0"/>
          </a:p>
        </p:txBody>
      </p:sp>
      <p:sp>
        <p:nvSpPr>
          <p:cNvPr id="23" name="Shape 21"/>
          <p:cNvSpPr/>
          <p:nvPr/>
        </p:nvSpPr>
        <p:spPr>
          <a:xfrm>
            <a:off x="0" y="4754880"/>
            <a:ext cx="9144000" cy="18288"/>
          </a:xfrm>
          <a:prstGeom prst="rect">
            <a:avLst/>
          </a:prstGeom>
          <a:solidFill>
            <a:srgbClr val="22A699"/>
          </a:solidFill>
          <a:ln/>
        </p:spPr>
        <p:txBody>
          <a:bodyPr/>
          <a:lstStyle/>
          <a:p>
            <a:endParaRPr lang="zh-CN" alt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244</TotalTime>
  <Words>3964</Words>
  <Application>Microsoft Office PowerPoint</Application>
  <PresentationFormat>全屏显示(16:9)</PresentationFormat>
  <Paragraphs>793</Paragraphs>
  <Slides>40</Slides>
  <Notes>19</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40</vt:i4>
      </vt:variant>
    </vt:vector>
  </HeadingPairs>
  <TitlesOfParts>
    <vt:vector size="51" baseType="lpstr">
      <vt:lpstr>等线</vt:lpstr>
      <vt:lpstr>黑体</vt:lpstr>
      <vt:lpstr>华文楷体</vt:lpstr>
      <vt:lpstr>楷体</vt:lpstr>
      <vt:lpstr>Microsoft YaHei</vt:lpstr>
      <vt:lpstr>Microsoft YaHei</vt:lpstr>
      <vt:lpstr>Arial</vt:lpstr>
      <vt:lpstr>Calibri</vt:lpstr>
      <vt:lpstr>Wingdings</vt:lpstr>
      <vt:lpstr>Office Theme</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本体建模平台 - 产品介绍</dc:title>
  <dc:subject>PptxGenJS Presentation</dc:subject>
  <dc:creator>本体建模平台</dc:creator>
  <cp:lastModifiedBy>Frank Zhao</cp:lastModifiedBy>
  <cp:revision>31</cp:revision>
  <dcterms:created xsi:type="dcterms:W3CDTF">2026-06-04T06:52:19Z</dcterms:created>
  <dcterms:modified xsi:type="dcterms:W3CDTF">2026-06-09T09:59:56Z</dcterms:modified>
</cp:coreProperties>
</file>